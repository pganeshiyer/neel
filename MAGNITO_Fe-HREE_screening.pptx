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Framing: the program wants &gt;2 T. The physics obstacle is that heavy-RE 4f moments couple antiparallel to Fe, so the default outcome is a ferrimagnet with a reduced net moment.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Campbell rule: 4f-5d-3d chain fixes the sign. Heavy RE gives ferrimagnetism; light RE gives net-parallel alignment. This is why every database 'FM' label on a Gd-Fe compound deserves suspicion.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nine FM-labelled hits being all-Gd is a tell: it is an artefact of which element is treated with explicit 4f, not a physical discovery.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Novamag: CC-BY-4.0, auto-fetched from Zenodo record 3241267 (160 MB). MAGNDATA is the strongest available test of the coupling-sign protocol - every experimental RE-TM entry is a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of 8 pairs ferrimagnetic. 280 meV is far too large to be a convergence artefact. The compensation in RT4X is the practical kill: Fe sublattice ~14 muB cancels against Gd 7 muB x2 sites.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95-&gt;4 collapse on first hardening attempt actually went to ZERO credible - that first pass derived NUPDOWN from the same runs it was trying to fix (circular). Fixed by requiring a freely-converged reference or falling back to measured nominal per-element moments, split by high-spin/low-spin branch.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OUTCAR_04 for Co16Gd2Mn_sub (runs/ternary/Tb/new-R3m/Co16Gd2Mn_sub), the validated release-stage static - the same result behind dE=114.5 meV/Gd. Per-site magnetization(x) table, LORBIT=11 atomic-sphere projection.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reframing: the Gd campaign is not just a yes/no on ferromagnetism. It is a measurement of the RE-TM exchange that propagates to the whole heavy series analytically.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A20 sign convention must be calibrated against a known compound first. Novamag is the natural calibration source.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 of the loop: each DFT batch is expensive and queue-bound, so batch composition matters more than per-run speed. BO with a diversity penalty matches the packed-job batch size.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MAGNITO  ·  COMPUTATIONAL SCREENING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8308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Fe-rich Heavy-Rare-Earth</a:t>
            </a:r>
            <a:endParaRPr lang="en-US" sz="46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Magnet Search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6118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B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criteria, database landscape, the ferro- vs ferrimagnetic test, and an active-learning path forward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5720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μ₀Ms &gt; 2 T  ·  Tc &gt; 550 K  ·  uniaxial anisotropy  ·  RE-lean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8978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00" kern="0" dirty="0">
                <a:solidFill>
                  <a:srgbClr val="6E81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706 paired DFT calculations staged  ·  352 compounds  ·  5 databases screened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9372600" y="16002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 / Co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372600" y="1874520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45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9756648" y="1874520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45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10140696" y="1874520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45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10524744" y="1874520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45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8869680" y="30632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 / Tb / Dy / Ho / Er / Tm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921240" y="3310128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86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8641080" y="41605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EB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4f moment antiparallel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AEB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ferrimagnet, not ferromagnet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SEARCH IS HARD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target, and the rule that fights it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5212080" cy="4069080"/>
          </a:xfrm>
          <a:prstGeom prst="roundRect">
            <a:avLst>
              <a:gd name="adj" fmla="val 1798"/>
            </a:avLst>
          </a:prstGeom>
          <a:solidFill>
            <a:srgbClr val="EEF2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32688" y="16916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viable permanent magnet needs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932688" y="2148840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32688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21305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μ₀Ms &gt; 2 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481328" y="238658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Fe/Co sublattice, little dilution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32688" y="2935224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32688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481328" y="291693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Tᴄ &gt; 550 K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481328" y="317296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TM-TM exchange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32688" y="3721608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32688" y="3721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481328" y="3703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Uniaxial anisotropy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481328" y="39593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the RE 4f crystal field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32688" y="4507992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32688" y="4507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481328" y="448970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RE-lean, no critical elements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481328" y="474573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and supply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309360" y="1481328"/>
            <a:ext cx="5212080" cy="4069080"/>
          </a:xfrm>
          <a:prstGeom prst="roundRect">
            <a:avLst>
              <a:gd name="adj" fmla="val 1798"/>
            </a:avLst>
          </a:prstGeom>
          <a:solidFill>
            <a:srgbClr val="1B2A4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01968" y="16916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Campbell rule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601968" y="2029968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metallic RE-TM intermetallics the 4f spin couples to Fe through a fixed chain: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601968" y="2542032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4f spin  ↔  own 5d   (parallel, on-site)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5d  ↔  Fe 3d   (ANTIparallel, between sites)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601968" y="3346704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RE (Gd–Tm): </a:t>
            </a:r>
            <a:pPr indent="0" marL="0">
              <a:buNone/>
            </a:pPr>
            <a:r>
              <a:rPr lang="en-US" sz="125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 = L + S, so the total moment follows the spin → antiparallel to Fe → </a:t>
            </a:r>
            <a:pPr indent="0" marL="0">
              <a:buNone/>
            </a:pPr>
            <a:r>
              <a:rPr lang="en-US" sz="12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ferrimagnet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6601968" y="3968496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RE (Nd, Sm, Pr): </a:t>
            </a:r>
            <a:pPr indent="0" marL="0">
              <a:buNone/>
            </a:pPr>
            <a:r>
              <a:rPr lang="en-US" sz="125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 = L − S, so the total moment opposes the spin → parallel to Fe → </a:t>
            </a:r>
            <a:pPr indent="0" marL="0">
              <a:buNone/>
            </a:pPr>
            <a:r>
              <a:rPr lang="en-US" sz="12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ferromagnet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6601968" y="4709160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Consequence: a genuinely ferromagnetic Fe-HREE phase is the exception, not the target to assume. The screen must test it, not presume it.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DEFINITION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 criteria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5257800" cy="1143000"/>
          </a:xfrm>
          <a:prstGeom prst="roundRect">
            <a:avLst>
              <a:gd name="adj" fmla="val 6400"/>
            </a:avLst>
          </a:prstGeom>
          <a:solidFill>
            <a:srgbClr val="EEF2F7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810512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481328" y="175564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 or Co ≥ 60 at.%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20756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dense 3d sublattice is the only route to &gt;2 T; dilute phases cannot reach it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355080" y="1572768"/>
            <a:ext cx="5257800" cy="1143000"/>
          </a:xfrm>
          <a:prstGeom prst="roundRect">
            <a:avLst>
              <a:gd name="adj" fmla="val 6400"/>
            </a:avLst>
          </a:prstGeom>
          <a:solidFill>
            <a:srgbClr val="EEF2F7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0" y="1810512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29400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196328" y="175564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Contains one heavy RE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7196328" y="20756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Gd, Tb, Dy, Ho, Er, Tm — the 4f source of anisotropy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2944368"/>
            <a:ext cx="5257800" cy="1143000"/>
          </a:xfrm>
          <a:prstGeom prst="roundRect">
            <a:avLst>
              <a:gd name="adj" fmla="val 6400"/>
            </a:avLst>
          </a:prstGeom>
          <a:solidFill>
            <a:srgbClr val="EEF2F7"/>
          </a:solidFill>
          <a:ln/>
        </p:spPr>
      </p:sp>
      <p:sp>
        <p:nvSpPr>
          <p:cNvPr id="15" name="Shape 13"/>
          <p:cNvSpPr/>
          <p:nvPr/>
        </p:nvSpPr>
        <p:spPr>
          <a:xfrm>
            <a:off x="914400" y="3182112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3182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481328" y="312724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Ternary compositions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1481328" y="34472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the phase space synthesisable and the DFT tractable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355080" y="2944368"/>
            <a:ext cx="5257800" cy="1143000"/>
          </a:xfrm>
          <a:prstGeom prst="roundRect">
            <a:avLst>
              <a:gd name="adj" fmla="val 6400"/>
            </a:avLst>
          </a:prstGeom>
          <a:solidFill>
            <a:srgbClr val="EEF2F7"/>
          </a:solidFill>
          <a:ln/>
        </p:spPr>
      </p:sp>
      <p:sp>
        <p:nvSpPr>
          <p:cNvPr id="20" name="Shape 18"/>
          <p:cNvSpPr/>
          <p:nvPr/>
        </p:nvSpPr>
        <p:spPr>
          <a:xfrm>
            <a:off x="6629400" y="3182112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29400" y="3182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196328" y="312724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above hull ≤ 0.2 eV/atom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7196328" y="34472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on, below, or metastably above — many real magnets are metastable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315968"/>
            <a:ext cx="5257800" cy="1143000"/>
          </a:xfrm>
          <a:prstGeom prst="roundRect">
            <a:avLst>
              <a:gd name="adj" fmla="val 6400"/>
            </a:avLst>
          </a:prstGeom>
          <a:solidFill>
            <a:srgbClr val="E6EEF6"/>
          </a:solidFill>
          <a:ln/>
        </p:spPr>
      </p:sp>
      <p:sp>
        <p:nvSpPr>
          <p:cNvPr id="25" name="Shape 23"/>
          <p:cNvSpPr/>
          <p:nvPr/>
        </p:nvSpPr>
        <p:spPr>
          <a:xfrm>
            <a:off x="914400" y="4553712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14400" y="4553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481328" y="449884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Magnetic, or unknown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1481328" y="48188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 &gt; 0.3 μᴮ/atom; 'no data' is kept, not discarded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355080" y="4315968"/>
            <a:ext cx="5257800" cy="1143000"/>
          </a:xfrm>
          <a:prstGeom prst="roundRect">
            <a:avLst>
              <a:gd name="adj" fmla="val 6400"/>
            </a:avLst>
          </a:prstGeom>
          <a:solidFill>
            <a:srgbClr val="E6EEF6"/>
          </a:solidFill>
          <a:ln/>
        </p:spPr>
      </p:sp>
      <p:sp>
        <p:nvSpPr>
          <p:cNvPr id="30" name="Shape 28"/>
          <p:cNvSpPr/>
          <p:nvPr/>
        </p:nvSpPr>
        <p:spPr>
          <a:xfrm>
            <a:off x="6629400" y="4553712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629400" y="4553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196328" y="449884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Ordering decided by us</a:t>
            </a:r>
            <a:endParaRPr lang="en-US" sz="1450" dirty="0"/>
          </a:p>
        </p:txBody>
      </p:sp>
      <p:sp>
        <p:nvSpPr>
          <p:cNvPr id="33" name="Text 31"/>
          <p:cNvSpPr txBox="1"/>
          <p:nvPr/>
        </p:nvSpPr>
        <p:spPr>
          <a:xfrm>
            <a:off x="7196328" y="48188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database can answer FM vs ferri — that is the calculation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587044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 5 and 6 are deliberately permissive: an unlabelled compound is a candidate, not a rejection.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LOOKED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each database can and cannot answer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36192"/>
          <a:ext cx="10881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868680"/>
                <a:gridCol w="3291840"/>
                <a:gridCol w="4434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Filters natively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limitation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GNoME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composition, stability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magnetic data at all; on-hull set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Materials Project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ordering label, hull, moment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FM-initialised label; 4f frozen in core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OQMD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hull, composition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moments not exposed; structures via slow API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Alexandria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elements, nelements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moments response-only; server outages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spin per atom, species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hull distance; thin RE-TM ternary coverage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251960"/>
            <a:ext cx="10881360" cy="1417320"/>
          </a:xfrm>
          <a:prstGeom prst="roundRect">
            <a:avLst>
              <a:gd name="adj" fmla="val 5161"/>
            </a:avLst>
          </a:prstGeom>
          <a:solidFill>
            <a:srgbClr val="1B2A4A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60120" y="4434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limitation they share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475488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large database runs ONE spin-polarised calculation per structure, initialised ferromagnetically, with heavy-RE 4f frozen in the PAW core. So a “FM” label means “the Fe sublattice kept its moments” — never that the RE couples parallel. Nine FM-labelled Fe/Co-HREE candidates were found across all five databases; all nine contained Gd, the one heavy RE these codes treat explicitly.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SCARCE COMMODITY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Datasets that actually contain anisotropy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17904"/>
          <a:ext cx="108813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4114800"/>
                <a:gridCol w="4297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uniquely has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 in this campaign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Novamag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DFT K₁/MAE, exchange, Tc for RE-lean magnets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 + validate the MAE surrogate; calibrate A₂⁰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MAGNDATA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~2,000 EXPERIMENTAL magnetic structures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 truth for the fm/ferri coupling sign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C2DB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systematic MAE + exchange (2D materials)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 an MAE model before trusting it in 3D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Heusler set (Sanvito)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~236k compositions, moments + est. Tc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 training data; funnel-reporting template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Nelson–Sanvito Tc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~2,500 experimental Curie temperatures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screen Tc before computing exchange constants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NIMS MatNavi / MDR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curated Nd-Fe-B and 1-12 experiment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 targets (registration required)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343400"/>
            <a:ext cx="6949440" cy="1417320"/>
          </a:xfrm>
          <a:prstGeom prst="roundRect">
            <a:avLst>
              <a:gd name="adj" fmla="val 5161"/>
            </a:avLst>
          </a:prstGeom>
          <a:solidFill>
            <a:srgbClr val="1B2A4A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32688" y="45079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these are worth more per entry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932688" y="4828032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 large databases we screened carry composition, stability and a moment. None carries MAE, exchange constants or Tc at scale — the quantities a permanent magnet is actually judged on. Novamag is the only open source of systematic anisotropy, which is what makes an MAE surrogate trainable at all.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818120" y="4343400"/>
            <a:ext cx="3703320" cy="1417320"/>
          </a:xfrm>
          <a:prstGeom prst="roundRect">
            <a:avLst>
              <a:gd name="adj" fmla="val 5161"/>
            </a:avLst>
          </a:prstGeom>
          <a:solidFill>
            <a:srgbClr val="FCEDE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092440" y="45079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open — do not plan around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8092440" y="4828032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40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MPDS / Pauling File and Springer Materials hold the deepest experimental magnet record, but neither is openly accessible.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DATABASES TO CALCULATIONS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Screening funnel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658368"/>
          </a:xfrm>
          <a:prstGeom prst="roundRect">
            <a:avLst>
              <a:gd name="adj" fmla="val 8333"/>
            </a:avLst>
          </a:prstGeom>
          <a:solidFill>
            <a:srgbClr val="2E86A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96112" y="155448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554,055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2880360" y="155448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GNoME stable entries scanned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8778240" cy="658368"/>
          </a:xfrm>
          <a:prstGeom prst="roundRect">
            <a:avLst>
              <a:gd name="adj" fmla="val 8333"/>
            </a:avLst>
          </a:prstGeom>
          <a:solidFill>
            <a:srgbClr val="2E86A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2395728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1,152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2880360" y="2395728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candidate formulas across 5 databases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236976"/>
            <a:ext cx="6949440" cy="658368"/>
          </a:xfrm>
          <a:prstGeom prst="roundRect">
            <a:avLst>
              <a:gd name="adj" fmla="val 8333"/>
            </a:avLst>
          </a:prstGeom>
          <a:solidFill>
            <a:srgbClr val="3E7FA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96112" y="3236976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756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2880360" y="3236976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retrievable crystal structures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078224"/>
            <a:ext cx="5303520" cy="658368"/>
          </a:xfrm>
          <a:prstGeom prst="roundRect">
            <a:avLst>
              <a:gd name="adj" fmla="val 8333"/>
            </a:avLst>
          </a:prstGeom>
          <a:solidFill>
            <a:srgbClr val="E4572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96112" y="4078224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352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2880360" y="4078224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compounds staged for DFT (24 native Gd + 328 Gd surrogates)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919472"/>
            <a:ext cx="3840480" cy="658368"/>
          </a:xfrm>
          <a:prstGeom prst="roundRect">
            <a:avLst>
              <a:gd name="adj" fmla="val 8333"/>
            </a:avLst>
          </a:prstGeom>
          <a:solidFill>
            <a:srgbClr val="E4572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6112" y="491947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706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491947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paired fm / ferri VASP calculations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778240" y="41148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726 parent compounds</a:t>
            </a:r>
            <a:endParaRPr lang="en-US" sz="1300" dirty="0"/>
          </a:p>
          <a:p>
            <a:pPr algn="r" indent="0" marL="0">
              <a:buNone/>
            </a:pPr>
            <a:r>
              <a:rPr lang="en-US" sz="13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collapse into 328</a:t>
            </a:r>
            <a:endParaRPr lang="en-US" sz="1300" dirty="0"/>
          </a:p>
          <a:p>
            <a:pPr algn="r" indent="0" marL="0">
              <a:buNone/>
            </a:pPr>
            <a:r>
              <a:rPr lang="en-US" sz="13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surrogate calculations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50749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Deduplicated on (substituted formula, space group); coupling transfers back to each parent by de Gennes scaling.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DECIDING CALCULATION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configurations, one energy difference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EEF2F7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783080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2860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every structure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63347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collinear spin-polarised PBE+U runs, identical except the SIGN of the initial Gd moment: fm (+7 μᴮ) and ferri (−7 μᴮ).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4224528" y="23774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86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480560" y="155448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EEF2F7"/>
          </a:solidFill>
          <a:ln/>
        </p:spPr>
      </p:sp>
      <p:sp>
        <p:nvSpPr>
          <p:cNvPr id="11" name="Shape 9"/>
          <p:cNvSpPr/>
          <p:nvPr/>
        </p:nvSpPr>
        <p:spPr>
          <a:xfrm>
            <a:off x="4754880" y="1783080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5488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22860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sign of ΔE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754880" y="263347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ΔE = E(ferri) − E(fm).  Negative → ferrimagnetic ground state.  Positive → genuine FM RE-TM coupling.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065008" y="23774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86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321040" y="155448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EEF2F7"/>
          </a:solidFill>
          <a:ln/>
        </p:spPr>
      </p:sp>
      <p:sp>
        <p:nvSpPr>
          <p:cNvPr id="17" name="Shape 15"/>
          <p:cNvSpPr/>
          <p:nvPr/>
        </p:nvSpPr>
        <p:spPr>
          <a:xfrm>
            <a:off x="8595360" y="1783080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59536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595360" y="22860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across the series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8595360" y="263347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Tb–Tm ship as f-in-core potentials whose 4f cannot flip, so Gd is substituted onto every RE site and the result is carried back by de Gennes scaling, (gᴊ − 1)J.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041648"/>
            <a:ext cx="10881360" cy="1691640"/>
          </a:xfrm>
          <a:prstGeom prst="roundRect">
            <a:avLst>
              <a:gd name="adj" fmla="val 4324"/>
            </a:avLst>
          </a:prstGeom>
          <a:solidFill>
            <a:srgbClr val="1B2A4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60120" y="4206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and controls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60120" y="452628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PBE+U  </a:t>
            </a:r>
            <a:pPr indent="0" marL="0">
              <a:buNone/>
            </a:pPr>
            <a:r>
              <a:rPr lang="en-US" sz="120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 4f U = 6.7 / J = 0.7 eV (U_eff = 6)  ·  no U on metallic Fe  ·  LASPH, LMAXMIX = 6  ·  ENCUT 520  ·  8000 k-points·atom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60120" y="491947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Guards  </a:t>
            </a:r>
            <a:pPr indent="0" marL="0">
              <a:buNone/>
            </a:pPr>
            <a:r>
              <a:rPr lang="en-US" sz="120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statics on a common geometry so ΔE isolates exchange  ·  every run checked for SCF drift into the other spin state  ·  light RE pinned to f-in-core so only Gd carries a flippable 4f  ·  GdFe₂ (a known ferrimagnet) run as a protocol control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— 16 RUNS, 8 COMPOUNDS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protocol validates, and the database labels fall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17904"/>
          <a:ext cx="10881360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2103120"/>
                <a:gridCol w="2148840"/>
                <a:gridCol w="2148840"/>
                <a:gridCol w="187452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Compound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Prototype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ΔE per Gd (meV)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 state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moment, ferri (μᴮ)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GdFe₂  (control)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Laves C15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−352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ferrimagnetic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−6.98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GdAlFe₄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CaCu₅ RT₄X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−277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ferrimagnetic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GdGaFe₄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CaCu₅ RT₄X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−284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ferrimagnetic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GdCo₄Si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CaCu₅ RT₄X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−155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ferrimagnetic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−3.14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GdFe₄B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CaCu₅ RT₄X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ferrimagnetic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GdCo₄B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CaCu₅ RT₄X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−263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ferrimagnetic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−6.78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Gd₂Fe₃Co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Laves C14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−329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ferrimagnetic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−7.53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Gd₂Fe₁₂Ga₅C₂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new, C2/m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−107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ferrimagnetic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892040"/>
            <a:ext cx="5532120" cy="1325880"/>
          </a:xfrm>
          <a:prstGeom prst="roundRect">
            <a:avLst>
              <a:gd name="adj" fmla="val 5517"/>
            </a:avLst>
          </a:prstGeom>
          <a:solidFill>
            <a:srgbClr val="EEF2F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4400" y="504748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passed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5349240"/>
            <a:ext cx="4983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GdFe₂ is experimentally a ferrimagnet and the protocol reproduces that by 352 meV/Gd — which is what licenses trusting the rest.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355080" y="4892040"/>
            <a:ext cx="5166360" cy="1325880"/>
          </a:xfrm>
          <a:prstGeom prst="roundRect">
            <a:avLst>
              <a:gd name="adj" fmla="val 5517"/>
            </a:avLst>
          </a:prstGeom>
          <a:solidFill>
            <a:srgbClr val="FCEDE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29400" y="504748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FM labels were artefacts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6629400" y="534924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40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GdAlFe₄ and GdGaFe₄ (Alexandria) and GdCo₄Si (MP) were all FM-labelled. All three are ferrimagnetic by 155–284 meV/Gd — and the two RT₄X phases are almost fully compensated, so their true net moment is ≈ 0, not the ≈1.9 T the FM-initialised numbers implied.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THE SCREEN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fm/ferri energies had to be forced apart before they could be trusted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577840" cy="3931920"/>
          </a:xfrm>
          <a:prstGeom prst="roundRect">
            <a:avLst>
              <a:gd name="adj" fmla="val 1860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6642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a plain SCF doesn't stay where you put it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9751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compound needs two static calculations - one initialised ferromagnetic, one ferrimagnetic - and the energy difference between them is the answer. At 353-compound scale, a plain unconstrained SCF too often drifts out of the state it was initialised in: LDA+U has several self-consistent solutions, and a simple collinear starting guess is not a strong enough anchor to hold either configuration in place through convergence.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0358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fix: lock the total moment, then release it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346704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NUPDOWN fixes the total spin-up minus spin-down electron count, forcing the SCF to converge inside the intended basin. The target is derived from each element's own measured moment (not textbook values), never from a run already suspected of drifting.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914400" y="4041648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444752" y="4023360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A - locked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444752" y="4206240"/>
            <a:ext cx="4480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EB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NUPDOWN set to the intended fm/ferri moment; hardened mixing (NELM, EDIFF, AMIX); CHGCAR-only restart (WAVECAR skipped - it once cost 700 GB and failed ~60 runs on disk pressure alone)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914400" y="4645152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4645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444752" y="4626864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 - released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444752" y="4809744"/>
            <a:ext cx="4480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EB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NUPDOWN removed; one final unconstrained static from Stage A's charge density - the energy actually compared, since a locked run only proves a state exists, not that VASP would choose it freely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355080" y="1463040"/>
            <a:ext cx="5166360" cy="3931920"/>
          </a:xfrm>
          <a:prstGeom prst="roundRect">
            <a:avLst>
              <a:gd name="adj" fmla="val 1860"/>
            </a:avLst>
          </a:prstGeom>
          <a:solidFill>
            <a:srgbClr val="EEF2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11112" y="166420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funnel this actually produced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611112" y="2029968"/>
            <a:ext cx="457200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793992" y="2121408"/>
            <a:ext cx="1005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353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2121408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compounds analysed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7863840" y="2377440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fm/ferri pair, Gd surrogate</a:t>
            </a:r>
            <a:endParaRPr lang="en-US" sz="860" dirty="0"/>
          </a:p>
        </p:txBody>
      </p:sp>
      <p:sp>
        <p:nvSpPr>
          <p:cNvPr id="23" name="Shape 21"/>
          <p:cNvSpPr/>
          <p:nvPr/>
        </p:nvSpPr>
        <p:spPr>
          <a:xfrm>
            <a:off x="6611112" y="2907792"/>
            <a:ext cx="4572000" cy="768096"/>
          </a:xfrm>
          <a:prstGeom prst="roundRect">
            <a:avLst>
              <a:gd name="adj" fmla="val 9524"/>
            </a:avLst>
          </a:prstGeom>
          <a:solidFill>
            <a:srgbClr val="FCEDE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793992" y="2999232"/>
            <a:ext cx="1005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7863840" y="2999232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apparent ferromagnets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7863840" y="3255264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naive, unconstrained SCF result - taken at face value, most are not real</a:t>
            </a:r>
            <a:endParaRPr lang="en-US" sz="860" dirty="0"/>
          </a:p>
        </p:txBody>
      </p:sp>
      <p:sp>
        <p:nvSpPr>
          <p:cNvPr id="27" name="Shape 25"/>
          <p:cNvSpPr/>
          <p:nvPr/>
        </p:nvSpPr>
        <p:spPr>
          <a:xfrm>
            <a:off x="6611112" y="3785616"/>
            <a:ext cx="4572000" cy="768096"/>
          </a:xfrm>
          <a:prstGeom prst="roundRect">
            <a:avLst>
              <a:gd name="adj" fmla="val 9524"/>
            </a:avLst>
          </a:prstGeom>
          <a:solidFill>
            <a:srgbClr val="FFF3D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793992" y="3877056"/>
            <a:ext cx="1005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7863840" y="3877056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 NUPDOWN hardening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7863840" y="4133088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measured-moment-derived locked rerun, released to a final unconstrained static</a:t>
            </a:r>
            <a:endParaRPr lang="en-US" sz="860" dirty="0"/>
          </a:p>
        </p:txBody>
      </p:sp>
      <p:sp>
        <p:nvSpPr>
          <p:cNvPr id="31" name="Shape 29"/>
          <p:cNvSpPr/>
          <p:nvPr/>
        </p:nvSpPr>
        <p:spPr>
          <a:xfrm>
            <a:off x="6611112" y="4663440"/>
            <a:ext cx="4572000" cy="768096"/>
          </a:xfrm>
          <a:prstGeom prst="roundRect">
            <a:avLst>
              <a:gd name="adj" fmla="val 9524"/>
            </a:avLst>
          </a:prstGeom>
          <a:solidFill>
            <a:srgbClr val="1B2A4A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793992" y="4754880"/>
            <a:ext cx="1005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33" name="Text 31"/>
          <p:cNvSpPr txBox="1"/>
          <p:nvPr/>
        </p:nvSpPr>
        <p:spPr>
          <a:xfrm>
            <a:off x="7863840" y="4754880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survives every remaining check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7863840" y="5010912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of those 4 carried implausible multi-eV exchange energies - an LDA+U multi-minima artefact, not real coupling</a:t>
            </a:r>
            <a:endParaRPr lang="en-US" sz="86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RESULTS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candidate survives every validity check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074920" cy="2103120"/>
          </a:xfrm>
          <a:prstGeom prst="roundRect">
            <a:avLst>
              <a:gd name="adj" fmla="val 3478"/>
            </a:avLst>
          </a:prstGeom>
          <a:solidFill>
            <a:srgbClr val="EEF2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96112" y="160934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353 compounds analysed  -&gt;  1 credible ferromagnet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96112" y="1938528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1938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1911096"/>
            <a:ext cx="4160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Implausible exchange energy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103120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3-5.5 eV/Gd, 10-15x any real value - LDA+U landing in a different state, not physical coupling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896112" y="2468880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96112" y="2468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2441448"/>
            <a:ext cx="4160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Untracked sublattice collapse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2633472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spectator element (Os, Y, Lu, Ru, Ce...) shifting between fm/ferri, invisible if only Fe/Co are watched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896112" y="2999232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2999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417320" y="2971800"/>
            <a:ext cx="4160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sublattice itself collapsed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316382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 or Co moment changed between runs - the failure the constrained rerun was built to fix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897880" y="1463040"/>
            <a:ext cx="4709160" cy="2103120"/>
          </a:xfrm>
          <a:prstGeom prst="roundRect">
            <a:avLst>
              <a:gd name="adj" fmla="val 3478"/>
            </a:avLst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153912" y="16093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Co16Gd2Mn  ·  new-R3m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153912" y="186537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AEB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Co-rich 2-17-like lattice, Mn on one Co site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153912" y="213969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(ferri - fm)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8503920" y="2139696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+114.5 meV/Gd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153912" y="241401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state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503920" y="2414016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ferromagnetic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153912" y="268833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u0Ms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8503920" y="2688336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1.95 T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153912" y="301752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 couples ferromagnetically to Gd while Co keeps its usual antiparallel preference - flipping the net RE-TM sign for the compound.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40080" y="3703320"/>
            <a:ext cx="10881360" cy="438912"/>
          </a:xfrm>
          <a:prstGeom prst="roundRect">
            <a:avLst>
              <a:gd name="adj" fmla="val 16667"/>
            </a:avLst>
          </a:prstGeom>
          <a:solidFill>
            <a:srgbClr val="EEF2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68680" y="3703320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Validated: stable Co sublattice, stable Mn magnitude, normal exchange-energy scale, clean EDIFF convergence on both configs (47 / 29 SCF steps of 400).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4261104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magnetisation for the real target compositions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7863840" y="427939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of five heavy-RE analogues clear the 2 T program target.</a:t>
            </a:r>
            <a:endParaRPr lang="en-US" sz="9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572000"/>
          <a:ext cx="10881360" cy="914400"/>
        </p:xfrm>
        <a:graphic>
          <a:graphicData uri="http://schemas.openxmlformats.org/drawingml/2006/table">
            <a:tbl>
              <a:tblPr/>
              <a:tblGrid>
                <a:gridCol w="3699662"/>
                <a:gridCol w="3590849"/>
                <a:gridCol w="3590849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Parent compound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Heavy 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Projected u0Ms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Co16Dy2Mn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2.26 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Co16Ho2Mn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2.26 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Co16MnTb2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2.17 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Co16Er2Mn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2.17 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Co16MnTm2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1.98 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LINEAGE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one-atom variant of a magnet already on the market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3429000" cy="3977640"/>
          </a:xfrm>
          <a:prstGeom prst="roundRect">
            <a:avLst>
              <a:gd name="adj" fmla="val 2133"/>
            </a:avLst>
          </a:prstGeom>
          <a:solidFill>
            <a:srgbClr val="EEF2F7"/>
          </a:solidFill>
          <a:ln/>
        </p:spPr>
      </p:sp>
      <p:pic>
        <p:nvPicPr>
          <p:cNvPr id="5" name="Image 0" descr="assets/tb2mnco1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68680" y="1645920"/>
            <a:ext cx="2971800" cy="2514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4178808"/>
            <a:ext cx="2971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Tb2MnCo16  -  parent (GNoME)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44348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Th2Zn17 prototype, R-3m (#166) - independently DFT-relaxed by GNoME, Tb in the RE site, one of 17 TM sites occupied by Mn.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4343400" y="1463040"/>
            <a:ext cx="3429000" cy="3977640"/>
          </a:xfrm>
          <a:prstGeom prst="roundRect">
            <a:avLst>
              <a:gd name="adj" fmla="val 2133"/>
            </a:avLst>
          </a:prstGeom>
          <a:solidFill>
            <a:srgbClr val="1B2A4A"/>
          </a:solidFill>
          <a:ln/>
        </p:spPr>
      </p:sp>
      <p:pic>
        <p:nvPicPr>
          <p:cNvPr id="9" name="Image 1" descr="assets/co16gd2mn_sub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72000" y="1645920"/>
            <a:ext cx="2971800" cy="25146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0" y="4178808"/>
            <a:ext cx="2971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Co16Gd2Mn_sub  -  FM candidate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4572000" y="44348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lattice - Gd stands in for Tb (explicit 4f, S-state surrogate). Same Mn-for-Co site. Only the RE identity changes.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8046720" y="1463040"/>
            <a:ext cx="3474720" cy="3977640"/>
          </a:xfrm>
          <a:prstGeom prst="roundRect">
            <a:avLst>
              <a:gd name="adj" fmla="val 2105"/>
            </a:avLst>
          </a:prstGeom>
          <a:solidFill>
            <a:srgbClr val="FCEDE8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302752" y="1645920"/>
            <a:ext cx="2962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magnet this descends from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8302752" y="2240280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8302752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8833104" y="22128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Sm2Co17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8833104" y="2459736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7A40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2:17 SmCo permanent magnet - one of only two SmCo classes ever commercialised (with SmCo5, the 1:5 type)</a:t>
            </a:r>
            <a:endParaRPr lang="en-US" sz="930" dirty="0"/>
          </a:p>
        </p:txBody>
      </p:sp>
      <p:sp>
        <p:nvSpPr>
          <p:cNvPr id="18" name="Shape 14"/>
          <p:cNvSpPr/>
          <p:nvPr/>
        </p:nvSpPr>
        <p:spPr>
          <a:xfrm>
            <a:off x="8302752" y="3136392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8302752" y="3136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8833104" y="31089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RE2Co17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8833104" y="3355848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7A40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general Th2Zn17-type family - Y, Ce, Pr, Nd, Sm, Gd, Tb... all form this same rhombohedral structure</a:t>
            </a:r>
            <a:endParaRPr lang="en-US" sz="930" dirty="0"/>
          </a:p>
        </p:txBody>
      </p:sp>
      <p:sp>
        <p:nvSpPr>
          <p:cNvPr id="22" name="Shape 18"/>
          <p:cNvSpPr/>
          <p:nvPr/>
        </p:nvSpPr>
        <p:spPr>
          <a:xfrm>
            <a:off x="8302752" y="4032504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8302752" y="4032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833104" y="400507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RE2MnCo16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8833104" y="42519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7A40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 17 transition-metal sites replaced by Mn - the single change this campaign is built around</a:t>
            </a:r>
            <a:endParaRPr lang="en-US" sz="930" dirty="0"/>
          </a:p>
        </p:txBody>
      </p:sp>
      <p:sp>
        <p:nvSpPr>
          <p:cNvPr id="26" name="Shape 22"/>
          <p:cNvSpPr/>
          <p:nvPr/>
        </p:nvSpPr>
        <p:spPr>
          <a:xfrm>
            <a:off x="640080" y="5623560"/>
            <a:ext cx="10881360" cy="868680"/>
          </a:xfrm>
          <a:prstGeom prst="roundRect">
            <a:avLst>
              <a:gd name="adj" fmla="val 8421"/>
            </a:avLst>
          </a:prstGeom>
          <a:solidFill>
            <a:srgbClr val="1B2A4A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914400" y="562356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candidate in this campaign is a controlled chemical edit of an already-magnetic parent - swap the light RE for a heavy one, then perturb one transition-metal site. Co16Gd2Mn_sub is the one edit, out of 353, where that perturbation flips the whole compound's magnetic order rather than just its Curie temperature or anisotropy.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MN, AND WHAT'S BEING VERIFIED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one-atom coupling lever, now being checked without the Gd stand-in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394960" cy="3246120"/>
          </a:xfrm>
          <a:prstGeom prst="roundRect">
            <a:avLst>
              <a:gd name="adj" fmla="val 2254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6642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magnetic Mn site flips the sign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14400" y="2011680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444752" y="1975104"/>
            <a:ext cx="4434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Heavy-RE-TM magnets are ferrimagnetic by default: the 4f moment polarises the RE's own 5d shell parallel (intra-atomic), and that 5d hybridises antiparallel with neighbouring Fe/Co 3d (Campbell's rule). Net result: RE and TM sublattices oppose.</a:t>
            </a:r>
            <a:endParaRPr lang="en-US" sz="980" dirty="0"/>
          </a:p>
        </p:txBody>
      </p:sp>
      <p:sp>
        <p:nvSpPr>
          <p:cNvPr id="9" name="Shape 7"/>
          <p:cNvSpPr/>
          <p:nvPr/>
        </p:nvSpPr>
        <p:spPr>
          <a:xfrm>
            <a:off x="914400" y="2670048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670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444752" y="2633472"/>
            <a:ext cx="4434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 is the known exception to that rule. Its 3d filling differs enough from Fe/Co that RE-Mn coupling is frequently parallel (ferromagnetic) rather than antiparallel, in contrast to the near-universal RE-Co antiparallel preference.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914400" y="3328416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3328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444752" y="3291840"/>
            <a:ext cx="4434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DFT run in this campaign confirms it directly: in Co16Gd2Mn_sub and every native-RE compound checked so far, the Mn site's own moment aligns WITH the RE 4f moment, while all 16 Co sites align against it - a completely consistent sign pattern, not a coincidence.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914400" y="3986784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39867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444752" y="3950208"/>
            <a:ext cx="4434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Mn atom against sixteen Co atoms cannot flip the lattice by weight of numbers - but it only has to tip the net energy balance, not the head count. That single competing bond is apparently enough: fm sits 114.5 meV/Gd below ferri for this compound.</a:t>
            </a:r>
            <a:endParaRPr lang="en-US" sz="980" dirty="0"/>
          </a:p>
        </p:txBody>
      </p:sp>
      <p:sp>
        <p:nvSpPr>
          <p:cNvPr id="18" name="Shape 16"/>
          <p:cNvSpPr/>
          <p:nvPr/>
        </p:nvSpPr>
        <p:spPr>
          <a:xfrm>
            <a:off x="5943600" y="1463040"/>
            <a:ext cx="5577840" cy="3246120"/>
          </a:xfrm>
          <a:prstGeom prst="roundRect">
            <a:avLst>
              <a:gd name="adj" fmla="val 2254"/>
            </a:avLst>
          </a:prstGeom>
          <a:solidFill>
            <a:srgbClr val="EEF2F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6642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Tier-2: checking the mechanism without the Gd stand-in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956816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above used Gd as a computational surrogate for Tb/Dy/Ho/Er/Tm (explicit 4f, S-state, tractable). potpaw_PBE.64 ships an explicit-4f potential for all five real heavy REs too, so the natural next check is direct: relax each real RE on its own native lattice, no surrogate, no de Gennes projection.</a:t>
            </a:r>
            <a:endParaRPr lang="en-US" sz="9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2615184"/>
          <a:ext cx="5029200" cy="914400"/>
        </p:xfrm>
        <a:graphic>
          <a:graphicData uri="http://schemas.openxmlformats.org/drawingml/2006/table">
            <a:tbl>
              <a:tblPr/>
              <a:tblGrid>
                <a:gridCol w="1408176"/>
                <a:gridCol w="1207008"/>
                <a:gridCol w="1408176"/>
                <a:gridCol w="1005840"/>
              </a:tblGrid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Compound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fm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ferri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Co16Tb2Mn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converged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progress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Co16Dy2Mn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symmetry-broken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progress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Co16Ho2Mn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killed (walltime)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symmetry-broken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progress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Co16Er2Mn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collapsed to ferri-like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inhomogeneous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progress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Co16Tm2Mn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killed (walltime)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killed (walltime)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progress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6217920" y="4059936"/>
            <a:ext cx="5029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compound yet has both configs converged to a coherent, symmetric state - no fm-vs-ferri energy is trustworthy yet. Unconstrained relaxation let the two equivalent RE sites break symmetry, and Mn's moment collapsed when they did. Next: rerun with the total moment locked, then release to an unconstrained static.</a:t>
            </a:r>
            <a:endParaRPr lang="en-US" sz="830" dirty="0"/>
          </a:p>
        </p:txBody>
      </p:sp>
      <p:sp>
        <p:nvSpPr>
          <p:cNvPr id="23" name="Shape 20"/>
          <p:cNvSpPr/>
          <p:nvPr/>
        </p:nvSpPr>
        <p:spPr>
          <a:xfrm>
            <a:off x="640080" y="4892040"/>
            <a:ext cx="10881360" cy="457200"/>
          </a:xfrm>
          <a:prstGeom prst="roundRect">
            <a:avLst>
              <a:gd name="adj" fmla="val 16000"/>
            </a:avLst>
          </a:prstGeom>
          <a:solidFill>
            <a:srgbClr val="1B2A4A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96112" y="4892040"/>
            <a:ext cx="10369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validated, promising result to date remains Co16Gd2Mn_sub (Gd surrogate, Tb's native lattice): dE = +114.5 meV/Gd, ferromagnetic ground state, u0Ms = 1.95 T. Tier-2 exists to confirm this holds for the real heavy REs - it has not yet confirmed or refuted it.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PER-ATOM MOMENTS, DIRECTLY MEASURED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Mn always sides with Gd - never with Co - in both configurations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17904"/>
            <a:ext cx="5394960" cy="4160520"/>
          </a:xfrm>
          <a:prstGeom prst="roundRect">
            <a:avLst>
              <a:gd name="adj" fmla="val 1758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32688" y="1700784"/>
            <a:ext cx="4809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  -  all three sublattices aligned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932688" y="2194560"/>
            <a:ext cx="4809744" cy="640080"/>
          </a:xfrm>
          <a:prstGeom prst="roundRect">
            <a:avLst>
              <a:gd name="adj" fmla="val 11429"/>
            </a:avLst>
          </a:prstGeom>
          <a:solidFill>
            <a:srgbClr val="24345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43000" y="2286000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B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  (sites 1, 2)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252374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+6.74, +6.75 uB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32688" y="2980944"/>
            <a:ext cx="4809744" cy="640080"/>
          </a:xfrm>
          <a:prstGeom prst="roundRect">
            <a:avLst>
              <a:gd name="adj" fmla="val 11429"/>
            </a:avLst>
          </a:prstGeom>
          <a:solidFill>
            <a:srgbClr val="24345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43000" y="3072384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B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  (site 3)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331012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B1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+3.13 uB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32688" y="3767328"/>
            <a:ext cx="4809744" cy="640080"/>
          </a:xfrm>
          <a:prstGeom prst="roundRect">
            <a:avLst>
              <a:gd name="adj" fmla="val 11429"/>
            </a:avLst>
          </a:prstGeom>
          <a:solidFill>
            <a:srgbClr val="24345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43000" y="3858768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B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 (16 sites, +1.49 to +1.59 uB)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409651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FA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avg +1.53 uB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932688" y="4553712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AEB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moment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932688" y="4754880"/>
            <a:ext cx="4809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41.1 uB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263640" y="1517904"/>
            <a:ext cx="5257800" cy="4160520"/>
          </a:xfrm>
          <a:prstGeom prst="roundRect">
            <a:avLst>
              <a:gd name="adj" fmla="val 1758"/>
            </a:avLst>
          </a:prstGeom>
          <a:solidFill>
            <a:srgbClr val="EEF2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56248" y="1700784"/>
            <a:ext cx="4672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FERRI  -  Gd and Mn flip together, Co doesn't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556248" y="2194560"/>
            <a:ext cx="4672584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766560" y="2286000"/>
            <a:ext cx="4251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  (sites 1, 2)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766560" y="2523744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-7.06, -7.04 uB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556248" y="2980944"/>
            <a:ext cx="4672584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766560" y="3072384"/>
            <a:ext cx="4251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  (site 3)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766560" y="3310128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B1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-3.38 uB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556248" y="3767328"/>
            <a:ext cx="4672584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766560" y="3858768"/>
            <a:ext cx="4251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 (16 sites, +1.37 to +1.53 uB)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766560" y="4096512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64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avg +1.47 uB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556248" y="4553712"/>
            <a:ext cx="26289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moment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6556248" y="4754880"/>
            <a:ext cx="4672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6.15 uB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640080" y="5806440"/>
            <a:ext cx="10881360" cy="502920"/>
          </a:xfrm>
          <a:prstGeom prst="roundRect">
            <a:avLst>
              <a:gd name="adj" fmla="val 14545"/>
            </a:avLst>
          </a:prstGeom>
          <a:solidFill>
            <a:srgbClr val="FCEDE8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96112" y="5806440"/>
            <a:ext cx="10369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Mn's moment matches Gd's sign in every configuration checked - fm or ferri, this compound or any native-RE compound in the Tier-2 batch. Co never once follows it. That is the direct measurement behind the Campbell's-rule exception this campaign is built on.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EXTENDING THE GD DATASET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Using Campbell's rule to predict the rest of the series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17904"/>
            <a:ext cx="4892040" cy="4206240"/>
          </a:xfrm>
          <a:prstGeom prst="roundRect">
            <a:avLst>
              <a:gd name="adj" fmla="val 1739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32688" y="171907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Gd calculation gives you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32688" y="2066544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ΔE from the fm/ferri pair is the RE-TM exchange energy itself. Because the sign is fixed by the 4f-5d-3d chain and only the 4f spin magnitude changes down the series, one Gd pair predicts all six heavy rare earths.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2999232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7A8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coupling strength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3163824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J(RE–TM)   ∝   (g_J − 1) J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3529584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7A8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 contribution  —  de Gennes factor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32688" y="3694176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B1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  =  (g_J − 1)² J(J + 1)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932688" y="4041648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 15.75 · Tb 10.5 · Dy 7.08 · Ho 4.5 · Er 2.55 · Tm 1.17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32688" y="4334256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7A8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moment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932688" y="4498848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M_net  =  M_TM  −  n_RE × g_J·J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932688" y="4882896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 sublattice moment carries over unchanged; only the RE terms rescale — so both Tc and net moment are predictable for Tb–Tm without new calculations.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852160" y="1517904"/>
            <a:ext cx="566928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/>
        </p:spPr>
      </p:sp>
      <p:sp>
        <p:nvSpPr>
          <p:cNvPr id="16" name="Shape 14"/>
          <p:cNvSpPr/>
          <p:nvPr/>
        </p:nvSpPr>
        <p:spPr>
          <a:xfrm>
            <a:off x="6108192" y="1682496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08192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656832" y="163677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by uncompensated moment, not by FM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656832" y="1901952"/>
            <a:ext cx="4709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Gd result, evaluate M_TM − n_RE·g_J·J across the series. High Fe:RE ratios (2-17, 1-12) leave a large residual; RT₄X compensates to ≈ 0. This reprioritises the whole candidate list at zero DFT cost.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852160" y="2587752"/>
            <a:ext cx="566928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/>
        </p:spPr>
      </p:sp>
      <p:sp>
        <p:nvSpPr>
          <p:cNvPr id="21" name="Shape 19"/>
          <p:cNvSpPr/>
          <p:nvPr/>
        </p:nvSpPr>
        <p:spPr>
          <a:xfrm>
            <a:off x="6108192" y="2752344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108192" y="27523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656832" y="270662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Hunt where the 5d-3d chain breaks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656832" y="2971800"/>
            <a:ext cx="4709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antiparallel sign is mediated by RE 5d. Screen for phases where that channel weakens: semiconducting or semimetallic X, long RE-Fe distances, RE coordinated only by anions, dilute RE. These are the only plausible FM exceptions.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52160" y="3657600"/>
            <a:ext cx="566928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/>
        </p:spPr>
      </p:sp>
      <p:sp>
        <p:nvSpPr>
          <p:cNvPr id="26" name="Shape 24"/>
          <p:cNvSpPr/>
          <p:nvPr/>
        </p:nvSpPr>
        <p:spPr>
          <a:xfrm>
            <a:off x="6108192" y="3822192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108192" y="3822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656832" y="377647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induced 5d moment as a free diagnostic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6656832" y="4041648"/>
            <a:ext cx="4709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Gd run already reports the RE 5d moment. Where its sign or magnitude deviates from the usual antiparallel pattern, the mechanism is weakening — a cheap flag for which compounds deserve explicit Tb–Tm treatment.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52160" y="4727448"/>
            <a:ext cx="566928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/>
        </p:spPr>
      </p:sp>
      <p:sp>
        <p:nvSpPr>
          <p:cNvPr id="31" name="Shape 29"/>
          <p:cNvSpPr/>
          <p:nvPr/>
        </p:nvSpPr>
        <p:spPr>
          <a:xfrm>
            <a:off x="6108192" y="4892040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108192" y="4892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6656832" y="48463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 only the outliers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6656832" y="5111496"/>
            <a:ext cx="4709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4f Tb–Tm with occupation-matrix control is expensive and fragile. Reserve it for de Gennes outliers and predicted FM exceptions, then add Tᴄ via exchange constants for survivors.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COUPLING QUESTION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much Gd must be replaced to make a magnet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5029200" cy="2148840"/>
          </a:xfrm>
          <a:prstGeom prst="roundRect">
            <a:avLst>
              <a:gd name="adj" fmla="val 3404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6459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the campaign leaves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975104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 is a 4f⁷ S-state ion: L = 0, spherical charge cloud, no single-ion anisotropy by construction. That is exactly why it is a clean surrogate for exchange — and exactly why it can never be the final composition.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9260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κ  =  √( K₁ / μ₀Ms² )  ≥  1</a:t>
            </a:r>
            <a:endParaRPr lang="en-US" sz="1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794760"/>
          <a:ext cx="50292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783080"/>
                <a:gridCol w="17830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μ₀Ms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K₁ for κ = 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K₁ for κ = 1.54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 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 MJ/m³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 MJ/m³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 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 MJ/m³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 MJ/m³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640080" y="486460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Ms demands MORE anisotropy, not less — which is why a 2 T target forces a non-spherical 4f ion. (κ = 1.54 is Nd₂Fe₁₄B.)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989320" y="1481328"/>
            <a:ext cx="5532120" cy="1060704"/>
          </a:xfrm>
          <a:prstGeom prst="roundRect">
            <a:avLst>
              <a:gd name="adj" fmla="val 6897"/>
            </a:avLst>
          </a:prstGeom>
          <a:solidFill>
            <a:srgbClr val="EEF2F7"/>
          </a:solidFill>
          <a:ln/>
        </p:spPr>
      </p:sp>
      <p:sp>
        <p:nvSpPr>
          <p:cNvPr id="11" name="Shape 8"/>
          <p:cNvSpPr/>
          <p:nvPr/>
        </p:nvSpPr>
        <p:spPr>
          <a:xfrm>
            <a:off x="6245352" y="1664208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245352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793992" y="161848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6793992" y="1883664"/>
            <a:ext cx="4526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|ΔE| per Gd from the campaign sets the exchange field; Stevens α_J and ⟨r²⟩ are tabulated. Only A₂⁰, the crystal-field parameter at the RE site, must be computed separately.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989320" y="2651760"/>
            <a:ext cx="5532120" cy="1060704"/>
          </a:xfrm>
          <a:prstGeom prst="roundRect">
            <a:avLst>
              <a:gd name="adj" fmla="val 6897"/>
            </a:avLst>
          </a:prstGeom>
          <a:solidFill>
            <a:srgbClr val="EEF2F7"/>
          </a:solidFill>
          <a:ln/>
        </p:spPr>
      </p:sp>
      <p:sp>
        <p:nvSpPr>
          <p:cNvPr id="16" name="Shape 13"/>
          <p:cNvSpPr/>
          <p:nvPr/>
        </p:nvSpPr>
        <p:spPr>
          <a:xfrm>
            <a:off x="6245352" y="2834640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45352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793992" y="278892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6793992" y="3054096"/>
            <a:ext cx="4526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K₁(x,T) from the 2nd-order crystal field with the Callen–Callen l = 2 law (K₁ ∝ m_RE³); Ms(x) from the TM sublattice and the RE moments, signed by the coupling.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989320" y="3822192"/>
            <a:ext cx="5532120" cy="1060704"/>
          </a:xfrm>
          <a:prstGeom prst="roundRect">
            <a:avLst>
              <a:gd name="adj" fmla="val 6897"/>
            </a:avLst>
          </a:prstGeom>
          <a:solidFill>
            <a:srgbClr val="EEF2F7"/>
          </a:solidFill>
          <a:ln/>
        </p:spPr>
      </p:sp>
      <p:sp>
        <p:nvSpPr>
          <p:cNvPr id="21" name="Shape 18"/>
          <p:cNvSpPr/>
          <p:nvPr/>
        </p:nvSpPr>
        <p:spPr>
          <a:xfrm>
            <a:off x="6245352" y="4005072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245352" y="4005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793992" y="395935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6793992" y="4224528"/>
            <a:ext cx="4526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x clearing κ ≥ 1 at operating temperature. Example: A₂⁰ = +300 K/a₀², 450 K → Tb at x = 0.77 gives K₁ = 5.7 MJ/m³, μ₀Ms = 2.67 T, κ = 1.0.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5989320" y="4992624"/>
            <a:ext cx="5532120" cy="1060704"/>
          </a:xfrm>
          <a:prstGeom prst="roundRect">
            <a:avLst>
              <a:gd name="adj" fmla="val 6897"/>
            </a:avLst>
          </a:prstGeom>
          <a:solidFill>
            <a:srgbClr val="EEF2F7"/>
          </a:solidFill>
          <a:ln/>
        </p:spPr>
      </p:sp>
      <p:sp>
        <p:nvSpPr>
          <p:cNvPr id="26" name="Shape 23"/>
          <p:cNvSpPr/>
          <p:nvPr/>
        </p:nvSpPr>
        <p:spPr>
          <a:xfrm>
            <a:off x="6245352" y="5175504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245352" y="5175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6793992" y="51297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Gd for Tc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6793992" y="5394960"/>
            <a:ext cx="4526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 has the largest de Gennes factor of the series (15.75 vs Tb 10.5, Dy 7.08), so it contributes most to Tc. Target the MINIMUM x that clears the bar.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40080" y="587044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traps the solver enforces: only ONE Stevens sign family is easy-axis for a given A₂⁰ (Tb/Dy/Ho have α_J &lt; 0, Er/Tm α_J &gt; 0 — mixing them cancels), and K₁ &lt; 0 is easy-plane, which is not a magnet at any magnitude.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WHAT THE DATABASES HOLD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Generating candidates: decoration, then symmetry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17904"/>
            <a:ext cx="5486400" cy="3063240"/>
          </a:xfrm>
          <a:prstGeom prst="roundRect">
            <a:avLst>
              <a:gd name="adj" fmla="val 2388"/>
            </a:avLst>
          </a:prstGeom>
          <a:solidFill>
            <a:srgbClr val="EEF2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32688" y="170078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decoration  —  run this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32688" y="2048256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 the X site of each named magnet prototype through a magnet-relevant palette (Al, Si, Ga, Ge, B, C, N, P, Sn, Sb, Ti, V, Cr, Zr, Nb, Mo, W, Hf, Ta), plus an Fe↔Co swap. Chemically conservative, and historically how most real magnets were found.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292608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CaCu₅-RT₄X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069080" y="2962656"/>
            <a:ext cx="1371600" cy="146304"/>
          </a:xfrm>
          <a:prstGeom prst="roundRect">
            <a:avLst>
              <a:gd name="adj" fmla="val 18750"/>
            </a:avLst>
          </a:prstGeom>
          <a:solidFill>
            <a:srgbClr val="2E86A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32120" y="29260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32688" y="3145536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ThMn₁₂-stabilized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069080" y="3182112"/>
            <a:ext cx="472190" cy="146304"/>
          </a:xfrm>
          <a:prstGeom prst="roundRect">
            <a:avLst>
              <a:gd name="adj" fmla="val 18750"/>
            </a:avLst>
          </a:prstGeom>
          <a:solidFill>
            <a:srgbClr val="2E86A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532120" y="314553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32688" y="336499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Th₂Zn₁₇-interstitial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069080" y="3401568"/>
            <a:ext cx="472190" cy="146304"/>
          </a:xfrm>
          <a:prstGeom prst="roundRect">
            <a:avLst>
              <a:gd name="adj" fmla="val 18750"/>
            </a:avLst>
          </a:prstGeom>
          <a:solidFill>
            <a:srgbClr val="2E86A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532120" y="336499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" y="358444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LaCo₉Si₄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069080" y="3621024"/>
            <a:ext cx="472190" cy="146304"/>
          </a:xfrm>
          <a:prstGeom prst="roundRect">
            <a:avLst>
              <a:gd name="adj" fmla="val 18750"/>
            </a:avLst>
          </a:prstGeom>
          <a:solidFill>
            <a:srgbClr val="2E86A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532120" y="3584448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932688" y="3803904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Nd₂Fe₁₄B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69080" y="3840480"/>
            <a:ext cx="449705" cy="146304"/>
          </a:xfrm>
          <a:prstGeom prst="roundRect">
            <a:avLst>
              <a:gd name="adj" fmla="val 18750"/>
            </a:avLst>
          </a:prstGeom>
          <a:solidFill>
            <a:srgbClr val="2E86A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532120" y="380390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932688" y="402336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RT₃ / Th₂Zn₁₇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069080" y="4059936"/>
            <a:ext cx="44970" cy="146304"/>
          </a:xfrm>
          <a:prstGeom prst="roundRect">
            <a:avLst>
              <a:gd name="adj" fmla="val 61001"/>
            </a:avLst>
          </a:prstGeom>
          <a:solidFill>
            <a:srgbClr val="2E86A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532120" y="402336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932688" y="418795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new candidates — including GdFe₁₁Si / GdAlFe₁₁ / GdFe₁₁N, the real 1-12 magnet chemistry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0" y="1517904"/>
            <a:ext cx="5120640" cy="3063240"/>
          </a:xfrm>
          <a:prstGeom prst="roundRect">
            <a:avLst>
              <a:gd name="adj" fmla="val 2388"/>
            </a:avLst>
          </a:prstGeom>
          <a:solidFill>
            <a:srgbClr val="EEF2F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693408" y="170078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Wyckoff generation  —  second priority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693408" y="2048256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the stoichiometry on the symmetry orbits of a target space group. Reaches genuinely new frameworks rather than re-decorating known ones — but the structures come out unrelaxed, the hit rate is low, and the volume (10⁴–10⁵) only makes sense behind a machine-learned potential.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6693408" y="32004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generator produces a hull distance — which is the whole point of the ≤ 0.2 eV/atom criterion.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6693408" y="37033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MLIP-relax (MACE / CHGNet) → E_hull against MP + Alexandria → keep ≤ 0.2 eV/atom → only then DFT.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40080" y="4754880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1B2A4A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32688" y="4892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≠ stable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932688" y="5193792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candidates arrive with a hull distance; generated ones do not. For 146 decorations the MLIP filter costs minutes — for a Wyckoff sweep it is the only thing that makes DFT affordable at all.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0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THE LOOP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Steering the next DFT batch with active learning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029968" cy="1572768"/>
          </a:xfrm>
          <a:prstGeom prst="roundRect">
            <a:avLst>
              <a:gd name="adj" fmla="val 4651"/>
            </a:avLst>
          </a:prstGeom>
          <a:solidFill>
            <a:srgbClr val="2E86A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68096" y="1975104"/>
            <a:ext cx="17739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706 labelled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 / ferri pairs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768096" y="2615184"/>
            <a:ext cx="17739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ΔE, site moments,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hull distance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2651760" y="239572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907792" y="1828800"/>
            <a:ext cx="2029968" cy="1572768"/>
          </a:xfrm>
          <a:prstGeom prst="roundRect">
            <a:avLst>
              <a:gd name="adj" fmla="val 4651"/>
            </a:avLst>
          </a:prstGeom>
          <a:solidFill>
            <a:srgbClr val="3E7FA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035808" y="1975104"/>
            <a:ext cx="17739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Surrogate model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035808" y="2615184"/>
            <a:ext cx="17739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GNN or GP on structure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ΔE, Mₙₑₜ, Eₕᵤₗₗ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919472" y="239572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175504" y="1828800"/>
            <a:ext cx="2029968" cy="1572768"/>
          </a:xfrm>
          <a:prstGeom prst="roundRect">
            <a:avLst>
              <a:gd name="adj" fmla="val 4651"/>
            </a:avLst>
          </a:prstGeom>
          <a:solidFill>
            <a:srgbClr val="F2B13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03520" y="1975104"/>
            <a:ext cx="17739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batch select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303520" y="2615184"/>
            <a:ext cx="17739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q-EI / UCB on Mₙₑₜ,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diversity-penalised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7187184" y="239572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443216" y="1828800"/>
            <a:ext cx="2029968" cy="1572768"/>
          </a:xfrm>
          <a:prstGeom prst="roundRect">
            <a:avLst>
              <a:gd name="adj" fmla="val 4651"/>
            </a:avLst>
          </a:prstGeom>
          <a:solidFill>
            <a:srgbClr val="E4572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571232" y="1975104"/>
            <a:ext cx="17739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proposal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571232" y="2615184"/>
            <a:ext cx="17739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 model conditioned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high Mₙₑₜ, low Eₕᵤₗₗ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9454896" y="239572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710928" y="1828800"/>
            <a:ext cx="2029968" cy="1572768"/>
          </a:xfrm>
          <a:prstGeom prst="roundRect">
            <a:avLst>
              <a:gd name="adj" fmla="val 4651"/>
            </a:avLst>
          </a:prstGeom>
          <a:solidFill>
            <a:srgbClr val="C6472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838944" y="1975104"/>
            <a:ext cx="17739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DFT batch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9838944" y="2615184"/>
            <a:ext cx="17739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 packed nodes,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job, ~6 h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10725912" y="3401568"/>
            <a:ext cx="0" cy="603504"/>
          </a:xfrm>
          <a:prstGeom prst="line">
            <a:avLst/>
          </a:prstGeom>
          <a:noFill/>
          <a:ln w="19050">
            <a:solidFill>
              <a:srgbClr val="8FA3C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55064" y="4005072"/>
            <a:ext cx="9070848" cy="0"/>
          </a:xfrm>
          <a:prstGeom prst="line">
            <a:avLst/>
          </a:prstGeom>
          <a:noFill/>
          <a:ln w="19050">
            <a:solidFill>
              <a:srgbClr val="8FA3C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55064" y="3401568"/>
            <a:ext cx="0" cy="603504"/>
          </a:xfrm>
          <a:prstGeom prst="line">
            <a:avLst/>
          </a:prstGeom>
          <a:noFill/>
          <a:ln w="19050">
            <a:solidFill>
              <a:srgbClr val="8FA3C0"/>
            </a:solidFill>
            <a:prstDash val="solid"/>
            <a:headEnd type="triangle"/>
          </a:ln>
        </p:spPr>
      </p:sp>
      <p:sp>
        <p:nvSpPr>
          <p:cNvPr id="26" name="Text 24"/>
          <p:cNvSpPr txBox="1"/>
          <p:nvPr/>
        </p:nvSpPr>
        <p:spPr>
          <a:xfrm>
            <a:off x="3931920" y="40416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re-train the surrogate each round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4526280"/>
            <a:ext cx="2606040" cy="1508760"/>
          </a:xfrm>
          <a:prstGeom prst="roundRect">
            <a:avLst>
              <a:gd name="adj" fmla="val 3636"/>
            </a:avLst>
          </a:prstGeom>
          <a:solidFill>
            <a:srgbClr val="1B2A4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2960" y="46634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Bayesian optimisation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4956048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Cheapest to stand up. Fits the problem: a scalar objective (net moment, or ΔE &gt; 0) over a fixed 1,152-compound pool, batched to match one packed Perlmutter job.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483864" y="4526280"/>
            <a:ext cx="2606040" cy="1508760"/>
          </a:xfrm>
          <a:prstGeom prst="roundRect">
            <a:avLst>
              <a:gd name="adj" fmla="val 3636"/>
            </a:avLst>
          </a:prstGeom>
          <a:solidFill>
            <a:srgbClr val="1B2A4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666744" y="46634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Reinforcement learning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3666744" y="4956048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Treats substitution as sequential decisions — which site, which element. Useful once the pool is exhausted and the search must generate rather than select.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327648" y="4526280"/>
            <a:ext cx="2606040" cy="1508760"/>
          </a:xfrm>
          <a:prstGeom prst="roundRect">
            <a:avLst>
              <a:gd name="adj" fmla="val 3636"/>
            </a:avLst>
          </a:prstGeom>
          <a:solidFill>
            <a:srgbClr val="1B2A4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10528" y="46634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 / generative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10528" y="4956048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MatterGen-style, conditioned on high uncompensated moment. Proposes new decorations of the 2-17 and 1-12 frameworks instead of re-ranking known ones.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9171432" y="4526280"/>
            <a:ext cx="2606040" cy="1508760"/>
          </a:xfrm>
          <a:prstGeom prst="roundRect">
            <a:avLst>
              <a:gd name="adj" fmla="val 3636"/>
            </a:avLst>
          </a:prstGeom>
          <a:solidFill>
            <a:srgbClr val="1B2A4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9354312" y="46634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MLIP pre-filter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9354312" y="4956048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 MACE on this campaign's spin-polarised data, then relax and pre-rank thousands of proposals before any DFT is spent.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640080" y="61722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706 runs are the seed dataset: the first systematically computed RE-TM exchange labels for this chemistry.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Fe-HREE Magnet Screening</dc:title>
  <dc:subject>PptxGenJS Presentation</dc:subject>
  <dc:creator>MAGNITO computational screening</dc:creator>
  <cp:lastModifiedBy>MAGNITO computational screening</cp:lastModifiedBy>
  <cp:revision>1</cp:revision>
  <dcterms:created xsi:type="dcterms:W3CDTF">2026-09-27T23:45:44Z</dcterms:created>
  <dcterms:modified xsi:type="dcterms:W3CDTF">2026-09-27T23:45:44Z</dcterms:modified>
</cp:coreProperties>
</file>