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Framing: the program wants &gt;2 T. The physics obstacle is that heavy-RE 4f moments couple antiparallel to Fe, so the default outcome is a ferrimagnet with a reduced net moment.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Campbell rule: 4f-5d-3d chain fixes the sign. Heavy RE gives ferrimagnetism; light RE gives net-parallel alignment. This is why every database 'FM' label on a Gd-Fe compound deserves suspicion.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nine FM-labelled hits being all-Gd is a tell: it is an artefact of which element is treated with explicit 4f, not a physical discovery.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Novamag: CC-BY-4.0, auto-fetched from Zenodo record 3241267 (160 MB). MAGNDATA is the strongest available test of the coupling-sign protocol - every experimental RE-TM entry is a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of 8 pairs ferrimagnetic. 280 meV is far too large to be a convergence artefact. The compensation in RT4X is the practical kill: Fe sublattice ~14 muB cancels against Gd 7 muB x2 sites.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95-&gt;4 collapse on first hardening attempt actually went to ZERO credible - that first pass derived NUPDOWN from the same runs it was trying to fix (circular). Fixed by requiring a freely-converged reference or falling back to measured nominal per-element moments, split by high-spin/low-spin branch.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explicit that the earlier deck claimed Co16Gd2Mn as FM. The release-stage comparison overturned it. The three validity rules now in analyze.py are the methodological product of that episode.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OLS on log|dE|: 5d moment +0.34/SD, neighbour-sum +0.19, dilution +0.10, distance -0.04, d-band centre ~0; R2 0.63.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outliers are circled: Gd2Fe17H3 far below the line (artifact suspect, in the suspects batch), and one Fe host far above (CFe17Gd2 - fm side suspect). Both are being re-run locked-&gt;released.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Liebs-Hummler-Fahnle PRB 46, 11201 (1992); Liebs-Fahnle JMMM 128, L8 (1993); Duc 1998 review; Brooks-Johansson 5d-3d hybridisation; Tao et al. arXiv 2608.25270.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Liebs-Hummler-Fahnle PRB 46 11201 (1992) Table III (Loewenhaupt INS); Liebs-Fahnle JMMM 128 L8 (1993); Duc et al. JMMM 177-181 1107 (1998) Table 1. Ho2Fe17 used as the 2-17 reference since J_RT in this convention is nearly RE-independent.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Job 59642825, 20 nodes, 3 h, regular QOS, submitted 2026-10-10 11:58. Reader: light_re_results.py. Tc is NOT in this batch - it needs an Fe-Fe Heisenberg mapping, planned as the next step for survivors.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reframing: the Gd campaign is not just a yes/no on ferromagnetism. It is a measurement of the RE-TM exchange that propagates to the whole heavy series analytically.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projections are 0 K PBE without SOC and ~0.3 T above experiment (Nd2Fe17Nx 2.04 projected vs ~1.5 measured). Literature: Nd2Fe14B 1.61 T/585 K; Sm2Fe17N3 1.54/749; NdFe12N 1.66/823 (Hirayama 2015); Sm(Fe0.8Co0.2)12 1.78/859 (Hirayama 2017); Sm2Co17 1.25/1190.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A20 sign convention must be calibrated against a known compound first. Novamag is the natural calibration source.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Standard symbols: terminator = start/end, rectangle = process, diamond = decision, parallelogram = data, cylinder = stored data. Red process = the only HPC step. Solid loop = retraining; dashed loop = neighbourhood expansion of the winners feeding the structure store.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Counts from analysis/pool/pool.csv at the time of the wave-1 redraw. Dedupe is on (reduced formula, space group); the same host can appear from several sources, the lowest-hull copy is kept.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GP: use h-based linear mean, Matern kernel on standardised descriptors; batch acquisition with diversity penalty sized to the packed job. Causal: DAG host-geometry -&gt; S5d -&gt; gap; Fe density -&gt; Ms; interstitial site -&gt; S5d. Generative: MatterGen-style conditioned on composition and target Fe density.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MAGNITO  ·  COMPUTATIONAL SCREENING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8308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Fe-rich Heavy-Rare-Earth</a:t>
            </a:r>
            <a:endParaRPr lang="en-US" sz="46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Magnet Search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118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criteria, database landscape, the ferro- vs ferrimagnetic test, and an active-learning path forward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5720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μ₀Ms &gt; 2 T  ·  Tc &gt; 550 K  ·  uniaxial anisotropy  ·  RE-lean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8978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00" kern="0" dirty="0">
                <a:solidFill>
                  <a:srgbClr val="6E81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706 paired DFT calculations  ·  353 compounds  ·  180 credible RE-TM exchange labels  ·  0 ferromagnets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9372600" y="16002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 / Co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372600" y="187452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45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9756648" y="187452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45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10140696" y="187452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45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10524744" y="187452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45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8869680" y="30632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 / Tb / Dy / Ho / Er / Tm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921240" y="3310128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86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8641080" y="4160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EB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4f moment antiparallel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AEB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ferrimagnet, not ferromagnet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SEARCH IS HARD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target, and the rule that fights 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212080" cy="4069080"/>
          </a:xfrm>
          <a:prstGeom prst="roundRect">
            <a:avLst>
              <a:gd name="adj" fmla="val 1798"/>
            </a:avLst>
          </a:prstGeom>
          <a:solidFill>
            <a:srgbClr val="EEF2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32688" y="1691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viable permanent magnet needs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32688" y="2148840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32688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1305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μ₀Ms &gt; 2 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481328" y="238658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Fe/Co sublattice, little dilution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32688" y="2935224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32688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481328" y="291693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Tᴄ &gt; 550 K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481328" y="31729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TM-TM exchange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32688" y="3721608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32688" y="3721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481328" y="3703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Uniaxial anisotropy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39593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the RE 4f crystal field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32688" y="4507992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32688" y="4507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481328" y="448970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RE-lean, no critical elements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481328" y="474573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and supply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309360" y="1481328"/>
            <a:ext cx="5212080" cy="4069080"/>
          </a:xfrm>
          <a:prstGeom prst="roundRect">
            <a:avLst>
              <a:gd name="adj" fmla="val 1798"/>
            </a:avLst>
          </a:prstGeom>
          <a:solidFill>
            <a:srgbClr val="1B2A4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01968" y="1691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Campbell rule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601968" y="202996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metallic RE-TM intermetallics the 4f spin couples to Fe through a fixed chain: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601968" y="2542032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4f spin  ↔  own 5d   (parallel, on-site)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5d  ↔  Fe 3d   (ANTIparallel, between sites)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601968" y="3346704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RE (Gd–Tm): </a:t>
            </a:r>
            <a:pPr indent="0" marL="0">
              <a:buNone/>
            </a:pPr>
            <a:r>
              <a:rPr lang="en-US" sz="12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 = L + S, so the total moment follows the spin → antiparallel to Fe → </a:t>
            </a:r>
            <a:pPr indent="0" marL="0">
              <a:buNone/>
            </a:pPr>
            <a:r>
              <a:rPr lang="en-US" sz="12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ferrimagnet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601968" y="3968496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RE (Nd, Sm, Pr): </a:t>
            </a:r>
            <a:pPr indent="0" marL="0">
              <a:buNone/>
            </a:pPr>
            <a:r>
              <a:rPr lang="en-US" sz="12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 = L − S, so the total moment opposes the spin → parallel to Fe → </a:t>
            </a:r>
            <a:pPr indent="0" marL="0">
              <a:buNone/>
            </a:pPr>
            <a:r>
              <a:rPr lang="en-US" sz="12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ferromagnet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601968" y="4709160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Consequence: a genuinely ferromagnetic Fe-HREE phase is the exception, not the target to assume. The screen must test it, not presume it.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5577840"/>
            <a:ext cx="10881360" cy="566928"/>
          </a:xfrm>
          <a:prstGeom prst="roundRect">
            <a:avLst>
              <a:gd name="adj" fmla="val 12903"/>
            </a:avLst>
          </a:prstGeom>
          <a:solidFill>
            <a:srgbClr val="1B2A4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68680" y="557784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of the campaign: tested on 180 credible Fe/Co-Gd compounds - 180 ferrimagnets, 0 ferromagnets. The rule held everywhere; what varied, by 10x, was its strength.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DEFINITION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 criteria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5257800" cy="1143000"/>
          </a:xfrm>
          <a:prstGeom prst="roundRect">
            <a:avLst>
              <a:gd name="adj" fmla="val 6400"/>
            </a:avLst>
          </a:prstGeom>
          <a:solidFill>
            <a:srgbClr val="EEF2F7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810512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81328" y="17556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 or Co ≥ 60 at.%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0756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dense 3d sublattice is the only route to &gt;2 T; dilute phases cannot reach it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55080" y="1572768"/>
            <a:ext cx="5257800" cy="1143000"/>
          </a:xfrm>
          <a:prstGeom prst="roundRect">
            <a:avLst>
              <a:gd name="adj" fmla="val 6400"/>
            </a:avLst>
          </a:prstGeom>
          <a:solidFill>
            <a:srgbClr val="EEF2F7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0" y="1810512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2940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96328" y="17556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 one heavy RE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7196328" y="20756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Gd, Tb, Dy, Ho, Er, Tm — the 4f source of anisotropy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944368"/>
            <a:ext cx="5257800" cy="1143000"/>
          </a:xfrm>
          <a:prstGeom prst="roundRect">
            <a:avLst>
              <a:gd name="adj" fmla="val 6400"/>
            </a:avLst>
          </a:prstGeom>
          <a:solidFill>
            <a:srgbClr val="EEF2F7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3182112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3182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31272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Ternary compositions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1481328" y="34472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the phase space synthesisable and the DFT tractable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55080" y="2944368"/>
            <a:ext cx="5257800" cy="1143000"/>
          </a:xfrm>
          <a:prstGeom prst="roundRect">
            <a:avLst>
              <a:gd name="adj" fmla="val 6400"/>
            </a:avLst>
          </a:prstGeom>
          <a:solidFill>
            <a:srgbClr val="EEF2F7"/>
          </a:solidFill>
          <a:ln/>
        </p:spPr>
      </p:sp>
      <p:sp>
        <p:nvSpPr>
          <p:cNvPr id="20" name="Shape 18"/>
          <p:cNvSpPr/>
          <p:nvPr/>
        </p:nvSpPr>
        <p:spPr>
          <a:xfrm>
            <a:off x="6629400" y="3182112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29400" y="3182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196328" y="31272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above hull ≤ 0.2 eV/atom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7196328" y="34472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on, below, or metastably above — many real magnets are metastable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315968"/>
            <a:ext cx="5257800" cy="1143000"/>
          </a:xfrm>
          <a:prstGeom prst="roundRect">
            <a:avLst>
              <a:gd name="adj" fmla="val 6400"/>
            </a:avLst>
          </a:prstGeom>
          <a:solidFill>
            <a:srgbClr val="E6EEF6"/>
          </a:solidFill>
          <a:ln/>
        </p:spPr>
      </p:sp>
      <p:sp>
        <p:nvSpPr>
          <p:cNvPr id="25" name="Shape 23"/>
          <p:cNvSpPr/>
          <p:nvPr/>
        </p:nvSpPr>
        <p:spPr>
          <a:xfrm>
            <a:off x="914400" y="4553712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14400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481328" y="44988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Magnetic, or unknown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1481328" y="48188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 &gt; 0.3 μᴮ/atom; 'no data' is kept, not discarded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355080" y="4315968"/>
            <a:ext cx="5257800" cy="1143000"/>
          </a:xfrm>
          <a:prstGeom prst="roundRect">
            <a:avLst>
              <a:gd name="adj" fmla="val 6400"/>
            </a:avLst>
          </a:prstGeom>
          <a:solidFill>
            <a:srgbClr val="E6EEF6"/>
          </a:solidFill>
          <a:ln/>
        </p:spPr>
      </p:sp>
      <p:sp>
        <p:nvSpPr>
          <p:cNvPr id="30" name="Shape 28"/>
          <p:cNvSpPr/>
          <p:nvPr/>
        </p:nvSpPr>
        <p:spPr>
          <a:xfrm>
            <a:off x="6629400" y="4553712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629400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196328" y="449884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 decided by us</a:t>
            </a:r>
            <a:endParaRPr lang="en-US" sz="1450" dirty="0"/>
          </a:p>
        </p:txBody>
      </p:sp>
      <p:sp>
        <p:nvSpPr>
          <p:cNvPr id="33" name="Text 31"/>
          <p:cNvSpPr txBox="1"/>
          <p:nvPr/>
        </p:nvSpPr>
        <p:spPr>
          <a:xfrm>
            <a:off x="7196328" y="481888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database can answer FM vs ferri — that is the calculation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87044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5 and 6 are deliberately permissive: an unlabelled compound is a candidate, not a rejection.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LOOKED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each database can and cannot answer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36192"/>
          <a:ext cx="10881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68680"/>
                <a:gridCol w="3291840"/>
                <a:gridCol w="4434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Filters natively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limitation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GNoME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composition, stability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magnetic data at all; on-hull set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Materials Project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ordering label, hull, moment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FM-initialised label; 4f frozen in 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OQMD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hull, composition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moments not exposed; structures via slow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Alexandria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elements, nelements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moments response-only; server outages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spin per atom, species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hull distance; thin RE-TM ternary coverage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251960"/>
            <a:ext cx="10881360" cy="1417320"/>
          </a:xfrm>
          <a:prstGeom prst="roundRect">
            <a:avLst>
              <a:gd name="adj" fmla="val 5161"/>
            </a:avLst>
          </a:prstGeom>
          <a:solidFill>
            <a:srgbClr val="1B2A4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60120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limitation they share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475488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large database runs ONE spin-polarised calculation per structure, initialised ferromagnetically, with heavy-RE 4f frozen in the PAW core. So a “FM” label means “the Fe sublattice kept its moments” — never that the RE couples parallel. Nine FM-labelled Fe/Co-HREE candidates were found across all five databases; all nine contained Gd, the one heavy RE these codes treat explicitly.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SCARCE COMMODITY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Datasets that actually contain anisotropy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17904"/>
          <a:ext cx="108813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114800"/>
                <a:gridCol w="4297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uniquely has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 in this campaign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Novamag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DFT K₁/MAE, exchange, Tc for RE-lean magnets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 + validate the MAE surrogate; calibrate A₂⁰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MAGNDATA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~2,000 EXPERIMENTAL magnetic structures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 truth for the fm/ferri coupling sign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C2DB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systematic MAE + exchange (2D materials)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 an MAE model before trusting it in 3D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Heusler set (Sanvito)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~236k compositions, moments + est. Tc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 training data; funnel-reporting template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Nelson–Sanvito Tc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~2,500 experimental Curie temperatures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screen Tc before computing exchange constants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NIMS MatNavi / MDR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curated Nd-Fe-B and 1-12 experiment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 targets (registration required)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343400"/>
            <a:ext cx="6949440" cy="1417320"/>
          </a:xfrm>
          <a:prstGeom prst="roundRect">
            <a:avLst>
              <a:gd name="adj" fmla="val 5161"/>
            </a:avLst>
          </a:prstGeom>
          <a:solidFill>
            <a:srgbClr val="1B2A4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32688" y="45079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these are worth more per entry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932688" y="4828032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large databases we screened carry composition, stability and a moment. None carries MAE, exchange constants or Tc at scale — the quantities a permanent magnet is actually judged on. Novamag is the only open source of systematic anisotropy, which is what makes an MAE surrogate trainable at all.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818120" y="4343400"/>
            <a:ext cx="3703320" cy="1417320"/>
          </a:xfrm>
          <a:prstGeom prst="roundRect">
            <a:avLst>
              <a:gd name="adj" fmla="val 5161"/>
            </a:avLst>
          </a:prstGeom>
          <a:solidFill>
            <a:srgbClr val="FCEDE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092440" y="45079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open — do not plan around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8092440" y="4828032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40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MPDS / Pauling File and Springer Materials hold the deepest experimental magnet record, but neither is openly accessible.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DATABASES TO CALCULATIONS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Screening funnel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658368"/>
          </a:xfrm>
          <a:prstGeom prst="roundRect">
            <a:avLst>
              <a:gd name="adj" fmla="val 8333"/>
            </a:avLst>
          </a:prstGeom>
          <a:solidFill>
            <a:srgbClr val="2E86A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96112" y="15544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554,055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2880360" y="155448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GNoME stable entries scanned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8778240" cy="658368"/>
          </a:xfrm>
          <a:prstGeom prst="roundRect">
            <a:avLst>
              <a:gd name="adj" fmla="val 8333"/>
            </a:avLst>
          </a:prstGeom>
          <a:solidFill>
            <a:srgbClr val="2E86A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239572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1,152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2880360" y="2395728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candidate formulas across 5 databases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236976"/>
            <a:ext cx="6949440" cy="658368"/>
          </a:xfrm>
          <a:prstGeom prst="roundRect">
            <a:avLst>
              <a:gd name="adj" fmla="val 8333"/>
            </a:avLst>
          </a:prstGeom>
          <a:solidFill>
            <a:srgbClr val="3E7FA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323697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756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2880360" y="3236976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retrievable crystal structures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078224"/>
            <a:ext cx="5303520" cy="658368"/>
          </a:xfrm>
          <a:prstGeom prst="roundRect">
            <a:avLst>
              <a:gd name="adj" fmla="val 8333"/>
            </a:avLst>
          </a:prstGeom>
          <a:solidFill>
            <a:srgbClr val="E457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96112" y="4078224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352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2880360" y="4078224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 staged for DFT (24 native Gd + 328 Gd surrogates)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919472"/>
            <a:ext cx="3840480" cy="658368"/>
          </a:xfrm>
          <a:prstGeom prst="roundRect">
            <a:avLst>
              <a:gd name="adj" fmla="val 8333"/>
            </a:avLst>
          </a:prstGeom>
          <a:solidFill>
            <a:srgbClr val="E457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6112" y="491947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706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491947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paired fm / ferri VASP calculations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778240" y="41148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726 parent compounds</a:t>
            </a:r>
            <a:endParaRPr lang="en-US" sz="1300" dirty="0"/>
          </a:p>
          <a:p>
            <a:pPr algn="r" indent="0" marL="0">
              <a:buNone/>
            </a:pPr>
            <a:r>
              <a:rPr lang="en-US" sz="13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 into 328</a:t>
            </a:r>
            <a:endParaRPr lang="en-US" sz="1300" dirty="0"/>
          </a:p>
          <a:p>
            <a:pPr algn="r" indent="0" marL="0">
              <a:buNone/>
            </a:pPr>
            <a:r>
              <a:rPr lang="en-US" sz="13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surrogate calculations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50749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Deduplicated on (substituted formula, space group); coupling transfers back to each parent by de Gennes scaling.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DECIDING CALCULATION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configurations, one energy difference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EEF2F7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783080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286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every structure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63347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collinear spin-polarised PBE+U runs, identical except the SIGN of the initial Gd moment: fm (+7 μᴮ) and ferri (−7 μᴮ).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4224528" y="23774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86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480560" y="155448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EEF2F7"/>
          </a:solidFill>
          <a:ln/>
        </p:spPr>
      </p:sp>
      <p:sp>
        <p:nvSpPr>
          <p:cNvPr id="11" name="Shape 9"/>
          <p:cNvSpPr/>
          <p:nvPr/>
        </p:nvSpPr>
        <p:spPr>
          <a:xfrm>
            <a:off x="4754880" y="1783080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5488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2286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 of ΔE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754880" y="263347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ΔE = E(ferri) − E(fm).  Negative → ferrimagnetic ground state.  Positive → genuine FM RE-TM coupling.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065008" y="23774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86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321040" y="155448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EEF2F7"/>
          </a:solidFill>
          <a:ln/>
        </p:spPr>
      </p:sp>
      <p:sp>
        <p:nvSpPr>
          <p:cNvPr id="17" name="Shape 15"/>
          <p:cNvSpPr/>
          <p:nvPr/>
        </p:nvSpPr>
        <p:spPr>
          <a:xfrm>
            <a:off x="8595360" y="1783080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9536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595360" y="2286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across the series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8595360" y="263347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Tb–Tm ship as f-in-core potentials whose 4f cannot flip, so Gd is substituted onto every RE site and the result is carried back by de Gennes scaling, (gᴊ − 1)J.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041648"/>
            <a:ext cx="10881360" cy="1691640"/>
          </a:xfrm>
          <a:prstGeom prst="roundRect">
            <a:avLst>
              <a:gd name="adj" fmla="val 4324"/>
            </a:avLst>
          </a:prstGeom>
          <a:solidFill>
            <a:srgbClr val="1B2A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60120" y="4206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and controls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" y="45262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PBE+U  </a:t>
            </a:r>
            <a:pPr indent="0" marL="0">
              <a:buNone/>
            </a:pPr>
            <a:r>
              <a:rPr lang="en-US" sz="12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 4f U = 6.7 / J = 0.7 eV (U_eff = 6)  ·  no U on metallic Fe  ·  LASPH, LMAXMIX = 6  ·  ENCUT 520  ·  8000 k-points·atom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60120" y="491947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Guards  </a:t>
            </a:r>
            <a:pPr indent="0" marL="0">
              <a:buNone/>
            </a:pPr>
            <a:r>
              <a:rPr lang="en-US" sz="12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statics on a common geometry so ΔE isolates exchange  ·  every run checked for SCF drift into the other spin state  ·  light RE pinned to f-in-core so only Gd carries a flippable 4f  ·  GdFe₂ (a known ferrimagnet) run as a protocol control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— 16 RUNS, 8 COMPOUNDS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protocol validates, and the database labels fall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17904"/>
          <a:ext cx="1088136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2103120"/>
                <a:gridCol w="2148840"/>
                <a:gridCol w="2148840"/>
                <a:gridCol w="187452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Prototype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ΔE per Gd (meV)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 state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moment, ferri (μᴮ)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GdFe₂  (control)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Laves C15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−352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−6.98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GdAlFe₄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CaCu₅ RT₄X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GdGaFe₄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CaCu₅ RT₄X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GdCo₄Si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CaCu₅ RT₄X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−155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−3.14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GdFe₄B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CaCu₅ RT₄X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GdCo₄B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CaCu₅ RT₄X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−263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−6.78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Gd₂Fe₃Co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Laves C14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−329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−7.53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Gd₂Fe₁₂Ga₅C₂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new, C2/m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ferrimagnetic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892040"/>
            <a:ext cx="5532120" cy="1325880"/>
          </a:xfrm>
          <a:prstGeom prst="roundRect">
            <a:avLst>
              <a:gd name="adj" fmla="val 5517"/>
            </a:avLst>
          </a:prstGeom>
          <a:solidFill>
            <a:srgbClr val="EEF2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504748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passed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5349240"/>
            <a:ext cx="4983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GdFe₂ is experimentally a ferrimagnet and the protocol reproduces that by 352 meV/Gd — which is what licenses trusting the rest.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355080" y="4892040"/>
            <a:ext cx="5166360" cy="1325880"/>
          </a:xfrm>
          <a:prstGeom prst="roundRect">
            <a:avLst>
              <a:gd name="adj" fmla="val 5517"/>
            </a:avLst>
          </a:prstGeom>
          <a:solidFill>
            <a:srgbClr val="FCEDE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29400" y="504748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FM labels were artefacts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534924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40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GdAlFe₄ and GdGaFe₄ (Alexandria) and GdCo₄Si (MP) were all FM-labelled. All three are ferrimagnetic by 155–284 meV/Gd — and the two RT₄X phases are almost fully compensated, so their true net moment is ≈ 0, not the ≈1.9 T the FM-initialised numbers implied.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THE SCREEN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fm/ferri energies had to be forced apart before they could be trusted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577840" cy="3931920"/>
          </a:xfrm>
          <a:prstGeom prst="roundRect">
            <a:avLst>
              <a:gd name="adj" fmla="val 1860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6642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a plain SCF doesn't stay where you put it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9751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compound needs two static calculations - one initialised ferromagnetic, one ferrimagnetic - and the energy difference between them is the answer. At 353-compound scale, a plain unconstrained SCF too often drifts out of the state it was initialised in: LDA+U has several self-consistent solutions, and a simple collinear starting guess is not a strong enough anchor to hold either configuration in place through convergence.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0358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fix: lock the total moment, then release it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346704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NUPDOWN fixes the total spin-up minus spin-down electron count, forcing the SCF to converge inside the intended basin. The target is derived from each element's own measured moment (not textbook values), never from a run already suspected of drifting.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14400" y="4041648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444752" y="4023360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 - locked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444752" y="4206240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EB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NUPDOWN set to the intended fm/ferri moment; hardened mixing (NELM, EDIFF, AMIX); CHGCAR-only restart (WAVECAR skipped - it once cost 700 GB and failed ~60 runs on disk pressure alone)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914400" y="4645152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4645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444752" y="4626864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 - released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444752" y="4809744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EB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NUPDOWN removed; one final unconstrained static from Stage A's charge density - the energy actually compared, since a locked run only proves a state exists, not that VASP would choose it freely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355080" y="1463040"/>
            <a:ext cx="5166360" cy="3931920"/>
          </a:xfrm>
          <a:prstGeom prst="roundRect">
            <a:avLst>
              <a:gd name="adj" fmla="val 1860"/>
            </a:avLst>
          </a:prstGeom>
          <a:solidFill>
            <a:srgbClr val="EEF2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11112" y="166420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funnel this actually produced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611112" y="2029968"/>
            <a:ext cx="457200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93992" y="2121408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353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2121408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 analysed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7863840" y="2377440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fm/ferri pair, Gd surrogate</a:t>
            </a:r>
            <a:endParaRPr lang="en-US" sz="860" dirty="0"/>
          </a:p>
        </p:txBody>
      </p:sp>
      <p:sp>
        <p:nvSpPr>
          <p:cNvPr id="23" name="Shape 21"/>
          <p:cNvSpPr/>
          <p:nvPr/>
        </p:nvSpPr>
        <p:spPr>
          <a:xfrm>
            <a:off x="6611112" y="2907792"/>
            <a:ext cx="4572000" cy="768096"/>
          </a:xfrm>
          <a:prstGeom prst="roundRect">
            <a:avLst>
              <a:gd name="adj" fmla="val 9524"/>
            </a:avLst>
          </a:prstGeom>
          <a:solidFill>
            <a:srgbClr val="FCEDE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793992" y="2999232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0" y="2999232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apparent ferromagnets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7863840" y="3255264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naive, unconstrained SCF result - taken at face value, most are not real</a:t>
            </a:r>
            <a:endParaRPr lang="en-US" sz="860" dirty="0"/>
          </a:p>
        </p:txBody>
      </p:sp>
      <p:sp>
        <p:nvSpPr>
          <p:cNvPr id="27" name="Shape 25"/>
          <p:cNvSpPr/>
          <p:nvPr/>
        </p:nvSpPr>
        <p:spPr>
          <a:xfrm>
            <a:off x="6611112" y="3785616"/>
            <a:ext cx="4572000" cy="768096"/>
          </a:xfrm>
          <a:prstGeom prst="roundRect">
            <a:avLst>
              <a:gd name="adj" fmla="val 9524"/>
            </a:avLst>
          </a:prstGeom>
          <a:solidFill>
            <a:srgbClr val="FFF3D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793992" y="3877056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7863840" y="3877056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 NUPDOWN hardening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7863840" y="4133088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measured-moment-derived locked rerun, released to a final unconstrained static</a:t>
            </a:r>
            <a:endParaRPr lang="en-US" sz="860" dirty="0"/>
          </a:p>
        </p:txBody>
      </p:sp>
      <p:sp>
        <p:nvSpPr>
          <p:cNvPr id="31" name="Shape 29"/>
          <p:cNvSpPr/>
          <p:nvPr/>
        </p:nvSpPr>
        <p:spPr>
          <a:xfrm>
            <a:off x="6611112" y="4663440"/>
            <a:ext cx="4572000" cy="768096"/>
          </a:xfrm>
          <a:prstGeom prst="roundRect">
            <a:avLst>
              <a:gd name="adj" fmla="val 9524"/>
            </a:avLst>
          </a:prstGeom>
          <a:solidFill>
            <a:srgbClr val="1B2A4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793992" y="4754880"/>
            <a:ext cx="1005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000" dirty="0"/>
          </a:p>
        </p:txBody>
      </p:sp>
      <p:sp>
        <p:nvSpPr>
          <p:cNvPr id="33" name="Text 31"/>
          <p:cNvSpPr txBox="1"/>
          <p:nvPr/>
        </p:nvSpPr>
        <p:spPr>
          <a:xfrm>
            <a:off x="7863840" y="4754880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 the release test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7863840" y="5010912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of the 4 carried multi-eV exchange energies (LDA+U multi-minima artefact); the 4th, Co16Gd2Mn, was a metastable Mn-parallel-to-Gd basin that released to a ferrimagnet</a:t>
            </a:r>
            <a:endParaRPr lang="en-US" sz="86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RESULTS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ferromagnet survives the release test; the false positive taught us the most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4846320" cy="4526280"/>
          </a:xfrm>
          <a:prstGeom prst="roundRect">
            <a:avLst>
              <a:gd name="adj" fmla="val 1616"/>
            </a:avLst>
          </a:prstGeom>
          <a:solidFill>
            <a:srgbClr val="EEF2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96112" y="160934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funnel, after every validity rule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96112" y="1956816"/>
            <a:ext cx="4370832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2048256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353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2011680" y="204825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 / ferri pairs staged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2295144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 stand-in for Tb-Tm, PBE+U, NUPDOWN-locked then released</a:t>
            </a:r>
            <a:endParaRPr lang="en-US" sz="840" dirty="0"/>
          </a:p>
        </p:txBody>
      </p:sp>
      <p:sp>
        <p:nvSpPr>
          <p:cNvPr id="10" name="Shape 8"/>
          <p:cNvSpPr/>
          <p:nvPr/>
        </p:nvSpPr>
        <p:spPr>
          <a:xfrm>
            <a:off x="896112" y="2926080"/>
            <a:ext cx="4370832" cy="859536"/>
          </a:xfrm>
          <a:prstGeom prst="roundRect">
            <a:avLst>
              <a:gd name="adj" fmla="val 8511"/>
            </a:avLst>
          </a:prstGeom>
          <a:solidFill>
            <a:srgbClr val="FFF3D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51560" y="3017520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180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2011680" y="301752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credible exchange labels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3264408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configs converged, TM and spectator sublattices stable, RE sites equal, exchange energy on a physical scale</a:t>
            </a:r>
            <a:endParaRPr lang="en-US" sz="840" dirty="0"/>
          </a:p>
        </p:txBody>
      </p:sp>
      <p:sp>
        <p:nvSpPr>
          <p:cNvPr id="14" name="Shape 12"/>
          <p:cNvSpPr/>
          <p:nvPr/>
        </p:nvSpPr>
        <p:spPr>
          <a:xfrm>
            <a:off x="896112" y="3895344"/>
            <a:ext cx="4370832" cy="859536"/>
          </a:xfrm>
          <a:prstGeom prst="roundRect">
            <a:avLst>
              <a:gd name="adj" fmla="val 8511"/>
            </a:avLst>
          </a:prstGeom>
          <a:solidFill>
            <a:srgbClr val="E3F0F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51560" y="3986784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5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180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2011680" y="398678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ferrimagnetic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4233672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credible pair: Gd antiparallel to Fe/Co, 28-371 meV per Gd</a:t>
            </a:r>
            <a:endParaRPr lang="en-US" sz="840" dirty="0"/>
          </a:p>
        </p:txBody>
      </p:sp>
      <p:sp>
        <p:nvSpPr>
          <p:cNvPr id="18" name="Shape 16"/>
          <p:cNvSpPr/>
          <p:nvPr/>
        </p:nvSpPr>
        <p:spPr>
          <a:xfrm>
            <a:off x="896112" y="4864608"/>
            <a:ext cx="4370832" cy="859536"/>
          </a:xfrm>
          <a:prstGeom prst="roundRect">
            <a:avLst>
              <a:gd name="adj" fmla="val 8511"/>
            </a:avLst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51560" y="4956048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2011680" y="49560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ferromagnetic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2011680" y="5202936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Campbell 4f-5d-3d chain holds in all 180 - no host, decoration or Mn trick broke it</a:t>
            </a:r>
            <a:endParaRPr lang="en-US" sz="840" dirty="0"/>
          </a:p>
        </p:txBody>
      </p:sp>
      <p:sp>
        <p:nvSpPr>
          <p:cNvPr id="22" name="Shape 20"/>
          <p:cNvSpPr/>
          <p:nvPr/>
        </p:nvSpPr>
        <p:spPr>
          <a:xfrm>
            <a:off x="5806440" y="1463040"/>
            <a:ext cx="5715000" cy="3017520"/>
          </a:xfrm>
          <a:prstGeom prst="roundRect">
            <a:avLst>
              <a:gd name="adj" fmla="val 2424"/>
            </a:avLst>
          </a:prstGeom>
          <a:solidFill>
            <a:srgbClr val="1B2A4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062472" y="160934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Co16Gd2Mn: the false positive, and why it was false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062472" y="1993392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062472" y="1993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0" y="195681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relaxation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195681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 lower by 114.5 meV/Gd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583680" y="2194560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ferri reference had Mn parallel to Gd - a metastable spectator basin, held in place by the NUPDOWN lock and -42 kbar of residual pressure</a:t>
            </a:r>
            <a:endParaRPr lang="en-US" sz="840" dirty="0"/>
          </a:p>
        </p:txBody>
      </p:sp>
      <p:sp>
        <p:nvSpPr>
          <p:cNvPr id="29" name="Shape 27"/>
          <p:cNvSpPr/>
          <p:nvPr/>
        </p:nvSpPr>
        <p:spPr>
          <a:xfrm>
            <a:off x="6062472" y="2779776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062472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0" y="274320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Released statics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8732520" y="27432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ferri (Mn ∥ Co) lower by 208 meV/Gd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583680" y="2980944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E(ferri) = -146.088 eV vs E(fm) = -145.671 eV: a textbook Néel ferrimagnet once Mn is allowed to sit where it wants</a:t>
            </a:r>
            <a:endParaRPr lang="en-US" sz="840" dirty="0"/>
          </a:p>
        </p:txBody>
      </p:sp>
      <p:sp>
        <p:nvSpPr>
          <p:cNvPr id="34" name="Shape 32"/>
          <p:cNvSpPr/>
          <p:nvPr/>
        </p:nvSpPr>
        <p:spPr>
          <a:xfrm>
            <a:off x="6062472" y="3566160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062472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0" y="352958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Mn₂ spin states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732520" y="3529584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queued (job 59632311)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6583680" y="3767328"/>
            <a:ext cx="4800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Mn-Mn AFM, Mn ∥ Gd and Mn ∥ Co each relaxed and released - closes the mechanism-2 question on the record</a:t>
            </a:r>
            <a:endParaRPr lang="en-US" sz="840" dirty="0"/>
          </a:p>
        </p:txBody>
      </p:sp>
      <p:sp>
        <p:nvSpPr>
          <p:cNvPr id="39" name="Shape 37"/>
          <p:cNvSpPr/>
          <p:nvPr/>
        </p:nvSpPr>
        <p:spPr>
          <a:xfrm>
            <a:off x="5806440" y="4617720"/>
            <a:ext cx="5715000" cy="1371600"/>
          </a:xfrm>
          <a:prstGeom prst="roundRect">
            <a:avLst>
              <a:gd name="adj" fmla="val 5333"/>
            </a:avLst>
          </a:prstGeom>
          <a:solidFill>
            <a:srgbClr val="FCEDE8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062472" y="4736592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learnt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062472" y="498348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7A40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constrained calculation proves a state exists, not that nature picks it. Three validity rules were added to the analysis - spectator-flip detection, per-config convergence, RE-site equality - and only energies that survive an unconstrained release are compared. Under those rules the 180 credible pairs are a clean, systematic measurement of RE-TM exchange, which is worth more than one unverified ferromagnet.</a:t>
            </a:r>
            <a:endParaRPr lang="en-US" sz="96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180 LABELS SAY  ·  1 /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 is not a neighbour count: the per-neighbour coupling itself varies 10-fold</a:t>
            </a:r>
            <a:endParaRPr lang="en-US" sz="3200" dirty="0"/>
          </a:p>
        </p:txBody>
      </p:sp>
      <p:pic>
        <p:nvPicPr>
          <p:cNvPr id="4" name="Image 0" descr="/Users/g5q/Documents/GitHub/gnome-fe-hree-magnets/assets/trends_neighbou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6766560" cy="473659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35240" y="1417320"/>
            <a:ext cx="3886200" cy="4736592"/>
          </a:xfrm>
          <a:prstGeom prst="roundRect">
            <a:avLst>
              <a:gd name="adj" fmla="val 1882"/>
            </a:avLst>
          </a:prstGeom>
          <a:solidFill>
            <a:srgbClr val="EEF2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863840" y="155448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18288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point is one compound: the fm/ferri energy gap per Gd against the summed moment of the Fe/Co atoms touching that Gd. If the RE-TM coupling were a universal constant, the points would sit on one dotted line.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7863840" y="292608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3200400"/>
            <a:ext cx="35204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2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span J_eff = 0.05 to 1.4 meV/μB²: at a fixed neighbour moment of ~25 μB the gap ranges from 110 to 370 meV.</a:t>
            </a:r>
            <a:endParaRPr lang="en-US" sz="920" dirty="0"/>
          </a:p>
        </p:txBody>
      </p:sp>
      <p:sp>
        <p:nvSpPr>
          <p:cNvPr id="10" name="Text 7"/>
          <p:cNvSpPr txBox="1"/>
          <p:nvPr/>
        </p:nvSpPr>
        <p:spPr>
          <a:xfrm>
            <a:off x="7863840" y="3913632"/>
            <a:ext cx="35204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2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coupling sits at LOW neighbour moment (Fe/Y and Fe+Co hosts, upper left), the weakest at high neighbour moment (2-17 hydride, lower right).</a:t>
            </a:r>
            <a:endParaRPr lang="en-US" sz="920" dirty="0"/>
          </a:p>
        </p:txBody>
      </p:sp>
      <p:sp>
        <p:nvSpPr>
          <p:cNvPr id="11" name="Text 8"/>
          <p:cNvSpPr txBox="1"/>
          <p:nvPr/>
        </p:nvSpPr>
        <p:spPr>
          <a:xfrm>
            <a:off x="7863840" y="4626864"/>
            <a:ext cx="35204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2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neither coordination number nor TM moment predicts the gap. Something about the host, not the count, sets it.</a:t>
            </a:r>
            <a:endParaRPr lang="en-US" sz="920" dirty="0"/>
          </a:p>
        </p:txBody>
      </p:sp>
      <p:sp>
        <p:nvSpPr>
          <p:cNvPr id="12" name="Text 9"/>
          <p:cNvSpPr txBox="1"/>
          <p:nvPr/>
        </p:nvSpPr>
        <p:spPr>
          <a:xfrm>
            <a:off x="7863840" y="54406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a fixed J_RT times a neighbour count - the usual mean-field shortcut - would be wrong by up to 10x across this chemistry.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180 LABELS SAY  ·  2 /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Distance and chemistry set the coupling: short RE-TM bonds and mixed Fe+Co hosts couple hardest</a:t>
            </a:r>
            <a:endParaRPr lang="en-US" sz="3200" dirty="0"/>
          </a:p>
        </p:txBody>
      </p:sp>
      <p:pic>
        <p:nvPicPr>
          <p:cNvPr id="4" name="Image 0" descr="/Users/g5q/Documents/GitHub/gnome-fe-hree-magnets/assets/trends_geome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10881360" cy="3931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5440680"/>
            <a:ext cx="5303520" cy="1051560"/>
          </a:xfrm>
          <a:prstGeom prst="roundRect">
            <a:avLst>
              <a:gd name="adj" fmla="val 6957"/>
            </a:avLst>
          </a:prstGeom>
          <a:solidFill>
            <a:srgbClr val="EEF2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41248" y="550468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coupling falls as the Gd-TM distance grows (r = −0.61). Below 3.0 Å with 12 TM neighbours the Fe/Y hosts reach J_eff ≈ 1; above 3.15 Å - hydride, metalloid-shell and open cages - it drops to 0.05-0.4.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6217920" y="5440680"/>
            <a:ext cx="5303520" cy="1051560"/>
          </a:xfrm>
          <a:prstGeom prst="roundRect">
            <a:avLst>
              <a:gd name="adj" fmla="val 6957"/>
            </a:avLst>
          </a:prstGeom>
          <a:solidFill>
            <a:srgbClr val="EEF2F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419088" y="550468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mixed Fe+Co hosts have median J_eff 0.75 against 0.51 for pure Fe - Brooks' 5d-3d hybridisation argument seen on 27 compounds. The d-band centre and DOS at E_F add nothing once distance and the 5d moment are known (next slide).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5d METHOD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Calibrated on 180 Gd pairs, the gap is read off a single calculation</a:t>
            </a:r>
            <a:endParaRPr lang="en-US" sz="3200" dirty="0"/>
          </a:p>
        </p:txBody>
      </p:sp>
      <p:pic>
        <p:nvPicPr>
          <p:cNvPr id="4" name="Image 0" descr="/Users/g5q/Documents/GitHub/gnome-fe-hree-magnets/assets/gap_vs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6720840" cy="4663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589520" y="1417320"/>
            <a:ext cx="3931920" cy="2331720"/>
          </a:xfrm>
          <a:prstGeom prst="roundRect">
            <a:avLst>
              <a:gd name="adj" fmla="val 3137"/>
            </a:avLst>
          </a:prstGeom>
          <a:solidFill>
            <a:srgbClr val="1B2A4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818120" y="15544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Liebs &amp; Fähnle (1993), used forward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18470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ΔE  =  2 · I₄f₋₅d · S₄f · S₅d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224942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6D2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  =  −½ [ m₅d(ferri) + m₅d(fm) ]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818120" y="2596896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is the part of the RE 5d moment tied to the TM neighbours; the part induced by the ion's own 4f flips with it and cancels. h is exactly what a 4f-free host (Y, or f-in-core Nd/Sm) reports as its RE moment.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34015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|ΔE| = 1574 · h meV    r = 0.89    I₄f₋₅d ≈ 225 meV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589520" y="3886200"/>
            <a:ext cx="3931920" cy="2240280"/>
          </a:xfrm>
          <a:prstGeom prst="roundRect">
            <a:avLst>
              <a:gd name="adj" fmla="val 3265"/>
            </a:avLst>
          </a:prstGeom>
          <a:solidFill>
            <a:srgbClr val="EEF2F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18120" y="40050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818120" y="4242816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Circles mark the compounds with a measured exchange constant; stars are the gap their experimental J_RT implies. GdFe₂: J_RT 2.97 (ours) vs 2.99 × 10⁻²² J (expt). Validation slide follows.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7818120" y="4700016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Beats the raw ground-state 5d moment as a predictor (r 0.80 → 0.89) because it removes the 4f-induced part.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7818120" y="5157216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an fm/ferri pair with 4f in the valence into ONE f-in-core run: J_RT, the RE molecular field B_RT = ΔE/2μ and T* = ΔE_RE/2k_B all follow.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7818120" y="5614416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to Tao et al. 2026 (diamonds): Sm hosts predicted at 190-220 meV per Sm, T* 1100-1260 K - the Sm anisotropy stays locked to Fe up to Tc, consistent with their ferrimagnetic ground states.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AGAINST PRIOR WORK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literature gives a number, the campaign reproduces it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108813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926080"/>
                <a:gridCol w="3657600"/>
                <a:gridCol w="1554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Quantity / rule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campaign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GdFe₂ RE-TM exchange J_RT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2.99 × 10⁻²² J (Liebs, Hummler, Fähnle 1992; expt. molecular field)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2.97 × 10⁻²² J from the fm/ferri gap (352 meV/Gd)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reproduced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ΔE ∝ S₅d (Liebs &amp; Fähnle 1993)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shown on 3 compounds, ab initio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 on 180 compounds, r = 0.89; I₄f₋₅d ≈ 225 meV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 at scale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Campbell 4f-5d-3d sign rule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 RE always antiparallel to Fe/Co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 / 180 credible pairs antiparallel; 0 exceptions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Duc's early-TM rule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V/Ti in GdFe₁₂₋ₓVₓ doubles A_GdFe (x = 0 → 4)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early-TM hosts J_eff ×0.97 of the Fe baseline (CI 0.88-1.07); GdFe₁₀V₂ J_RT 1.52 vs 1.30 expt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resolved - needs a concentration series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Brooks: Co strengthens 5d-3d coupling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Co-based &gt; Fe-based molecular fields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Fe+Co hosts J_eff 0.75 vs Fe 0.51, Co 0.57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Tao et al. 2026: Mn/Cr as weak-coupling mediators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Sm(Fe,Mn,Cr) hosts; RE moments −0.24 … −0.33 μB (f-frozen)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h on our line → Gd-equivalent gaps 380-520 meV; hosts are strongly coupled, not weakly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reinterpreted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Mn-mediated RE-TM ferromagnetism (our own claim)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Co16Gd2Mn, +114.5 meV/Gd (locked)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 ∥ Co ferrimagnet by 208 meV/Gd after release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34924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EF2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68680" y="534924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Learnt: the campaign is a quantitative instrument, not a yes/no screen. It reproduces the one measured RE-TM exchange constant it can be checked against, generalises the two-sublattice theory from three compounds to 180, and corrects its own headline when the release test disagrees.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AGAINST PRIOR WORK  ·  THE NUMBERS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exchange constants with experimental values: three within 25 %, the control exact</a:t>
            </a:r>
            <a:endParaRPr lang="en-US" sz="3200" dirty="0"/>
          </a:p>
        </p:txBody>
      </p:sp>
      <p:pic>
        <p:nvPicPr>
          <p:cNvPr id="4" name="Image 0" descr="/Users/g5q/Documents/GitHub/gnome-fe-hree-magnets/assets/validation_j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6035040" cy="4617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949440" y="1417320"/>
            <a:ext cx="4572000" cy="4617720"/>
          </a:xfrm>
          <a:prstGeom prst="roundRect">
            <a:avLst>
              <a:gd name="adj" fmla="val 1600"/>
            </a:avLst>
          </a:prstGeom>
          <a:solidFill>
            <a:srgbClr val="EEF2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178040" y="1554480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compared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7178040" y="1828800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J_RT in the Liebs-Fähnle two-sublattice convention, ΔE = 4 J_RT S_R S_T Z_RT, computed from our fm/ferri gap with the compound's own TM moment and neighbour count - no fitted parameter.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7178040" y="27432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GdFe₂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178040" y="2935224"/>
            <a:ext cx="4160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2.97 vs 2.99 - the protocol control, reproduced to 1 %.</a:t>
            </a:r>
            <a:endParaRPr lang="en-US" sz="860" dirty="0"/>
          </a:p>
        </p:txBody>
      </p:sp>
      <p:sp>
        <p:nvSpPr>
          <p:cNvPr id="10" name="Text 7"/>
          <p:cNvSpPr txBox="1"/>
          <p:nvPr/>
        </p:nvSpPr>
        <p:spPr>
          <a:xfrm>
            <a:off x="7178040" y="34564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Gd₂Fe₁₄B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7178040" y="3648456"/>
            <a:ext cx="4160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1.84 vs 1.46 from inelastic neutron scattering - 26 % high; LHF's own LMTO value is 1.46, so the gap is in our Z_RT bookkeeping for the two inequivalent Gd sites.</a:t>
            </a:r>
            <a:endParaRPr lang="en-US" sz="860" dirty="0"/>
          </a:p>
        </p:txBody>
      </p:sp>
      <p:sp>
        <p:nvSpPr>
          <p:cNvPr id="12" name="Text 9"/>
          <p:cNvSpPr txBox="1"/>
          <p:nvPr/>
        </p:nvSpPr>
        <p:spPr>
          <a:xfrm>
            <a:off x="7178040" y="416966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GdFe₁₀V₂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7178040" y="4361688"/>
            <a:ext cx="4160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1.52 vs Duc's A_GdFe 1.30 at x = 2 - 17 % high, and inside the spread of Duc's own series (1.13-2.25).</a:t>
            </a:r>
            <a:endParaRPr lang="en-US" sz="860" dirty="0"/>
          </a:p>
        </p:txBody>
      </p:sp>
      <p:sp>
        <p:nvSpPr>
          <p:cNvPr id="14" name="Text 11"/>
          <p:cNvSpPr txBox="1"/>
          <p:nvPr/>
        </p:nvSpPr>
        <p:spPr>
          <a:xfrm>
            <a:off x="7178040" y="48828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Gd₂Fe₁₇N₂ ↔ Ho₂Fe₁₇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7178040" y="5074920"/>
            <a:ext cx="4160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1.21 vs 1.2-1.4 (Ho₂Fe₁₇, INS). Open marker: a nitride compared to a binary, because no Gd₂Fe₁₇ pair survived the validity rules.</a:t>
            </a:r>
            <a:endParaRPr lang="en-US" sz="86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Learnt: the campaign's exchange energies are on the experimental scale, biased ≤ 25 % high where the RE sites are inequivalent. Good enough to rank hosts; not yet good enough to resolve Duc's 15-20 % early-TM effect, which needs a concentration series on one lattice.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PRINCIPLES, AUDITED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rule used to build permanent magnets, checked against the same 180 labels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08813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651760"/>
                <a:gridCol w="4023360"/>
                <a:gridCol w="13716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Principle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predicts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dataset shows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 RE couples antiparallel (Campbell)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FM Fe/Co-heavy-RE compound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180/180 ferrimagnetic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scales with RE 5d spin (Liebs-Fähnle)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ΔE ∝ S₅d, host-independent I₄f₋₅d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 = 0.89 on h; d-band centre adds nothing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Gennes scaling across the RE series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ΔE_RE = ΔE_Gd · (g−1)J / 3.5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assumed to project Tb-Tm and Nd/Sm; explicit-4f Tb-Tm runs under way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test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Fe-rich, dense lattices for Ms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 ceiling set by Fe density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Gd hosts 0.9-1.06 T; light-RE projection ceiling ≈ 1.75 T (0 K, no SOC)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 RE (J = L − S) adds to Ms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Nd/Sm moment parallel to Fe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projected +0.6-0.9 T over Gd; 20 f-in-core runs queued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test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Interstitial N / C raise Ms and Tc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lattice expansion, stronger Fe-Fe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Gd₂Fe₁₇N₂ is the top Ms host; C analogues close behind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Interstitial H is harmless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mild expansion only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Gd₂Fe₁₇H₃ gap 28 meV (×0.10): H in the RE shell nearly switches off RE-TM coupling - one compound, re-running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 if it survives release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Early-TM stabilisers (Ti, V, Zr, Nb) help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stabilise 1:12-type cells, stronger coupling (Duc)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coupling ×0.97 of baseline, no effect resolved; hull: Fe₅GdV on hull, Ti variants 12-19 meV above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stability yes, coupling unresolved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 Co for Tc and coupling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 raises Tc and RE-TM field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Fe+Co hosts strongest J_eff (0.75); Ms cost small at low Co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 as a sign-flipping mediator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 ∥ RE breaks the antiparallel rule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 ∥ Co in every released state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Metalloid-rich cages (B, Si, Ga, Al in RE shell)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stabilise structures cheaply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systematically lower gaps - anisotropy decouples first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with care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05332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Learnt: most principles hold in direction but their magnitudes differ by an order of magnitude, one (early TM) is not resolved by cross-host data, and only the 5d-spin rule is quantitative enough to rank candidates.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PRINCIPLES, AUDITED  ·  EFFECT SIZES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rules as numbers: how far each lever moves the RE-TM coupling from the Fe baseline</a:t>
            </a:r>
            <a:endParaRPr lang="en-US" sz="3200" dirty="0"/>
          </a:p>
        </p:txBody>
      </p:sp>
      <p:pic>
        <p:nvPicPr>
          <p:cNvPr id="4" name="Image 0" descr="/Users/g5q/Documents/GitHub/gnome-fe-hree-magnets/assets/principles_effec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68580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26680" y="1417320"/>
            <a:ext cx="3794760" cy="4206240"/>
          </a:xfrm>
          <a:prstGeom prst="roundRect">
            <a:avLst>
              <a:gd name="adj" fmla="val 1928"/>
            </a:avLst>
          </a:prstGeom>
          <a:solidFill>
            <a:srgbClr val="EEF2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955280" y="155448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chart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7955280" y="182880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J_eff of the compounds carrying a lever, divided by the median of all 123 Fe-only hosts; bars are bootstrap 95 % intervals. Blue = strengthens coupling, red = weakens, grey = not resolved.</a:t>
            </a:r>
            <a:endParaRPr lang="en-US" sz="930" dirty="0"/>
          </a:p>
        </p:txBody>
      </p:sp>
      <p:sp>
        <p:nvSpPr>
          <p:cNvPr id="8" name="Text 5"/>
          <p:cNvSpPr txBox="1"/>
          <p:nvPr/>
        </p:nvSpPr>
        <p:spPr>
          <a:xfrm>
            <a:off x="7955280" y="278892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×1.48  partial Co</a:t>
            </a:r>
            <a:endParaRPr lang="en-US" sz="98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2980944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lever with a large, resolved positive effect</a:t>
            </a:r>
            <a:endParaRPr lang="en-US" sz="840" dirty="0"/>
          </a:p>
        </p:txBody>
      </p:sp>
      <p:sp>
        <p:nvSpPr>
          <p:cNvPr id="10" name="Text 7"/>
          <p:cNvSpPr txBox="1"/>
          <p:nvPr/>
        </p:nvSpPr>
        <p:spPr>
          <a:xfrm>
            <a:off x="7955280" y="333756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×1.12  all-Co</a:t>
            </a:r>
            <a:endParaRPr lang="en-US" sz="98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3529584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modest; Co also lowers Ms, so partial Co is the useful form</a:t>
            </a:r>
            <a:endParaRPr lang="en-US" sz="840" dirty="0"/>
          </a:p>
        </p:txBody>
      </p:sp>
      <p:sp>
        <p:nvSpPr>
          <p:cNvPr id="12" name="Text 9"/>
          <p:cNvSpPr txBox="1"/>
          <p:nvPr/>
        </p:nvSpPr>
        <p:spPr>
          <a:xfrm>
            <a:off x="7955280" y="388620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×0.97  early TM</a:t>
            </a:r>
            <a:endParaRPr lang="en-US" sz="98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078224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Duc's effect is not visible across different hosts; it needs a series on one lattice</a:t>
            </a:r>
            <a:endParaRPr lang="en-US" sz="840" dirty="0"/>
          </a:p>
        </p:txBody>
      </p:sp>
      <p:sp>
        <p:nvSpPr>
          <p:cNvPr id="14" name="Text 11"/>
          <p:cNvSpPr txBox="1"/>
          <p:nvPr/>
        </p:nvSpPr>
        <p:spPr>
          <a:xfrm>
            <a:off x="7955280" y="443484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×0.86  distance &gt; 3.15 Å</a:t>
            </a:r>
            <a:endParaRPr lang="en-US" sz="98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4626864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cages weaken coupling, consistent with the 5d picture</a:t>
            </a:r>
            <a:endParaRPr lang="en-US" sz="840" dirty="0"/>
          </a:p>
        </p:txBody>
      </p:sp>
      <p:sp>
        <p:nvSpPr>
          <p:cNvPr id="16" name="Text 13"/>
          <p:cNvSpPr txBox="1"/>
          <p:nvPr/>
        </p:nvSpPr>
        <p:spPr>
          <a:xfrm>
            <a:off x="7955280" y="498348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×0.10  H interstitial</a:t>
            </a:r>
            <a:endParaRPr lang="en-US" sz="980" dirty="0"/>
          </a:p>
        </p:txBody>
      </p:sp>
      <p:sp>
        <p:nvSpPr>
          <p:cNvPr id="17" name="Text 14"/>
          <p:cNvSpPr txBox="1"/>
          <p:nvPr/>
        </p:nvSpPr>
        <p:spPr>
          <a:xfrm>
            <a:off x="7955280" y="5175504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compound, under re-check; if real, the strongest lever of all - in the wrong direction</a:t>
            </a:r>
            <a:endParaRPr lang="en-US" sz="84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57607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Learnt: of the levers the field uses, only partial Co and short RE-TM bonds measurably raise the RE-TM coupling in this dataset. Metalloids are neutral on average; their harm is specific to sitting in the RE shell. The early-TM rule is a stability lever until a concentration series says otherwise.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HYPOTHESIS: THE LEVERS COMPOSE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the measured levers add, the dataset's strongest hosts become new light-RE magnets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484632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04672" y="1536192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180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1554480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credible Gd hosts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1783080" y="1801368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labelled dataset</a:t>
            </a:r>
            <a:endParaRPr lang="en-US" sz="860" dirty="0"/>
          </a:p>
        </p:txBody>
      </p:sp>
      <p:sp>
        <p:nvSpPr>
          <p:cNvPr id="8" name="Shape 6"/>
          <p:cNvSpPr/>
          <p:nvPr/>
        </p:nvSpPr>
        <p:spPr>
          <a:xfrm>
            <a:off x="640080" y="2359152"/>
            <a:ext cx="4846320" cy="786384"/>
          </a:xfrm>
          <a:prstGeom prst="roundRect">
            <a:avLst>
              <a:gd name="adj" fmla="val 9302"/>
            </a:avLst>
          </a:prstGeom>
          <a:solidFill>
            <a:srgbClr val="FFF3D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04672" y="2432304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783080" y="245059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≥ 1.4 T with Nd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783080" y="2697480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 sublattice moment + free-ion Nd, same cell</a:t>
            </a:r>
            <a:endParaRPr lang="en-US" sz="860" dirty="0"/>
          </a:p>
        </p:txBody>
      </p:sp>
      <p:sp>
        <p:nvSpPr>
          <p:cNvPr id="12" name="Shape 10"/>
          <p:cNvSpPr/>
          <p:nvPr/>
        </p:nvSpPr>
        <p:spPr>
          <a:xfrm>
            <a:off x="640080" y="3255264"/>
            <a:ext cx="4846320" cy="786384"/>
          </a:xfrm>
          <a:prstGeom prst="roundRect">
            <a:avLst>
              <a:gd name="adj" fmla="val 9302"/>
            </a:avLst>
          </a:prstGeom>
          <a:solidFill>
            <a:srgbClr val="FFF3D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04672" y="3328416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1783080" y="3346704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known prototype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783080" y="3593592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8A6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Nd₂Fe₁₄B, 2-17(N,C,H), Laves, Th₂Zn₁₇, the Mn family</a:t>
            </a:r>
            <a:endParaRPr lang="en-US" sz="860" dirty="0"/>
          </a:p>
        </p:txBody>
      </p:sp>
      <p:sp>
        <p:nvSpPr>
          <p:cNvPr id="16" name="Shape 14"/>
          <p:cNvSpPr/>
          <p:nvPr/>
        </p:nvSpPr>
        <p:spPr>
          <a:xfrm>
            <a:off x="640080" y="4151376"/>
            <a:ext cx="4846320" cy="786384"/>
          </a:xfrm>
          <a:prstGeom prst="roundRect">
            <a:avLst>
              <a:gd name="adj" fmla="val 9302"/>
            </a:avLst>
          </a:prstGeom>
          <a:solidFill>
            <a:srgbClr val="E3F0F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04672" y="422452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5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1783080" y="4242816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coupling, Fe-rich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783080" y="4489704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J_eff ≥ 0.5 or gap ≥ 300 meV; 1:9 family by 3 representatives</a:t>
            </a:r>
            <a:endParaRPr lang="en-US" sz="860" dirty="0"/>
          </a:p>
        </p:txBody>
      </p:sp>
      <p:sp>
        <p:nvSpPr>
          <p:cNvPr id="20" name="Shape 18"/>
          <p:cNvSpPr/>
          <p:nvPr/>
        </p:nvSpPr>
        <p:spPr>
          <a:xfrm>
            <a:off x="640080" y="5047488"/>
            <a:ext cx="4846320" cy="786384"/>
          </a:xfrm>
          <a:prstGeom prst="roundRect">
            <a:avLst>
              <a:gd name="adj" fmla="val 9302"/>
            </a:avLst>
          </a:prstGeom>
          <a:solidFill>
            <a:srgbClr val="1B2A4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4672" y="512064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1783080" y="5138928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 the hull, Nd + Sm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1783080" y="5385816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MACE-MP-0 vs 394 MP competitors, same model; Nd within 12 meV/atom</a:t>
            </a:r>
            <a:endParaRPr lang="en-US" sz="860" dirty="0"/>
          </a:p>
        </p:txBody>
      </p:sp>
      <p:pic>
        <p:nvPicPr>
          <p:cNvPr id="24" name="Image 0" descr="/Users/g5q/Documents/GitHub/gnome-fe-hree-magnets/assets/light_re_h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417320"/>
            <a:ext cx="5760720" cy="402336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5760720" y="5486400"/>
            <a:ext cx="5760720" cy="566928"/>
          </a:xfrm>
          <a:prstGeom prst="roundRect">
            <a:avLst>
              <a:gd name="adj" fmla="val 12903"/>
            </a:avLst>
          </a:prstGeom>
          <a:solidFill>
            <a:srgbClr val="1B2A4A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943600" y="5486400"/>
            <a:ext cx="5440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rule: host with gap ≥ 250 meV or J_eff ≥ 0.5  ×  Gd → {Nd, Sm}  ×  keep Co/early-TM variants  ×  no H, no metalloid in the RE shell  →  MACE/MP hull  →  one f-in-core VASP run. 29 hosts → 58 structures → 20 survivors; the rule extends to Pr, partial Co and N interstitials once this batch confirms it.</a:t>
            </a:r>
            <a:endParaRPr lang="en-US" sz="830" dirty="0"/>
          </a:p>
        </p:txBody>
      </p:sp>
      <p:sp>
        <p:nvSpPr>
          <p:cNvPr id="27" name="Text 24"/>
          <p:cNvSpPr txBox="1"/>
          <p:nvPr/>
        </p:nvSpPr>
        <p:spPr>
          <a:xfrm>
            <a:off x="640080" y="605332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test of the hypothesis: the Nd cost is systematic (20-35 meV/atom for the larger ion), so only the densest Fe hosts stay on the hull; Sm is nearly free. Whether coupling and Ms carry over is what the 20 queued runs decide.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Nd / Sm BATCH - 20 RUNS QUEUED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host carries a reason from the data, a stability check, and a prediction to be tested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088136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188720"/>
                <a:gridCol w="640080"/>
                <a:gridCol w="1417320"/>
                <a:gridCol w="1600200"/>
                <a:gridCol w="868680"/>
                <a:gridCol w="37490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 (Gd parent)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Prototype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J_eff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 → Nd / Sm (T)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E_hull Nd / Sm (meV/at)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T* Sm (K)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is in the batch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Fe₅GdSi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1.74 / 1.56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 / −6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700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 Ms of any stable new host; Si outside the RE shell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Al₂Fe₁₀Gd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1.68 / 1.51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 / −3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745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Fe framework, Al variant; tests the metalloid-shell rule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Fe₅GdV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 / 1.44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 / +2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715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early-TM lever built in (Duc); 1:12-like chemistry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Fe₁₀GdY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Pmmm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1.64 / 1.47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 / +3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825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Fe, Y dilutes RE cost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CoFe₆GdY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1.59 / 1.37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 / −5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955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strongest coupling at Ms &gt; 1.5 T; partial Co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Co₂Fe₁₂GdY₃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1.44 / 1.33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 / −8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1005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anisotropy-locking host; on the hull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CoFe₁₃GdY₃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1.03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1.42 / 1.31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 / −3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1030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Fe/Y family, 12-fold RE coordination at 2.97 Å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Fe₁₄GdY₃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1.40 / 1.29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 / −1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1070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Co-free control for the two above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Fe₉GdLuZr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 / 1.27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 / −3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810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1:9 family representative with Zr stabiliser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Co₉Fe₅Gd₄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R-3m (new)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1.69 / 1.23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 / −16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725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RE-rich control: high Nd moment count, lowest Tc expected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257800"/>
            <a:ext cx="5303520" cy="1005840"/>
          </a:xfrm>
          <a:prstGeom prst="roundRect">
            <a:avLst>
              <a:gd name="adj" fmla="val 7273"/>
            </a:avLst>
          </a:prstGeom>
          <a:solidFill>
            <a:srgbClr val="1B2A4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68680" y="534924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run returns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5577840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ISIF=3 relaxation per compound with f-in-core Nd_3 / Sm_3 (no 4f to flip, no +U): relaxed volume, Fe/Co moments → Ms, and h → predicted gap, T*, B_RT. Prediction on record before the run: h from each Gd parent's pair.</a:t>
            </a:r>
            <a:endParaRPr lang="en-US" sz="880" dirty="0"/>
          </a:p>
        </p:txBody>
      </p:sp>
      <p:sp>
        <p:nvSpPr>
          <p:cNvPr id="8" name="Shape 5"/>
          <p:cNvSpPr/>
          <p:nvPr/>
        </p:nvSpPr>
        <p:spPr>
          <a:xfrm>
            <a:off x="6217920" y="5257800"/>
            <a:ext cx="5303520" cy="1005840"/>
          </a:xfrm>
          <a:prstGeom prst="roundRect">
            <a:avLst>
              <a:gd name="adj" fmla="val 7273"/>
            </a:avLst>
          </a:prstGeom>
          <a:solidFill>
            <a:srgbClr val="FCEDE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46520" y="534924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ceiling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5577840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7A40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Projections are 0 K PBE without SOC and run ≈ 0.3 T high against experiment (Nd₂Fe₁₇Nₓ: 2.04 projected vs ~1.5 T). None of the 20 beats NdFe₁₂N (1.66 T, Tc 823 K) or Sm(Fe,Co)₁₂ (1.78 T). Their value is as new, hull-stable Fe-rich hosts with coupling strong enough to carry RE anisotropy - the ingredient the 2 T target has lacked.</a:t>
            </a:r>
            <a:endParaRPr lang="en-US" sz="86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HYPOTHESES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prior studies plus 180 labels let us state - each falsifiable with runs already queued or cheap to add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EEF2F7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563624"/>
            <a:ext cx="640080" cy="548640"/>
          </a:xfrm>
          <a:prstGeom prst="roundRect">
            <a:avLst>
              <a:gd name="adj" fmla="val 13333"/>
            </a:avLst>
          </a:prstGeom>
          <a:solidFill>
            <a:srgbClr val="2E86A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563624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508760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RE-TM gap of any host is predictable from a 4f-free calculation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178308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measured in the f-in-core Nd/Sm run equals h extracted from the Gd pair of the same host, and 1574·h reproduces the Gd gap within 20 %. Falsified if the 20 queued runs scatter off the line.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359152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EEF2F7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2505456"/>
            <a:ext cx="640080" cy="548640"/>
          </a:xfrm>
          <a:prstGeom prst="roundRect">
            <a:avLst>
              <a:gd name="adj" fmla="val 13333"/>
            </a:avLst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250545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450592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Usable anisotropy needs T* above Tc, and T* is a host property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272491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Hosts with gap &lt; ~150 meV per Gd (H-loaded, metalloid-shell, open cages) lose RE anisotropy below Tc regardless of RE choice. Testable on the suspects batch and by SOC runs on two low-gap vs two high-gap hosts.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40080" y="3300984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EEF2F7"/>
          </a:solidFill>
          <a:ln/>
        </p:spPr>
      </p:sp>
      <p:sp>
        <p:nvSpPr>
          <p:cNvPr id="15" name="Shape 13"/>
          <p:cNvSpPr/>
          <p:nvPr/>
        </p:nvSpPr>
        <p:spPr>
          <a:xfrm>
            <a:off x="777240" y="3447288"/>
            <a:ext cx="640080" cy="548640"/>
          </a:xfrm>
          <a:prstGeom prst="roundRect">
            <a:avLst>
              <a:gd name="adj" fmla="val 13333"/>
            </a:avLst>
          </a:prstGeom>
          <a:solidFill>
            <a:srgbClr val="7B4FA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" y="344728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392424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Co in Fe/Y hosts buys coupling at almost no Ms cost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3666744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Fe+Co hosts have 50 % higher J_eff; at ≤ 15 % Co the Fe moment barely drops. Prediction: CoFe₆NdY and Co₂Fe₁₂NdY₃ show higher h than Fe₁₄NdY₃ at similar Ms. Direct comparison inside the batch.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40080" y="4242816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EEF2F7"/>
          </a:solidFill>
          <a:ln/>
        </p:spPr>
      </p:sp>
      <p:sp>
        <p:nvSpPr>
          <p:cNvPr id="20" name="Shape 18"/>
          <p:cNvSpPr/>
          <p:nvPr/>
        </p:nvSpPr>
        <p:spPr>
          <a:xfrm>
            <a:off x="777240" y="4389120"/>
            <a:ext cx="640080" cy="548640"/>
          </a:xfrm>
          <a:prstGeom prst="roundRect">
            <a:avLst>
              <a:gd name="adj" fmla="val 13333"/>
            </a:avLst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4389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334256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compound lever is light RE + early TM + N interstitial on a dense new host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1600200" y="4608576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RE, partial Co and N are each supported by the data; early TM is a stability lever whose coupling effect is unresolved. None has been combined on a hull-stable new prototype. Fe₅(Nd,Sm)(Si,V) Immm with N on the largest void is the first test - MACE hull, then one run.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40080" y="5184648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EEF2F7"/>
          </a:solidFill>
          <a:ln/>
        </p:spPr>
      </p:sp>
      <p:sp>
        <p:nvSpPr>
          <p:cNvPr id="25" name="Shape 23"/>
          <p:cNvSpPr/>
          <p:nvPr/>
        </p:nvSpPr>
        <p:spPr>
          <a:xfrm>
            <a:off x="777240" y="5330952"/>
            <a:ext cx="640080" cy="548640"/>
          </a:xfrm>
          <a:prstGeom prst="roundRect">
            <a:avLst>
              <a:gd name="adj" fmla="val 13333"/>
            </a:avLst>
          </a:prstGeom>
          <a:solidFill>
            <a:srgbClr val="3E7FA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77240" y="533095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H5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600200" y="5276088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Interstitial choice is a coupling decision, not just a volume decision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1600200" y="5550408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and C expand the lattice and keep the gap; H in the RE shell collapses it. Hypothesis: the interstitial's site relative to the RE, not its size, decides. Test: H vs N on the same 2-17 cell, same site.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614476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hypothesis names its own disproof. H1 and H3 are decided by the batch now in the queue.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THE GD DATASET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Campbell's rule to predict the rest of the series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17904"/>
            <a:ext cx="4892040" cy="4206240"/>
          </a:xfrm>
          <a:prstGeom prst="roundRect">
            <a:avLst>
              <a:gd name="adj" fmla="val 1739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32688" y="171907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Gd calculation gives you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2066544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ΔE from the fm/ferri pair is the RE-TM exchange energy itself. Because the sign is fixed by the 4f-5d-3d chain and only the 4f spin magnitude changes down the series, one Gd pair predicts all six heavy rare earths.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999232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7A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coupling strength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3163824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J(RE–TM)   ∝   (g_J − 1) J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3529584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7A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 contribution  —  de Gennes factor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3694176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B1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  =  (g_J − 1)² J(J + 1)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932688" y="4041648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 15.75 · Tb 10.5 · Dy 7.08 · Ho 4.5 · Er 2.55 · Tm 1.17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4334256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7A8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moment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932688" y="449884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M_net  =  M_TM  −  n_RE × g_J·J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932688" y="4882896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 sublattice moment carries over unchanged; only the RE terms rescale — so both Tc and net moment are predictable for Tb–Tm without new calculations.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852160" y="1517904"/>
            <a:ext cx="566928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/>
        </p:spPr>
      </p:sp>
      <p:sp>
        <p:nvSpPr>
          <p:cNvPr id="16" name="Shape 14"/>
          <p:cNvSpPr/>
          <p:nvPr/>
        </p:nvSpPr>
        <p:spPr>
          <a:xfrm>
            <a:off x="6108192" y="1682496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08192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656832" y="163677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by uncompensated moment, not by FM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656832" y="1901952"/>
            <a:ext cx="4709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Gd result, evaluate M_TM − n_RE·g_J·J across the series. High Fe:RE ratios (2-17, 1-12) leave a large residual; RT₄X compensates to ≈ 0. This reprioritises the whole candidate list at zero DFT cost.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852160" y="2587752"/>
            <a:ext cx="566928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/>
        </p:spPr>
      </p:sp>
      <p:sp>
        <p:nvSpPr>
          <p:cNvPr id="21" name="Shape 19"/>
          <p:cNvSpPr/>
          <p:nvPr/>
        </p:nvSpPr>
        <p:spPr>
          <a:xfrm>
            <a:off x="6108192" y="2752344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08192" y="2752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656832" y="270662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Hunt where the 5d-3d chain breaks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656832" y="2971800"/>
            <a:ext cx="4709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antiparallel sign is mediated by RE 5d. Screen for phases where that channel weakens: semiconducting or semimetallic X, long RE-Fe distances, RE coordinated only by anions, dilute RE. These are the only plausible FM exceptions.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52160" y="3657600"/>
            <a:ext cx="566928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/>
        </p:spPr>
      </p:sp>
      <p:sp>
        <p:nvSpPr>
          <p:cNvPr id="26" name="Shape 24"/>
          <p:cNvSpPr/>
          <p:nvPr/>
        </p:nvSpPr>
        <p:spPr>
          <a:xfrm>
            <a:off x="6108192" y="3822192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108192" y="3822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656832" y="377647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induced 5d moment as a free diagnostic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6656832" y="4041648"/>
            <a:ext cx="4709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Gd run already reports the RE 5d moment. Where its sign or magnitude deviates from the usual antiparallel pattern, the mechanism is weakening — a cheap flag for which compounds deserve explicit Tb–Tm treatment.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52160" y="4727448"/>
            <a:ext cx="566928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/>
        </p:spPr>
      </p:sp>
      <p:sp>
        <p:nvSpPr>
          <p:cNvPr id="31" name="Shape 29"/>
          <p:cNvSpPr/>
          <p:nvPr/>
        </p:nvSpPr>
        <p:spPr>
          <a:xfrm>
            <a:off x="6108192" y="4892040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108192" y="4892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656832" y="48463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 only the outliers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6656832" y="5111496"/>
            <a:ext cx="4709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4f Tb–Tm with occupation-matrix control is expensive and fragile. Reserve it for de Gennes outliers and predicted FM exceptions, then add Tᴄ via exchange constants for survivors.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CAMPBELL'S RULE, APPLIED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results reach the target with which rare earth, against magnets on the market</a:t>
            </a:r>
            <a:endParaRPr lang="en-US" sz="3200" dirty="0"/>
          </a:p>
        </p:txBody>
      </p:sp>
      <p:pic>
        <p:nvPicPr>
          <p:cNvPr id="4" name="Image 0" descr="/Users/g5q/Documents/GitHub/gnome-fe-hree-magnets/assets/campbell_m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7589520" cy="4754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58200" y="1371600"/>
            <a:ext cx="3063240" cy="4754880"/>
          </a:xfrm>
          <a:prstGeom prst="roundRect">
            <a:avLst>
              <a:gd name="adj" fmla="val 2388"/>
            </a:avLst>
          </a:prstGeom>
          <a:solidFill>
            <a:srgbClr val="EEF2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659368" y="15087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59368" y="1783080"/>
            <a:ext cx="2788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host, ranked by its Nd projection. The Fe/Co sublattice moment is the computed one; each marker swaps the RE: Gd as computed (ferri), heavy Tb/Dy antiparallel, light Nd/Sm parallel. Dotted lines: measured Ms of commercial and benchmark magnets.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659368" y="32004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RE never works</a:t>
            </a:r>
            <a:endParaRPr lang="en-US" sz="980" dirty="0"/>
          </a:p>
        </p:txBody>
      </p:sp>
      <p:sp>
        <p:nvSpPr>
          <p:cNvPr id="9" name="Text 6"/>
          <p:cNvSpPr txBox="1"/>
          <p:nvPr/>
        </p:nvSpPr>
        <p:spPr>
          <a:xfrm>
            <a:off x="8659368" y="3392424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Tb/Dy pull every host below 1 T; most go negative (RE-dominated).</a:t>
            </a:r>
            <a:endParaRPr lang="en-US" sz="830" dirty="0"/>
          </a:p>
        </p:txBody>
      </p:sp>
      <p:sp>
        <p:nvSpPr>
          <p:cNvPr id="10" name="Text 7"/>
          <p:cNvSpPr txBox="1"/>
          <p:nvPr/>
        </p:nvSpPr>
        <p:spPr>
          <a:xfrm>
            <a:off x="8659368" y="385876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RE recovers 1.4-2.0 T</a:t>
            </a:r>
            <a:endParaRPr lang="en-US" sz="980" dirty="0"/>
          </a:p>
        </p:txBody>
      </p:sp>
      <p:sp>
        <p:nvSpPr>
          <p:cNvPr id="11" name="Text 8"/>
          <p:cNvSpPr txBox="1"/>
          <p:nvPr/>
        </p:nvSpPr>
        <p:spPr>
          <a:xfrm>
            <a:off x="8659368" y="4050792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known 2-14-1 and 2-17-N hosts top out at 2.0 T projected ≈ 1.6-1.7 T real; Nd₂Fe₁₄B and NdFe₁₂N are exactly that.</a:t>
            </a:r>
            <a:endParaRPr lang="en-US" sz="830" dirty="0"/>
          </a:p>
        </p:txBody>
      </p:sp>
      <p:sp>
        <p:nvSpPr>
          <p:cNvPr id="12" name="Text 9"/>
          <p:cNvSpPr txBox="1"/>
          <p:nvPr/>
        </p:nvSpPr>
        <p:spPr>
          <a:xfrm>
            <a:off x="8659368" y="451713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hosts land at 1.7-1.9 T</a:t>
            </a:r>
            <a:endParaRPr lang="en-US" sz="980" dirty="0"/>
          </a:p>
        </p:txBody>
      </p:sp>
      <p:sp>
        <p:nvSpPr>
          <p:cNvPr id="13" name="Text 10"/>
          <p:cNvSpPr txBox="1"/>
          <p:nvPr/>
        </p:nvSpPr>
        <p:spPr>
          <a:xfrm>
            <a:off x="8659368" y="47091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CoFe₁₃NdY₃, Co₇Fe₁₆Nd₆, Fe₅NdSi, Fe₁₁NdW - the first two are RE-rich, the last two are the queued batch.</a:t>
            </a:r>
            <a:endParaRPr lang="en-US" sz="830" dirty="0"/>
          </a:p>
        </p:txBody>
      </p:sp>
      <p:sp>
        <p:nvSpPr>
          <p:cNvPr id="14" name="Text 11"/>
          <p:cNvSpPr txBox="1"/>
          <p:nvPr/>
        </p:nvSpPr>
        <p:spPr>
          <a:xfrm>
            <a:off x="8659368" y="517550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 costs 0.2-0.4 T</a:t>
            </a:r>
            <a:endParaRPr lang="en-US" sz="980" dirty="0"/>
          </a:p>
        </p:txBody>
      </p:sp>
      <p:sp>
        <p:nvSpPr>
          <p:cNvPr id="15" name="Text 12"/>
          <p:cNvSpPr txBox="1"/>
          <p:nvPr/>
        </p:nvSpPr>
        <p:spPr>
          <a:xfrm>
            <a:off x="8659368" y="5367528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carries the strongest anisotropy and sits on the hull more often.</a:t>
            </a:r>
            <a:endParaRPr lang="en-US" sz="83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6199632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Learnt: within this chemistry the rare earth sets Ms far more than the host does; the host's job is coupling strength and stability, which is why the batch was chosen on those two and not on Ms alone.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COUPLING QUESTION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much Gd must be replaced to make a magnet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029200" cy="2148840"/>
          </a:xfrm>
          <a:prstGeom prst="roundRect">
            <a:avLst>
              <a:gd name="adj" fmla="val 3404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6459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the campaign leaves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975104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 is a 4f⁷ S-state ion: L = 0, spherical charge cloud, no single-ion anisotropy by construction. That is exactly why it is a clean surrogate for exchange — and exactly why it can never be the final composition.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9260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κ  =  √( K₁ / μ₀Ms² )  ≥  1</a:t>
            </a:r>
            <a:endParaRPr lang="en-US" sz="19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794760"/>
          <a:ext cx="50292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783080"/>
                <a:gridCol w="17830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μ₀Ms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K₁ for κ = 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K₁ for κ = 1.54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 MJ/m³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 MJ/m³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 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 MJ/m³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 MJ/m³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40080" y="486460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Ms demands MORE anisotropy, not less — which is why a 2 T target forces a non-spherical 4f ion. (κ = 1.54 is Nd₂Fe₁₄B.)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989320" y="1481328"/>
            <a:ext cx="5532120" cy="1060704"/>
          </a:xfrm>
          <a:prstGeom prst="roundRect">
            <a:avLst>
              <a:gd name="adj" fmla="val 6897"/>
            </a:avLst>
          </a:prstGeom>
          <a:solidFill>
            <a:srgbClr val="EEF2F7"/>
          </a:solidFill>
          <a:ln/>
        </p:spPr>
      </p:sp>
      <p:sp>
        <p:nvSpPr>
          <p:cNvPr id="11" name="Shape 8"/>
          <p:cNvSpPr/>
          <p:nvPr/>
        </p:nvSpPr>
        <p:spPr>
          <a:xfrm>
            <a:off x="6245352" y="1664208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245352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793992" y="161848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6793992" y="1883664"/>
            <a:ext cx="4526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|ΔE| per Gd from the campaign sets the exchange field; Stevens α_J and ⟨r²⟩ are tabulated. Only A₂⁰, the crystal-field parameter at the RE site, must be computed separately.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989320" y="2651760"/>
            <a:ext cx="5532120" cy="1060704"/>
          </a:xfrm>
          <a:prstGeom prst="roundRect">
            <a:avLst>
              <a:gd name="adj" fmla="val 6897"/>
            </a:avLst>
          </a:prstGeom>
          <a:solidFill>
            <a:srgbClr val="EEF2F7"/>
          </a:solidFill>
          <a:ln/>
        </p:spPr>
      </p:sp>
      <p:sp>
        <p:nvSpPr>
          <p:cNvPr id="16" name="Shape 13"/>
          <p:cNvSpPr/>
          <p:nvPr/>
        </p:nvSpPr>
        <p:spPr>
          <a:xfrm>
            <a:off x="6245352" y="2834640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45352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793992" y="278892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793992" y="3054096"/>
            <a:ext cx="4526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K₁(x,T) from the 2nd-order crystal field with the Callen–Callen l = 2 law (K₁ ∝ m_RE³); Ms(x) from the TM sublattice and the RE moments, signed by the coupling.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989320" y="3822192"/>
            <a:ext cx="5532120" cy="1060704"/>
          </a:xfrm>
          <a:prstGeom prst="roundRect">
            <a:avLst>
              <a:gd name="adj" fmla="val 6897"/>
            </a:avLst>
          </a:prstGeom>
          <a:solidFill>
            <a:srgbClr val="EEF2F7"/>
          </a:solidFill>
          <a:ln/>
        </p:spPr>
      </p:sp>
      <p:sp>
        <p:nvSpPr>
          <p:cNvPr id="21" name="Shape 18"/>
          <p:cNvSpPr/>
          <p:nvPr/>
        </p:nvSpPr>
        <p:spPr>
          <a:xfrm>
            <a:off x="6245352" y="4005072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245352" y="4005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793992" y="395935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6793992" y="4224528"/>
            <a:ext cx="4526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x clearing κ ≥ 1 at operating temperature. Example: A₂⁰ = +300 K/a₀², 450 K → Tb at x = 0.77 gives K₁ = 5.7 MJ/m³, μ₀Ms = 2.67 T, κ = 1.0.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989320" y="4992624"/>
            <a:ext cx="5532120" cy="1060704"/>
          </a:xfrm>
          <a:prstGeom prst="roundRect">
            <a:avLst>
              <a:gd name="adj" fmla="val 6897"/>
            </a:avLst>
          </a:prstGeom>
          <a:solidFill>
            <a:srgbClr val="EEF2F7"/>
          </a:solidFill>
          <a:ln/>
        </p:spPr>
      </p:sp>
      <p:sp>
        <p:nvSpPr>
          <p:cNvPr id="26" name="Shape 23"/>
          <p:cNvSpPr/>
          <p:nvPr/>
        </p:nvSpPr>
        <p:spPr>
          <a:xfrm>
            <a:off x="6245352" y="5175504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245352" y="5175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6793992" y="51297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Gd for Tc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6793992" y="5394960"/>
            <a:ext cx="4526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 has the largest de Gennes factor of the series (15.75 vs Tb 10.5, Dy 7.08), so it contributes most to Tc. Target the MINIMUM x that clears the bar.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40080" y="587044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traps the solver enforces: only ONE Stevens sign family is easy-axis for a given A₂⁰ (Tb/Dy/Ho have α_J &lt; 0, Er/Tm α_J &gt; 0 — mixing them cancels), and K₁ &lt; 0 is easy-plane, which is not a magnet at any magnitude.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LOOP ON ONE PAGE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 flowchart: data in cylinders and parallelograms, decisions in diamonds, the HPC step in red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371600" cy="868680"/>
          </a:xfrm>
          <a:prstGeom prst="flowChartTerminator">
            <a:avLst/>
          </a:prstGeom>
          <a:solidFill>
            <a:srgbClr val="EEF2F7"/>
          </a:solidFill>
          <a:ln w="9525">
            <a:solidFill>
              <a:srgbClr val="1A22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0020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prototypes +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40280" y="1554480"/>
            <a:ext cx="1417320" cy="960120"/>
          </a:xfrm>
          <a:prstGeom prst="flowChartMagneticDisk">
            <a:avLst/>
          </a:prstGeom>
          <a:solidFill>
            <a:srgbClr val="E3F0F6"/>
          </a:solidFill>
          <a:ln w="9525">
            <a:solidFill>
              <a:srgbClr val="1F5F7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31720" y="155448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store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GNoME · MP · OQMD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generated cells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886200" y="1600200"/>
            <a:ext cx="1600200" cy="868680"/>
          </a:xfrm>
          <a:prstGeom prst="flowChartProcess">
            <a:avLst/>
          </a:prstGeom>
          <a:solidFill>
            <a:srgbClr val="EEF2F7"/>
          </a:solidFill>
          <a:ln w="9525">
            <a:solidFill>
              <a:srgbClr val="1A22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977640" y="1600200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Nd/Sm · Co · early TM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N/C interstitials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715000" y="1600200"/>
            <a:ext cx="1417320" cy="868680"/>
          </a:xfrm>
          <a:prstGeom prst="flowChartProcess">
            <a:avLst/>
          </a:prstGeom>
          <a:solidFill>
            <a:srgbClr val="EEEDFE"/>
          </a:solidFill>
          <a:ln w="9525">
            <a:solidFill>
              <a:srgbClr val="3C348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806440" y="160020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MACE-MP-0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relax cell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(30 s)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60920" y="1371600"/>
            <a:ext cx="1828800" cy="1325880"/>
          </a:xfrm>
          <a:prstGeom prst="flowChartDecision">
            <a:avLst/>
          </a:prstGeom>
          <a:solidFill>
            <a:srgbClr val="FCEDE8"/>
          </a:solidFill>
          <a:ln w="9525">
            <a:solidFill>
              <a:srgbClr val="8A3B2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52360" y="1371600"/>
            <a:ext cx="1645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E_hull ≤ 30 meV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Ms ≥ 1.5 T ?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555480" y="1600200"/>
            <a:ext cx="1371600" cy="868680"/>
          </a:xfrm>
          <a:prstGeom prst="flowChartTerminator">
            <a:avLst/>
          </a:prstGeom>
          <a:solidFill>
            <a:srgbClr val="EEF2F7"/>
          </a:solidFill>
          <a:ln w="9525">
            <a:solidFill>
              <a:srgbClr val="B4B2A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46920" y="160020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(training only)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011680" y="2034540"/>
            <a:ext cx="22860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657600" y="2034540"/>
            <a:ext cx="22860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486400" y="2034540"/>
            <a:ext cx="22860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132320" y="2034540"/>
            <a:ext cx="22860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189720" y="2034540"/>
            <a:ext cx="36576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9144000" y="16459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8275320" y="2697480"/>
            <a:ext cx="0" cy="54864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8321040" y="27889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360920" y="3246120"/>
            <a:ext cx="1828800" cy="868680"/>
          </a:xfrm>
          <a:prstGeom prst="flowChartInputOutput">
            <a:avLst/>
          </a:prstGeom>
          <a:solidFill>
            <a:srgbClr val="E3F0F6"/>
          </a:solidFill>
          <a:ln w="9525">
            <a:solidFill>
              <a:srgbClr val="1F5F7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52360" y="324612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row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geometry descriptors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 one-hot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303520" y="3246120"/>
            <a:ext cx="1783080" cy="868680"/>
          </a:xfrm>
          <a:prstGeom prst="flowChartProcess">
            <a:avLst/>
          </a:prstGeom>
          <a:solidFill>
            <a:srgbClr val="EEEDFE"/>
          </a:solidFill>
          <a:ln w="9525">
            <a:solidFill>
              <a:srgbClr val="3C348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394960" y="32461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 predicts 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(5d polarisation):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trend + GP correction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46120" y="3246120"/>
            <a:ext cx="1783080" cy="868680"/>
          </a:xfrm>
          <a:prstGeom prst="flowChartProcess">
            <a:avLst/>
          </a:prstGeom>
          <a:solidFill>
            <a:srgbClr val="EEEDFE"/>
          </a:solidFill>
          <a:ln w="9525">
            <a:solidFill>
              <a:srgbClr val="3C348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337560" y="32461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Thompson sampling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wave of 120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(constraints + cap)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40080" y="3246120"/>
            <a:ext cx="2331720" cy="868680"/>
          </a:xfrm>
          <a:prstGeom prst="flowChartProcess">
            <a:avLst/>
          </a:prstGeom>
          <a:solidFill>
            <a:srgbClr val="F5C4B3"/>
          </a:solidFill>
          <a:ln w="9525">
            <a:solidFill>
              <a:srgbClr val="D85A3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1520" y="324612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12B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VASP on Perlmutter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12B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f-in-core relaxations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12B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packed 4 h job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 flipH="1">
            <a:off x="7086600" y="3680460"/>
            <a:ext cx="27432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 flipH="1">
            <a:off x="5029200" y="3680460"/>
            <a:ext cx="27432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H="1">
            <a:off x="2971800" y="3680460"/>
            <a:ext cx="27432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801368" y="4114800"/>
            <a:ext cx="0" cy="77724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640080" y="4892040"/>
            <a:ext cx="2331720" cy="868680"/>
          </a:xfrm>
          <a:prstGeom prst="flowChartInputOutput">
            <a:avLst/>
          </a:prstGeom>
          <a:solidFill>
            <a:srgbClr val="E3F0F6"/>
          </a:solidFill>
          <a:ln w="9525">
            <a:solidFill>
              <a:srgbClr val="1F5F7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1520" y="489204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run: h, Fe/Co moments, V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gap_RE = 1574·h·(gJ−1)J/3.5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T* = gap_RE/2k_B, Ms = Σm/V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246120" y="4892040"/>
            <a:ext cx="1783080" cy="868680"/>
          </a:xfrm>
          <a:prstGeom prst="flowChartProcess">
            <a:avLst/>
          </a:prstGeom>
          <a:solidFill>
            <a:srgbClr val="EEEDFE"/>
          </a:solidFill>
          <a:ln w="9525">
            <a:solidFill>
              <a:srgbClr val="3C3489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337560" y="489204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ingest: parse OUTCARs →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labels.csv; compare measured 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predicted (H1); re-fit GP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303520" y="4663440"/>
            <a:ext cx="1828800" cy="1325880"/>
          </a:xfrm>
          <a:prstGeom prst="flowChartDecision">
            <a:avLst/>
          </a:prstGeom>
          <a:solidFill>
            <a:srgbClr val="FCEDE8"/>
          </a:solidFill>
          <a:ln w="9525">
            <a:solidFill>
              <a:srgbClr val="8A3B2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394960" y="4663440"/>
            <a:ext cx="1645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moved? feasible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candidates left?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360920" y="4892040"/>
            <a:ext cx="1828800" cy="868680"/>
          </a:xfrm>
          <a:prstGeom prst="flowChartTerminator">
            <a:avLst/>
          </a:prstGeom>
          <a:solidFill>
            <a:srgbClr val="EEF2F7"/>
          </a:solidFill>
          <a:ln w="9525">
            <a:solidFill>
              <a:srgbClr val="1A2233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452360" y="489204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→ candidate list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anisotropy → Tc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synthesis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971800" y="5326380"/>
            <a:ext cx="27432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5029200" y="5326380"/>
            <a:ext cx="27432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7132320" y="5326380"/>
            <a:ext cx="22860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47" name="Text 45"/>
          <p:cNvSpPr txBox="1"/>
          <p:nvPr/>
        </p:nvSpPr>
        <p:spPr>
          <a:xfrm>
            <a:off x="7040880" y="493776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 flipV="1">
            <a:off x="6217920" y="4114800"/>
            <a:ext cx="0" cy="54864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headEnd type="none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6263640" y="41879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6309360" y="440740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 on new labels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 flipV="1">
            <a:off x="2926080" y="2560320"/>
            <a:ext cx="0" cy="2331720"/>
          </a:xfrm>
          <a:prstGeom prst="line">
            <a:avLst/>
          </a:prstGeom>
          <a:noFill/>
          <a:ln w="15240">
            <a:solidFill>
              <a:srgbClr val="3C3489"/>
            </a:solidFill>
            <a:prstDash val="dash"/>
            <a:tailEnd type="triangle"/>
          </a:ln>
        </p:spPr>
      </p:sp>
      <p:sp>
        <p:nvSpPr>
          <p:cNvPr id="52" name="Text 50"/>
          <p:cNvSpPr txBox="1"/>
          <p:nvPr/>
        </p:nvSpPr>
        <p:spPr>
          <a:xfrm>
            <a:off x="3017520" y="2697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expand: winners × levers</a:t>
            </a:r>
            <a:endParaRPr lang="en-US" sz="850" dirty="0"/>
          </a:p>
          <a:p>
            <a:pPr indent="0" marL="0">
              <a:buNone/>
            </a:pPr>
            <a:r>
              <a:rPr lang="en-US" sz="850" i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new cells into the store</a:t>
            </a:r>
            <a:endParaRPr lang="en-US" sz="850" dirty="0"/>
          </a:p>
        </p:txBody>
      </p:sp>
      <p:pic>
        <p:nvPicPr>
          <p:cNvPr id="53" name="Image 0" descr="/Users/g5q/Documents/GitHub/gnome-fe-hree-magnets/assets/gap_vs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98280" y="2606040"/>
            <a:ext cx="2423160" cy="1682496"/>
          </a:xfrm>
          <a:prstGeom prst="rect">
            <a:avLst/>
          </a:prstGeom>
        </p:spPr>
      </p:pic>
      <p:sp>
        <p:nvSpPr>
          <p:cNvPr id="54" name="Text 51"/>
          <p:cNvSpPr txBox="1"/>
          <p:nvPr/>
        </p:nvSpPr>
        <p:spPr>
          <a:xfrm>
            <a:off x="9098280" y="42976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behind the GP label: gap = 1574·h on 180 Gd pairs, r = 0.89 - one f-in-core run per label</a:t>
            </a:r>
            <a:endParaRPr lang="en-US" sz="800" dirty="0"/>
          </a:p>
        </p:txBody>
      </p:sp>
      <p:pic>
        <p:nvPicPr>
          <p:cNvPr id="55" name="Image 1" descr="/Users/g5q/Documents/GitHub/gnome-fe-hree-magnets/assets/light_re_h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4709160"/>
            <a:ext cx="2423160" cy="1600200"/>
          </a:xfrm>
          <a:prstGeom prst="rect">
            <a:avLst/>
          </a:prstGeom>
        </p:spPr>
      </p:pic>
      <p:sp>
        <p:nvSpPr>
          <p:cNvPr id="56" name="Text 52"/>
          <p:cNvSpPr txBox="1"/>
          <p:nvPr/>
        </p:nvSpPr>
        <p:spPr>
          <a:xfrm>
            <a:off x="9098280" y="63093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behind the hull decision: MACE vs MP competitors, Ms vs stability for the light-RE hosts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GENERATION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sources feed one pool; every structure gets the same relaxation, hull and descriptors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2560320" cy="1508760"/>
          </a:xfrm>
          <a:prstGeom prst="roundRect">
            <a:avLst>
              <a:gd name="adj" fmla="val 3636"/>
            </a:avLst>
          </a:prstGeom>
          <a:solidFill>
            <a:srgbClr val="E3F0F6"/>
          </a:solidFill>
          <a:ln w="6350">
            <a:solidFill>
              <a:srgbClr val="E3F0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5179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structures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1792224"/>
            <a:ext cx="24140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GNoME · MP · Alexandria · OQMD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903 formulas with a CIF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+147 recovered this week (MP by id)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6700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134 in pool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280" y="1463040"/>
            <a:ext cx="2560320" cy="1508760"/>
          </a:xfrm>
          <a:prstGeom prst="roundRect">
            <a:avLst>
              <a:gd name="adj" fmla="val 3636"/>
            </a:avLst>
          </a:prstGeom>
          <a:solidFill>
            <a:srgbClr val="E3F0F6"/>
          </a:solidFill>
          <a:ln w="6350">
            <a:solidFill>
              <a:srgbClr val="E3F0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56432" y="15179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hosts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456432" y="1792224"/>
            <a:ext cx="24140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credible Gd hosts (all, not only strong)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+189 compounds without a credible label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(f-in-core has no +U: they converge)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26700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656 in pool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26480" y="1463040"/>
            <a:ext cx="2560320" cy="1508760"/>
          </a:xfrm>
          <a:prstGeom prst="roundRect">
            <a:avLst>
              <a:gd name="adj" fmla="val 3636"/>
            </a:avLst>
          </a:prstGeom>
          <a:solidFill>
            <a:srgbClr val="EEF2F7"/>
          </a:solidFill>
          <a:ln w="635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99632" y="15179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decoration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99632" y="1792224"/>
            <a:ext cx="24140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CaCu₅-RT₄X, ThMn₁₂, Th₂Zn₁₇, Nd₂Fe₁₄B,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LaCo₉Si₄ × 19-element X palette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Gd cells → Nd and Sm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6700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252 in pool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869680" y="1463040"/>
            <a:ext cx="2560320" cy="1508760"/>
          </a:xfrm>
          <a:prstGeom prst="roundRect">
            <a:avLst>
              <a:gd name="adj" fmla="val 3636"/>
            </a:avLst>
          </a:prstGeom>
          <a:solidFill>
            <a:srgbClr val="EEF2F7"/>
          </a:solidFill>
          <a:ln w="6350">
            <a:solidFill>
              <a:srgbClr val="EEF2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42832" y="15179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Kagome RT₆X₆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942832" y="1792224"/>
            <a:ext cx="24140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HfFe₆Ge₆-type P6/mmm; Fe₆, Co₆, Fe₅Co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Sn, Ge, Si, Ga, Al; + channel vacancy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(none passes Ms ≥ 1.5 T: Fe density 3.2)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0" y="26700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in pool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3154680"/>
            <a:ext cx="2560320" cy="1508760"/>
          </a:xfrm>
          <a:prstGeom prst="roundRect">
            <a:avLst>
              <a:gd name="adj" fmla="val 3636"/>
            </a:avLst>
          </a:prstGeom>
          <a:solidFill>
            <a:srgbClr val="F2B134"/>
          </a:solidFill>
          <a:ln w="6350">
            <a:solidFill>
              <a:srgbClr val="F2B13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13232" y="320954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Interstitial N / C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" y="3483864"/>
            <a:ext cx="24140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RE-adjacent void of every Fe-rich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passer (2b in 1:12, 9e in 2:17, GNoME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channels); dilute + full occupation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36168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 cells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383280" y="3154680"/>
            <a:ext cx="2560320" cy="1508760"/>
          </a:xfrm>
          <a:prstGeom prst="roundRect">
            <a:avLst>
              <a:gd name="adj" fmla="val 3636"/>
            </a:avLst>
          </a:prstGeom>
          <a:solidFill>
            <a:srgbClr val="F2B134"/>
          </a:solidFill>
          <a:ln w="6350">
            <a:solidFill>
              <a:srgbClr val="F2B13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456432" y="320954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Mixed-RE fractional 1:12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3456432" y="3483864"/>
            <a:ext cx="24140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2-f.u. supercells: (Nd,Pr,Sm)₂Fe₂₁V₃N₀₋₂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RFe₁₀.₅V₁.₅N₀₋₁, the real magnet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 class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3474720" y="436168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cells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26480" y="3154680"/>
            <a:ext cx="2560320" cy="1508760"/>
          </a:xfrm>
          <a:prstGeom prst="roundRect">
            <a:avLst>
              <a:gd name="adj" fmla="val 3636"/>
            </a:avLst>
          </a:prstGeom>
          <a:solidFill>
            <a:srgbClr val="EEEDFE"/>
          </a:solidFill>
          <a:ln w="6350">
            <a:solidFill>
              <a:srgbClr val="EEEDF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99632" y="320954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Neighbourhood expansion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199632" y="3483864"/>
            <a:ext cx="24140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each wave: top-25 labelled winners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RE swap, Co ⅛ and ¼, early TM on the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Fe site, N - the data-backed levers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6217920" y="436168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≥ 2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869680" y="3154680"/>
            <a:ext cx="2560320" cy="1508760"/>
          </a:xfrm>
          <a:prstGeom prst="roundRect">
            <a:avLst>
              <a:gd name="adj" fmla="val 3636"/>
            </a:avLst>
          </a:prstGeom>
          <a:solidFill>
            <a:srgbClr val="1B2A4A"/>
          </a:solidFill>
          <a:ln w="6350">
            <a:solidFill>
              <a:srgbClr val="1B2A4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942832" y="320954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pool today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8942832" y="3483864"/>
            <a:ext cx="24140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1,220 unique structures relaxed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with a same-model hull energy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 pass hull ≤ 30 meV and Ms ≥ 1.5 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Thompson sampling draws the wave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4983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≠ stable: database candidates arrive with a hull distance, generated ones do not - which is why every source goes through the MACE hull before the GP ever sees it (next slide).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532120"/>
            <a:ext cx="10881360" cy="640080"/>
          </a:xfrm>
          <a:prstGeom prst="roundRect">
            <a:avLst>
              <a:gd name="adj" fmla="val 11429"/>
            </a:avLst>
          </a:prstGeom>
          <a:solidFill>
            <a:srgbClr val="1B2A4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868680" y="55321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Learnt from building the pool: the generators that add feasible candidates are the Fe-dense ones (2:17, 1:12, 3:29 frameworks, their nitrides and Co variants); kagome and metalloid-rich cages are stable but cannot reach 1.5 T. Generation is cheap, so breadth costs nothing - the thresholds do the selecting.</a:t>
            </a:r>
            <a:endParaRPr lang="en-US" sz="98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PROTOTYPE TO POOL ROW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Substitution rules, then two surrogate screens, then descriptors - no DFT until the wave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2011680" cy="1325880"/>
          </a:xfrm>
          <a:prstGeom prst="roundRect">
            <a:avLst>
              <a:gd name="adj" fmla="val 4138"/>
            </a:avLst>
          </a:prstGeom>
          <a:solidFill>
            <a:srgbClr val="E3F0F6"/>
          </a:solidFill>
          <a:ln w="6350">
            <a:solidFill>
              <a:srgbClr val="E3F0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cell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1883664"/>
            <a:ext cx="18653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heavy-RE placeholder (Gd)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light-RE cell from 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971800" y="1554480"/>
            <a:ext cx="2377440" cy="1325880"/>
          </a:xfrm>
          <a:prstGeom prst="roundRect">
            <a:avLst>
              <a:gd name="adj" fmla="val 4138"/>
            </a:avLst>
          </a:prstGeom>
          <a:solidFill>
            <a:srgbClr val="EEF2F7"/>
          </a:solidFill>
          <a:ln w="6350">
            <a:solidFill>
              <a:srgbClr val="EEF2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044952" y="1609344"/>
            <a:ext cx="2231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Substitution rules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044952" y="1883664"/>
            <a:ext cx="2231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 → Nd, Sm (Pr in expansion)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 → Co, ⅛ nearest the RE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TM on the far Fe site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/ C into RE-adjacent voids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0" y="1554480"/>
            <a:ext cx="1828800" cy="1325880"/>
          </a:xfrm>
          <a:prstGeom prst="roundRect">
            <a:avLst>
              <a:gd name="adj" fmla="val 4138"/>
            </a:avLst>
          </a:prstGeom>
          <a:solidFill>
            <a:srgbClr val="EEF2F7"/>
          </a:solidFill>
          <a:ln w="6350">
            <a:solidFill>
              <a:srgbClr val="EEF2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742432" y="1609344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742432" y="1883664"/>
            <a:ext cx="16824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(reduced formula,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 group)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hull kept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818120" y="1554480"/>
            <a:ext cx="1828800" cy="1325880"/>
          </a:xfrm>
          <a:prstGeom prst="roundRect">
            <a:avLst>
              <a:gd name="adj" fmla="val 4138"/>
            </a:avLst>
          </a:prstGeom>
          <a:solidFill>
            <a:srgbClr val="EEEDFE"/>
          </a:solidFill>
          <a:ln w="6350">
            <a:solidFill>
              <a:srgbClr val="EEEDF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891272" y="1609344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MACE-MP-0 relax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891272" y="1883664"/>
            <a:ext cx="16824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+ positions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fmax 0.1 eV/Å, ≤120 steps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 s per cell on CPU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966960" y="1554480"/>
            <a:ext cx="1554480" cy="1325880"/>
          </a:xfrm>
          <a:prstGeom prst="roundRect">
            <a:avLst>
              <a:gd name="adj" fmla="val 4138"/>
            </a:avLst>
          </a:prstGeom>
          <a:solidFill>
            <a:srgbClr val="EEEDFE"/>
          </a:solidFill>
          <a:ln w="6350">
            <a:solidFill>
              <a:srgbClr val="EEEDF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040112" y="1609344"/>
            <a:ext cx="14081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Same-model hull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040112" y="1883664"/>
            <a:ext cx="14081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 competitors ≤100 meV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re-relaxed with MACE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E_hull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651760" y="2212848"/>
            <a:ext cx="32004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349240" y="2212848"/>
            <a:ext cx="32004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498080" y="2212848"/>
            <a:ext cx="32004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646920" y="2212848"/>
            <a:ext cx="32004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966960" y="3291840"/>
            <a:ext cx="1554480" cy="1325880"/>
          </a:xfrm>
          <a:prstGeom prst="roundRect">
            <a:avLst>
              <a:gd name="adj" fmla="val 4138"/>
            </a:avLst>
          </a:prstGeom>
          <a:solidFill>
            <a:srgbClr val="EEEDFE"/>
          </a:solidFill>
          <a:ln w="6350">
            <a:solidFill>
              <a:srgbClr val="EEEDF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040112" y="3346704"/>
            <a:ext cx="14081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Descriptors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040112" y="3621024"/>
            <a:ext cx="14081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geometry numbers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 one-hot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(wave_features.py)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818120" y="3291840"/>
            <a:ext cx="1828800" cy="1325880"/>
          </a:xfrm>
          <a:prstGeom prst="roundRect">
            <a:avLst>
              <a:gd name="adj" fmla="val 4138"/>
            </a:avLst>
          </a:prstGeom>
          <a:solidFill>
            <a:srgbClr val="EEF2F7"/>
          </a:solidFill>
          <a:ln w="6350">
            <a:solidFill>
              <a:srgbClr val="EEF2F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891272" y="3346704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 Ms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891272" y="3621024"/>
            <a:ext cx="16824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TM moments (campaign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medians) + free-ion RE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÷ relaxed volume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0" y="3291840"/>
            <a:ext cx="1828800" cy="1325880"/>
          </a:xfrm>
          <a:prstGeom prst="roundRect">
            <a:avLst>
              <a:gd name="adj" fmla="val 4138"/>
            </a:avLst>
          </a:prstGeom>
          <a:solidFill>
            <a:srgbClr val="E3F0F6"/>
          </a:solidFill>
          <a:ln w="6350">
            <a:solidFill>
              <a:srgbClr val="E3F0F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742432" y="3346704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pool.csv row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742432" y="3621024"/>
            <a:ext cx="16824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cid · formula · source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E_hull · Ms · descriptors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POSCAR_mace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2971800" y="3291840"/>
            <a:ext cx="2377440" cy="1325880"/>
          </a:xfrm>
          <a:prstGeom prst="roundRect">
            <a:avLst>
              <a:gd name="adj" fmla="val 4138"/>
            </a:avLst>
          </a:prstGeom>
          <a:solidFill>
            <a:srgbClr val="FCEDE8"/>
          </a:solidFill>
          <a:ln w="6350">
            <a:solidFill>
              <a:srgbClr val="FCEDE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044952" y="3346704"/>
            <a:ext cx="2231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filters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3044952" y="3621024"/>
            <a:ext cx="2231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E_hull ≤ 30 meV/atom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(MACE noise ≈ 30)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Ms_proj ≥ 1.5 T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0080" y="3291840"/>
            <a:ext cx="2011680" cy="1325880"/>
          </a:xfrm>
          <a:prstGeom prst="roundRect">
            <a:avLst>
              <a:gd name="adj" fmla="val 4138"/>
            </a:avLst>
          </a:prstGeom>
          <a:solidFill>
            <a:srgbClr val="EEEDFE"/>
          </a:solidFill>
          <a:ln w="6350">
            <a:solidFill>
              <a:srgbClr val="EEEDF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13232" y="334670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GP + sampling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713232" y="3621024"/>
            <a:ext cx="18653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 set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(94 of 1,220 today)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slide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0744200" y="2880360"/>
            <a:ext cx="0" cy="41148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 flipH="1">
            <a:off x="9646920" y="3950208"/>
            <a:ext cx="32004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 flipH="1">
            <a:off x="7498080" y="3950208"/>
            <a:ext cx="32004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 flipH="1">
            <a:off x="5349240" y="3950208"/>
            <a:ext cx="32004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 flipH="1">
            <a:off x="2651760" y="3950208"/>
            <a:ext cx="32004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640080" y="48463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15 descriptors (all pre-DFT):  N_TM_nn, d_RE-TM (mean, min)  ·  f_Fe, f_Co, 3d count, TM per RE, dilution  ·  TM density, volume per atom  ·  early-TM fraction  ·  metalloid / H / N / C atoms in the RE shell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640080" y="53492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two surrogates: MACE answers 'does this cell exist' (stability, geometry) at 30 s per structure; the GP answers 'is it worth a VASP run' (coupling) from the geometry MACE produced. Neither replaces the DFT label - they decide which 120 of the 1,220 get one.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GP, WHAT IT FITS, HOW IT PICKS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Two-stage model on the 5d polarisation h; batch Thompson sampling under the magnet constraints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3383280" cy="1417320"/>
          </a:xfrm>
          <a:prstGeom prst="roundRect">
            <a:avLst>
              <a:gd name="adj" fmla="val 3871"/>
            </a:avLst>
          </a:prstGeom>
          <a:solidFill>
            <a:srgbClr val="E3F0F6"/>
          </a:solidFill>
          <a:ln w="6350">
            <a:solidFill>
              <a:srgbClr val="E3F0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51790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Training rows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1792224"/>
            <a:ext cx="3236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 credible Gd pairs: label h = −½[m₅d(ferri) + m₅d(fm)]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every ingested f-in-core wave run: h read directly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= 15 descriptors + RE one-hot, standardised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89120" y="1463040"/>
            <a:ext cx="3383280" cy="1417320"/>
          </a:xfrm>
          <a:prstGeom prst="roundRect">
            <a:avLst>
              <a:gd name="adj" fmla="val 3871"/>
            </a:avLst>
          </a:prstGeom>
          <a:solidFill>
            <a:srgbClr val="EEEDFE"/>
          </a:solidFill>
          <a:ln w="6350">
            <a:solidFill>
              <a:srgbClr val="EEEDF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62272" y="151790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Mean function (ridge)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462272" y="1792224"/>
            <a:ext cx="3236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= argmin ‖h − Xw‖² + α‖w‖²,  α = 1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physics the 180 labels already fixed: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distance, coordination, Co fraction, dilution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38160" y="1463040"/>
            <a:ext cx="3383280" cy="1417320"/>
          </a:xfrm>
          <a:prstGeom prst="roundRect">
            <a:avLst>
              <a:gd name="adj" fmla="val 3871"/>
            </a:avLst>
          </a:prstGeom>
          <a:solidFill>
            <a:srgbClr val="EEEDFE"/>
          </a:solidFill>
          <a:ln w="6350">
            <a:solidFill>
              <a:srgbClr val="EEEDF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11312" y="151790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GP on the residual r = h − Xw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11312" y="1792224"/>
            <a:ext cx="3236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σ²·Matern₅⁄₂(ℓ₁…ℓ₁₉) + σₙ²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hyperparameters maximise the log marginal likelihood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p(r|X) = −½ rᵀK⁻¹r − ½ log|K| − (n/2) log 2π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posterior mean μ(x), std σ(x)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023360" y="2167128"/>
            <a:ext cx="36576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772400" y="2167128"/>
            <a:ext cx="36576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40080" y="3200400"/>
            <a:ext cx="3383280" cy="1463040"/>
          </a:xfrm>
          <a:prstGeom prst="roundRect">
            <a:avLst>
              <a:gd name="adj" fmla="val 3750"/>
            </a:avLst>
          </a:prstGeom>
          <a:solidFill>
            <a:srgbClr val="EEF2F7"/>
          </a:solidFill>
          <a:ln w="6350">
            <a:solidFill>
              <a:srgbClr val="EEF2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" y="325526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Stage two (deterministic)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3529584"/>
            <a:ext cx="32369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gap_RE = 1574 · h · (gJ−1)J_RE / 3.5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T* = gap_RE / 2k_B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from the pool row (analytic)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fitted parameter beyond 1574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89120" y="3200400"/>
            <a:ext cx="3383280" cy="1463040"/>
          </a:xfrm>
          <a:prstGeom prst="roundRect">
            <a:avLst>
              <a:gd name="adj" fmla="val 3750"/>
            </a:avLst>
          </a:prstGeom>
          <a:solidFill>
            <a:srgbClr val="FCEDE8"/>
          </a:solidFill>
          <a:ln w="6350">
            <a:solidFill>
              <a:srgbClr val="FCED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462272" y="325526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Validation before use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462272" y="3529584"/>
            <a:ext cx="32369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10-fold CV on the 179 Gd labels: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0.88, RMSE 0.018 μB (label sd 0.038)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91 % of held-out labels inside ±2σ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check on every wave: measured h vs predicted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38160" y="3200400"/>
            <a:ext cx="3383280" cy="1463040"/>
          </a:xfrm>
          <a:prstGeom prst="roundRect">
            <a:avLst>
              <a:gd name="adj" fmla="val 3750"/>
            </a:avLst>
          </a:prstGeom>
          <a:solidFill>
            <a:srgbClr val="F2B134"/>
          </a:solidFill>
          <a:ln w="6350">
            <a:solidFill>
              <a:srgbClr val="F2B13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11312" y="325526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Batch Thompson sampling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211312" y="3529584"/>
            <a:ext cx="32369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pick: one joint posterior draw h̃ over the pool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 if gap̃_RE ≥ 100 meV, Ms ≥ 1.5 T, E_hull ≤ 30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 U = Ms · min(1, gap̃ / 100, 11.5); take argmax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A3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until the wave is full; family cap by (SG, TM:RE)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9829800" y="2880360"/>
            <a:ext cx="0" cy="32004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2331720" y="2880360"/>
            <a:ext cx="0" cy="32004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080760" y="2880360"/>
            <a:ext cx="0" cy="32004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40080" y="4892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Loss, precisely: the ridge minimises squared error on h; the GP hyperparameters maximise the marginal likelihood of the residuals (not a point loss, so σ is calibrated); nothing is fitted to the acquisition. Posterior uncertainty is what makes the batch diverse - no κ to tune.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5321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limits: the GP has 179 points in 19 dimensions, so it extrapolates with wide σ outside the campaign chemistry - which is exactly where Thompson sampling then spends runs. The 1574·h calibration is Gd-derived; H1 tests whether it transfers to f-in-core Nd/Sm, and the RE one-hot lets the model learn a bias if it does not.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WAVES AND GENERATIONS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packed Perlmutter job per 48 h; each wave is drawn from the pool the previous one taught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691640" cy="1645920"/>
          </a:xfrm>
          <a:prstGeom prst="roundRect">
            <a:avLst>
              <a:gd name="adj" fmla="val 3333"/>
            </a:avLst>
          </a:prstGeom>
          <a:solidFill>
            <a:srgbClr val="E3F0F6"/>
          </a:solidFill>
          <a:ln w="6350">
            <a:solidFill>
              <a:srgbClr val="E3F0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609344"/>
            <a:ext cx="1545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 · global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1883664"/>
            <a:ext cx="15453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= 7 sources (1,220)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 draws 120 under the thresholds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120 f-in-core relaxations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nodes · 4 h · ~29 h queue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331720" y="2377440"/>
            <a:ext cx="13716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468880" y="1554480"/>
            <a:ext cx="1691640" cy="1645920"/>
          </a:xfrm>
          <a:prstGeom prst="roundRect">
            <a:avLst>
              <a:gd name="adj" fmla="val 3333"/>
            </a:avLst>
          </a:prstGeom>
          <a:solidFill>
            <a:srgbClr val="EEEDFE"/>
          </a:solidFill>
          <a:ln w="6350">
            <a:solidFill>
              <a:srgbClr val="EEEDF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42032" y="1609344"/>
            <a:ext cx="1545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542032" y="1883664"/>
            <a:ext cx="15453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 → h, Ms, V per run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labels.csv (+120 rows)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H1: measured vs predicted h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 re-fit, 10-fold CV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2377440"/>
            <a:ext cx="13716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297680" y="1554480"/>
            <a:ext cx="1691640" cy="1645920"/>
          </a:xfrm>
          <a:prstGeom prst="roundRect">
            <a:avLst>
              <a:gd name="adj" fmla="val 3333"/>
            </a:avLst>
          </a:prstGeom>
          <a:solidFill>
            <a:srgbClr val="E3F0F6"/>
          </a:solidFill>
          <a:ln w="6350">
            <a:solidFill>
              <a:srgbClr val="E3F0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70832" y="1609344"/>
            <a:ext cx="1545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 · local + global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370832" y="1883664"/>
            <a:ext cx="15453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= remainder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expand(top-25 winners)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new prototypes added by hand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 draws 120 again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89320" y="2377440"/>
            <a:ext cx="13716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126480" y="1554480"/>
            <a:ext cx="1691640" cy="1645920"/>
          </a:xfrm>
          <a:prstGeom prst="roundRect">
            <a:avLst>
              <a:gd name="adj" fmla="val 3333"/>
            </a:avLst>
          </a:prstGeom>
          <a:solidFill>
            <a:srgbClr val="EEEDFE"/>
          </a:solidFill>
          <a:ln w="6350">
            <a:solidFill>
              <a:srgbClr val="EEEDF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99632" y="1609344"/>
            <a:ext cx="1545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199632" y="1883664"/>
            <a:ext cx="15453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labels.csv (+120)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 of (gap_RE, Ms, E_hull)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C3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it moved?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818120" y="2377440"/>
            <a:ext cx="13716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955280" y="1554480"/>
            <a:ext cx="1691640" cy="1645920"/>
          </a:xfrm>
          <a:prstGeom prst="roundRect">
            <a:avLst>
              <a:gd name="adj" fmla="val 3333"/>
            </a:avLst>
          </a:prstGeom>
          <a:solidFill>
            <a:srgbClr val="E3F0F6"/>
          </a:solidFill>
          <a:ln w="6350">
            <a:solidFill>
              <a:srgbClr val="E3F0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28432" y="1609344"/>
            <a:ext cx="1545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k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028432" y="1883664"/>
            <a:ext cx="15453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loop; pool grows by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neighbourhoods of each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5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wave's winners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646920" y="2377440"/>
            <a:ext cx="137160" cy="0"/>
          </a:xfrm>
          <a:prstGeom prst="line">
            <a:avLst/>
          </a:prstGeom>
          <a:noFill/>
          <a:ln w="17780">
            <a:solidFill>
              <a:srgbClr val="7A8DA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784080" y="1554480"/>
            <a:ext cx="1691640" cy="1645920"/>
          </a:xfrm>
          <a:prstGeom prst="roundRect">
            <a:avLst>
              <a:gd name="adj" fmla="val 3333"/>
            </a:avLst>
          </a:prstGeom>
          <a:solidFill>
            <a:srgbClr val="FCEDE8"/>
          </a:solidFill>
          <a:ln w="6350">
            <a:solidFill>
              <a:srgbClr val="FCED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857232" y="1609344"/>
            <a:ext cx="1545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857232" y="1883664"/>
            <a:ext cx="15453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 count → 0, or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unchanged 2 waves, or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fails (r &lt; 0.5): retrain on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f-in-core rows only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3429000"/>
            <a:ext cx="5212080" cy="1463040"/>
          </a:xfrm>
          <a:prstGeom prst="roundRect">
            <a:avLst>
              <a:gd name="adj" fmla="val 3750"/>
            </a:avLst>
          </a:prstGeom>
          <a:solidFill>
            <a:srgbClr val="EEF2F7"/>
          </a:solidFill>
          <a:ln w="6350">
            <a:solidFill>
              <a:srgbClr val="EEF2F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13232" y="3483864"/>
            <a:ext cx="5065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'expand' generates from a winner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13232" y="3758184"/>
            <a:ext cx="50657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 swap  Nd ↔ Sm ↔ Pr on the same cell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 ⅛ and ¼ of Fe, the sites nearest the RE first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TM  one Ti / V / Zr / Nb on the Fe site farthest from the 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 into the largest RE-adjacent void (dilute and full)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variant → MACE relax → same-model hull → descriptors → pool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309360" y="3429000"/>
            <a:ext cx="5212080" cy="1463040"/>
          </a:xfrm>
          <a:prstGeom prst="roundRect">
            <a:avLst>
              <a:gd name="adj" fmla="val 3750"/>
            </a:avLst>
          </a:prstGeom>
          <a:solidFill>
            <a:srgbClr val="FCEDE8"/>
          </a:solidFill>
          <a:ln w="6350">
            <a:solidFill>
              <a:srgbClr val="FCED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82512" y="3483864"/>
            <a:ext cx="5065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wave returns, per cell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382512" y="3758184"/>
            <a:ext cx="50657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relaxed volume and pressure (did N / Nd fit?)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 / Co sublattice moments → Ms with the free-ion RE added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= RE s+p+d polarisation → gap_RE, T*, B_RT via 1574·h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convergence flags; everything appended as a training row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fm/ferri pair, no +U: one run is one label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50749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Cadence: plan (minutes) → push → submit → queue 1-2 d → run 3 h → ingest (minutes). Scripts: wave_pool.py · wave_gp.py · wave_inputs.py · submit_batch.sh · sync_results.sh · wave_ingest.py, driven by wave_loop.sh; DEPLOY_NERSC.md puts the whole loop on a Perlmutter login node with scrontab.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40080" y="5760720"/>
            <a:ext cx="10881360" cy="685800"/>
          </a:xfrm>
          <a:prstGeom prst="roundRect">
            <a:avLst>
              <a:gd name="adj" fmla="val 10667"/>
            </a:avLst>
          </a:prstGeom>
          <a:solidFill>
            <a:srgbClr val="1B2A4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68680" y="576072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wave answers a question, not just adds points: wave 1 - do the Gd-derived rules transfer to Nd/Sm (H1)? wave 2 - do the levers compose on the winners (H4)? later waves - where does the Pareto front of coupling, Ms and stability stop moving?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PARETO FRONT, DRAWN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'front moved?' means: the set of hosts no other host beats on both coupling and magnetisation</a:t>
            </a:r>
            <a:endParaRPr lang="en-US" sz="3200" dirty="0"/>
          </a:p>
        </p:txBody>
      </p:sp>
      <p:pic>
        <p:nvPicPr>
          <p:cNvPr id="4" name="Image 0" descr="/Users/g5q/Documents/GitHub/gnome-fe-hree-magnets/assets/pareto_fro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6675120" cy="46360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589520" y="1417320"/>
            <a:ext cx="3931920" cy="4636008"/>
          </a:xfrm>
          <a:prstGeom prst="roundRect">
            <a:avLst>
              <a:gd name="adj" fmla="val 1860"/>
            </a:avLst>
          </a:prstGeom>
          <a:solidFill>
            <a:srgbClr val="EEF2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818120" y="15544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1828800"/>
            <a:ext cx="3611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credible host plotted at the coupling it would give Nd (measured Gd gap scaled by (gJ−1)J) against the Ms it would give with Nd. The red line joins the hosts that are not dominated: no other host has both a larger gap and a larger Ms. Colour, where present, is the MACE hull energy of the Nd cell.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31546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front today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818120" y="34290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Fe₁₇Gd₂N₂ → Nd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9372600" y="34290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2.04 T · 82 meV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818120" y="3602736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Ms, below the coupling floor</a:t>
            </a:r>
            <a:endParaRPr lang="en-US" sz="83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379476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BFe₁₄Gd₂ → Nd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9372600" y="37947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2.03 T · 107 meV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7818120" y="3968496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Nd₂Fe₁₄B reference point</a:t>
            </a:r>
            <a:endParaRPr lang="en-US" sz="830" dirty="0"/>
          </a:p>
        </p:txBody>
      </p:sp>
      <p:sp>
        <p:nvSpPr>
          <p:cNvPr id="15" name="Text 12"/>
          <p:cNvSpPr txBox="1"/>
          <p:nvPr/>
        </p:nvSpPr>
        <p:spPr>
          <a:xfrm>
            <a:off x="7818120" y="416052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Co₂Fe₇Gd₃ → Nd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9372600" y="416052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1.85 T · 110 meV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7818120" y="4334256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RE-rich, hull +20 meV</a:t>
            </a:r>
            <a:endParaRPr lang="en-US" sz="830" dirty="0"/>
          </a:p>
        </p:txBody>
      </p:sp>
      <p:sp>
        <p:nvSpPr>
          <p:cNvPr id="18" name="Text 15"/>
          <p:cNvSpPr txBox="1"/>
          <p:nvPr/>
        </p:nvSpPr>
        <p:spPr>
          <a:xfrm>
            <a:off x="7818120" y="45262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GdFe₂ → Nd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9372600" y="452628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1.81 T · 123 meV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7818120" y="4700016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Laves, RE-rich</a:t>
            </a:r>
            <a:endParaRPr lang="en-US" sz="830" dirty="0"/>
          </a:p>
        </p:txBody>
      </p:sp>
      <p:sp>
        <p:nvSpPr>
          <p:cNvPr id="21" name="Text 18"/>
          <p:cNvSpPr txBox="1"/>
          <p:nvPr/>
        </p:nvSpPr>
        <p:spPr>
          <a:xfrm>
            <a:off x="7818120" y="48920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Co₁₉Fe₄Gd₆ → Nd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9372600" y="489204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1.59 T · 130 meV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7818120" y="5065776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coupling at &gt;1.5 T</a:t>
            </a:r>
            <a:endParaRPr lang="en-US" sz="830" dirty="0"/>
          </a:p>
        </p:txBody>
      </p:sp>
      <p:sp>
        <p:nvSpPr>
          <p:cNvPr id="24" name="Text 21"/>
          <p:cNvSpPr txBox="1"/>
          <p:nvPr/>
        </p:nvSpPr>
        <p:spPr>
          <a:xfrm>
            <a:off x="7818120" y="52578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CFe₁₇Gd₂ → Nd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9372600" y="52578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1.35 T · 133 meV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7818120" y="5431536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 side suspect, re-running</a:t>
            </a:r>
            <a:endParaRPr lang="en-US" sz="830" dirty="0"/>
          </a:p>
        </p:txBody>
      </p:sp>
      <p:sp>
        <p:nvSpPr>
          <p:cNvPr id="27" name="Text 24"/>
          <p:cNvSpPr txBox="1"/>
          <p:nvPr/>
        </p:nvSpPr>
        <p:spPr>
          <a:xfrm>
            <a:off x="7818120" y="562356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rule: a wave that adds no point to this line, after its labels are measured, has not moved the front. Two such waves in a row and the pool is exhausted for the current thresholds.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640080" y="61447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Learnt: the front is the known magnets plus RE-rich cells; every point on it is either a reference compound or fails the hull or the coupling floor. The target region, upper right of both dashed lines, is empty - that is the space the waves are drawn to fill.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0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4747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THE LOOP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03504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Gaussian process for where to look, causal model for which lever, generative model for what to propose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029968" cy="1783080"/>
          </a:xfrm>
          <a:prstGeom prst="roundRect">
            <a:avLst>
              <a:gd name="adj" fmla="val 4103"/>
            </a:avLst>
          </a:prstGeom>
          <a:solidFill>
            <a:srgbClr val="2E86A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49808" y="1700784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Labelled data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066544"/>
            <a:ext cx="181051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Gd pairs → gap, h, moments, geometry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+ 20 light-RE runs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MACE hull for every cell</a:t>
            </a:r>
            <a:endParaRPr lang="en-US" sz="860" dirty="0"/>
          </a:p>
        </p:txBody>
      </p:sp>
      <p:sp>
        <p:nvSpPr>
          <p:cNvPr id="7" name="Text 5"/>
          <p:cNvSpPr txBox="1"/>
          <p:nvPr/>
        </p:nvSpPr>
        <p:spPr>
          <a:xfrm>
            <a:off x="265176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907792" y="1600200"/>
            <a:ext cx="2029968" cy="1783080"/>
          </a:xfrm>
          <a:prstGeom prst="roundRect">
            <a:avLst>
              <a:gd name="adj" fmla="val 4103"/>
            </a:avLst>
          </a:prstGeom>
          <a:solidFill>
            <a:srgbClr val="3E7FA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017520" y="1700784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process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017520" y="2066544"/>
            <a:ext cx="181051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physics descriptors (h, Fe density,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d_RE-TM, Z_RT, Co fraction, interstitial)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gap, Ms, E_hull with uncertainty</a:t>
            </a:r>
            <a:endParaRPr lang="en-US" sz="860" dirty="0"/>
          </a:p>
        </p:txBody>
      </p:sp>
      <p:sp>
        <p:nvSpPr>
          <p:cNvPr id="11" name="Text 9"/>
          <p:cNvSpPr txBox="1"/>
          <p:nvPr/>
        </p:nvSpPr>
        <p:spPr>
          <a:xfrm>
            <a:off x="4919472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175504" y="1600200"/>
            <a:ext cx="2029968" cy="1783080"/>
          </a:xfrm>
          <a:prstGeom prst="roundRect">
            <a:avLst>
              <a:gd name="adj" fmla="val 4103"/>
            </a:avLst>
          </a:prstGeom>
          <a:solidFill>
            <a:srgbClr val="F2B1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285232" y="1700784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layer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285232" y="2066544"/>
            <a:ext cx="181051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causal model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→ S₅d → gap; interventions,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correlations, rank the levers</a:t>
            </a:r>
            <a:endParaRPr lang="en-US" sz="860" dirty="0"/>
          </a:p>
        </p:txBody>
      </p:sp>
      <p:sp>
        <p:nvSpPr>
          <p:cNvPr id="15" name="Text 13"/>
          <p:cNvSpPr txBox="1"/>
          <p:nvPr/>
        </p:nvSpPr>
        <p:spPr>
          <a:xfrm>
            <a:off x="7187184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443216" y="1600200"/>
            <a:ext cx="2029968" cy="1783080"/>
          </a:xfrm>
          <a:prstGeom prst="roundRect">
            <a:avLst>
              <a:gd name="adj" fmla="val 4103"/>
            </a:avLst>
          </a:prstGeom>
          <a:solidFill>
            <a:srgbClr val="E457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552944" y="1700784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proposal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552944" y="2066544"/>
            <a:ext cx="181051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 / MatterGen conditioned on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Fe, short RE-TM, early TM;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MACE hull as the first filter</a:t>
            </a:r>
            <a:endParaRPr lang="en-US" sz="860" dirty="0"/>
          </a:p>
        </p:txBody>
      </p:sp>
      <p:sp>
        <p:nvSpPr>
          <p:cNvPr id="19" name="Text 17"/>
          <p:cNvSpPr txBox="1"/>
          <p:nvPr/>
        </p:nvSpPr>
        <p:spPr>
          <a:xfrm>
            <a:off x="9454896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A3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710928" y="1600200"/>
            <a:ext cx="2029968" cy="1783080"/>
          </a:xfrm>
          <a:prstGeom prst="roundRect">
            <a:avLst>
              <a:gd name="adj" fmla="val 4103"/>
            </a:avLst>
          </a:prstGeom>
          <a:solidFill>
            <a:srgbClr val="C6472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820656" y="1700784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run per cell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9820656" y="2066544"/>
            <a:ext cx="181051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f-in-core relaxation gives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Ms, h → gap, T*; results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re-train every layer</a:t>
            </a:r>
            <a:endParaRPr lang="en-US" sz="860" dirty="0"/>
          </a:p>
        </p:txBody>
      </p:sp>
      <p:sp>
        <p:nvSpPr>
          <p:cNvPr id="23" name="Shape 21"/>
          <p:cNvSpPr/>
          <p:nvPr/>
        </p:nvSpPr>
        <p:spPr>
          <a:xfrm>
            <a:off x="10725912" y="3383280"/>
            <a:ext cx="0" cy="457200"/>
          </a:xfrm>
          <a:prstGeom prst="line">
            <a:avLst/>
          </a:prstGeom>
          <a:noFill/>
          <a:ln w="19050">
            <a:solidFill>
              <a:srgbClr val="8FA3C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55064" y="3840480"/>
            <a:ext cx="9070848" cy="0"/>
          </a:xfrm>
          <a:prstGeom prst="line">
            <a:avLst/>
          </a:prstGeom>
          <a:noFill/>
          <a:ln w="19050">
            <a:solidFill>
              <a:srgbClr val="8FA3C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55064" y="3383280"/>
            <a:ext cx="0" cy="457200"/>
          </a:xfrm>
          <a:prstGeom prst="line">
            <a:avLst/>
          </a:prstGeom>
          <a:noFill/>
          <a:ln w="19050">
            <a:solidFill>
              <a:srgbClr val="8FA3C0"/>
            </a:solidFill>
            <a:prstDash val="solid"/>
            <a:head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468880" y="387705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batch is a designed experiment: it must move the GP posterior or test a causal edge, not just add points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" y="4297680"/>
            <a:ext cx="5577840" cy="1920240"/>
          </a:xfrm>
          <a:prstGeom prst="roundRect">
            <a:avLst>
              <a:gd name="adj" fmla="val 2857"/>
            </a:avLst>
          </a:prstGeom>
          <a:solidFill>
            <a:srgbClr val="1B2A4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960" y="438912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causal model the data support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68680" y="4800600"/>
            <a:ext cx="1417320" cy="530352"/>
          </a:xfrm>
          <a:prstGeom prst="roundRect">
            <a:avLst>
              <a:gd name="adj" fmla="val 13793"/>
            </a:avLst>
          </a:prstGeom>
          <a:solidFill>
            <a:srgbClr val="2E86AB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68680" y="4800600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RE-TM distance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868680" y="5440680"/>
            <a:ext cx="1417320" cy="530352"/>
          </a:xfrm>
          <a:prstGeom prst="roundRect">
            <a:avLst>
              <a:gd name="adj" fmla="val 13793"/>
            </a:avLst>
          </a:prstGeom>
          <a:solidFill>
            <a:srgbClr val="2E86A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68680" y="5440680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 / Co mix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interstitial site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2788920" y="5120640"/>
            <a:ext cx="1417320" cy="530352"/>
          </a:xfrm>
          <a:prstGeom prst="roundRect">
            <a:avLst>
              <a:gd name="adj" fmla="val 13793"/>
            </a:avLst>
          </a:prstGeom>
          <a:solidFill>
            <a:srgbClr val="F2B13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788920" y="5120640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S₅d on the RE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(h)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572000" y="4800600"/>
            <a:ext cx="1417320" cy="530352"/>
          </a:xfrm>
          <a:prstGeom prst="roundRect">
            <a:avLst>
              <a:gd name="adj" fmla="val 13793"/>
            </a:avLst>
          </a:prstGeom>
          <a:solidFill>
            <a:srgbClr val="E4572E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4572000" y="4800600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RE-TM gap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T*, anisotropy lock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572000" y="5440680"/>
            <a:ext cx="1417320" cy="530352"/>
          </a:xfrm>
          <a:prstGeom prst="roundRect">
            <a:avLst>
              <a:gd name="adj" fmla="val 13793"/>
            </a:avLst>
          </a:prstGeom>
          <a:solidFill>
            <a:srgbClr val="E4572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572000" y="5440680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(Fe density + RE)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286000" y="5065776"/>
            <a:ext cx="502920" cy="219456"/>
          </a:xfrm>
          <a:prstGeom prst="line">
            <a:avLst/>
          </a:prstGeom>
          <a:noFill/>
          <a:ln w="17780">
            <a:solidFill>
              <a:srgbClr val="C6D2E4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2286000" y="5705856"/>
            <a:ext cx="502920" cy="-219456"/>
          </a:xfrm>
          <a:prstGeom prst="line">
            <a:avLst/>
          </a:prstGeom>
          <a:noFill/>
          <a:ln w="17780">
            <a:solidFill>
              <a:srgbClr val="C6D2E4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4206240" y="5285232"/>
            <a:ext cx="365760" cy="-201168"/>
          </a:xfrm>
          <a:prstGeom prst="line">
            <a:avLst/>
          </a:prstGeom>
          <a:noFill/>
          <a:ln w="17780">
            <a:solidFill>
              <a:srgbClr val="C6D2E4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2286000" y="5760720"/>
            <a:ext cx="2286000" cy="0"/>
          </a:xfrm>
          <a:prstGeom prst="line">
            <a:avLst/>
          </a:prstGeom>
          <a:noFill/>
          <a:ln w="17780">
            <a:solidFill>
              <a:srgbClr val="C6D2E4"/>
            </a:solidFill>
            <a:prstDash val="dash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822960" y="6035040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i="1" dirty="0">
                <a:solidFill>
                  <a:srgbClr val="AEBB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mediator: every host lever acts through S₅d (r = 0.89); Ms is set separately by Fe density and the RE. Interventions on the left are what a generative model may propose; the dashed edge is the Co trade-off.</a:t>
            </a:r>
            <a:endParaRPr lang="en-US" sz="760" dirty="0"/>
          </a:p>
        </p:txBody>
      </p:sp>
      <p:sp>
        <p:nvSpPr>
          <p:cNvPr id="44" name="Shape 42"/>
          <p:cNvSpPr/>
          <p:nvPr/>
        </p:nvSpPr>
        <p:spPr>
          <a:xfrm>
            <a:off x="6400800" y="4297680"/>
            <a:ext cx="2514600" cy="1920240"/>
          </a:xfrm>
          <a:prstGeom prst="roundRect">
            <a:avLst>
              <a:gd name="adj" fmla="val 2857"/>
            </a:avLst>
          </a:prstGeom>
          <a:solidFill>
            <a:srgbClr val="1B2A4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565392" y="4389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process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6565392" y="4681728"/>
            <a:ext cx="221284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points, smooth physics descriptors, batch size fixed by one packed job. Mean function = 1574·h so the GP learns residuals; q-EI with a diversity penalty picks each batch. Each label is now ONE f-in-core run, so a round is 150-200 compounds per 25-node job.</a:t>
            </a:r>
            <a:endParaRPr lang="en-US" sz="840" dirty="0"/>
          </a:p>
        </p:txBody>
      </p:sp>
      <p:sp>
        <p:nvSpPr>
          <p:cNvPr id="47" name="Shape 45"/>
          <p:cNvSpPr/>
          <p:nvPr/>
        </p:nvSpPr>
        <p:spPr>
          <a:xfrm>
            <a:off x="9006840" y="4297680"/>
            <a:ext cx="2514600" cy="1920240"/>
          </a:xfrm>
          <a:prstGeom prst="roundRect">
            <a:avLst>
              <a:gd name="adj" fmla="val 2857"/>
            </a:avLst>
          </a:prstGeom>
          <a:solidFill>
            <a:srgbClr val="1B2A4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9171432" y="4389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+ causal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9171432" y="4681728"/>
            <a:ext cx="221284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C6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pool is exhausted above ≈ 1.75 T. A diffusion model conditioned on the causal parents - dense Fe, RE-TM &lt; 3.0 Å, 12-fold coordination, partial Co, no H in the RE shell - proposes frameworks; MACE hull filters; the causal graph tells it which knobs are real and which are confounded.</a:t>
            </a:r>
            <a:endParaRPr lang="en-US" sz="840" dirty="0"/>
          </a:p>
        </p:txBody>
      </p:sp>
      <p:sp>
        <p:nvSpPr>
          <p:cNvPr id="50" name="Text 48"/>
          <p:cNvSpPr txBox="1"/>
          <p:nvPr/>
        </p:nvSpPr>
        <p:spPr>
          <a:xfrm>
            <a:off x="640080" y="632764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FA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campaign's product is not a compound; it is a calibrated instrument for RE-TM exchange and the first dataset a learning loop can be trained 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Fe-HREE Magnet Screening</dc:title>
  <dc:subject>PptxGenJS Presentation</dc:subject>
  <dc:creator>MAGNITO computational screening</dc:creator>
  <cp:lastModifiedBy>MAGNITO computational screening</cp:lastModifiedBy>
  <cp:revision>1</cp:revision>
  <dcterms:created xsi:type="dcterms:W3CDTF">2026-10-11T02:07:15Z</dcterms:created>
  <dcterms:modified xsi:type="dcterms:W3CDTF">2026-10-11T02:07:15Z</dcterms:modified>
</cp:coreProperties>
</file>