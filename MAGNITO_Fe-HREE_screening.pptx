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Energies: Co16Gd2Mn released ferri (Mn||Co) -146.088 vs fm -145.671 eV; Mn-site twins released: 18f ferri_mnanti -145.886 vs fm -145.449; Co15Gd2Mn2 locked A -147.829, B -147.649, D -147.213, C -146.577 vs locked fm -147.414. Fe17Gd2H3 is the counter-example where the gap falls WITHOUT cancelling spin (H pushes the shell apart) - Ms survives but anisotropy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two-loop picture (operational loop + causal/interpretable loop). Differences in NEEL: the MLIP filter sits BEFORE the GP (constraints first, surrogate on survivors); generation precedes acquisition (one cannot score what does not exist), with the generator conditioned by loop 2's levers; the interpretable pipeline is effect sizes -&gt; hand-specified structural causal model validated on the data -&gt; symbolic rule, rather than a long tool chain (RF/SOM/EBM/SymReg/LogReg/ENCO), because 180-300 labels in 15-19 dimensions do not support data-driven causal discovery; 'disambiguation targets' are implemented as contrast experiments (same host, one lever changed) that the acquisition reserves slots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names follow the two-loop slide shared by the user: RF = random forest, SOM = self-organising map, EBM = explainable boosting machine, SymReg = symbolic regression, LogReg = logistic regression, ENCO = Efficient Neural Causal Discovery (Lippe et al. 2022), which uses interventional data - here each wave's substitutions are the interventions. Caveat: with a few hundred labels the data-driven causal discovery should be read as an audit of the hand-specified SCM, not a replacement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Two Mn, four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same ferrimagnet, 208 meV/Gd</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Gd↓ Mn↑↑Co lowest; Mn forced against Co costs 1.25 eV per cell; Mn–Mn exchange ferromagnetic (B − A = 180 meV). Mechanism 2 closed at every site (18f, 18h, 9d, 6c)</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Mn ARGUMENT, AND WHY IT FAILS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Right syllogism, wrong premise - and the corrected version cancels the magnet it tries to make</a:t>
            </a:r>
            <a:endParaRPr lang="en-US" sz="3200" dirty="0"/>
          </a:p>
        </p:txBody>
      </p:sp>
      <p:sp>
        <p:nvSpPr>
          <p:cNvPr id="4" name="Shape 2"/>
          <p:cNvSpPr/>
          <p:nvPr/>
        </p:nvSpPr>
        <p:spPr>
          <a:xfrm>
            <a:off x="640080" y="1417320"/>
            <a:ext cx="5120640" cy="2331720"/>
          </a:xfrm>
          <a:prstGeom prst="roundRect">
            <a:avLst>
              <a:gd name="adj" fmla="val 3137"/>
            </a:avLst>
          </a:prstGeom>
          <a:solidFill>
            <a:srgbClr val="EEF2F7"/>
          </a:solidFill>
          <a:ln/>
        </p:spPr>
      </p:sp>
      <p:sp>
        <p:nvSpPr>
          <p:cNvPr id="5" name="Text 3"/>
          <p:cNvSpPr txBox="1"/>
          <p:nvPr/>
        </p:nvSpPr>
        <p:spPr>
          <a:xfrm>
            <a:off x="868680" y="153619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original logic</a:t>
            </a:r>
            <a:endParaRPr lang="en-US" sz="1250" dirty="0"/>
          </a:p>
        </p:txBody>
      </p:sp>
      <p:sp>
        <p:nvSpPr>
          <p:cNvPr id="6" name="Shape 4"/>
          <p:cNvSpPr/>
          <p:nvPr/>
        </p:nvSpPr>
        <p:spPr>
          <a:xfrm>
            <a:off x="868680" y="1847088"/>
            <a:ext cx="384048" cy="384048"/>
          </a:xfrm>
          <a:prstGeom prst="ellipse">
            <a:avLst/>
          </a:prstGeom>
          <a:solidFill>
            <a:srgbClr val="2E86AB"/>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89888" y="1828800"/>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is antiparallel to Co because its 5d sees parallel 3d neighbours (Campbell).</a:t>
            </a:r>
            <a:endParaRPr lang="en-US" sz="1000" dirty="0"/>
          </a:p>
        </p:txBody>
      </p:sp>
      <p:sp>
        <p:nvSpPr>
          <p:cNvPr id="9" name="Shape 7"/>
          <p:cNvSpPr/>
          <p:nvPr/>
        </p:nvSpPr>
        <p:spPr>
          <a:xfrm>
            <a:off x="868680" y="2414016"/>
            <a:ext cx="384048" cy="384048"/>
          </a:xfrm>
          <a:prstGeom prst="ellipse">
            <a:avLst/>
          </a:prstGeom>
          <a:solidFill>
            <a:srgbClr val="2E86AB"/>
          </a:solidFill>
          <a:ln/>
        </p:spPr>
      </p:sp>
      <p:sp>
        <p:nvSpPr>
          <p:cNvPr id="10" name="Text 8"/>
          <p:cNvSpPr txBox="1"/>
          <p:nvPr/>
        </p:nvSpPr>
        <p:spPr>
          <a:xfrm>
            <a:off x="868680" y="2414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89888" y="2395728"/>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Mn couples antiparallel to Co, so a Mn on the dumbbell next to Gd gives the 5d an antiparallel neighbour.</a:t>
            </a:r>
            <a:endParaRPr lang="en-US" sz="1000" dirty="0"/>
          </a:p>
        </p:txBody>
      </p:sp>
      <p:sp>
        <p:nvSpPr>
          <p:cNvPr id="12" name="Shape 10"/>
          <p:cNvSpPr/>
          <p:nvPr/>
        </p:nvSpPr>
        <p:spPr>
          <a:xfrm>
            <a:off x="868680" y="2980944"/>
            <a:ext cx="384048" cy="384048"/>
          </a:xfrm>
          <a:prstGeom prst="ellipse">
            <a:avLst/>
          </a:prstGeom>
          <a:solidFill>
            <a:srgbClr val="2E86AB"/>
          </a:solidFill>
          <a:ln/>
        </p:spPr>
      </p:sp>
      <p:sp>
        <p:nvSpPr>
          <p:cNvPr id="13" name="Text 11"/>
          <p:cNvSpPr txBox="1"/>
          <p:nvPr/>
        </p:nvSpPr>
        <p:spPr>
          <a:xfrm>
            <a:off x="86868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89888" y="2962656"/>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5d–3d rule then flips Gd to the Co side: ferromagnet, 1.95 T projected.</a:t>
            </a:r>
            <a:endParaRPr lang="en-US" sz="1000" dirty="0"/>
          </a:p>
        </p:txBody>
      </p:sp>
      <p:sp>
        <p:nvSpPr>
          <p:cNvPr id="15" name="Shape 13"/>
          <p:cNvSpPr/>
          <p:nvPr/>
        </p:nvSpPr>
        <p:spPr>
          <a:xfrm>
            <a:off x="640080" y="3886200"/>
            <a:ext cx="5120640" cy="2286000"/>
          </a:xfrm>
          <a:prstGeom prst="roundRect">
            <a:avLst>
              <a:gd name="adj" fmla="val 3200"/>
            </a:avLst>
          </a:prstGeom>
          <a:solidFill>
            <a:srgbClr val="FCEDE8"/>
          </a:solidFill>
          <a:ln/>
        </p:spPr>
      </p:sp>
      <p:sp>
        <p:nvSpPr>
          <p:cNvPr id="16" name="Text 14"/>
          <p:cNvSpPr txBox="1"/>
          <p:nvPr/>
        </p:nvSpPr>
        <p:spPr>
          <a:xfrm>
            <a:off x="868680" y="4005072"/>
            <a:ext cx="4663440" cy="256032"/>
          </a:xfrm>
          <a:prstGeom prst="rect">
            <a:avLst/>
          </a:prstGeom>
          <a:noFill/>
          <a:ln/>
        </p:spPr>
        <p:txBody>
          <a:bodyPr wrap="square" lIns="0" tIns="0" rIns="0" bIns="0" rtlCol="0" anchor="ctr"/>
          <a:lstStyle/>
          <a:p>
            <a:pPr indent="0" marL="0">
              <a:buNone/>
            </a:pPr>
            <a:r>
              <a:rPr lang="en-US" sz="1250" b="1" dirty="0">
                <a:solidFill>
                  <a:srgbClr val="E4572E"/>
                </a:solidFill>
                <a:latin typeface="Calibri" pitchFamily="34" charset="0"/>
                <a:ea typeface="Calibri" pitchFamily="34" charset="-122"/>
                <a:cs typeface="Calibri" pitchFamily="34" charset="-120"/>
              </a:rPr>
              <a:t>What the calculations said</a:t>
            </a:r>
            <a:endParaRPr lang="en-US" sz="1250" dirty="0"/>
          </a:p>
        </p:txBody>
      </p:sp>
      <p:sp>
        <p:nvSpPr>
          <p:cNvPr id="17" name="Text 15"/>
          <p:cNvSpPr txBox="1"/>
          <p:nvPr/>
        </p:nvSpPr>
        <p:spPr>
          <a:xfrm>
            <a:off x="868680" y="4297680"/>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Premise 2 is false here: Mn aligns WITH Co at 6c, 18f, 18h and 9d; opposing Co costs ~0.6 eV per Mn (state C, +1.25 eV for two).</a:t>
            </a:r>
            <a:endParaRPr lang="en-US" sz="960" dirty="0"/>
          </a:p>
        </p:txBody>
      </p:sp>
      <p:sp>
        <p:nvSpPr>
          <p:cNvPr id="18" name="Text 16"/>
          <p:cNvSpPr txBox="1"/>
          <p:nvPr/>
        </p:nvSpPr>
        <p:spPr>
          <a:xfrm>
            <a:off x="868680" y="4864608"/>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The +114.5 meV compared fm against the Mn-against-Co basin, held by the NUPDOWN lock and −42 kbar. Released: ferri lower by 208 meV/Gd, same as without Mn.</a:t>
            </a:r>
            <a:endParaRPr lang="en-US" sz="960" dirty="0"/>
          </a:p>
        </p:txBody>
      </p:sp>
      <p:sp>
        <p:nvSpPr>
          <p:cNvPr id="19" name="Text 17"/>
          <p:cNvSpPr txBox="1"/>
          <p:nvPr/>
        </p:nvSpPr>
        <p:spPr>
          <a:xfrm>
            <a:off x="868680" y="5431536"/>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One or two Mn cannot change what sixteen Co set: h, the summed shell polarisation, moved by &lt; 10 %; the gap by 0 at two Mn.</a:t>
            </a:r>
            <a:endParaRPr lang="en-US" sz="960" dirty="0"/>
          </a:p>
        </p:txBody>
      </p:sp>
      <p:pic>
        <p:nvPicPr>
          <p:cNvPr id="20" name="Image 0" descr="/Users/g5q/Documents/GitHub/gnome-fe-hree-magnets/assets/mn_compensation.png">    </p:cNvPr>
          <p:cNvPicPr>
            <a:picLocks noChangeAspect="1"/>
          </p:cNvPicPr>
          <p:nvPr/>
        </p:nvPicPr>
        <p:blipFill>
          <a:blip r:embed="rId1"/>
          <a:stretch>
            <a:fillRect/>
          </a:stretch>
        </p:blipFill>
        <p:spPr>
          <a:xfrm>
            <a:off x="5760720" y="1417320"/>
            <a:ext cx="5760720" cy="3246120"/>
          </a:xfrm>
          <a:prstGeom prst="rect">
            <a:avLst/>
          </a:prstGeom>
        </p:spPr>
      </p:pic>
      <p:sp>
        <p:nvSpPr>
          <p:cNvPr id="21" name="Shape 18"/>
          <p:cNvSpPr/>
          <p:nvPr/>
        </p:nvSpPr>
        <p:spPr>
          <a:xfrm>
            <a:off x="5760720" y="4754880"/>
            <a:ext cx="5760720" cy="1417320"/>
          </a:xfrm>
          <a:prstGeom prst="roundRect">
            <a:avLst>
              <a:gd name="adj" fmla="val 5161"/>
            </a:avLst>
          </a:prstGeom>
          <a:solidFill>
            <a:srgbClr val="1B2A4A"/>
          </a:solidFill>
          <a:ln/>
        </p:spPr>
      </p:sp>
      <p:sp>
        <p:nvSpPr>
          <p:cNvPr id="22" name="Text 19"/>
          <p:cNvSpPr txBox="1"/>
          <p:nvPr/>
        </p:nvSpPr>
        <p:spPr>
          <a:xfrm>
            <a:off x="5989320" y="4864608"/>
            <a:ext cx="53949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The compensation argument: more Mn does not help either</a:t>
            </a:r>
            <a:endParaRPr lang="en-US" sz="1200" dirty="0"/>
          </a:p>
        </p:txBody>
      </p:sp>
      <p:sp>
        <p:nvSpPr>
          <p:cNvPr id="23" name="Text 20"/>
          <p:cNvSpPr txBox="1"/>
          <p:nvPr/>
        </p:nvSpPr>
        <p:spPr>
          <a:xfrm>
            <a:off x="5989320" y="5120640"/>
            <a:ext cx="5440680" cy="1024128"/>
          </a:xfrm>
          <a:prstGeom prst="rect">
            <a:avLst/>
          </a:prstGeom>
          <a:noFill/>
          <a:ln/>
        </p:spPr>
        <p:txBody>
          <a:bodyPr wrap="square" lIns="0" tIns="0" rIns="0" bIns="0" rtlCol="0" anchor="ctr"/>
          <a:lstStyle/>
          <a:p>
            <a:pPr indent="0" marL="0">
              <a:buNone/>
            </a:pPr>
            <a:r>
              <a:rPr lang="en-US" sz="930" dirty="0">
                <a:solidFill>
                  <a:srgbClr val="C6D2E4"/>
                </a:solidFill>
                <a:latin typeface="Calibri" pitchFamily="34" charset="0"/>
                <a:ea typeface="Calibri" pitchFamily="34" charset="-122"/>
                <a:cs typeface="Calibri" pitchFamily="34" charset="-120"/>
              </a:rPr>
              <a:t>Suppose Mn did oppose Fe/Co (true in Fe-rich hosts, R₂Fe₁₇₋ₓMnₓ). The Gd 5d follows the NET 3d spin of its shell: adding opposed Mn shrinks h and the gap, and Gd stays antiparallel to the net. At the crossover h → 0, but the net TM moment → 0 with it; past it Gd flips to oppose the Mn-dominated net. Gd is never parallel to the majority 3d moment, and the only point with no coupling is the point with no magnetisation. A Mn series measures a compensation curve, not a magnet.</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Hypothesis: a strongly coupled Gd host plus a light rare earth is a hard-magnet candidate</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TWO LOOPS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An operational loop that proposes and tests; an understanding loop that explains and feeds back</a:t>
            </a:r>
            <a:endParaRPr lang="en-US" sz="3200" dirty="0"/>
          </a:p>
        </p:txBody>
      </p:sp>
      <p:sp>
        <p:nvSpPr>
          <p:cNvPr id="4" name="Shape 2"/>
          <p:cNvSpPr/>
          <p:nvPr/>
        </p:nvSpPr>
        <p:spPr>
          <a:xfrm>
            <a:off x="640080" y="1463040"/>
            <a:ext cx="2011680" cy="1234440"/>
          </a:xfrm>
          <a:prstGeom prst="rect">
            <a:avLst/>
          </a:prstGeom>
          <a:solidFill>
            <a:srgbClr val="1B2A4A"/>
          </a:solidFill>
          <a:ln w="6350">
            <a:solidFill>
              <a:srgbClr val="1B2A4A"/>
            </a:solidFill>
            <a:prstDash val="solid"/>
          </a:ln>
        </p:spPr>
      </p:sp>
      <p:sp>
        <p:nvSpPr>
          <p:cNvPr id="5" name="Text 3"/>
          <p:cNvSpPr txBox="1"/>
          <p:nvPr/>
        </p:nvSpPr>
        <p:spPr>
          <a:xfrm>
            <a:off x="731520"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Generators</a:t>
            </a:r>
            <a:endParaRPr lang="en-US" sz="1300" dirty="0"/>
          </a:p>
        </p:txBody>
      </p:sp>
      <p:sp>
        <p:nvSpPr>
          <p:cNvPr id="6" name="Text 4"/>
          <p:cNvSpPr txBox="1"/>
          <p:nvPr/>
        </p:nvSpPr>
        <p:spPr>
          <a:xfrm>
            <a:off x="731520"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prototypes · levers · neighbourhood of winners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(pool = 1,427 cells)</a:t>
            </a:r>
            <a:endParaRPr lang="en-US" sz="950" dirty="0"/>
          </a:p>
        </p:txBody>
      </p:sp>
      <p:sp>
        <p:nvSpPr>
          <p:cNvPr id="7" name="Shape 5"/>
          <p:cNvSpPr/>
          <p:nvPr/>
        </p:nvSpPr>
        <p:spPr>
          <a:xfrm>
            <a:off x="2852928" y="1463040"/>
            <a:ext cx="2011680" cy="1234440"/>
          </a:xfrm>
          <a:prstGeom prst="rect">
            <a:avLst/>
          </a:prstGeom>
          <a:solidFill>
            <a:srgbClr val="1B2A4A"/>
          </a:solidFill>
          <a:ln w="6350">
            <a:solidFill>
              <a:srgbClr val="1B2A4A"/>
            </a:solidFill>
            <a:prstDash val="solid"/>
          </a:ln>
        </p:spPr>
      </p:sp>
      <p:sp>
        <p:nvSpPr>
          <p:cNvPr id="8" name="Text 6"/>
          <p:cNvSpPr txBox="1"/>
          <p:nvPr/>
        </p:nvSpPr>
        <p:spPr>
          <a:xfrm>
            <a:off x="2944368"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MLIP filter</a:t>
            </a:r>
            <a:endParaRPr lang="en-US" sz="1300" dirty="0"/>
          </a:p>
        </p:txBody>
      </p:sp>
      <p:sp>
        <p:nvSpPr>
          <p:cNvPr id="9" name="Text 7"/>
          <p:cNvSpPr txBox="1"/>
          <p:nvPr/>
        </p:nvSpPr>
        <p:spPr>
          <a:xfrm>
            <a:off x="2944368"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MACE relax · same-model hull</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E_hull ≤ 30 meV · Ms ≥ 1.5 T</a:t>
            </a:r>
            <a:endParaRPr lang="en-US" sz="950" dirty="0"/>
          </a:p>
        </p:txBody>
      </p:sp>
      <p:sp>
        <p:nvSpPr>
          <p:cNvPr id="10" name="Shape 8"/>
          <p:cNvSpPr/>
          <p:nvPr/>
        </p:nvSpPr>
        <p:spPr>
          <a:xfrm>
            <a:off x="5065776" y="1463040"/>
            <a:ext cx="2011680" cy="1234440"/>
          </a:xfrm>
          <a:prstGeom prst="rect">
            <a:avLst/>
          </a:prstGeom>
          <a:solidFill>
            <a:srgbClr val="1B2A4A"/>
          </a:solidFill>
          <a:ln w="6350">
            <a:solidFill>
              <a:srgbClr val="1B2A4A"/>
            </a:solidFill>
            <a:prstDash val="solid"/>
          </a:ln>
        </p:spPr>
      </p:sp>
      <p:sp>
        <p:nvSpPr>
          <p:cNvPr id="11" name="Text 9"/>
          <p:cNvSpPr txBox="1"/>
          <p:nvPr/>
        </p:nvSpPr>
        <p:spPr>
          <a:xfrm>
            <a:off x="5157216"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 surrogate</a:t>
            </a:r>
            <a:endParaRPr lang="en-US" sz="1300" dirty="0"/>
          </a:p>
        </p:txBody>
      </p:sp>
      <p:sp>
        <p:nvSpPr>
          <p:cNvPr id="12" name="Text 10"/>
          <p:cNvSpPr txBox="1"/>
          <p:nvPr/>
        </p:nvSpPr>
        <p:spPr>
          <a:xfrm>
            <a:off x="5157216"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mean = physics rules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Matern residual on h</a:t>
            </a:r>
            <a:endParaRPr lang="en-US" sz="950" dirty="0"/>
          </a:p>
        </p:txBody>
      </p:sp>
      <p:sp>
        <p:nvSpPr>
          <p:cNvPr id="13" name="Shape 11"/>
          <p:cNvSpPr/>
          <p:nvPr/>
        </p:nvSpPr>
        <p:spPr>
          <a:xfrm>
            <a:off x="7278624" y="1463040"/>
            <a:ext cx="2011680" cy="1234440"/>
          </a:xfrm>
          <a:prstGeom prst="rect">
            <a:avLst/>
          </a:prstGeom>
          <a:solidFill>
            <a:srgbClr val="1B2A4A"/>
          </a:solidFill>
          <a:ln w="6350">
            <a:solidFill>
              <a:srgbClr val="1B2A4A"/>
            </a:solidFill>
            <a:prstDash val="solid"/>
          </a:ln>
        </p:spPr>
      </p:sp>
      <p:sp>
        <p:nvSpPr>
          <p:cNvPr id="14" name="Text 12"/>
          <p:cNvSpPr txBox="1"/>
          <p:nvPr/>
        </p:nvSpPr>
        <p:spPr>
          <a:xfrm>
            <a:off x="7370064"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Acquisition</a:t>
            </a:r>
            <a:endParaRPr lang="en-US" sz="1300" dirty="0"/>
          </a:p>
        </p:txBody>
      </p:sp>
      <p:sp>
        <p:nvSpPr>
          <p:cNvPr id="15" name="Text 13"/>
          <p:cNvSpPr txBox="1"/>
          <p:nvPr/>
        </p:nvSpPr>
        <p:spPr>
          <a:xfrm>
            <a:off x="7370064"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batch Thompson sampling</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contrast slots that resolve</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open causal questions</a:t>
            </a:r>
            <a:endParaRPr lang="en-US" sz="950" dirty="0"/>
          </a:p>
        </p:txBody>
      </p:sp>
      <p:sp>
        <p:nvSpPr>
          <p:cNvPr id="16" name="Shape 14"/>
          <p:cNvSpPr/>
          <p:nvPr/>
        </p:nvSpPr>
        <p:spPr>
          <a:xfrm>
            <a:off x="9491472" y="1463040"/>
            <a:ext cx="2011680" cy="1234440"/>
          </a:xfrm>
          <a:prstGeom prst="rect">
            <a:avLst/>
          </a:prstGeom>
          <a:solidFill>
            <a:srgbClr val="C6472A"/>
          </a:solidFill>
          <a:ln w="6350">
            <a:solidFill>
              <a:srgbClr val="C6472A"/>
            </a:solidFill>
            <a:prstDash val="solid"/>
          </a:ln>
        </p:spPr>
      </p:sp>
      <p:sp>
        <p:nvSpPr>
          <p:cNvPr id="17" name="Text 15"/>
          <p:cNvSpPr txBox="1"/>
          <p:nvPr/>
        </p:nvSpPr>
        <p:spPr>
          <a:xfrm>
            <a:off x="9582912"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DFT, then experiment</a:t>
            </a:r>
            <a:endParaRPr lang="en-US" sz="1300" dirty="0"/>
          </a:p>
        </p:txBody>
      </p:sp>
      <p:sp>
        <p:nvSpPr>
          <p:cNvPr id="18" name="Text 16"/>
          <p:cNvSpPr txBox="1"/>
          <p:nvPr/>
        </p:nvSpPr>
        <p:spPr>
          <a:xfrm>
            <a:off x="9582912" y="1920240"/>
            <a:ext cx="1828800" cy="685800"/>
          </a:xfrm>
          <a:prstGeom prst="rect">
            <a:avLst/>
          </a:prstGeom>
          <a:noFill/>
          <a:ln/>
        </p:spPr>
        <p:txBody>
          <a:bodyPr wrap="square" lIns="0" tIns="0" rIns="0" bIns="0" rtlCol="0" anchor="t"/>
          <a:lstStyle/>
          <a:p>
            <a:pPr algn="ctr" indent="0" marL="0">
              <a:buNone/>
            </a:pPr>
            <a:r>
              <a:rPr lang="en-US" sz="950" dirty="0">
                <a:solidFill>
                  <a:srgbClr val="FBE3DC"/>
                </a:solidFill>
                <a:latin typeface="Calibri" pitchFamily="34" charset="0"/>
                <a:ea typeface="Calibri" pitchFamily="34" charset="-122"/>
                <a:cs typeface="Calibri" pitchFamily="34" charset="-120"/>
              </a:rPr>
              <a:t>one f-in-core run per cell</a:t>
            </a:r>
            <a:endParaRPr lang="en-US" sz="950" dirty="0"/>
          </a:p>
          <a:p>
            <a:pPr algn="ctr" indent="0" marL="0">
              <a:buNone/>
            </a:pPr>
            <a:r>
              <a:rPr lang="en-US" sz="950" dirty="0">
                <a:solidFill>
                  <a:srgbClr val="FBE3DC"/>
                </a:solidFill>
                <a:latin typeface="Calibri" pitchFamily="34" charset="0"/>
                <a:ea typeface="Calibri" pitchFamily="34" charset="-122"/>
                <a:cs typeface="Calibri" pitchFamily="34" charset="-120"/>
              </a:rPr>
              <a:t>→ h, Ms, V  (ground truth)</a:t>
            </a:r>
            <a:endParaRPr lang="en-US" sz="950" dirty="0"/>
          </a:p>
        </p:txBody>
      </p:sp>
      <p:sp>
        <p:nvSpPr>
          <p:cNvPr id="19" name="Shape 17"/>
          <p:cNvSpPr/>
          <p:nvPr/>
        </p:nvSpPr>
        <p:spPr>
          <a:xfrm>
            <a:off x="2651760" y="2080260"/>
            <a:ext cx="201168" cy="0"/>
          </a:xfrm>
          <a:prstGeom prst="line">
            <a:avLst/>
          </a:prstGeom>
          <a:noFill/>
          <a:ln w="17780">
            <a:solidFill>
              <a:srgbClr val="1A2233"/>
            </a:solidFill>
            <a:prstDash val="solid"/>
            <a:tailEnd type="triangle"/>
          </a:ln>
        </p:spPr>
      </p:sp>
      <p:sp>
        <p:nvSpPr>
          <p:cNvPr id="20" name="Shape 18"/>
          <p:cNvSpPr/>
          <p:nvPr/>
        </p:nvSpPr>
        <p:spPr>
          <a:xfrm>
            <a:off x="4864608" y="2080260"/>
            <a:ext cx="201168" cy="0"/>
          </a:xfrm>
          <a:prstGeom prst="line">
            <a:avLst/>
          </a:prstGeom>
          <a:noFill/>
          <a:ln w="17780">
            <a:solidFill>
              <a:srgbClr val="1A2233"/>
            </a:solidFill>
            <a:prstDash val="solid"/>
            <a:tailEnd type="triangle"/>
          </a:ln>
        </p:spPr>
      </p:sp>
      <p:sp>
        <p:nvSpPr>
          <p:cNvPr id="21" name="Shape 19"/>
          <p:cNvSpPr/>
          <p:nvPr/>
        </p:nvSpPr>
        <p:spPr>
          <a:xfrm>
            <a:off x="7077456" y="2080260"/>
            <a:ext cx="201168" cy="0"/>
          </a:xfrm>
          <a:prstGeom prst="line">
            <a:avLst/>
          </a:prstGeom>
          <a:noFill/>
          <a:ln w="17780">
            <a:solidFill>
              <a:srgbClr val="1A2233"/>
            </a:solidFill>
            <a:prstDash val="solid"/>
            <a:tailEnd type="triangle"/>
          </a:ln>
        </p:spPr>
      </p:sp>
      <p:sp>
        <p:nvSpPr>
          <p:cNvPr id="22" name="Shape 20"/>
          <p:cNvSpPr/>
          <p:nvPr/>
        </p:nvSpPr>
        <p:spPr>
          <a:xfrm>
            <a:off x="9290304" y="2080260"/>
            <a:ext cx="201168" cy="0"/>
          </a:xfrm>
          <a:prstGeom prst="line">
            <a:avLst/>
          </a:prstGeom>
          <a:noFill/>
          <a:ln w="17780">
            <a:solidFill>
              <a:srgbClr val="1A2233"/>
            </a:solidFill>
            <a:prstDash val="solid"/>
            <a:tailEnd type="triangle"/>
          </a:ln>
        </p:spPr>
      </p:sp>
      <p:sp>
        <p:nvSpPr>
          <p:cNvPr id="23" name="Shape 21"/>
          <p:cNvSpPr/>
          <p:nvPr/>
        </p:nvSpPr>
        <p:spPr>
          <a:xfrm>
            <a:off x="914400" y="3474720"/>
            <a:ext cx="10314432" cy="2057400"/>
          </a:xfrm>
          <a:prstGeom prst="rect">
            <a:avLst/>
          </a:prstGeom>
          <a:solidFill>
            <a:srgbClr val="FFFFFF">
              <a:alpha val="0"/>
            </a:srgbClr>
          </a:solidFill>
          <a:ln w="25400">
            <a:solidFill>
              <a:srgbClr val="E4572E"/>
            </a:solidFill>
            <a:prstDash val="dash"/>
          </a:ln>
        </p:spPr>
      </p:sp>
      <p:sp>
        <p:nvSpPr>
          <p:cNvPr id="24" name="Shape 22"/>
          <p:cNvSpPr/>
          <p:nvPr/>
        </p:nvSpPr>
        <p:spPr>
          <a:xfrm>
            <a:off x="3127248" y="3703320"/>
            <a:ext cx="6089904" cy="1417320"/>
          </a:xfrm>
          <a:prstGeom prst="rect">
            <a:avLst/>
          </a:prstGeom>
          <a:solidFill>
            <a:srgbClr val="3E9AA8"/>
          </a:solidFill>
          <a:ln w="6350">
            <a:solidFill>
              <a:srgbClr val="3E9AA8"/>
            </a:solidFill>
            <a:prstDash val="solid"/>
          </a:ln>
        </p:spPr>
      </p:sp>
      <p:sp>
        <p:nvSpPr>
          <p:cNvPr id="25" name="Text 23"/>
          <p:cNvSpPr txBox="1"/>
          <p:nvPr/>
        </p:nvSpPr>
        <p:spPr>
          <a:xfrm>
            <a:off x="3218688" y="3813048"/>
            <a:ext cx="590702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Understanding loop: interpretable pipeline on every label</a:t>
            </a:r>
            <a:endParaRPr lang="en-US" sz="1250" dirty="0"/>
          </a:p>
        </p:txBody>
      </p:sp>
      <p:sp>
        <p:nvSpPr>
          <p:cNvPr id="26" name="Text 24"/>
          <p:cNvSpPr txBox="1"/>
          <p:nvPr/>
        </p:nvSpPr>
        <p:spPr>
          <a:xfrm>
            <a:off x="3218688" y="4160520"/>
            <a:ext cx="5907024" cy="868680"/>
          </a:xfrm>
          <a:prstGeom prst="rect">
            <a:avLst/>
          </a:prstGeom>
          <a:noFill/>
          <a:ln/>
        </p:spPr>
        <p:txBody>
          <a:bodyPr wrap="square" lIns="0" tIns="0" rIns="0" bIns="0" rtlCol="0" anchor="t"/>
          <a:lstStyle/>
          <a:p>
            <a:pPr algn="ctr" indent="0" marL="0">
              <a:buNone/>
            </a:pPr>
            <a:r>
              <a:rPr lang="en-US" sz="1000" dirty="0">
                <a:solidFill>
                  <a:srgbClr val="F0F7F8"/>
                </a:solidFill>
                <a:latin typeface="Calibri" pitchFamily="34" charset="0"/>
                <a:ea typeface="Calibri" pitchFamily="34" charset="-122"/>
                <a:cs typeface="Calibri" pitchFamily="34" charset="-120"/>
              </a:rPr>
              <a:t>effect sizes (what each lever does)  →  causal graph (host → S₅d → gap; Fe density → Ms)  →  symbolic rule (ΔE = 1574·h, de Gennes scaling)  →  checked against literature constants</a:t>
            </a:r>
            <a:endParaRPr lang="en-US" sz="1000" dirty="0"/>
          </a:p>
        </p:txBody>
      </p:sp>
      <p:sp>
        <p:nvSpPr>
          <p:cNvPr id="27" name="Shape 25"/>
          <p:cNvSpPr/>
          <p:nvPr/>
        </p:nvSpPr>
        <p:spPr>
          <a:xfrm>
            <a:off x="10497312" y="2697480"/>
            <a:ext cx="0" cy="1714500"/>
          </a:xfrm>
          <a:prstGeom prst="line">
            <a:avLst/>
          </a:prstGeom>
          <a:noFill/>
          <a:ln w="17780">
            <a:solidFill>
              <a:srgbClr val="7A8DA8"/>
            </a:solidFill>
            <a:prstDash val="dash"/>
            <a:tailEnd type="triangle"/>
          </a:ln>
        </p:spPr>
      </p:sp>
      <p:sp>
        <p:nvSpPr>
          <p:cNvPr id="28" name="Text 26"/>
          <p:cNvSpPr txBox="1"/>
          <p:nvPr/>
        </p:nvSpPr>
        <p:spPr>
          <a:xfrm>
            <a:off x="10570464"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DFT results</a:t>
            </a:r>
            <a:endParaRPr lang="en-US" sz="860" dirty="0"/>
          </a:p>
        </p:txBody>
      </p:sp>
      <p:sp>
        <p:nvSpPr>
          <p:cNvPr id="29" name="Shape 27"/>
          <p:cNvSpPr/>
          <p:nvPr/>
        </p:nvSpPr>
        <p:spPr>
          <a:xfrm>
            <a:off x="9217152" y="4411980"/>
            <a:ext cx="1280160" cy="0"/>
          </a:xfrm>
          <a:prstGeom prst="line">
            <a:avLst/>
          </a:prstGeom>
          <a:noFill/>
          <a:ln w="17780">
            <a:solidFill>
              <a:srgbClr val="7A8DA8"/>
            </a:solidFill>
            <a:prstDash val="dash"/>
          </a:ln>
        </p:spPr>
      </p:sp>
      <p:sp>
        <p:nvSpPr>
          <p:cNvPr id="30" name="Shape 28"/>
          <p:cNvSpPr/>
          <p:nvPr/>
        </p:nvSpPr>
        <p:spPr>
          <a:xfrm flipV="1">
            <a:off x="5522976" y="2697480"/>
            <a:ext cx="0" cy="1005840"/>
          </a:xfrm>
          <a:prstGeom prst="line">
            <a:avLst/>
          </a:prstGeom>
          <a:noFill/>
          <a:ln w="17780">
            <a:solidFill>
              <a:srgbClr val="7A8DA8"/>
            </a:solidFill>
            <a:prstDash val="dash"/>
            <a:tailEnd type="triangle"/>
          </a:ln>
        </p:spPr>
      </p:sp>
      <p:sp>
        <p:nvSpPr>
          <p:cNvPr id="31" name="Text 29"/>
          <p:cNvSpPr txBox="1"/>
          <p:nvPr/>
        </p:nvSpPr>
        <p:spPr>
          <a:xfrm>
            <a:off x="5596128"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sets the mean function</a:t>
            </a:r>
            <a:endParaRPr lang="en-US" sz="860" dirty="0"/>
          </a:p>
        </p:txBody>
      </p:sp>
      <p:sp>
        <p:nvSpPr>
          <p:cNvPr id="32" name="Shape 30"/>
          <p:cNvSpPr/>
          <p:nvPr/>
        </p:nvSpPr>
        <p:spPr>
          <a:xfrm flipV="1">
            <a:off x="8284464" y="2697480"/>
            <a:ext cx="0" cy="1005840"/>
          </a:xfrm>
          <a:prstGeom prst="line">
            <a:avLst/>
          </a:prstGeom>
          <a:noFill/>
          <a:ln w="17780">
            <a:solidFill>
              <a:srgbClr val="7A8DA8"/>
            </a:solidFill>
            <a:prstDash val="dash"/>
            <a:tailEnd type="triangle"/>
          </a:ln>
        </p:spPr>
      </p:sp>
      <p:sp>
        <p:nvSpPr>
          <p:cNvPr id="33" name="Text 31"/>
          <p:cNvSpPr txBox="1"/>
          <p:nvPr/>
        </p:nvSpPr>
        <p:spPr>
          <a:xfrm>
            <a:off x="8357616" y="2971800"/>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disambiguation targets</a:t>
            </a:r>
            <a:endParaRPr lang="en-US" sz="860" dirty="0"/>
          </a:p>
        </p:txBody>
      </p:sp>
      <p:sp>
        <p:nvSpPr>
          <p:cNvPr id="34" name="Shape 32"/>
          <p:cNvSpPr/>
          <p:nvPr/>
        </p:nvSpPr>
        <p:spPr>
          <a:xfrm flipH="1">
            <a:off x="1097280" y="4411980"/>
            <a:ext cx="2029968" cy="0"/>
          </a:xfrm>
          <a:prstGeom prst="line">
            <a:avLst/>
          </a:prstGeom>
          <a:noFill/>
          <a:ln w="17780">
            <a:solidFill>
              <a:srgbClr val="7A8DA8"/>
            </a:solidFill>
            <a:prstDash val="dash"/>
          </a:ln>
        </p:spPr>
      </p:sp>
      <p:sp>
        <p:nvSpPr>
          <p:cNvPr id="35" name="Shape 33"/>
          <p:cNvSpPr/>
          <p:nvPr/>
        </p:nvSpPr>
        <p:spPr>
          <a:xfrm flipV="1">
            <a:off x="1097280" y="2697480"/>
            <a:ext cx="0" cy="1714500"/>
          </a:xfrm>
          <a:prstGeom prst="line">
            <a:avLst/>
          </a:prstGeom>
          <a:noFill/>
          <a:ln w="17780">
            <a:solidFill>
              <a:srgbClr val="7A8DA8"/>
            </a:solidFill>
            <a:prstDash val="dash"/>
            <a:tailEnd type="triangle"/>
          </a:ln>
        </p:spPr>
      </p:sp>
      <p:sp>
        <p:nvSpPr>
          <p:cNvPr id="36" name="Text 34"/>
          <p:cNvSpPr txBox="1"/>
          <p:nvPr/>
        </p:nvSpPr>
        <p:spPr>
          <a:xfrm>
            <a:off x="1170432"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which levers to generate</a:t>
            </a:r>
            <a:endParaRPr lang="en-US" sz="860" dirty="0"/>
          </a:p>
        </p:txBody>
      </p:sp>
      <p:sp>
        <p:nvSpPr>
          <p:cNvPr id="37" name="Shape 35"/>
          <p:cNvSpPr/>
          <p:nvPr/>
        </p:nvSpPr>
        <p:spPr>
          <a:xfrm>
            <a:off x="2103120" y="5715000"/>
            <a:ext cx="8394192" cy="0"/>
          </a:xfrm>
          <a:prstGeom prst="line">
            <a:avLst/>
          </a:prstGeom>
          <a:noFill/>
          <a:ln w="17780">
            <a:solidFill>
              <a:srgbClr val="7A8DA8"/>
            </a:solidFill>
            <a:prstDash val="solid"/>
          </a:ln>
        </p:spPr>
      </p:sp>
      <p:sp>
        <p:nvSpPr>
          <p:cNvPr id="38" name="Shape 36"/>
          <p:cNvSpPr/>
          <p:nvPr/>
        </p:nvSpPr>
        <p:spPr>
          <a:xfrm>
            <a:off x="10497312" y="5532120"/>
            <a:ext cx="0" cy="182880"/>
          </a:xfrm>
          <a:prstGeom prst="line">
            <a:avLst/>
          </a:prstGeom>
          <a:noFill/>
          <a:ln w="17780">
            <a:solidFill>
              <a:srgbClr val="7A8DA8"/>
            </a:solidFill>
            <a:prstDash val="solid"/>
          </a:ln>
        </p:spPr>
      </p:sp>
      <p:sp>
        <p:nvSpPr>
          <p:cNvPr id="39" name="Shape 37"/>
          <p:cNvSpPr/>
          <p:nvPr/>
        </p:nvSpPr>
        <p:spPr>
          <a:xfrm flipV="1">
            <a:off x="2103120" y="2697480"/>
            <a:ext cx="0" cy="3017520"/>
          </a:xfrm>
          <a:prstGeom prst="line">
            <a:avLst/>
          </a:prstGeom>
          <a:noFill/>
          <a:ln w="17780">
            <a:solidFill>
              <a:srgbClr val="7A8DA8"/>
            </a:solidFill>
            <a:prstDash val="solid"/>
            <a:tailEnd type="triangle"/>
          </a:ln>
        </p:spPr>
      </p:sp>
      <p:sp>
        <p:nvSpPr>
          <p:cNvPr id="40" name="Text 38"/>
          <p:cNvSpPr txBox="1"/>
          <p:nvPr/>
        </p:nvSpPr>
        <p:spPr>
          <a:xfrm>
            <a:off x="2852928" y="5760720"/>
            <a:ext cx="411480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labels retrain the surrogate every round</a:t>
            </a:r>
            <a:endParaRPr lang="en-US" sz="860" dirty="0"/>
          </a:p>
        </p:txBody>
      </p:sp>
      <p:sp>
        <p:nvSpPr>
          <p:cNvPr id="41" name="Shape 39"/>
          <p:cNvSpPr/>
          <p:nvPr/>
        </p:nvSpPr>
        <p:spPr>
          <a:xfrm>
            <a:off x="640080" y="5989320"/>
            <a:ext cx="10881360" cy="548640"/>
          </a:xfrm>
          <a:prstGeom prst="roundRect">
            <a:avLst>
              <a:gd name="adj" fmla="val 13333"/>
            </a:avLst>
          </a:prstGeom>
          <a:solidFill>
            <a:srgbClr val="EEF2F7"/>
          </a:solidFill>
          <a:ln/>
        </p:spPr>
      </p:sp>
      <p:sp>
        <p:nvSpPr>
          <p:cNvPr id="42" name="Text 40"/>
          <p:cNvSpPr txBox="1"/>
          <p:nvPr/>
        </p:nvSpPr>
        <p:spPr>
          <a:xfrm>
            <a:off x="868680" y="5989320"/>
            <a:ext cx="10424160" cy="54864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Loop 2 so far: 'the gap is set by h' became the GP mean and the one-run label · 'H kills coupling, Co raises it, early TM unresolved' became the generator levers and a contrast target (an early-TM series on one lattice) · 'Mn cannot flip the sign' retired a whole branch.</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TWO LOOPS, EXTENDED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Same loops, two additions: a conditional diffusion generator, and a fuller interpretable pipeline feeding it</a:t>
            </a:r>
            <a:endParaRPr lang="en-US" sz="3200" dirty="0"/>
          </a:p>
        </p:txBody>
      </p:sp>
      <p:sp>
        <p:nvSpPr>
          <p:cNvPr id="4" name="Shape 2"/>
          <p:cNvSpPr/>
          <p:nvPr/>
        </p:nvSpPr>
        <p:spPr>
          <a:xfrm>
            <a:off x="640080" y="1463040"/>
            <a:ext cx="2011680" cy="1234440"/>
          </a:xfrm>
          <a:prstGeom prst="rect">
            <a:avLst/>
          </a:prstGeom>
          <a:solidFill>
            <a:srgbClr val="F2B134"/>
          </a:solidFill>
          <a:ln w="6350">
            <a:solidFill>
              <a:srgbClr val="F2B134"/>
            </a:solidFill>
            <a:prstDash val="solid"/>
          </a:ln>
        </p:spPr>
      </p:sp>
      <p:sp>
        <p:nvSpPr>
          <p:cNvPr id="5" name="Text 3"/>
          <p:cNvSpPr txBox="1"/>
          <p:nvPr/>
        </p:nvSpPr>
        <p:spPr>
          <a:xfrm>
            <a:off x="731520" y="1572768"/>
            <a:ext cx="1828800" cy="329184"/>
          </a:xfrm>
          <a:prstGeom prst="rect">
            <a:avLst/>
          </a:prstGeom>
          <a:noFill/>
          <a:ln/>
        </p:spPr>
        <p:txBody>
          <a:bodyPr wrap="square" lIns="0" tIns="0" rIns="0" bIns="0" rtlCol="0" anchor="ctr"/>
          <a:lstStyle/>
          <a:p>
            <a:pPr algn="ctr" indent="0" marL="0">
              <a:buNone/>
            </a:pPr>
            <a:r>
              <a:rPr lang="en-US" sz="1300" b="1" dirty="0">
                <a:solidFill>
                  <a:srgbClr val="3D2E00"/>
                </a:solidFill>
                <a:latin typeface="Calibri" pitchFamily="34" charset="0"/>
                <a:ea typeface="Calibri" pitchFamily="34" charset="-122"/>
                <a:cs typeface="Calibri" pitchFamily="34" charset="-120"/>
              </a:rPr>
              <a:t>Generators</a:t>
            </a:r>
            <a:endParaRPr lang="en-US" sz="1300" dirty="0"/>
          </a:p>
        </p:txBody>
      </p:sp>
      <p:sp>
        <p:nvSpPr>
          <p:cNvPr id="6" name="Text 4"/>
          <p:cNvSpPr txBox="1"/>
          <p:nvPr/>
        </p:nvSpPr>
        <p:spPr>
          <a:xfrm>
            <a:off x="731520" y="1920240"/>
            <a:ext cx="1828800" cy="685800"/>
          </a:xfrm>
          <a:prstGeom prst="rect">
            <a:avLst/>
          </a:prstGeom>
          <a:noFill/>
          <a:ln/>
        </p:spPr>
        <p:txBody>
          <a:bodyPr wrap="square" lIns="0" tIns="0" rIns="0" bIns="0" rtlCol="0" anchor="t"/>
          <a:lstStyle/>
          <a:p>
            <a:pPr algn="ctr" indent="0" marL="0">
              <a:buNone/>
            </a:pPr>
            <a:r>
              <a:rPr lang="en-US" sz="950" dirty="0">
                <a:solidFill>
                  <a:srgbClr val="5A3E00"/>
                </a:solidFill>
                <a:latin typeface="Calibri" pitchFamily="34" charset="0"/>
                <a:ea typeface="Calibri" pitchFamily="34" charset="-122"/>
                <a:cs typeface="Calibri" pitchFamily="34" charset="-120"/>
              </a:rPr>
              <a:t>rule-based (now)</a:t>
            </a:r>
            <a:endParaRPr lang="en-US" sz="950" dirty="0"/>
          </a:p>
          <a:p>
            <a:pPr algn="ctr" indent="0" marL="0">
              <a:buNone/>
            </a:pPr>
            <a:r>
              <a:rPr lang="en-US" sz="950" dirty="0">
                <a:solidFill>
                  <a:srgbClr val="5A3E00"/>
                </a:solidFill>
                <a:latin typeface="Calibri" pitchFamily="34" charset="0"/>
                <a:ea typeface="Calibri" pitchFamily="34" charset="-122"/>
                <a:cs typeface="Calibri" pitchFamily="34" charset="-120"/>
              </a:rPr>
              <a:t>+ conditional diffusion model</a:t>
            </a:r>
            <a:endParaRPr lang="en-US" sz="950" dirty="0"/>
          </a:p>
          <a:p>
            <a:pPr algn="ctr" indent="0" marL="0">
              <a:buNone/>
            </a:pPr>
            <a:r>
              <a:rPr lang="en-US" sz="950" dirty="0">
                <a:solidFill>
                  <a:srgbClr val="5A3E00"/>
                </a:solidFill>
                <a:latin typeface="Calibri" pitchFamily="34" charset="0"/>
                <a:ea typeface="Calibri" pitchFamily="34" charset="-122"/>
                <a:cs typeface="Calibri" pitchFamily="34" charset="-120"/>
              </a:rPr>
              <a:t>(MatterGen / DOSMatGen class)</a:t>
            </a:r>
            <a:endParaRPr lang="en-US" sz="950" dirty="0"/>
          </a:p>
        </p:txBody>
      </p:sp>
      <p:sp>
        <p:nvSpPr>
          <p:cNvPr id="7" name="Text 5"/>
          <p:cNvSpPr txBox="1"/>
          <p:nvPr/>
        </p:nvSpPr>
        <p:spPr>
          <a:xfrm>
            <a:off x="2148840" y="1508760"/>
            <a:ext cx="457200" cy="182880"/>
          </a:xfrm>
          <a:prstGeom prst="rect">
            <a:avLst/>
          </a:prstGeom>
          <a:noFill/>
          <a:ln/>
        </p:spPr>
        <p:txBody>
          <a:bodyPr wrap="square" lIns="0" tIns="0" rIns="0" bIns="0" rtlCol="0" anchor="ctr"/>
          <a:lstStyle/>
          <a:p>
            <a:pPr algn="r" indent="0" marL="0">
              <a:buNone/>
            </a:pPr>
            <a:r>
              <a:rPr lang="en-US" sz="800" b="1" dirty="0">
                <a:solidFill>
                  <a:srgbClr val="E4572E"/>
                </a:solidFill>
                <a:latin typeface="Calibri" pitchFamily="34" charset="0"/>
                <a:ea typeface="Calibri" pitchFamily="34" charset="-122"/>
                <a:cs typeface="Calibri" pitchFamily="34" charset="-120"/>
              </a:rPr>
              <a:t>NEW</a:t>
            </a:r>
            <a:endParaRPr lang="en-US" sz="800" dirty="0"/>
          </a:p>
        </p:txBody>
      </p:sp>
      <p:sp>
        <p:nvSpPr>
          <p:cNvPr id="8" name="Shape 6"/>
          <p:cNvSpPr/>
          <p:nvPr/>
        </p:nvSpPr>
        <p:spPr>
          <a:xfrm>
            <a:off x="2852928" y="1463040"/>
            <a:ext cx="2011680" cy="1234440"/>
          </a:xfrm>
          <a:prstGeom prst="rect">
            <a:avLst/>
          </a:prstGeom>
          <a:solidFill>
            <a:srgbClr val="1B2A4A"/>
          </a:solidFill>
          <a:ln w="6350">
            <a:solidFill>
              <a:srgbClr val="1B2A4A"/>
            </a:solidFill>
            <a:prstDash val="solid"/>
          </a:ln>
        </p:spPr>
      </p:sp>
      <p:sp>
        <p:nvSpPr>
          <p:cNvPr id="9" name="Text 7"/>
          <p:cNvSpPr txBox="1"/>
          <p:nvPr/>
        </p:nvSpPr>
        <p:spPr>
          <a:xfrm>
            <a:off x="2944368"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MLIP filter</a:t>
            </a:r>
            <a:endParaRPr lang="en-US" sz="1300" dirty="0"/>
          </a:p>
        </p:txBody>
      </p:sp>
      <p:sp>
        <p:nvSpPr>
          <p:cNvPr id="10" name="Text 8"/>
          <p:cNvSpPr txBox="1"/>
          <p:nvPr/>
        </p:nvSpPr>
        <p:spPr>
          <a:xfrm>
            <a:off x="2944368"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MACE relax · same-model hull</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E_hull ≤ 30 meV · Ms ≥ 1.5 T</a:t>
            </a:r>
            <a:endParaRPr lang="en-US" sz="950" dirty="0"/>
          </a:p>
        </p:txBody>
      </p:sp>
      <p:sp>
        <p:nvSpPr>
          <p:cNvPr id="11" name="Shape 9"/>
          <p:cNvSpPr/>
          <p:nvPr/>
        </p:nvSpPr>
        <p:spPr>
          <a:xfrm>
            <a:off x="5065776" y="1463040"/>
            <a:ext cx="2011680" cy="1234440"/>
          </a:xfrm>
          <a:prstGeom prst="rect">
            <a:avLst/>
          </a:prstGeom>
          <a:solidFill>
            <a:srgbClr val="1B2A4A"/>
          </a:solidFill>
          <a:ln w="6350">
            <a:solidFill>
              <a:srgbClr val="1B2A4A"/>
            </a:solidFill>
            <a:prstDash val="solid"/>
          </a:ln>
        </p:spPr>
      </p:sp>
      <p:sp>
        <p:nvSpPr>
          <p:cNvPr id="12" name="Text 10"/>
          <p:cNvSpPr txBox="1"/>
          <p:nvPr/>
        </p:nvSpPr>
        <p:spPr>
          <a:xfrm>
            <a:off x="5157216"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 surrogate</a:t>
            </a:r>
            <a:endParaRPr lang="en-US" sz="1300" dirty="0"/>
          </a:p>
        </p:txBody>
      </p:sp>
      <p:sp>
        <p:nvSpPr>
          <p:cNvPr id="13" name="Text 11"/>
          <p:cNvSpPr txBox="1"/>
          <p:nvPr/>
        </p:nvSpPr>
        <p:spPr>
          <a:xfrm>
            <a:off x="5157216"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mean = extracted rules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Matern residual on h</a:t>
            </a:r>
            <a:endParaRPr lang="en-US" sz="950" dirty="0"/>
          </a:p>
        </p:txBody>
      </p:sp>
      <p:sp>
        <p:nvSpPr>
          <p:cNvPr id="14" name="Shape 12"/>
          <p:cNvSpPr/>
          <p:nvPr/>
        </p:nvSpPr>
        <p:spPr>
          <a:xfrm>
            <a:off x="7278624" y="1463040"/>
            <a:ext cx="2011680" cy="1234440"/>
          </a:xfrm>
          <a:prstGeom prst="rect">
            <a:avLst/>
          </a:prstGeom>
          <a:solidFill>
            <a:srgbClr val="1B2A4A"/>
          </a:solidFill>
          <a:ln w="6350">
            <a:solidFill>
              <a:srgbClr val="1B2A4A"/>
            </a:solidFill>
            <a:prstDash val="solid"/>
          </a:ln>
        </p:spPr>
      </p:sp>
      <p:sp>
        <p:nvSpPr>
          <p:cNvPr id="15" name="Text 13"/>
          <p:cNvSpPr txBox="1"/>
          <p:nvPr/>
        </p:nvSpPr>
        <p:spPr>
          <a:xfrm>
            <a:off x="7370064"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Acquisition</a:t>
            </a:r>
            <a:endParaRPr lang="en-US" sz="1300" dirty="0"/>
          </a:p>
        </p:txBody>
      </p:sp>
      <p:sp>
        <p:nvSpPr>
          <p:cNvPr id="16" name="Text 14"/>
          <p:cNvSpPr txBox="1"/>
          <p:nvPr/>
        </p:nvSpPr>
        <p:spPr>
          <a:xfrm>
            <a:off x="7370064"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Thompson batches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disambiguation slots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'novelty' slots for generated cells</a:t>
            </a:r>
            <a:endParaRPr lang="en-US" sz="950" dirty="0"/>
          </a:p>
        </p:txBody>
      </p:sp>
      <p:sp>
        <p:nvSpPr>
          <p:cNvPr id="17" name="Shape 15"/>
          <p:cNvSpPr/>
          <p:nvPr/>
        </p:nvSpPr>
        <p:spPr>
          <a:xfrm>
            <a:off x="9491472" y="1463040"/>
            <a:ext cx="2011680" cy="1234440"/>
          </a:xfrm>
          <a:prstGeom prst="rect">
            <a:avLst/>
          </a:prstGeom>
          <a:solidFill>
            <a:srgbClr val="C6472A"/>
          </a:solidFill>
          <a:ln w="6350">
            <a:solidFill>
              <a:srgbClr val="C6472A"/>
            </a:solidFill>
            <a:prstDash val="solid"/>
          </a:ln>
        </p:spPr>
      </p:sp>
      <p:sp>
        <p:nvSpPr>
          <p:cNvPr id="18" name="Text 16"/>
          <p:cNvSpPr txBox="1"/>
          <p:nvPr/>
        </p:nvSpPr>
        <p:spPr>
          <a:xfrm>
            <a:off x="9582912"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DFT, then experiment</a:t>
            </a:r>
            <a:endParaRPr lang="en-US" sz="1300" dirty="0"/>
          </a:p>
        </p:txBody>
      </p:sp>
      <p:sp>
        <p:nvSpPr>
          <p:cNvPr id="19" name="Text 17"/>
          <p:cNvSpPr txBox="1"/>
          <p:nvPr/>
        </p:nvSpPr>
        <p:spPr>
          <a:xfrm>
            <a:off x="9582912" y="1920240"/>
            <a:ext cx="1828800" cy="685800"/>
          </a:xfrm>
          <a:prstGeom prst="rect">
            <a:avLst/>
          </a:prstGeom>
          <a:noFill/>
          <a:ln/>
        </p:spPr>
        <p:txBody>
          <a:bodyPr wrap="square" lIns="0" tIns="0" rIns="0" bIns="0" rtlCol="0" anchor="t"/>
          <a:lstStyle/>
          <a:p>
            <a:pPr algn="ctr" indent="0" marL="0">
              <a:buNone/>
            </a:pPr>
            <a:r>
              <a:rPr lang="en-US" sz="950" dirty="0">
                <a:solidFill>
                  <a:srgbClr val="FBE3DC"/>
                </a:solidFill>
                <a:latin typeface="Calibri" pitchFamily="34" charset="0"/>
                <a:ea typeface="Calibri" pitchFamily="34" charset="-122"/>
                <a:cs typeface="Calibri" pitchFamily="34" charset="-120"/>
              </a:rPr>
              <a:t>one f-in-core run per cell</a:t>
            </a:r>
            <a:endParaRPr lang="en-US" sz="950" dirty="0"/>
          </a:p>
          <a:p>
            <a:pPr algn="ctr" indent="0" marL="0">
              <a:buNone/>
            </a:pPr>
            <a:r>
              <a:rPr lang="en-US" sz="950" dirty="0">
                <a:solidFill>
                  <a:srgbClr val="FBE3DC"/>
                </a:solidFill>
                <a:latin typeface="Calibri" pitchFamily="34" charset="0"/>
                <a:ea typeface="Calibri" pitchFamily="34" charset="-122"/>
                <a:cs typeface="Calibri" pitchFamily="34" charset="-120"/>
              </a:rPr>
              <a:t>→ h, Ms, V  (ground truth)</a:t>
            </a:r>
            <a:endParaRPr lang="en-US" sz="950" dirty="0"/>
          </a:p>
        </p:txBody>
      </p:sp>
      <p:sp>
        <p:nvSpPr>
          <p:cNvPr id="20" name="Shape 18"/>
          <p:cNvSpPr/>
          <p:nvPr/>
        </p:nvSpPr>
        <p:spPr>
          <a:xfrm>
            <a:off x="2651760" y="2080260"/>
            <a:ext cx="201168" cy="0"/>
          </a:xfrm>
          <a:prstGeom prst="line">
            <a:avLst/>
          </a:prstGeom>
          <a:noFill/>
          <a:ln w="17780">
            <a:solidFill>
              <a:srgbClr val="1A2233"/>
            </a:solidFill>
            <a:prstDash val="solid"/>
            <a:tailEnd type="triangle"/>
          </a:ln>
        </p:spPr>
      </p:sp>
      <p:sp>
        <p:nvSpPr>
          <p:cNvPr id="21" name="Shape 19"/>
          <p:cNvSpPr/>
          <p:nvPr/>
        </p:nvSpPr>
        <p:spPr>
          <a:xfrm>
            <a:off x="4864608" y="2080260"/>
            <a:ext cx="201168" cy="0"/>
          </a:xfrm>
          <a:prstGeom prst="line">
            <a:avLst/>
          </a:prstGeom>
          <a:noFill/>
          <a:ln w="17780">
            <a:solidFill>
              <a:srgbClr val="1A2233"/>
            </a:solidFill>
            <a:prstDash val="solid"/>
            <a:tailEnd type="triangle"/>
          </a:ln>
        </p:spPr>
      </p:sp>
      <p:sp>
        <p:nvSpPr>
          <p:cNvPr id="22" name="Shape 20"/>
          <p:cNvSpPr/>
          <p:nvPr/>
        </p:nvSpPr>
        <p:spPr>
          <a:xfrm>
            <a:off x="7077456" y="2080260"/>
            <a:ext cx="201168" cy="0"/>
          </a:xfrm>
          <a:prstGeom prst="line">
            <a:avLst/>
          </a:prstGeom>
          <a:noFill/>
          <a:ln w="17780">
            <a:solidFill>
              <a:srgbClr val="1A2233"/>
            </a:solidFill>
            <a:prstDash val="solid"/>
            <a:tailEnd type="triangle"/>
          </a:ln>
        </p:spPr>
      </p:sp>
      <p:sp>
        <p:nvSpPr>
          <p:cNvPr id="23" name="Shape 21"/>
          <p:cNvSpPr/>
          <p:nvPr/>
        </p:nvSpPr>
        <p:spPr>
          <a:xfrm>
            <a:off x="9290304" y="2080260"/>
            <a:ext cx="201168" cy="0"/>
          </a:xfrm>
          <a:prstGeom prst="line">
            <a:avLst/>
          </a:prstGeom>
          <a:noFill/>
          <a:ln w="17780">
            <a:solidFill>
              <a:srgbClr val="1A2233"/>
            </a:solidFill>
            <a:prstDash val="solid"/>
            <a:tailEnd type="triangle"/>
          </a:ln>
        </p:spPr>
      </p:sp>
      <p:sp>
        <p:nvSpPr>
          <p:cNvPr id="24" name="Shape 22"/>
          <p:cNvSpPr/>
          <p:nvPr/>
        </p:nvSpPr>
        <p:spPr>
          <a:xfrm>
            <a:off x="777240" y="3154680"/>
            <a:ext cx="10588752" cy="2468880"/>
          </a:xfrm>
          <a:prstGeom prst="rect">
            <a:avLst/>
          </a:prstGeom>
          <a:solidFill>
            <a:srgbClr val="FFFFFF">
              <a:alpha val="0"/>
            </a:srgbClr>
          </a:solidFill>
          <a:ln w="25400">
            <a:solidFill>
              <a:srgbClr val="E4572E"/>
            </a:solidFill>
            <a:prstDash val="dash"/>
          </a:ln>
        </p:spPr>
      </p:sp>
      <p:sp>
        <p:nvSpPr>
          <p:cNvPr id="25" name="Shape 23"/>
          <p:cNvSpPr/>
          <p:nvPr/>
        </p:nvSpPr>
        <p:spPr>
          <a:xfrm>
            <a:off x="914400" y="3429000"/>
            <a:ext cx="10314432" cy="1920240"/>
          </a:xfrm>
          <a:prstGeom prst="rect">
            <a:avLst/>
          </a:prstGeom>
          <a:solidFill>
            <a:srgbClr val="3E9AA8"/>
          </a:solidFill>
          <a:ln w="6350">
            <a:solidFill>
              <a:srgbClr val="3E9AA8"/>
            </a:solidFill>
            <a:prstDash val="solid"/>
          </a:ln>
        </p:spPr>
      </p:sp>
      <p:sp>
        <p:nvSpPr>
          <p:cNvPr id="26" name="Text 24"/>
          <p:cNvSpPr txBox="1"/>
          <p:nvPr/>
        </p:nvSpPr>
        <p:spPr>
          <a:xfrm>
            <a:off x="1097280" y="3520440"/>
            <a:ext cx="9948672" cy="2743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Understanding loop: interpretable pipeline  RF → SOM → EBM → SymReg → LogReg → ENCO</a:t>
            </a:r>
            <a:endParaRPr lang="en-US" sz="1250" dirty="0"/>
          </a:p>
        </p:txBody>
      </p:sp>
      <p:sp>
        <p:nvSpPr>
          <p:cNvPr id="27" name="Text 25"/>
          <p:cNvSpPr txBox="1"/>
          <p:nvPr/>
        </p:nvSpPr>
        <p:spPr>
          <a:xfrm>
            <a:off x="1097280" y="3886200"/>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RF</a:t>
            </a:r>
            <a:endParaRPr lang="en-US" sz="1050" dirty="0"/>
          </a:p>
        </p:txBody>
      </p:sp>
      <p:sp>
        <p:nvSpPr>
          <p:cNvPr id="28" name="Text 26"/>
          <p:cNvSpPr txBox="1"/>
          <p:nvPr/>
        </p:nvSpPr>
        <p:spPr>
          <a:xfrm>
            <a:off x="1874520" y="3886200"/>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random forest on the labels: which descriptors carry the signal (done: 5d polarisation, distance, Co)</a:t>
            </a:r>
            <a:endParaRPr lang="en-US" sz="830" dirty="0"/>
          </a:p>
        </p:txBody>
      </p:sp>
      <p:sp>
        <p:nvSpPr>
          <p:cNvPr id="29" name="Text 27"/>
          <p:cNvSpPr txBox="1"/>
          <p:nvPr/>
        </p:nvSpPr>
        <p:spPr>
          <a:xfrm>
            <a:off x="4413504" y="3886200"/>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SOM</a:t>
            </a:r>
            <a:endParaRPr lang="en-US" sz="1050" dirty="0"/>
          </a:p>
        </p:txBody>
      </p:sp>
      <p:sp>
        <p:nvSpPr>
          <p:cNvPr id="30" name="Text 28"/>
          <p:cNvSpPr txBox="1"/>
          <p:nvPr/>
        </p:nvSpPr>
        <p:spPr>
          <a:xfrm>
            <a:off x="5190744" y="3886200"/>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self-organising map: cluster hosts into families; shows which families the waves have not sampled</a:t>
            </a:r>
            <a:endParaRPr lang="en-US" sz="830" dirty="0"/>
          </a:p>
        </p:txBody>
      </p:sp>
      <p:sp>
        <p:nvSpPr>
          <p:cNvPr id="31" name="Text 29"/>
          <p:cNvSpPr txBox="1"/>
          <p:nvPr/>
        </p:nvSpPr>
        <p:spPr>
          <a:xfrm>
            <a:off x="7729728" y="3886200"/>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EBM</a:t>
            </a:r>
            <a:endParaRPr lang="en-US" sz="1050" dirty="0"/>
          </a:p>
        </p:txBody>
      </p:sp>
      <p:sp>
        <p:nvSpPr>
          <p:cNvPr id="32" name="Text 30"/>
          <p:cNvSpPr txBox="1"/>
          <p:nvPr/>
        </p:nvSpPr>
        <p:spPr>
          <a:xfrm>
            <a:off x="8506968" y="3886200"/>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explainable boosting: additive per-descriptor curves - the shape of each lever, not only its sign</a:t>
            </a:r>
            <a:endParaRPr lang="en-US" sz="830" dirty="0"/>
          </a:p>
        </p:txBody>
      </p:sp>
      <p:sp>
        <p:nvSpPr>
          <p:cNvPr id="33" name="Text 31"/>
          <p:cNvSpPr txBox="1"/>
          <p:nvPr/>
        </p:nvSpPr>
        <p:spPr>
          <a:xfrm>
            <a:off x="1097280" y="4599432"/>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SymReg</a:t>
            </a:r>
            <a:endParaRPr lang="en-US" sz="1050" dirty="0"/>
          </a:p>
        </p:txBody>
      </p:sp>
      <p:sp>
        <p:nvSpPr>
          <p:cNvPr id="34" name="Text 32"/>
          <p:cNvSpPr txBox="1"/>
          <p:nvPr/>
        </p:nvSpPr>
        <p:spPr>
          <a:xfrm>
            <a:off x="1874520" y="4599432"/>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symbolic regression: closed forms (done by hand: ΔE = 1574·h; next: h = f(distance, Z, Co))</a:t>
            </a:r>
            <a:endParaRPr lang="en-US" sz="830" dirty="0"/>
          </a:p>
        </p:txBody>
      </p:sp>
      <p:sp>
        <p:nvSpPr>
          <p:cNvPr id="35" name="Text 33"/>
          <p:cNvSpPr txBox="1"/>
          <p:nvPr/>
        </p:nvSpPr>
        <p:spPr>
          <a:xfrm>
            <a:off x="4413504" y="4599432"/>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LogReg</a:t>
            </a:r>
            <a:endParaRPr lang="en-US" sz="1050" dirty="0"/>
          </a:p>
        </p:txBody>
      </p:sp>
      <p:sp>
        <p:nvSpPr>
          <p:cNvPr id="36" name="Text 34"/>
          <p:cNvSpPr txBox="1"/>
          <p:nvPr/>
        </p:nvSpPr>
        <p:spPr>
          <a:xfrm>
            <a:off x="5190744" y="4599432"/>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feasibility classifier: P(hull ∧ Ms ∧ gap) from geometry - a cheap pre-filter before MACE</a:t>
            </a:r>
            <a:endParaRPr lang="en-US" sz="830" dirty="0"/>
          </a:p>
        </p:txBody>
      </p:sp>
      <p:sp>
        <p:nvSpPr>
          <p:cNvPr id="37" name="Text 35"/>
          <p:cNvSpPr txBox="1"/>
          <p:nvPr/>
        </p:nvSpPr>
        <p:spPr>
          <a:xfrm>
            <a:off x="7729728" y="4599432"/>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ENCO</a:t>
            </a:r>
            <a:endParaRPr lang="en-US" sz="1050" dirty="0"/>
          </a:p>
        </p:txBody>
      </p:sp>
      <p:sp>
        <p:nvSpPr>
          <p:cNvPr id="38" name="Text 36"/>
          <p:cNvSpPr txBox="1"/>
          <p:nvPr/>
        </p:nvSpPr>
        <p:spPr>
          <a:xfrm>
            <a:off x="8506968" y="4599432"/>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causal discovery using the waves as interventions: tests the hand-built graph (host → S₅d → gap) and finds edges we missed</a:t>
            </a:r>
            <a:endParaRPr lang="en-US" sz="830" dirty="0"/>
          </a:p>
        </p:txBody>
      </p:sp>
      <p:sp>
        <p:nvSpPr>
          <p:cNvPr id="39" name="Shape 37"/>
          <p:cNvSpPr/>
          <p:nvPr/>
        </p:nvSpPr>
        <p:spPr>
          <a:xfrm>
            <a:off x="10497312" y="2697480"/>
            <a:ext cx="0" cy="731520"/>
          </a:xfrm>
          <a:prstGeom prst="line">
            <a:avLst/>
          </a:prstGeom>
          <a:noFill/>
          <a:ln w="17780">
            <a:solidFill>
              <a:srgbClr val="7A8DA8"/>
            </a:solidFill>
            <a:prstDash val="dash"/>
            <a:tailEnd type="triangle"/>
          </a:ln>
        </p:spPr>
      </p:sp>
      <p:sp>
        <p:nvSpPr>
          <p:cNvPr id="40" name="Shape 38"/>
          <p:cNvSpPr/>
          <p:nvPr/>
        </p:nvSpPr>
        <p:spPr>
          <a:xfrm flipV="1">
            <a:off x="5522976" y="2697480"/>
            <a:ext cx="0" cy="731520"/>
          </a:xfrm>
          <a:prstGeom prst="line">
            <a:avLst/>
          </a:prstGeom>
          <a:noFill/>
          <a:ln w="17780">
            <a:solidFill>
              <a:srgbClr val="7A8DA8"/>
            </a:solidFill>
            <a:prstDash val="dash"/>
            <a:tailEnd type="triangle"/>
          </a:ln>
        </p:spPr>
      </p:sp>
      <p:sp>
        <p:nvSpPr>
          <p:cNvPr id="41" name="Shape 39"/>
          <p:cNvSpPr/>
          <p:nvPr/>
        </p:nvSpPr>
        <p:spPr>
          <a:xfrm flipV="1">
            <a:off x="8284464" y="2697480"/>
            <a:ext cx="0" cy="731520"/>
          </a:xfrm>
          <a:prstGeom prst="line">
            <a:avLst/>
          </a:prstGeom>
          <a:noFill/>
          <a:ln w="17780">
            <a:solidFill>
              <a:srgbClr val="7A8DA8"/>
            </a:solidFill>
            <a:prstDash val="dash"/>
            <a:tailEnd type="triangle"/>
          </a:ln>
        </p:spPr>
      </p:sp>
      <p:sp>
        <p:nvSpPr>
          <p:cNvPr id="42" name="Shape 40"/>
          <p:cNvSpPr/>
          <p:nvPr/>
        </p:nvSpPr>
        <p:spPr>
          <a:xfrm flipV="1">
            <a:off x="1097280" y="2697480"/>
            <a:ext cx="0" cy="731520"/>
          </a:xfrm>
          <a:prstGeom prst="line">
            <a:avLst/>
          </a:prstGeom>
          <a:noFill/>
          <a:ln w="17780">
            <a:solidFill>
              <a:srgbClr val="E4572E"/>
            </a:solidFill>
            <a:prstDash val="dash"/>
            <a:tailEnd type="triangle"/>
          </a:ln>
        </p:spPr>
      </p:sp>
      <p:sp>
        <p:nvSpPr>
          <p:cNvPr id="43" name="Shape 41"/>
          <p:cNvSpPr/>
          <p:nvPr/>
        </p:nvSpPr>
        <p:spPr>
          <a:xfrm>
            <a:off x="6528816" y="2697480"/>
            <a:ext cx="0" cy="384048"/>
          </a:xfrm>
          <a:prstGeom prst="line">
            <a:avLst/>
          </a:prstGeom>
          <a:noFill/>
          <a:ln w="17780">
            <a:solidFill>
              <a:srgbClr val="E4572E"/>
            </a:solidFill>
            <a:prstDash val="dash"/>
          </a:ln>
        </p:spPr>
      </p:sp>
      <p:sp>
        <p:nvSpPr>
          <p:cNvPr id="44" name="Shape 42"/>
          <p:cNvSpPr/>
          <p:nvPr/>
        </p:nvSpPr>
        <p:spPr>
          <a:xfrm>
            <a:off x="2286000" y="3081528"/>
            <a:ext cx="4242816" cy="0"/>
          </a:xfrm>
          <a:prstGeom prst="line">
            <a:avLst/>
          </a:prstGeom>
          <a:noFill/>
          <a:ln w="17780">
            <a:solidFill>
              <a:srgbClr val="E4572E"/>
            </a:solidFill>
            <a:prstDash val="dash"/>
          </a:ln>
        </p:spPr>
      </p:sp>
      <p:sp>
        <p:nvSpPr>
          <p:cNvPr id="45" name="Shape 43"/>
          <p:cNvSpPr/>
          <p:nvPr/>
        </p:nvSpPr>
        <p:spPr>
          <a:xfrm flipV="1">
            <a:off x="2286000" y="2697480"/>
            <a:ext cx="0" cy="384048"/>
          </a:xfrm>
          <a:prstGeom prst="line">
            <a:avLst/>
          </a:prstGeom>
          <a:noFill/>
          <a:ln w="17780">
            <a:solidFill>
              <a:srgbClr val="E4572E"/>
            </a:solidFill>
            <a:prstDash val="dash"/>
            <a:tailEnd type="triangle"/>
          </a:ln>
        </p:spPr>
      </p:sp>
      <p:sp>
        <p:nvSpPr>
          <p:cNvPr id="46" name="Text 44"/>
          <p:cNvSpPr txBox="1"/>
          <p:nvPr/>
        </p:nvSpPr>
        <p:spPr>
          <a:xfrm>
            <a:off x="10570464" y="2770632"/>
            <a:ext cx="1463040" cy="182880"/>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DFT results</a:t>
            </a:r>
            <a:endParaRPr lang="en-US" sz="860" dirty="0"/>
          </a:p>
        </p:txBody>
      </p:sp>
      <p:sp>
        <p:nvSpPr>
          <p:cNvPr id="47" name="Text 45"/>
          <p:cNvSpPr txBox="1"/>
          <p:nvPr/>
        </p:nvSpPr>
        <p:spPr>
          <a:xfrm>
            <a:off x="5596128" y="3319272"/>
            <a:ext cx="1463040" cy="182880"/>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rules → mean</a:t>
            </a:r>
            <a:endParaRPr lang="en-US" sz="860" dirty="0"/>
          </a:p>
        </p:txBody>
      </p:sp>
      <p:sp>
        <p:nvSpPr>
          <p:cNvPr id="48" name="Text 46"/>
          <p:cNvSpPr txBox="1"/>
          <p:nvPr/>
        </p:nvSpPr>
        <p:spPr>
          <a:xfrm>
            <a:off x="8357616" y="2971800"/>
            <a:ext cx="1463040" cy="182880"/>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disambiguation targets</a:t>
            </a:r>
            <a:endParaRPr lang="en-US" sz="860" dirty="0"/>
          </a:p>
        </p:txBody>
      </p:sp>
      <p:sp>
        <p:nvSpPr>
          <p:cNvPr id="49" name="Text 47"/>
          <p:cNvSpPr txBox="1"/>
          <p:nvPr/>
        </p:nvSpPr>
        <p:spPr>
          <a:xfrm>
            <a:off x="1170432" y="2770632"/>
            <a:ext cx="2194560" cy="182880"/>
          </a:xfrm>
          <a:prstGeom prst="rect">
            <a:avLst/>
          </a:prstGeom>
          <a:noFill/>
          <a:ln/>
        </p:spPr>
        <p:txBody>
          <a:bodyPr wrap="square" lIns="0" tIns="0" rIns="0" bIns="0" rtlCol="0" anchor="ctr"/>
          <a:lstStyle/>
          <a:p>
            <a:pPr indent="0" marL="0">
              <a:buNone/>
            </a:pPr>
            <a:r>
              <a:rPr lang="en-US" sz="860" i="1" dirty="0">
                <a:solidFill>
                  <a:srgbClr val="E4572E"/>
                </a:solidFill>
                <a:latin typeface="Calibri" pitchFamily="34" charset="0"/>
                <a:ea typeface="Calibri" pitchFamily="34" charset="-122"/>
                <a:cs typeface="Calibri" pitchFamily="34" charset="-120"/>
              </a:rPr>
              <a:t>causal parents = conditioning variables</a:t>
            </a:r>
            <a:endParaRPr lang="en-US" sz="860" dirty="0"/>
          </a:p>
        </p:txBody>
      </p:sp>
      <p:sp>
        <p:nvSpPr>
          <p:cNvPr id="50" name="Text 48"/>
          <p:cNvSpPr txBox="1"/>
          <p:nvPr/>
        </p:nvSpPr>
        <p:spPr>
          <a:xfrm>
            <a:off x="2926080" y="3118104"/>
            <a:ext cx="3291840" cy="182880"/>
          </a:xfrm>
          <a:prstGeom prst="rect">
            <a:avLst/>
          </a:prstGeom>
          <a:noFill/>
          <a:ln/>
        </p:spPr>
        <p:txBody>
          <a:bodyPr wrap="square" lIns="0" tIns="0" rIns="0" bIns="0" rtlCol="0" anchor="ctr"/>
          <a:lstStyle/>
          <a:p>
            <a:pPr indent="0" marL="0">
              <a:buNone/>
            </a:pPr>
            <a:r>
              <a:rPr lang="en-US" sz="860" i="1" dirty="0">
                <a:solidFill>
                  <a:srgbClr val="E4572E"/>
                </a:solidFill>
                <a:latin typeface="Calibri" pitchFamily="34" charset="0"/>
                <a:ea typeface="Calibri" pitchFamily="34" charset="-122"/>
                <a:cs typeface="Calibri" pitchFamily="34" charset="-120"/>
              </a:rPr>
              <a:t>GP posterior → inverse design toward the empty Pareto corner</a:t>
            </a:r>
            <a:endParaRPr lang="en-US" sz="860" dirty="0"/>
          </a:p>
        </p:txBody>
      </p:sp>
      <p:sp>
        <p:nvSpPr>
          <p:cNvPr id="51" name="Shape 49"/>
          <p:cNvSpPr/>
          <p:nvPr/>
        </p:nvSpPr>
        <p:spPr>
          <a:xfrm>
            <a:off x="640080" y="5760720"/>
            <a:ext cx="10881360" cy="777240"/>
          </a:xfrm>
          <a:prstGeom prst="roundRect">
            <a:avLst>
              <a:gd name="adj" fmla="val 9412"/>
            </a:avLst>
          </a:prstGeom>
          <a:solidFill>
            <a:srgbClr val="EEF2F7"/>
          </a:solidFill>
          <a:ln/>
        </p:spPr>
      </p:sp>
      <p:sp>
        <p:nvSpPr>
          <p:cNvPr id="52" name="Text 50"/>
          <p:cNvSpPr txBox="1"/>
          <p:nvPr/>
        </p:nvSpPr>
        <p:spPr>
          <a:xfrm>
            <a:off x="868680" y="5760720"/>
            <a:ext cx="10424160" cy="777240"/>
          </a:xfrm>
          <a:prstGeom prst="rect">
            <a:avLst/>
          </a:prstGeom>
          <a:noFill/>
          <a:ln/>
        </p:spPr>
        <p:txBody>
          <a:bodyPr wrap="square" lIns="0" tIns="0" rIns="0" bIns="0" rtlCol="0" anchor="ctr"/>
          <a:lstStyle/>
          <a:p>
            <a:pPr indent="0" marL="0">
              <a:buNone/>
            </a:pPr>
            <a:r>
              <a:rPr lang="en-US" sz="930" dirty="0">
                <a:solidFill>
                  <a:srgbClr val="1A2233"/>
                </a:solidFill>
                <a:latin typeface="Calibri" pitchFamily="34" charset="0"/>
                <a:ea typeface="Calibri" pitchFamily="34" charset="-122"/>
                <a:cs typeface="Calibri" pitchFamily="34" charset="-120"/>
              </a:rPr>
              <a:t>Minor modifications, in order: (1) add the diffusion model as one more generator - its proposals enter the same MLIP filter and the same GP; (2) condition it on the variables the causal graph names as parents of coupling and Ms, so it proposes short-bonded, Fe-dense, Co-tuned, H-free frameworks; (3) reserve acquisition slots for generated cells so novelty is sampled, not just exploited; (4) once waves give interventional data, run ENCO to audit the hand-built graph. Nothing downstream of the generator changes.</a:t>
            </a:r>
            <a:endParaRPr lang="en-US" sz="93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1,427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~140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drew wave 1 (120)</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now: rule-based generators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next: diffusion conditioned on the</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causal parents; MACE hull first</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011680" cy="1920240"/>
          </a:xfrm>
          <a:prstGeom prst="roundRect">
            <a:avLst>
              <a:gd name="adj" fmla="val 2857"/>
            </a:avLst>
          </a:prstGeom>
          <a:solidFill>
            <a:srgbClr val="1B2A4A"/>
          </a:solidFill>
          <a:ln/>
        </p:spPr>
      </p:sp>
      <p:sp>
        <p:nvSpPr>
          <p:cNvPr id="45" name="Text 43"/>
          <p:cNvSpPr txBox="1"/>
          <p:nvPr/>
        </p:nvSpPr>
        <p:spPr>
          <a:xfrm>
            <a:off x="6537960" y="4370832"/>
            <a:ext cx="1737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Gaussian process (running)</a:t>
            </a:r>
            <a:endParaRPr lang="en-US" sz="1100" dirty="0"/>
          </a:p>
        </p:txBody>
      </p:sp>
      <p:sp>
        <p:nvSpPr>
          <p:cNvPr id="46" name="Text 44"/>
          <p:cNvSpPr txBox="1"/>
          <p:nvPr/>
        </p:nvSpPr>
        <p:spPr>
          <a:xfrm>
            <a:off x="6537960" y="4645152"/>
            <a:ext cx="1737360" cy="1536192"/>
          </a:xfrm>
          <a:prstGeom prst="rect">
            <a:avLst/>
          </a:prstGeom>
          <a:noFill/>
          <a:ln/>
        </p:spPr>
        <p:txBody>
          <a:bodyPr wrap="square" lIns="0" tIns="0" rIns="0" bIns="0" rtlCol="0" anchor="ctr"/>
          <a:lstStyle/>
          <a:p>
            <a:pPr indent="0" marL="0">
              <a:buNone/>
            </a:pPr>
            <a:r>
              <a:rPr lang="en-US" sz="860" dirty="0">
                <a:solidFill>
                  <a:srgbClr val="C6D2E4"/>
                </a:solidFill>
                <a:latin typeface="Calibri" pitchFamily="34" charset="0"/>
                <a:ea typeface="Calibri" pitchFamily="34" charset="-122"/>
                <a:cs typeface="Calibri" pitchFamily="34" charset="-120"/>
              </a:rPr>
              <a:t>Mean = physics rules, Matern residual on h, Thompson batches sized to one packed job. Each label is one f-in-core run; a round is 120 labels per ~48 h.</a:t>
            </a:r>
            <a:endParaRPr lang="en-US" sz="860" dirty="0"/>
          </a:p>
        </p:txBody>
      </p:sp>
      <p:sp>
        <p:nvSpPr>
          <p:cNvPr id="47" name="Shape 45"/>
          <p:cNvSpPr/>
          <p:nvPr/>
        </p:nvSpPr>
        <p:spPr>
          <a:xfrm>
            <a:off x="8595360" y="4297680"/>
            <a:ext cx="3154680" cy="1920240"/>
          </a:xfrm>
          <a:prstGeom prst="roundRect">
            <a:avLst>
              <a:gd name="adj" fmla="val 2857"/>
            </a:avLst>
          </a:prstGeom>
          <a:solidFill>
            <a:srgbClr val="2A3F66"/>
          </a:solidFill>
          <a:ln/>
        </p:spPr>
      </p:sp>
      <p:sp>
        <p:nvSpPr>
          <p:cNvPr id="48" name="Text 46"/>
          <p:cNvSpPr txBox="1"/>
          <p:nvPr/>
        </p:nvSpPr>
        <p:spPr>
          <a:xfrm>
            <a:off x="8732520" y="4370832"/>
            <a:ext cx="2880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Generative models (the extension)</a:t>
            </a:r>
            <a:endParaRPr lang="en-US" sz="1100" dirty="0"/>
          </a:p>
        </p:txBody>
      </p:sp>
      <p:sp>
        <p:nvSpPr>
          <p:cNvPr id="49" name="Text 47"/>
          <p:cNvSpPr txBox="1"/>
          <p:nvPr/>
        </p:nvSpPr>
        <p:spPr>
          <a:xfrm>
            <a:off x="8732520" y="4645152"/>
            <a:ext cx="2880360" cy="1536192"/>
          </a:xfrm>
          <a:prstGeom prst="rect">
            <a:avLst/>
          </a:prstGeom>
          <a:noFill/>
          <a:ln/>
        </p:spPr>
        <p:txBody>
          <a:bodyPr wrap="square" lIns="0" tIns="0" rIns="0" bIns="0" rtlCol="0" anchor="ctr"/>
          <a:lstStyle/>
          <a:p>
            <a:pPr indent="0" marL="0">
              <a:buNone/>
            </a:pPr>
            <a:r>
              <a:rPr lang="en-US" sz="790" dirty="0">
                <a:solidFill>
                  <a:srgbClr val="C6D2E4"/>
                </a:solidFill>
                <a:latin typeface="Calibri" pitchFamily="34" charset="0"/>
                <a:ea typeface="Calibri" pitchFamily="34" charset="-122"/>
                <a:cs typeface="Calibri" pitchFamily="34" charset="-120"/>
              </a:rPr>
              <a:t>Phase 1, now: rule-based generators - substitution, interstitials, neighbourhood of winners.</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2, after wave 2-3: a conditional diffusion model (MatterGen / DOSMatGen class) fine-tuned on the pool, conditioned on the causal parents - Fe density, RE-TM distance, coordination, Co fraction, no H in the RE shell - proposing frameworks that are not decorations of known ones; MACE hull as the first filter, the GP as the second.</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3: inverse design - condition on the GP posterior toward the empty region of the Pareto front; every proposal still earns its label the same way.</a:t>
            </a:r>
            <a:endParaRPr lang="en-US" sz="79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2026-10-12T16:03:28Z</dcterms:created>
  <dcterms:modified xsi:type="dcterms:W3CDTF">2026-10-12T16:03:28Z</dcterms:modified>
</cp:coreProperties>
</file>