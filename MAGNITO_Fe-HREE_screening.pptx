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the program wants &gt;2 T. The physics obstacle is that heavy-RE 4f moments couple antiparallel to Fe, so the default outcome is a ferrimagnet with a reduced net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Campbell rule: 4f-5d-3d chain fixes the sign. Heavy RE gives ferrimagnetism; light RE gives net-parallel alignment. This is why every database 'FM' label on a Gd-Fe compound deserves suspicion.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FM-labelled hits being all-Gd is a tell: it is an artefact of which element is treated with explicit 4f, not a physical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Novamag: CC-BY-4.0, auto-fetched from Zenodo record 3241267 (160 MB). MAGNDATA is the strongest available test of the coupling-sign protocol - every experimental RE-TM entry is a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of 8 pairs ferrimagnetic. 280 meV is far too large to be a convergence artefact. The compensation in RT4X is the practical kill: Fe sublattice ~14 muB cancels against Gd 7 muB x2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95-&gt;4 collapse on first hardening attempt actually went to ZERO credible - that first pass derived NUPDOWN from the same runs it was trying to fix (circular). Fixed by requiring a freely-converged reference or falling back to measured nominal per-element moments, split by high-spin/low-spin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earlier deck claimed Co16Gd2Mn as FM. The release-stage comparison overturned it. The three validity rules now in analyze.py are the methodological product of that episode.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Energies: Co16Gd2Mn released ferri (Mn||Co) -146.088 vs fm -145.671 eV; Mn-site twins released: 18f ferri_mnanti -145.886 vs fm -145.449; Co15Gd2Mn2 locked A -147.829, B -147.649, D -147.213, C -146.577 vs locked fm -147.414. Fe17Gd2H3 is the counter-example where the gap falls WITHOUT cancelling spin (H pushes the shell apart) - Ms survives but anisotropy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OLS on log|dE|: 5d moment +0.34/SD, neighbour-sum +0.19, dilution +0.10, distance -0.04, d-band centre ~0; R2 0.63.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outliers are circled: Gd2Fe17H3 far below the line (artifact suspect, in the suspects batch), and one Fe host far above (CFe17Gd2 - fm side suspect). Both are being re-run locked-&gt;released.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Liebs-Hummler-Fahnle PRB 46, 11201 (1992); Liebs-Fahnle JMMM 128, L8 (1993); Duc 1998 review; Brooks-Johansson 5d-3d hybridisation; Tao et al. arXiv 2608.25270.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Liebs-Hummler-Fahnle PRB 46 11201 (1992) Table III (Loewenhaupt INS); Liebs-Fahnle JMMM 128 L8 (1993); Duc et al. JMMM 177-181 1107 (1998) Table 1. Ho2Fe17 used as the 2-17 reference since J_RT in this convention is nearly RE-independent.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Job 59642825, 20 nodes, 3 h, regular QOS, submitted 2026-10-10 11:58. Reader: light_re_results.py. Tc is NOT in this batch - it needs an Fe-Fe Heisenberg mapping, planned as the next step for survivors.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reframing: the Gd campaign is not just a yes/no on ferromagnetism. It is a measurement of the RE-TM exchange that propagates to the whole heavy series analytically.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projections are 0 K PBE without SOC and ~0.3 T above experiment (Nd2Fe17Nx 2.04 projected vs ~1.5 measured). Literature: Nd2Fe14B 1.61 T/585 K; Sm2Fe17N3 1.54/749; NdFe12N 1.66/823 (Hirayama 2015); Sm(Fe0.8Co0.2)12 1.78/859 (Hirayama 2017); Sm2Co17 1.25/1190.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A20 sign convention must be calibrated against a known compound first. Novamag is the natural calibration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Refs: Campbell J. Phys. F 2, L47 (1972); Liebs, Hummler, Fahnle PRB 46, 11201 (1992); Liebs &amp; Fahnle JMMM 128, L8 (1993); Brooks &amp; Johansson, Handbook of Magnetic Materials 7 (1993); de Gennes J. Phys. Radium 23, 510 (1962); Duc et al. JMMM 177-181, 1107 (1998); Williams, Malozemoff, Moruzzi JAP 54, 3129 (1983); Coey &amp; Sun JMMM 87, L251 (1990); Sun et al. Sci. Adv. 2, e1600225 (2016); Kuz'min &amp; Tishin, Handbook of Magnetic Materials 17 (2008). Benchmarks: Hirayama et al. Scripta Mater. 95, 70 (2015) NdFe12N; Hirayama et al. Scripta Mater. 138, 62 (2017) Sm(Fe,Co)12; Korner, Krugel, Elsasser Sci. Rep. 6, 24686 (2016) HT 1:12 screening.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Fe5NdSi numbers from wave_1.csv; Gd2Fe17H3 from results.json (suspects batch re-running it); Co19Fe4Gd6 from exchange_features.csv; kagome from pool.csv; mixed 1:12 from generate_mixed_1_12.py / pool.csv.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symbols: terminator = start/end, rectangle = process, diamond = decision, parallelogram = data, cylinder = stored data. Red process = the only HPC step. Solid loop = retraining; dashed loop = neighbourhood expansion of the winners feeding the structure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146 original decorations (first six rows of the old slide 24, by prototype), 30 kagome, 224 interstitial cells on 60 Fe-rich passers, 9 mixed 1:12 supercells, 369 campaign host structures (180 credible + 189 unlabelled).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Adapted from the two-loop picture (operational loop + causal/interpretable loop). Differences in NEEL: the MLIP filter sits BEFORE the GP (constraints first, surrogate on survivors); generation precedes acquisition (one cannot score what does not exist), with the generator conditioned by loop 2's levers; the interpretable pipeline is effect sizes -&gt; hand-specified structural causal model validated on the data -&gt; symbolic rule, rather than a long tool chain (RF/SOM/EBM/SymReg/LogReg/ENCO), because 180-300 labels in 15-19 dimensions do not support data-driven causal discovery; 'disambiguation targets' are implemented as contrast experiments (same host, one lever changed) that the acquisition reserves slots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names follow the two-loop slide shared by the user: RF = random forest, SOM = self-organising map, EBM = explainable boosting machine, SymReg = symbolic regression, LogReg = logistic regression, ENCO = Efficient Neural Causal Discovery (Lippe et al. 2022), which uses interventional data - here each wave's substitutions are the interventions. Caveat: with a few hundred labels the data-driven causal discovery should be read as an audit of the hand-specified SCM, not a replacement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from analysis/pool/pool.csv at the time of the wave-1 redraw. Dedupe is on (reduced formula, space group); the same host can appear from several sources, the lowest-hull copy is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 use h-based linear mean, Matern kernel on standardised descriptors; batch acquisition with diversity penalty sized to the packed job. Causal: DAG host-geometry -&gt; S5d -&gt; gap; Fe density -&gt; Ms; interstitial site -&gt; S5d. Generative: MatterGen-style conditioned on composition and target Fe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B33"/>
        </a:solidFill>
      </p:bgPr>
    </p:bg>
    <p:spTree>
      <p:nvGrpSpPr>
        <p:cNvPr id="1" name=""/>
        <p:cNvGrpSpPr/>
        <p:nvPr/>
      </p:nvGrpSpPr>
      <p:grpSpPr>
        <a:xfrm>
          <a:off x="0" y="0"/>
          <a:ext cx="0" cy="0"/>
          <a:chOff x="0" y="0"/>
          <a:chExt cx="0" cy="0"/>
        </a:xfrm>
      </p:grpSpPr>
      <p:sp>
        <p:nvSpPr>
          <p:cNvPr id="2" name="Text 0"/>
          <p:cNvSpPr txBox="1"/>
          <p:nvPr/>
        </p:nvSpPr>
        <p:spPr>
          <a:xfrm>
            <a:off x="640080" y="1371600"/>
            <a:ext cx="8412480" cy="274320"/>
          </a:xfrm>
          <a:prstGeom prst="rect">
            <a:avLst/>
          </a:prstGeom>
          <a:noFill/>
          <a:ln/>
        </p:spPr>
        <p:txBody>
          <a:bodyPr wrap="square" lIns="0" tIns="0" rIns="0" bIns="0" rtlCol="0" anchor="ctr"/>
          <a:lstStyle/>
          <a:p>
            <a:pPr indent="0" marL="0">
              <a:buNone/>
            </a:pPr>
            <a:r>
              <a:rPr lang="en-US" sz="1300" b="1" spc="300" kern="0" dirty="0">
                <a:solidFill>
                  <a:srgbClr val="F2B134"/>
                </a:solidFill>
                <a:latin typeface="Calibri" pitchFamily="34" charset="0"/>
                <a:ea typeface="Calibri" pitchFamily="34" charset="-122"/>
                <a:cs typeface="Calibri" pitchFamily="34" charset="-120"/>
              </a:rPr>
              <a:t>MAGNITO  ·  COMPUTATIONAL SCREENING</a:t>
            </a:r>
            <a:endParaRPr lang="en-US" sz="1300" dirty="0"/>
          </a:p>
        </p:txBody>
      </p:sp>
      <p:sp>
        <p:nvSpPr>
          <p:cNvPr id="3" name="Text 1"/>
          <p:cNvSpPr txBox="1"/>
          <p:nvPr/>
        </p:nvSpPr>
        <p:spPr>
          <a:xfrm>
            <a:off x="640080" y="1783080"/>
            <a:ext cx="8412480" cy="173736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Fe-rich Heavy-Rare-Earth</a:t>
            </a:r>
            <a:endParaRPr lang="en-US" sz="4600" dirty="0"/>
          </a:p>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Magnet Search</a:t>
            </a:r>
            <a:endParaRPr lang="en-US" sz="4600" dirty="0"/>
          </a:p>
        </p:txBody>
      </p:sp>
      <p:sp>
        <p:nvSpPr>
          <p:cNvPr id="4" name="Text 2"/>
          <p:cNvSpPr txBox="1"/>
          <p:nvPr/>
        </p:nvSpPr>
        <p:spPr>
          <a:xfrm>
            <a:off x="640080" y="3611880"/>
            <a:ext cx="7863840" cy="731520"/>
          </a:xfrm>
          <a:prstGeom prst="rect">
            <a:avLst/>
          </a:prstGeom>
          <a:noFill/>
          <a:ln/>
        </p:spPr>
        <p:txBody>
          <a:bodyPr wrap="square" lIns="0" tIns="0" rIns="0" bIns="0" rtlCol="0" anchor="ctr"/>
          <a:lstStyle/>
          <a:p>
            <a:pPr indent="0" marL="0">
              <a:buNone/>
            </a:pPr>
            <a:r>
              <a:rPr lang="en-US" sz="1500" dirty="0">
                <a:solidFill>
                  <a:srgbClr val="AEBBD0"/>
                </a:solidFill>
                <a:latin typeface="Calibri" pitchFamily="34" charset="0"/>
                <a:ea typeface="Calibri" pitchFamily="34" charset="-122"/>
                <a:cs typeface="Calibri" pitchFamily="34" charset="-120"/>
              </a:rPr>
              <a:t>Search criteria, database landscape, the ferro- vs ferrimagnetic test, and an active-learning path forward</a:t>
            </a:r>
            <a:endParaRPr lang="en-US" sz="1500" dirty="0"/>
          </a:p>
        </p:txBody>
      </p:sp>
      <p:sp>
        <p:nvSpPr>
          <p:cNvPr id="5" name="Text 3"/>
          <p:cNvSpPr txBox="1"/>
          <p:nvPr/>
        </p:nvSpPr>
        <p:spPr>
          <a:xfrm>
            <a:off x="640080" y="4572000"/>
            <a:ext cx="8412480" cy="365760"/>
          </a:xfrm>
          <a:prstGeom prst="rect">
            <a:avLst/>
          </a:prstGeom>
          <a:noFill/>
          <a:ln/>
        </p:spPr>
        <p:txBody>
          <a:bodyPr wrap="square" lIns="0" tIns="0" rIns="0" bIns="0" rtlCol="0" anchor="ctr"/>
          <a:lstStyle/>
          <a:p>
            <a:pPr indent="0" marL="0">
              <a:buNone/>
            </a:pPr>
            <a:r>
              <a:rPr lang="en-US" sz="1300" i="1" dirty="0">
                <a:solidFill>
                  <a:srgbClr val="8FA3C0"/>
                </a:solidFill>
                <a:latin typeface="Calibri" pitchFamily="34" charset="0"/>
                <a:ea typeface="Calibri" pitchFamily="34" charset="-122"/>
                <a:cs typeface="Calibri" pitchFamily="34" charset="-120"/>
              </a:rPr>
              <a:t>Target: μ₀Ms &gt; 2 T  ·  Tc &gt; 550 K  ·  uniaxial anisotropy  ·  RE-lean</a:t>
            </a:r>
            <a:endParaRPr lang="en-US" sz="1300" dirty="0"/>
          </a:p>
        </p:txBody>
      </p:sp>
      <p:sp>
        <p:nvSpPr>
          <p:cNvPr id="6" name="Text 4"/>
          <p:cNvSpPr txBox="1"/>
          <p:nvPr/>
        </p:nvSpPr>
        <p:spPr>
          <a:xfrm>
            <a:off x="640080" y="5897880"/>
            <a:ext cx="7863840" cy="320040"/>
          </a:xfrm>
          <a:prstGeom prst="rect">
            <a:avLst/>
          </a:prstGeom>
          <a:noFill/>
          <a:ln/>
        </p:spPr>
        <p:txBody>
          <a:bodyPr wrap="square" lIns="0" tIns="0" rIns="0" bIns="0" rtlCol="0" anchor="ctr"/>
          <a:lstStyle/>
          <a:p>
            <a:pPr indent="0" marL="0">
              <a:buNone/>
            </a:pPr>
            <a:r>
              <a:rPr lang="en-US" sz="1150" spc="100" kern="0" dirty="0">
                <a:solidFill>
                  <a:srgbClr val="6E819E"/>
                </a:solidFill>
                <a:latin typeface="Calibri" pitchFamily="34" charset="0"/>
                <a:ea typeface="Calibri" pitchFamily="34" charset="-122"/>
                <a:cs typeface="Calibri" pitchFamily="34" charset="-120"/>
              </a:rPr>
              <a:t>706 paired DFT calculations  ·  353 compounds  ·  180 credible RE-TM exchange labels  ·  0 ferromagnets</a:t>
            </a:r>
            <a:endParaRPr lang="en-US" sz="1150" dirty="0"/>
          </a:p>
        </p:txBody>
      </p:sp>
      <p:sp>
        <p:nvSpPr>
          <p:cNvPr id="7" name="Text 5"/>
          <p:cNvSpPr txBox="1"/>
          <p:nvPr/>
        </p:nvSpPr>
        <p:spPr>
          <a:xfrm>
            <a:off x="9372600" y="1600200"/>
            <a:ext cx="1188720" cy="274320"/>
          </a:xfrm>
          <a:prstGeom prst="rect">
            <a:avLst/>
          </a:prstGeom>
          <a:noFill/>
          <a:ln/>
        </p:spPr>
        <p:txBody>
          <a:bodyPr wrap="square" lIns="0" tIns="0" rIns="0" bIns="0" rtlCol="0" anchor="ctr"/>
          <a:lstStyle/>
          <a:p>
            <a:pPr algn="ctr" indent="0" marL="0">
              <a:buNone/>
            </a:pPr>
            <a:r>
              <a:rPr lang="en-US" sz="1200" b="1" dirty="0">
                <a:solidFill>
                  <a:srgbClr val="E4572E"/>
                </a:solidFill>
                <a:latin typeface="Calibri" pitchFamily="34" charset="0"/>
                <a:ea typeface="Calibri" pitchFamily="34" charset="-122"/>
                <a:cs typeface="Calibri" pitchFamily="34" charset="-120"/>
              </a:rPr>
              <a:t>Fe / Co</a:t>
            </a:r>
            <a:endParaRPr lang="en-US" sz="1200" dirty="0"/>
          </a:p>
        </p:txBody>
      </p:sp>
      <p:sp>
        <p:nvSpPr>
          <p:cNvPr id="8" name="Text 6"/>
          <p:cNvSpPr txBox="1"/>
          <p:nvPr/>
        </p:nvSpPr>
        <p:spPr>
          <a:xfrm>
            <a:off x="9372600" y="1874520"/>
            <a:ext cx="365760" cy="777240"/>
          </a:xfrm>
          <a:prstGeom prst="rect">
            <a:avLst/>
          </a:prstGeom>
          <a:noFill/>
          <a:ln/>
        </p:spPr>
        <p:txBody>
          <a:bodyPr wrap="square" lIns="0" tIns="0" rIns="0" bIns="0" rtlCol="0" anchor="ctr"/>
          <a:lstStyle/>
          <a:p>
            <a:pPr algn="ctr" indent="0" marL="0">
              <a:buNone/>
            </a:pPr>
            <a:r>
              <a:rPr lang="en-US" sz="4000" b="1" dirty="0">
                <a:solidFill>
                  <a:srgbClr val="E4572E"/>
                </a:solidFill>
                <a:latin typeface="Arial" pitchFamily="34" charset="0"/>
                <a:ea typeface="Arial" pitchFamily="34" charset="-122"/>
                <a:cs typeface="Arial" pitchFamily="34" charset="-120"/>
              </a:rPr>
              <a:t>↑</a:t>
            </a:r>
            <a:endParaRPr lang="en-US" sz="4000" dirty="0"/>
          </a:p>
        </p:txBody>
      </p:sp>
      <p:sp>
        <p:nvSpPr>
          <p:cNvPr id="9" name="Text 7"/>
          <p:cNvSpPr txBox="1"/>
          <p:nvPr/>
        </p:nvSpPr>
        <p:spPr>
          <a:xfrm>
            <a:off x="9756648" y="1874520"/>
            <a:ext cx="365760" cy="777240"/>
          </a:xfrm>
          <a:prstGeom prst="rect">
            <a:avLst/>
          </a:prstGeom>
          <a:noFill/>
          <a:ln/>
        </p:spPr>
        <p:txBody>
          <a:bodyPr wrap="square" lIns="0" tIns="0" rIns="0" bIns="0" rtlCol="0" anchor="ctr"/>
          <a:lstStyle/>
          <a:p>
            <a:pPr algn="ctr" indent="0" marL="0">
              <a:buNone/>
            </a:pPr>
            <a:r>
              <a:rPr lang="en-US" sz="4000" b="1" dirty="0">
                <a:solidFill>
                  <a:srgbClr val="E4572E"/>
                </a:solidFill>
                <a:latin typeface="Arial" pitchFamily="34" charset="0"/>
                <a:ea typeface="Arial" pitchFamily="34" charset="-122"/>
                <a:cs typeface="Arial" pitchFamily="34" charset="-120"/>
              </a:rPr>
              <a:t>↑</a:t>
            </a:r>
            <a:endParaRPr lang="en-US" sz="4000" dirty="0"/>
          </a:p>
        </p:txBody>
      </p:sp>
      <p:sp>
        <p:nvSpPr>
          <p:cNvPr id="10" name="Text 8"/>
          <p:cNvSpPr txBox="1"/>
          <p:nvPr/>
        </p:nvSpPr>
        <p:spPr>
          <a:xfrm>
            <a:off x="10140696" y="1874520"/>
            <a:ext cx="365760" cy="777240"/>
          </a:xfrm>
          <a:prstGeom prst="rect">
            <a:avLst/>
          </a:prstGeom>
          <a:noFill/>
          <a:ln/>
        </p:spPr>
        <p:txBody>
          <a:bodyPr wrap="square" lIns="0" tIns="0" rIns="0" bIns="0" rtlCol="0" anchor="ctr"/>
          <a:lstStyle/>
          <a:p>
            <a:pPr algn="ctr" indent="0" marL="0">
              <a:buNone/>
            </a:pPr>
            <a:r>
              <a:rPr lang="en-US" sz="4000" b="1" dirty="0">
                <a:solidFill>
                  <a:srgbClr val="E4572E"/>
                </a:solidFill>
                <a:latin typeface="Arial" pitchFamily="34" charset="0"/>
                <a:ea typeface="Arial" pitchFamily="34" charset="-122"/>
                <a:cs typeface="Arial" pitchFamily="34" charset="-120"/>
              </a:rPr>
              <a:t>↑</a:t>
            </a:r>
            <a:endParaRPr lang="en-US" sz="4000" dirty="0"/>
          </a:p>
        </p:txBody>
      </p:sp>
      <p:sp>
        <p:nvSpPr>
          <p:cNvPr id="11" name="Text 9"/>
          <p:cNvSpPr txBox="1"/>
          <p:nvPr/>
        </p:nvSpPr>
        <p:spPr>
          <a:xfrm>
            <a:off x="10524744" y="1874520"/>
            <a:ext cx="365760" cy="777240"/>
          </a:xfrm>
          <a:prstGeom prst="rect">
            <a:avLst/>
          </a:prstGeom>
          <a:noFill/>
          <a:ln/>
        </p:spPr>
        <p:txBody>
          <a:bodyPr wrap="square" lIns="0" tIns="0" rIns="0" bIns="0" rtlCol="0" anchor="ctr"/>
          <a:lstStyle/>
          <a:p>
            <a:pPr algn="ctr" indent="0" marL="0">
              <a:buNone/>
            </a:pPr>
            <a:r>
              <a:rPr lang="en-US" sz="4000" b="1" dirty="0">
                <a:solidFill>
                  <a:srgbClr val="E4572E"/>
                </a:solidFill>
                <a:latin typeface="Arial" pitchFamily="34" charset="0"/>
                <a:ea typeface="Arial" pitchFamily="34" charset="-122"/>
                <a:cs typeface="Arial" pitchFamily="34" charset="-120"/>
              </a:rPr>
              <a:t>↑</a:t>
            </a:r>
            <a:endParaRPr lang="en-US" sz="4000" dirty="0"/>
          </a:p>
        </p:txBody>
      </p:sp>
      <p:sp>
        <p:nvSpPr>
          <p:cNvPr id="12" name="Text 10"/>
          <p:cNvSpPr txBox="1"/>
          <p:nvPr/>
        </p:nvSpPr>
        <p:spPr>
          <a:xfrm>
            <a:off x="8869680" y="3063240"/>
            <a:ext cx="2651760" cy="274320"/>
          </a:xfrm>
          <a:prstGeom prst="rect">
            <a:avLst/>
          </a:prstGeom>
          <a:noFill/>
          <a:ln/>
        </p:spPr>
        <p:txBody>
          <a:bodyPr wrap="square" lIns="0" tIns="0" rIns="0" bIns="0" rtlCol="0" anchor="ctr"/>
          <a:lstStyle/>
          <a:p>
            <a:pPr algn="ctr" indent="0" marL="0">
              <a:buNone/>
            </a:pPr>
            <a:r>
              <a:rPr lang="en-US" sz="1200" b="1" dirty="0">
                <a:solidFill>
                  <a:srgbClr val="2E86AB"/>
                </a:solidFill>
                <a:latin typeface="Calibri" pitchFamily="34" charset="0"/>
                <a:ea typeface="Calibri" pitchFamily="34" charset="-122"/>
                <a:cs typeface="Calibri" pitchFamily="34" charset="-120"/>
              </a:rPr>
              <a:t>Gd / Tb / Dy / Ho / Er / Tm</a:t>
            </a:r>
            <a:endParaRPr lang="en-US" sz="1200" dirty="0"/>
          </a:p>
        </p:txBody>
      </p:sp>
      <p:sp>
        <p:nvSpPr>
          <p:cNvPr id="13" name="Text 11"/>
          <p:cNvSpPr txBox="1"/>
          <p:nvPr/>
        </p:nvSpPr>
        <p:spPr>
          <a:xfrm>
            <a:off x="9921240" y="3310128"/>
            <a:ext cx="365760" cy="777240"/>
          </a:xfrm>
          <a:prstGeom prst="rect">
            <a:avLst/>
          </a:prstGeom>
          <a:noFill/>
          <a:ln/>
        </p:spPr>
        <p:txBody>
          <a:bodyPr wrap="square" lIns="0" tIns="0" rIns="0" bIns="0" rtlCol="0" anchor="ctr"/>
          <a:lstStyle/>
          <a:p>
            <a:pPr algn="ctr" indent="0" marL="0">
              <a:buNone/>
            </a:pPr>
            <a:r>
              <a:rPr lang="en-US" sz="4000" b="1" dirty="0">
                <a:solidFill>
                  <a:srgbClr val="2E86AB"/>
                </a:solidFill>
                <a:latin typeface="Arial" pitchFamily="34" charset="0"/>
                <a:ea typeface="Arial" pitchFamily="34" charset="-122"/>
                <a:cs typeface="Arial" pitchFamily="34" charset="-120"/>
              </a:rPr>
              <a:t>↓</a:t>
            </a:r>
            <a:endParaRPr lang="en-US" sz="4000" dirty="0"/>
          </a:p>
        </p:txBody>
      </p:sp>
      <p:sp>
        <p:nvSpPr>
          <p:cNvPr id="14" name="Text 12"/>
          <p:cNvSpPr txBox="1"/>
          <p:nvPr/>
        </p:nvSpPr>
        <p:spPr>
          <a:xfrm>
            <a:off x="8641080" y="4160520"/>
            <a:ext cx="3108960" cy="640080"/>
          </a:xfrm>
          <a:prstGeom prst="rect">
            <a:avLst/>
          </a:prstGeom>
          <a:noFill/>
          <a:ln/>
        </p:spPr>
        <p:txBody>
          <a:bodyPr wrap="square" lIns="0" tIns="0" rIns="0" bIns="0" rtlCol="0" anchor="ctr"/>
          <a:lstStyle/>
          <a:p>
            <a:pPr algn="ctr" indent="0" marL="0">
              <a:buNone/>
            </a:pPr>
            <a:r>
              <a:rPr lang="en-US" sz="1150" dirty="0">
                <a:solidFill>
                  <a:srgbClr val="AEBBD0"/>
                </a:solidFill>
                <a:latin typeface="Calibri" pitchFamily="34" charset="0"/>
                <a:ea typeface="Calibri" pitchFamily="34" charset="-122"/>
                <a:cs typeface="Calibri" pitchFamily="34" charset="-120"/>
              </a:rPr>
              <a:t>4f moment antiparallel</a:t>
            </a:r>
            <a:endParaRPr lang="en-US" sz="1150" dirty="0"/>
          </a:p>
          <a:p>
            <a:pPr algn="ctr" indent="0" marL="0">
              <a:buNone/>
            </a:pPr>
            <a:r>
              <a:rPr lang="en-US" sz="1150" dirty="0">
                <a:solidFill>
                  <a:srgbClr val="AEBBD0"/>
                </a:solidFill>
                <a:latin typeface="Calibri" pitchFamily="34" charset="0"/>
                <a:ea typeface="Calibri" pitchFamily="34" charset="-122"/>
                <a:cs typeface="Calibri" pitchFamily="34" charset="-120"/>
              </a:rPr>
              <a:t>→ ferrimagnet, not ferromagnet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WHY THIS SEARCH IS HARD</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The target, and the rule that fights it</a:t>
            </a:r>
            <a:endParaRPr lang="en-US" sz="3200" dirty="0"/>
          </a:p>
        </p:txBody>
      </p:sp>
      <p:sp>
        <p:nvSpPr>
          <p:cNvPr id="4" name="Shape 2"/>
          <p:cNvSpPr/>
          <p:nvPr/>
        </p:nvSpPr>
        <p:spPr>
          <a:xfrm>
            <a:off x="640080" y="1481328"/>
            <a:ext cx="5212080" cy="4069080"/>
          </a:xfrm>
          <a:prstGeom prst="roundRect">
            <a:avLst>
              <a:gd name="adj" fmla="val 1798"/>
            </a:avLst>
          </a:prstGeom>
          <a:solidFill>
            <a:srgbClr val="EEF2F7"/>
          </a:solidFill>
          <a:ln/>
        </p:spPr>
      </p:sp>
      <p:sp>
        <p:nvSpPr>
          <p:cNvPr id="5" name="Text 3"/>
          <p:cNvSpPr txBox="1"/>
          <p:nvPr/>
        </p:nvSpPr>
        <p:spPr>
          <a:xfrm>
            <a:off x="932688" y="1691640"/>
            <a:ext cx="4663440" cy="320040"/>
          </a:xfrm>
          <a:prstGeom prst="rect">
            <a:avLst/>
          </a:prstGeom>
          <a:noFill/>
          <a:ln/>
        </p:spPr>
        <p:txBody>
          <a:bodyPr wrap="square" lIns="0" tIns="0" rIns="0" bIns="0" rtlCol="0" anchor="ctr"/>
          <a:lstStyle/>
          <a:p>
            <a:pPr indent="0" marL="0">
              <a:buNone/>
            </a:pPr>
            <a:r>
              <a:rPr lang="en-US" sz="1500" b="1" dirty="0">
                <a:solidFill>
                  <a:srgbClr val="1A2233"/>
                </a:solidFill>
                <a:latin typeface="Calibri" pitchFamily="34" charset="0"/>
                <a:ea typeface="Calibri" pitchFamily="34" charset="-122"/>
                <a:cs typeface="Calibri" pitchFamily="34" charset="-120"/>
              </a:rPr>
              <a:t>What a viable permanent magnet needs</a:t>
            </a:r>
            <a:endParaRPr lang="en-US" sz="1500" dirty="0"/>
          </a:p>
        </p:txBody>
      </p:sp>
      <p:sp>
        <p:nvSpPr>
          <p:cNvPr id="6" name="Shape 4"/>
          <p:cNvSpPr/>
          <p:nvPr/>
        </p:nvSpPr>
        <p:spPr>
          <a:xfrm>
            <a:off x="932688" y="2148840"/>
            <a:ext cx="384048" cy="384048"/>
          </a:xfrm>
          <a:prstGeom prst="ellipse">
            <a:avLst/>
          </a:prstGeom>
          <a:solidFill>
            <a:srgbClr val="2E86AB"/>
          </a:solidFill>
          <a:ln/>
        </p:spPr>
      </p:sp>
      <p:sp>
        <p:nvSpPr>
          <p:cNvPr id="7" name="Text 5"/>
          <p:cNvSpPr txBox="1"/>
          <p:nvPr/>
        </p:nvSpPr>
        <p:spPr>
          <a:xfrm>
            <a:off x="932688" y="21488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481328" y="2130552"/>
            <a:ext cx="4114800" cy="274320"/>
          </a:xfrm>
          <a:prstGeom prst="rect">
            <a:avLst/>
          </a:prstGeom>
          <a:noFill/>
          <a:ln/>
        </p:spPr>
        <p:txBody>
          <a:bodyPr wrap="square" lIns="0" tIns="0" rIns="0" bIns="0" rtlCol="0" anchor="ctr"/>
          <a:lstStyle/>
          <a:p>
            <a:pPr indent="0" marL="0">
              <a:buNone/>
            </a:pPr>
            <a:r>
              <a:rPr lang="en-US" sz="1400" b="1" dirty="0">
                <a:solidFill>
                  <a:srgbClr val="1A2233"/>
                </a:solidFill>
                <a:latin typeface="Calibri" pitchFamily="34" charset="0"/>
                <a:ea typeface="Calibri" pitchFamily="34" charset="-122"/>
                <a:cs typeface="Calibri" pitchFamily="34" charset="-120"/>
              </a:rPr>
              <a:t>μ₀Ms &gt; 2 T</a:t>
            </a:r>
            <a:endParaRPr lang="en-US" sz="1400" dirty="0"/>
          </a:p>
        </p:txBody>
      </p:sp>
      <p:sp>
        <p:nvSpPr>
          <p:cNvPr id="9" name="Text 7"/>
          <p:cNvSpPr txBox="1"/>
          <p:nvPr/>
        </p:nvSpPr>
        <p:spPr>
          <a:xfrm>
            <a:off x="1481328" y="2386584"/>
            <a:ext cx="4114800" cy="27432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dense Fe/Co sublattice, little dilution</a:t>
            </a:r>
            <a:endParaRPr lang="en-US" sz="1200" dirty="0"/>
          </a:p>
        </p:txBody>
      </p:sp>
      <p:sp>
        <p:nvSpPr>
          <p:cNvPr id="10" name="Shape 8"/>
          <p:cNvSpPr/>
          <p:nvPr/>
        </p:nvSpPr>
        <p:spPr>
          <a:xfrm>
            <a:off x="932688" y="2935224"/>
            <a:ext cx="384048" cy="384048"/>
          </a:xfrm>
          <a:prstGeom prst="ellipse">
            <a:avLst/>
          </a:prstGeom>
          <a:solidFill>
            <a:srgbClr val="2E86AB"/>
          </a:solidFill>
          <a:ln/>
        </p:spPr>
      </p:sp>
      <p:sp>
        <p:nvSpPr>
          <p:cNvPr id="11" name="Text 9"/>
          <p:cNvSpPr txBox="1"/>
          <p:nvPr/>
        </p:nvSpPr>
        <p:spPr>
          <a:xfrm>
            <a:off x="932688" y="29352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481328" y="2916936"/>
            <a:ext cx="4114800" cy="274320"/>
          </a:xfrm>
          <a:prstGeom prst="rect">
            <a:avLst/>
          </a:prstGeom>
          <a:noFill/>
          <a:ln/>
        </p:spPr>
        <p:txBody>
          <a:bodyPr wrap="square" lIns="0" tIns="0" rIns="0" bIns="0" rtlCol="0" anchor="ctr"/>
          <a:lstStyle/>
          <a:p>
            <a:pPr indent="0" marL="0">
              <a:buNone/>
            </a:pPr>
            <a:r>
              <a:rPr lang="en-US" sz="1400" b="1" dirty="0">
                <a:solidFill>
                  <a:srgbClr val="1A2233"/>
                </a:solidFill>
                <a:latin typeface="Calibri" pitchFamily="34" charset="0"/>
                <a:ea typeface="Calibri" pitchFamily="34" charset="-122"/>
                <a:cs typeface="Calibri" pitchFamily="34" charset="-120"/>
              </a:rPr>
              <a:t>Tᴄ &gt; 550 K</a:t>
            </a:r>
            <a:endParaRPr lang="en-US" sz="1400" dirty="0"/>
          </a:p>
        </p:txBody>
      </p:sp>
      <p:sp>
        <p:nvSpPr>
          <p:cNvPr id="13" name="Text 11"/>
          <p:cNvSpPr txBox="1"/>
          <p:nvPr/>
        </p:nvSpPr>
        <p:spPr>
          <a:xfrm>
            <a:off x="1481328" y="3172968"/>
            <a:ext cx="4114800" cy="27432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strong TM-TM exchange</a:t>
            </a:r>
            <a:endParaRPr lang="en-US" sz="1200" dirty="0"/>
          </a:p>
        </p:txBody>
      </p:sp>
      <p:sp>
        <p:nvSpPr>
          <p:cNvPr id="14" name="Shape 12"/>
          <p:cNvSpPr/>
          <p:nvPr/>
        </p:nvSpPr>
        <p:spPr>
          <a:xfrm>
            <a:off x="932688" y="3721608"/>
            <a:ext cx="384048" cy="384048"/>
          </a:xfrm>
          <a:prstGeom prst="ellipse">
            <a:avLst/>
          </a:prstGeom>
          <a:solidFill>
            <a:srgbClr val="2E86AB"/>
          </a:solidFill>
          <a:ln/>
        </p:spPr>
      </p:sp>
      <p:sp>
        <p:nvSpPr>
          <p:cNvPr id="15" name="Text 13"/>
          <p:cNvSpPr txBox="1"/>
          <p:nvPr/>
        </p:nvSpPr>
        <p:spPr>
          <a:xfrm>
            <a:off x="932688"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481328" y="3703320"/>
            <a:ext cx="4114800" cy="274320"/>
          </a:xfrm>
          <a:prstGeom prst="rect">
            <a:avLst/>
          </a:prstGeom>
          <a:noFill/>
          <a:ln/>
        </p:spPr>
        <p:txBody>
          <a:bodyPr wrap="square" lIns="0" tIns="0" rIns="0" bIns="0" rtlCol="0" anchor="ctr"/>
          <a:lstStyle/>
          <a:p>
            <a:pPr indent="0" marL="0">
              <a:buNone/>
            </a:pPr>
            <a:r>
              <a:rPr lang="en-US" sz="1400" b="1" dirty="0">
                <a:solidFill>
                  <a:srgbClr val="1A2233"/>
                </a:solidFill>
                <a:latin typeface="Calibri" pitchFamily="34" charset="0"/>
                <a:ea typeface="Calibri" pitchFamily="34" charset="-122"/>
                <a:cs typeface="Calibri" pitchFamily="34" charset="-120"/>
              </a:rPr>
              <a:t>Uniaxial anisotropy</a:t>
            </a:r>
            <a:endParaRPr lang="en-US" sz="1400" dirty="0"/>
          </a:p>
        </p:txBody>
      </p:sp>
      <p:sp>
        <p:nvSpPr>
          <p:cNvPr id="17" name="Text 15"/>
          <p:cNvSpPr txBox="1"/>
          <p:nvPr/>
        </p:nvSpPr>
        <p:spPr>
          <a:xfrm>
            <a:off x="1481328" y="3959352"/>
            <a:ext cx="4114800" cy="27432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needs the RE 4f crystal field</a:t>
            </a:r>
            <a:endParaRPr lang="en-US" sz="1200" dirty="0"/>
          </a:p>
        </p:txBody>
      </p:sp>
      <p:sp>
        <p:nvSpPr>
          <p:cNvPr id="18" name="Shape 16"/>
          <p:cNvSpPr/>
          <p:nvPr/>
        </p:nvSpPr>
        <p:spPr>
          <a:xfrm>
            <a:off x="932688" y="4507992"/>
            <a:ext cx="384048" cy="384048"/>
          </a:xfrm>
          <a:prstGeom prst="ellipse">
            <a:avLst/>
          </a:prstGeom>
          <a:solidFill>
            <a:srgbClr val="2E86AB"/>
          </a:solidFill>
          <a:ln/>
        </p:spPr>
      </p:sp>
      <p:sp>
        <p:nvSpPr>
          <p:cNvPr id="19" name="Text 17"/>
          <p:cNvSpPr txBox="1"/>
          <p:nvPr/>
        </p:nvSpPr>
        <p:spPr>
          <a:xfrm>
            <a:off x="932688" y="45079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txBox="1"/>
          <p:nvPr/>
        </p:nvSpPr>
        <p:spPr>
          <a:xfrm>
            <a:off x="1481328" y="4489704"/>
            <a:ext cx="4114800" cy="274320"/>
          </a:xfrm>
          <a:prstGeom prst="rect">
            <a:avLst/>
          </a:prstGeom>
          <a:noFill/>
          <a:ln/>
        </p:spPr>
        <p:txBody>
          <a:bodyPr wrap="square" lIns="0" tIns="0" rIns="0" bIns="0" rtlCol="0" anchor="ctr"/>
          <a:lstStyle/>
          <a:p>
            <a:pPr indent="0" marL="0">
              <a:buNone/>
            </a:pPr>
            <a:r>
              <a:rPr lang="en-US" sz="1400" b="1" dirty="0">
                <a:solidFill>
                  <a:srgbClr val="1A2233"/>
                </a:solidFill>
                <a:latin typeface="Calibri" pitchFamily="34" charset="0"/>
                <a:ea typeface="Calibri" pitchFamily="34" charset="-122"/>
                <a:cs typeface="Calibri" pitchFamily="34" charset="-120"/>
              </a:rPr>
              <a:t>RE-lean, no critical elements</a:t>
            </a:r>
            <a:endParaRPr lang="en-US" sz="1400" dirty="0"/>
          </a:p>
        </p:txBody>
      </p:sp>
      <p:sp>
        <p:nvSpPr>
          <p:cNvPr id="21" name="Text 19"/>
          <p:cNvSpPr txBox="1"/>
          <p:nvPr/>
        </p:nvSpPr>
        <p:spPr>
          <a:xfrm>
            <a:off x="1481328" y="4745736"/>
            <a:ext cx="4114800" cy="27432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cost and supply</a:t>
            </a:r>
            <a:endParaRPr lang="en-US" sz="1200" dirty="0"/>
          </a:p>
        </p:txBody>
      </p:sp>
      <p:sp>
        <p:nvSpPr>
          <p:cNvPr id="22" name="Shape 20"/>
          <p:cNvSpPr/>
          <p:nvPr/>
        </p:nvSpPr>
        <p:spPr>
          <a:xfrm>
            <a:off x="6309360" y="1481328"/>
            <a:ext cx="5212080" cy="4069080"/>
          </a:xfrm>
          <a:prstGeom prst="roundRect">
            <a:avLst>
              <a:gd name="adj" fmla="val 1798"/>
            </a:avLst>
          </a:prstGeom>
          <a:solidFill>
            <a:srgbClr val="1B2A4A"/>
          </a:solidFill>
          <a:ln/>
        </p:spPr>
      </p:sp>
      <p:sp>
        <p:nvSpPr>
          <p:cNvPr id="23" name="Text 21"/>
          <p:cNvSpPr txBox="1"/>
          <p:nvPr/>
        </p:nvSpPr>
        <p:spPr>
          <a:xfrm>
            <a:off x="6601968" y="1691640"/>
            <a:ext cx="4663440" cy="320040"/>
          </a:xfrm>
          <a:prstGeom prst="rect">
            <a:avLst/>
          </a:prstGeom>
          <a:noFill/>
          <a:ln/>
        </p:spPr>
        <p:txBody>
          <a:bodyPr wrap="square" lIns="0" tIns="0" rIns="0" bIns="0" rtlCol="0" anchor="ctr"/>
          <a:lstStyle/>
          <a:p>
            <a:pPr indent="0" marL="0">
              <a:buNone/>
            </a:pPr>
            <a:r>
              <a:rPr lang="en-US" sz="1500" b="1" dirty="0">
                <a:solidFill>
                  <a:srgbClr val="F2B134"/>
                </a:solidFill>
                <a:latin typeface="Calibri" pitchFamily="34" charset="0"/>
                <a:ea typeface="Calibri" pitchFamily="34" charset="-122"/>
                <a:cs typeface="Calibri" pitchFamily="34" charset="-120"/>
              </a:rPr>
              <a:t>The Campbell rule</a:t>
            </a:r>
            <a:endParaRPr lang="en-US" sz="1500" dirty="0"/>
          </a:p>
        </p:txBody>
      </p:sp>
      <p:sp>
        <p:nvSpPr>
          <p:cNvPr id="24" name="Text 22"/>
          <p:cNvSpPr txBox="1"/>
          <p:nvPr/>
        </p:nvSpPr>
        <p:spPr>
          <a:xfrm>
            <a:off x="6601968" y="2029968"/>
            <a:ext cx="4617720" cy="457200"/>
          </a:xfrm>
          <a:prstGeom prst="rect">
            <a:avLst/>
          </a:prstGeom>
          <a:noFill/>
          <a:ln/>
        </p:spPr>
        <p:txBody>
          <a:bodyPr wrap="square" lIns="0" tIns="0" rIns="0" bIns="0" rtlCol="0" anchor="ctr"/>
          <a:lstStyle/>
          <a:p>
            <a:pPr indent="0" marL="0">
              <a:buNone/>
            </a:pPr>
            <a:r>
              <a:rPr lang="en-US" sz="1250" dirty="0">
                <a:solidFill>
                  <a:srgbClr val="C6D2E4"/>
                </a:solidFill>
                <a:latin typeface="Calibri" pitchFamily="34" charset="0"/>
                <a:ea typeface="Calibri" pitchFamily="34" charset="-122"/>
                <a:cs typeface="Calibri" pitchFamily="34" charset="-120"/>
              </a:rPr>
              <a:t>In metallic RE-TM intermetallics the 4f spin couples to Fe through a fixed chain:</a:t>
            </a:r>
            <a:endParaRPr lang="en-US" sz="1250" dirty="0"/>
          </a:p>
        </p:txBody>
      </p:sp>
      <p:sp>
        <p:nvSpPr>
          <p:cNvPr id="25" name="Text 23"/>
          <p:cNvSpPr txBox="1"/>
          <p:nvPr/>
        </p:nvSpPr>
        <p:spPr>
          <a:xfrm>
            <a:off x="6601968" y="2542032"/>
            <a:ext cx="4617720" cy="658368"/>
          </a:xfrm>
          <a:prstGeom prst="rect">
            <a:avLst/>
          </a:prstGeom>
          <a:noFill/>
          <a:ln/>
        </p:spPr>
        <p:txBody>
          <a:bodyPr wrap="square" lIns="0" tIns="0" rIns="0" bIns="0" rtlCol="0" anchor="ctr"/>
          <a:lstStyle/>
          <a:p>
            <a:pPr indent="0" marL="0">
              <a:lnSpc>
                <a:spcPts val="2000"/>
              </a:lnSpc>
              <a:buNone/>
            </a:pPr>
            <a:r>
              <a:rPr lang="en-US" sz="1300" b="1" dirty="0">
                <a:solidFill>
                  <a:srgbClr val="FFFFFF"/>
                </a:solidFill>
                <a:latin typeface="Calibri" pitchFamily="34" charset="0"/>
                <a:ea typeface="Calibri" pitchFamily="34" charset="-122"/>
                <a:cs typeface="Calibri" pitchFamily="34" charset="-120"/>
              </a:rPr>
              <a:t>4f spin  ↔  own 5d   (parallel, on-site)</a:t>
            </a:r>
            <a:endParaRPr lang="en-US" sz="1300" dirty="0"/>
          </a:p>
          <a:p>
            <a:pPr indent="0" marL="0">
              <a:lnSpc>
                <a:spcPts val="2000"/>
              </a:lnSpc>
              <a:buNone/>
            </a:pPr>
            <a:r>
              <a:rPr lang="en-US" sz="1300" b="1" dirty="0">
                <a:solidFill>
                  <a:srgbClr val="FFFFFF"/>
                </a:solidFill>
                <a:latin typeface="Calibri" pitchFamily="34" charset="0"/>
                <a:ea typeface="Calibri" pitchFamily="34" charset="-122"/>
                <a:cs typeface="Calibri" pitchFamily="34" charset="-120"/>
              </a:rPr>
              <a:t>5d  ↔  Fe 3d   (ANTIparallel, between sites)</a:t>
            </a:r>
            <a:endParaRPr lang="en-US" sz="1300" dirty="0"/>
          </a:p>
        </p:txBody>
      </p:sp>
      <p:sp>
        <p:nvSpPr>
          <p:cNvPr id="26" name="Text 24"/>
          <p:cNvSpPr txBox="1"/>
          <p:nvPr/>
        </p:nvSpPr>
        <p:spPr>
          <a:xfrm>
            <a:off x="6601968" y="3346704"/>
            <a:ext cx="461772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Heavy RE (Gd–Tm): </a:t>
            </a:r>
            <a:pPr indent="0" marL="0">
              <a:buNone/>
            </a:pPr>
            <a:r>
              <a:rPr lang="en-US" sz="1250" dirty="0">
                <a:solidFill>
                  <a:srgbClr val="C6D2E4"/>
                </a:solidFill>
                <a:latin typeface="Calibri" pitchFamily="34" charset="0"/>
                <a:ea typeface="Calibri" pitchFamily="34" charset="-122"/>
                <a:cs typeface="Calibri" pitchFamily="34" charset="-120"/>
              </a:rPr>
              <a:t>J = L + S, so the total moment follows the spin → antiparallel to Fe → </a:t>
            </a:r>
            <a:pPr indent="0" marL="0">
              <a:buNone/>
            </a:pPr>
            <a:r>
              <a:rPr lang="en-US" sz="1250" b="1" dirty="0">
                <a:solidFill>
                  <a:srgbClr val="E4572E"/>
                </a:solidFill>
                <a:latin typeface="Calibri" pitchFamily="34" charset="0"/>
                <a:ea typeface="Calibri" pitchFamily="34" charset="-122"/>
                <a:cs typeface="Calibri" pitchFamily="34" charset="-120"/>
              </a:rPr>
              <a:t>ferrimagnet</a:t>
            </a:r>
            <a:endParaRPr lang="en-US" sz="1250" dirty="0"/>
          </a:p>
        </p:txBody>
      </p:sp>
      <p:sp>
        <p:nvSpPr>
          <p:cNvPr id="27" name="Text 25"/>
          <p:cNvSpPr txBox="1"/>
          <p:nvPr/>
        </p:nvSpPr>
        <p:spPr>
          <a:xfrm>
            <a:off x="6601968" y="3968496"/>
            <a:ext cx="461772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Light RE (Nd, Sm, Pr): </a:t>
            </a:r>
            <a:pPr indent="0" marL="0">
              <a:buNone/>
            </a:pPr>
            <a:r>
              <a:rPr lang="en-US" sz="1250" dirty="0">
                <a:solidFill>
                  <a:srgbClr val="C6D2E4"/>
                </a:solidFill>
                <a:latin typeface="Calibri" pitchFamily="34" charset="0"/>
                <a:ea typeface="Calibri" pitchFamily="34" charset="-122"/>
                <a:cs typeface="Calibri" pitchFamily="34" charset="-120"/>
              </a:rPr>
              <a:t>J = L − S, so the total moment opposes the spin → parallel to Fe → </a:t>
            </a:r>
            <a:pPr indent="0" marL="0">
              <a:buNone/>
            </a:pPr>
            <a:r>
              <a:rPr lang="en-US" sz="1250" b="1" dirty="0">
                <a:solidFill>
                  <a:srgbClr val="F2B134"/>
                </a:solidFill>
                <a:latin typeface="Calibri" pitchFamily="34" charset="0"/>
                <a:ea typeface="Calibri" pitchFamily="34" charset="-122"/>
                <a:cs typeface="Calibri" pitchFamily="34" charset="-120"/>
              </a:rPr>
              <a:t>ferromagnet</a:t>
            </a:r>
            <a:endParaRPr lang="en-US" sz="1250" dirty="0"/>
          </a:p>
        </p:txBody>
      </p:sp>
      <p:sp>
        <p:nvSpPr>
          <p:cNvPr id="28" name="Text 26"/>
          <p:cNvSpPr txBox="1"/>
          <p:nvPr/>
        </p:nvSpPr>
        <p:spPr>
          <a:xfrm>
            <a:off x="6601968" y="4709160"/>
            <a:ext cx="4617720" cy="658368"/>
          </a:xfrm>
          <a:prstGeom prst="rect">
            <a:avLst/>
          </a:prstGeom>
          <a:noFill/>
          <a:ln/>
        </p:spPr>
        <p:txBody>
          <a:bodyPr wrap="square" lIns="0" tIns="0" rIns="0" bIns="0" rtlCol="0" anchor="ctr"/>
          <a:lstStyle/>
          <a:p>
            <a:pPr indent="0" marL="0">
              <a:buNone/>
            </a:pPr>
            <a:r>
              <a:rPr lang="en-US" sz="1200" i="1" dirty="0">
                <a:solidFill>
                  <a:srgbClr val="F2B134"/>
                </a:solidFill>
                <a:latin typeface="Calibri" pitchFamily="34" charset="0"/>
                <a:ea typeface="Calibri" pitchFamily="34" charset="-122"/>
                <a:cs typeface="Calibri" pitchFamily="34" charset="-120"/>
              </a:rPr>
              <a:t>Consequence: a genuinely ferromagnetic Fe-HREE phase is the exception, not the target to assume. The screen must test it, not presume it.</a:t>
            </a:r>
            <a:endParaRPr lang="en-US" sz="1200" dirty="0"/>
          </a:p>
        </p:txBody>
      </p:sp>
      <p:sp>
        <p:nvSpPr>
          <p:cNvPr id="29" name="Shape 27"/>
          <p:cNvSpPr/>
          <p:nvPr/>
        </p:nvSpPr>
        <p:spPr>
          <a:xfrm>
            <a:off x="640080" y="5577840"/>
            <a:ext cx="10881360" cy="566928"/>
          </a:xfrm>
          <a:prstGeom prst="roundRect">
            <a:avLst>
              <a:gd name="adj" fmla="val 12903"/>
            </a:avLst>
          </a:prstGeom>
          <a:solidFill>
            <a:srgbClr val="1B2A4A"/>
          </a:solidFill>
          <a:ln/>
        </p:spPr>
      </p:sp>
      <p:sp>
        <p:nvSpPr>
          <p:cNvPr id="30" name="Text 28"/>
          <p:cNvSpPr txBox="1"/>
          <p:nvPr/>
        </p:nvSpPr>
        <p:spPr>
          <a:xfrm>
            <a:off x="868680" y="5577840"/>
            <a:ext cx="10424160" cy="566928"/>
          </a:xfrm>
          <a:prstGeom prst="rect">
            <a:avLst/>
          </a:prstGeom>
          <a:noFill/>
          <a:ln/>
        </p:spPr>
        <p:txBody>
          <a:bodyPr wrap="square" lIns="0" tIns="0" rIns="0" bIns="0" rtlCol="0" anchor="ctr"/>
          <a:lstStyle/>
          <a:p>
            <a:pPr indent="0" marL="0">
              <a:buNone/>
            </a:pPr>
            <a:r>
              <a:rPr lang="en-US" sz="1100" b="1" dirty="0">
                <a:solidFill>
                  <a:srgbClr val="F2B134"/>
                </a:solidFill>
                <a:latin typeface="Calibri" pitchFamily="34" charset="0"/>
                <a:ea typeface="Calibri" pitchFamily="34" charset="-122"/>
                <a:cs typeface="Calibri" pitchFamily="34" charset="-120"/>
              </a:rPr>
              <a:t>Outcome of the campaign: tested on 180 credible Fe/Co-Gd compounds - 180 ferrimagnets, 0 ferromagnets. The rule held everywhere; what varied, by 10x, was its strength.</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SCREEN DEFINITION</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Search criteria</a:t>
            </a:r>
            <a:endParaRPr lang="en-US" sz="3200" dirty="0"/>
          </a:p>
        </p:txBody>
      </p:sp>
      <p:sp>
        <p:nvSpPr>
          <p:cNvPr id="4" name="Shape 2"/>
          <p:cNvSpPr/>
          <p:nvPr/>
        </p:nvSpPr>
        <p:spPr>
          <a:xfrm>
            <a:off x="640080" y="1572768"/>
            <a:ext cx="5257800" cy="1143000"/>
          </a:xfrm>
          <a:prstGeom prst="roundRect">
            <a:avLst>
              <a:gd name="adj" fmla="val 6400"/>
            </a:avLst>
          </a:prstGeom>
          <a:solidFill>
            <a:srgbClr val="EEF2F7"/>
          </a:solidFill>
          <a:ln/>
        </p:spPr>
      </p:sp>
      <p:sp>
        <p:nvSpPr>
          <p:cNvPr id="5" name="Shape 3"/>
          <p:cNvSpPr/>
          <p:nvPr/>
        </p:nvSpPr>
        <p:spPr>
          <a:xfrm>
            <a:off x="914400" y="1810512"/>
            <a:ext cx="384048" cy="384048"/>
          </a:xfrm>
          <a:prstGeom prst="ellipse">
            <a:avLst/>
          </a:prstGeom>
          <a:solidFill>
            <a:srgbClr val="2E86AB"/>
          </a:solidFill>
          <a:ln/>
        </p:spPr>
      </p:sp>
      <p:sp>
        <p:nvSpPr>
          <p:cNvPr id="6" name="Text 4"/>
          <p:cNvSpPr txBox="1"/>
          <p:nvPr/>
        </p:nvSpPr>
        <p:spPr>
          <a:xfrm>
            <a:off x="914400" y="1810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481328" y="1755648"/>
            <a:ext cx="4206240" cy="292608"/>
          </a:xfrm>
          <a:prstGeom prst="rect">
            <a:avLst/>
          </a:prstGeom>
          <a:noFill/>
          <a:ln/>
        </p:spPr>
        <p:txBody>
          <a:bodyPr wrap="square" lIns="0" tIns="0" rIns="0" bIns="0" rtlCol="0" anchor="ctr"/>
          <a:lstStyle/>
          <a:p>
            <a:pPr indent="0" marL="0">
              <a:buNone/>
            </a:pPr>
            <a:r>
              <a:rPr lang="en-US" sz="1450" b="1" dirty="0">
                <a:solidFill>
                  <a:srgbClr val="1A2233"/>
                </a:solidFill>
                <a:latin typeface="Calibri" pitchFamily="34" charset="0"/>
                <a:ea typeface="Calibri" pitchFamily="34" charset="-122"/>
                <a:cs typeface="Calibri" pitchFamily="34" charset="-120"/>
              </a:rPr>
              <a:t>Fe or Co ≥ 60 at.%</a:t>
            </a:r>
            <a:endParaRPr lang="en-US" sz="1450" dirty="0"/>
          </a:p>
        </p:txBody>
      </p:sp>
      <p:sp>
        <p:nvSpPr>
          <p:cNvPr id="8" name="Text 6"/>
          <p:cNvSpPr txBox="1"/>
          <p:nvPr/>
        </p:nvSpPr>
        <p:spPr>
          <a:xfrm>
            <a:off x="1481328" y="2075688"/>
            <a:ext cx="4251960" cy="54864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a dense 3d sublattice is the only route to &gt;2 T; dilute phases cannot reach it</a:t>
            </a:r>
            <a:endParaRPr lang="en-US" sz="1150" dirty="0"/>
          </a:p>
        </p:txBody>
      </p:sp>
      <p:sp>
        <p:nvSpPr>
          <p:cNvPr id="9" name="Shape 7"/>
          <p:cNvSpPr/>
          <p:nvPr/>
        </p:nvSpPr>
        <p:spPr>
          <a:xfrm>
            <a:off x="6355080" y="1572768"/>
            <a:ext cx="5257800" cy="1143000"/>
          </a:xfrm>
          <a:prstGeom prst="roundRect">
            <a:avLst>
              <a:gd name="adj" fmla="val 6400"/>
            </a:avLst>
          </a:prstGeom>
          <a:solidFill>
            <a:srgbClr val="EEF2F7"/>
          </a:solidFill>
          <a:ln/>
        </p:spPr>
      </p:sp>
      <p:sp>
        <p:nvSpPr>
          <p:cNvPr id="10" name="Shape 8"/>
          <p:cNvSpPr/>
          <p:nvPr/>
        </p:nvSpPr>
        <p:spPr>
          <a:xfrm>
            <a:off x="6629400" y="1810512"/>
            <a:ext cx="384048" cy="384048"/>
          </a:xfrm>
          <a:prstGeom prst="ellipse">
            <a:avLst/>
          </a:prstGeom>
          <a:solidFill>
            <a:srgbClr val="2E86AB"/>
          </a:solidFill>
          <a:ln/>
        </p:spPr>
      </p:sp>
      <p:sp>
        <p:nvSpPr>
          <p:cNvPr id="11" name="Text 9"/>
          <p:cNvSpPr txBox="1"/>
          <p:nvPr/>
        </p:nvSpPr>
        <p:spPr>
          <a:xfrm>
            <a:off x="6629400" y="1810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7196328" y="1755648"/>
            <a:ext cx="4206240" cy="292608"/>
          </a:xfrm>
          <a:prstGeom prst="rect">
            <a:avLst/>
          </a:prstGeom>
          <a:noFill/>
          <a:ln/>
        </p:spPr>
        <p:txBody>
          <a:bodyPr wrap="square" lIns="0" tIns="0" rIns="0" bIns="0" rtlCol="0" anchor="ctr"/>
          <a:lstStyle/>
          <a:p>
            <a:pPr indent="0" marL="0">
              <a:buNone/>
            </a:pPr>
            <a:r>
              <a:rPr lang="en-US" sz="1450" b="1" dirty="0">
                <a:solidFill>
                  <a:srgbClr val="1A2233"/>
                </a:solidFill>
                <a:latin typeface="Calibri" pitchFamily="34" charset="0"/>
                <a:ea typeface="Calibri" pitchFamily="34" charset="-122"/>
                <a:cs typeface="Calibri" pitchFamily="34" charset="-120"/>
              </a:rPr>
              <a:t>Contains one heavy RE</a:t>
            </a:r>
            <a:endParaRPr lang="en-US" sz="1450" dirty="0"/>
          </a:p>
        </p:txBody>
      </p:sp>
      <p:sp>
        <p:nvSpPr>
          <p:cNvPr id="13" name="Text 11"/>
          <p:cNvSpPr txBox="1"/>
          <p:nvPr/>
        </p:nvSpPr>
        <p:spPr>
          <a:xfrm>
            <a:off x="7196328" y="2075688"/>
            <a:ext cx="4251960" cy="54864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Gd, Tb, Dy, Ho, Er, Tm — the 4f source of anisotropy</a:t>
            </a:r>
            <a:endParaRPr lang="en-US" sz="1150" dirty="0"/>
          </a:p>
        </p:txBody>
      </p:sp>
      <p:sp>
        <p:nvSpPr>
          <p:cNvPr id="14" name="Shape 12"/>
          <p:cNvSpPr/>
          <p:nvPr/>
        </p:nvSpPr>
        <p:spPr>
          <a:xfrm>
            <a:off x="640080" y="2944368"/>
            <a:ext cx="5257800" cy="1143000"/>
          </a:xfrm>
          <a:prstGeom prst="roundRect">
            <a:avLst>
              <a:gd name="adj" fmla="val 6400"/>
            </a:avLst>
          </a:prstGeom>
          <a:solidFill>
            <a:srgbClr val="EEF2F7"/>
          </a:solidFill>
          <a:ln/>
        </p:spPr>
      </p:sp>
      <p:sp>
        <p:nvSpPr>
          <p:cNvPr id="15" name="Shape 13"/>
          <p:cNvSpPr/>
          <p:nvPr/>
        </p:nvSpPr>
        <p:spPr>
          <a:xfrm>
            <a:off x="914400" y="3182112"/>
            <a:ext cx="384048" cy="384048"/>
          </a:xfrm>
          <a:prstGeom prst="ellipse">
            <a:avLst/>
          </a:prstGeom>
          <a:solidFill>
            <a:srgbClr val="2E86AB"/>
          </a:solidFill>
          <a:ln/>
        </p:spPr>
      </p:sp>
      <p:sp>
        <p:nvSpPr>
          <p:cNvPr id="16" name="Text 14"/>
          <p:cNvSpPr txBox="1"/>
          <p:nvPr/>
        </p:nvSpPr>
        <p:spPr>
          <a:xfrm>
            <a:off x="914400" y="31821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481328" y="3127248"/>
            <a:ext cx="4206240" cy="292608"/>
          </a:xfrm>
          <a:prstGeom prst="rect">
            <a:avLst/>
          </a:prstGeom>
          <a:noFill/>
          <a:ln/>
        </p:spPr>
        <p:txBody>
          <a:bodyPr wrap="square" lIns="0" tIns="0" rIns="0" bIns="0" rtlCol="0" anchor="ctr"/>
          <a:lstStyle/>
          <a:p>
            <a:pPr indent="0" marL="0">
              <a:buNone/>
            </a:pPr>
            <a:r>
              <a:rPr lang="en-US" sz="1450" b="1" dirty="0">
                <a:solidFill>
                  <a:srgbClr val="1A2233"/>
                </a:solidFill>
                <a:latin typeface="Calibri" pitchFamily="34" charset="0"/>
                <a:ea typeface="Calibri" pitchFamily="34" charset="-122"/>
                <a:cs typeface="Calibri" pitchFamily="34" charset="-120"/>
              </a:rPr>
              <a:t>Ternary compositions</a:t>
            </a:r>
            <a:endParaRPr lang="en-US" sz="1450" dirty="0"/>
          </a:p>
        </p:txBody>
      </p:sp>
      <p:sp>
        <p:nvSpPr>
          <p:cNvPr id="18" name="Text 16"/>
          <p:cNvSpPr txBox="1"/>
          <p:nvPr/>
        </p:nvSpPr>
        <p:spPr>
          <a:xfrm>
            <a:off x="1481328" y="3447288"/>
            <a:ext cx="4251960" cy="54864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keeps the phase space synthesisable and the DFT tractable</a:t>
            </a:r>
            <a:endParaRPr lang="en-US" sz="1150" dirty="0"/>
          </a:p>
        </p:txBody>
      </p:sp>
      <p:sp>
        <p:nvSpPr>
          <p:cNvPr id="19" name="Shape 17"/>
          <p:cNvSpPr/>
          <p:nvPr/>
        </p:nvSpPr>
        <p:spPr>
          <a:xfrm>
            <a:off x="6355080" y="2944368"/>
            <a:ext cx="5257800" cy="1143000"/>
          </a:xfrm>
          <a:prstGeom prst="roundRect">
            <a:avLst>
              <a:gd name="adj" fmla="val 6400"/>
            </a:avLst>
          </a:prstGeom>
          <a:solidFill>
            <a:srgbClr val="EEF2F7"/>
          </a:solidFill>
          <a:ln/>
        </p:spPr>
      </p:sp>
      <p:sp>
        <p:nvSpPr>
          <p:cNvPr id="20" name="Shape 18"/>
          <p:cNvSpPr/>
          <p:nvPr/>
        </p:nvSpPr>
        <p:spPr>
          <a:xfrm>
            <a:off x="6629400" y="3182112"/>
            <a:ext cx="384048" cy="384048"/>
          </a:xfrm>
          <a:prstGeom prst="ellipse">
            <a:avLst/>
          </a:prstGeom>
          <a:solidFill>
            <a:srgbClr val="2E86AB"/>
          </a:solidFill>
          <a:ln/>
        </p:spPr>
      </p:sp>
      <p:sp>
        <p:nvSpPr>
          <p:cNvPr id="21" name="Text 19"/>
          <p:cNvSpPr txBox="1"/>
          <p:nvPr/>
        </p:nvSpPr>
        <p:spPr>
          <a:xfrm>
            <a:off x="6629400" y="31821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7196328" y="3127248"/>
            <a:ext cx="4206240" cy="292608"/>
          </a:xfrm>
          <a:prstGeom prst="rect">
            <a:avLst/>
          </a:prstGeom>
          <a:noFill/>
          <a:ln/>
        </p:spPr>
        <p:txBody>
          <a:bodyPr wrap="square" lIns="0" tIns="0" rIns="0" bIns="0" rtlCol="0" anchor="ctr"/>
          <a:lstStyle/>
          <a:p>
            <a:pPr indent="0" marL="0">
              <a:buNone/>
            </a:pPr>
            <a:r>
              <a:rPr lang="en-US" sz="1450" b="1" dirty="0">
                <a:solidFill>
                  <a:srgbClr val="1A2233"/>
                </a:solidFill>
                <a:latin typeface="Calibri" pitchFamily="34" charset="0"/>
                <a:ea typeface="Calibri" pitchFamily="34" charset="-122"/>
                <a:cs typeface="Calibri" pitchFamily="34" charset="-120"/>
              </a:rPr>
              <a:t>E above hull ≤ 0.2 eV/atom</a:t>
            </a:r>
            <a:endParaRPr lang="en-US" sz="1450" dirty="0"/>
          </a:p>
        </p:txBody>
      </p:sp>
      <p:sp>
        <p:nvSpPr>
          <p:cNvPr id="23" name="Text 21"/>
          <p:cNvSpPr txBox="1"/>
          <p:nvPr/>
        </p:nvSpPr>
        <p:spPr>
          <a:xfrm>
            <a:off x="7196328" y="3447288"/>
            <a:ext cx="4251960" cy="54864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on, below, or metastably above — many real magnets are metastable</a:t>
            </a:r>
            <a:endParaRPr lang="en-US" sz="1150" dirty="0"/>
          </a:p>
        </p:txBody>
      </p:sp>
      <p:sp>
        <p:nvSpPr>
          <p:cNvPr id="24" name="Shape 22"/>
          <p:cNvSpPr/>
          <p:nvPr/>
        </p:nvSpPr>
        <p:spPr>
          <a:xfrm>
            <a:off x="640080" y="4315968"/>
            <a:ext cx="5257800" cy="1143000"/>
          </a:xfrm>
          <a:prstGeom prst="roundRect">
            <a:avLst>
              <a:gd name="adj" fmla="val 6400"/>
            </a:avLst>
          </a:prstGeom>
          <a:solidFill>
            <a:srgbClr val="E6EEF6"/>
          </a:solidFill>
          <a:ln/>
        </p:spPr>
      </p:sp>
      <p:sp>
        <p:nvSpPr>
          <p:cNvPr id="25" name="Shape 23"/>
          <p:cNvSpPr/>
          <p:nvPr/>
        </p:nvSpPr>
        <p:spPr>
          <a:xfrm>
            <a:off x="914400" y="4553712"/>
            <a:ext cx="384048" cy="384048"/>
          </a:xfrm>
          <a:prstGeom prst="ellipse">
            <a:avLst/>
          </a:prstGeom>
          <a:solidFill>
            <a:srgbClr val="E4572E"/>
          </a:solidFill>
          <a:ln/>
        </p:spPr>
      </p:sp>
      <p:sp>
        <p:nvSpPr>
          <p:cNvPr id="26" name="Text 24"/>
          <p:cNvSpPr txBox="1"/>
          <p:nvPr/>
        </p:nvSpPr>
        <p:spPr>
          <a:xfrm>
            <a:off x="914400" y="45537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1481328" y="4498848"/>
            <a:ext cx="4206240" cy="292608"/>
          </a:xfrm>
          <a:prstGeom prst="rect">
            <a:avLst/>
          </a:prstGeom>
          <a:noFill/>
          <a:ln/>
        </p:spPr>
        <p:txBody>
          <a:bodyPr wrap="square" lIns="0" tIns="0" rIns="0" bIns="0" rtlCol="0" anchor="ctr"/>
          <a:lstStyle/>
          <a:p>
            <a:pPr indent="0" marL="0">
              <a:buNone/>
            </a:pPr>
            <a:r>
              <a:rPr lang="en-US" sz="1450" b="1" dirty="0">
                <a:solidFill>
                  <a:srgbClr val="1A2233"/>
                </a:solidFill>
                <a:latin typeface="Calibri" pitchFamily="34" charset="0"/>
                <a:ea typeface="Calibri" pitchFamily="34" charset="-122"/>
                <a:cs typeface="Calibri" pitchFamily="34" charset="-120"/>
              </a:rPr>
              <a:t>Magnetic, or unknown</a:t>
            </a:r>
            <a:endParaRPr lang="en-US" sz="1450" dirty="0"/>
          </a:p>
        </p:txBody>
      </p:sp>
      <p:sp>
        <p:nvSpPr>
          <p:cNvPr id="28" name="Text 26"/>
          <p:cNvSpPr txBox="1"/>
          <p:nvPr/>
        </p:nvSpPr>
        <p:spPr>
          <a:xfrm>
            <a:off x="1481328" y="4818888"/>
            <a:ext cx="4251960" cy="54864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moment &gt; 0.3 μᴮ/atom; 'no data' is kept, not discarded</a:t>
            </a:r>
            <a:endParaRPr lang="en-US" sz="1150" dirty="0"/>
          </a:p>
        </p:txBody>
      </p:sp>
      <p:sp>
        <p:nvSpPr>
          <p:cNvPr id="29" name="Shape 27"/>
          <p:cNvSpPr/>
          <p:nvPr/>
        </p:nvSpPr>
        <p:spPr>
          <a:xfrm>
            <a:off x="6355080" y="4315968"/>
            <a:ext cx="5257800" cy="1143000"/>
          </a:xfrm>
          <a:prstGeom prst="roundRect">
            <a:avLst>
              <a:gd name="adj" fmla="val 6400"/>
            </a:avLst>
          </a:prstGeom>
          <a:solidFill>
            <a:srgbClr val="E6EEF6"/>
          </a:solidFill>
          <a:ln/>
        </p:spPr>
      </p:sp>
      <p:sp>
        <p:nvSpPr>
          <p:cNvPr id="30" name="Shape 28"/>
          <p:cNvSpPr/>
          <p:nvPr/>
        </p:nvSpPr>
        <p:spPr>
          <a:xfrm>
            <a:off x="6629400" y="4553712"/>
            <a:ext cx="384048" cy="384048"/>
          </a:xfrm>
          <a:prstGeom prst="ellipse">
            <a:avLst/>
          </a:prstGeom>
          <a:solidFill>
            <a:srgbClr val="E4572E"/>
          </a:solidFill>
          <a:ln/>
        </p:spPr>
      </p:sp>
      <p:sp>
        <p:nvSpPr>
          <p:cNvPr id="31" name="Text 29"/>
          <p:cNvSpPr txBox="1"/>
          <p:nvPr/>
        </p:nvSpPr>
        <p:spPr>
          <a:xfrm>
            <a:off x="6629400" y="45537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txBox="1"/>
          <p:nvPr/>
        </p:nvSpPr>
        <p:spPr>
          <a:xfrm>
            <a:off x="7196328" y="4498848"/>
            <a:ext cx="4206240" cy="292608"/>
          </a:xfrm>
          <a:prstGeom prst="rect">
            <a:avLst/>
          </a:prstGeom>
          <a:noFill/>
          <a:ln/>
        </p:spPr>
        <p:txBody>
          <a:bodyPr wrap="square" lIns="0" tIns="0" rIns="0" bIns="0" rtlCol="0" anchor="ctr"/>
          <a:lstStyle/>
          <a:p>
            <a:pPr indent="0" marL="0">
              <a:buNone/>
            </a:pPr>
            <a:r>
              <a:rPr lang="en-US" sz="1450" b="1" dirty="0">
                <a:solidFill>
                  <a:srgbClr val="1A2233"/>
                </a:solidFill>
                <a:latin typeface="Calibri" pitchFamily="34" charset="0"/>
                <a:ea typeface="Calibri" pitchFamily="34" charset="-122"/>
                <a:cs typeface="Calibri" pitchFamily="34" charset="-120"/>
              </a:rPr>
              <a:t>Ordering decided by us</a:t>
            </a:r>
            <a:endParaRPr lang="en-US" sz="1450" dirty="0"/>
          </a:p>
        </p:txBody>
      </p:sp>
      <p:sp>
        <p:nvSpPr>
          <p:cNvPr id="33" name="Text 31"/>
          <p:cNvSpPr txBox="1"/>
          <p:nvPr/>
        </p:nvSpPr>
        <p:spPr>
          <a:xfrm>
            <a:off x="7196328" y="4818888"/>
            <a:ext cx="4251960" cy="54864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no database can answer FM vs ferri — that is the calculation</a:t>
            </a:r>
            <a:endParaRPr lang="en-US" sz="1150" dirty="0"/>
          </a:p>
        </p:txBody>
      </p:sp>
      <p:sp>
        <p:nvSpPr>
          <p:cNvPr id="34" name="Text 32"/>
          <p:cNvSpPr txBox="1"/>
          <p:nvPr/>
        </p:nvSpPr>
        <p:spPr>
          <a:xfrm>
            <a:off x="640080" y="5870448"/>
            <a:ext cx="10881360" cy="365760"/>
          </a:xfrm>
          <a:prstGeom prst="rect">
            <a:avLst/>
          </a:prstGeom>
          <a:noFill/>
          <a:ln/>
        </p:spPr>
        <p:txBody>
          <a:bodyPr wrap="square" lIns="0" tIns="0" rIns="0" bIns="0" rtlCol="0" anchor="ctr"/>
          <a:lstStyle/>
          <a:p>
            <a:pPr indent="0" marL="0">
              <a:buNone/>
            </a:pPr>
            <a:r>
              <a:rPr lang="en-US" sz="1200" i="1" dirty="0">
                <a:solidFill>
                  <a:srgbClr val="E4572E"/>
                </a:solidFill>
                <a:latin typeface="Calibri" pitchFamily="34" charset="0"/>
                <a:ea typeface="Calibri" pitchFamily="34" charset="-122"/>
                <a:cs typeface="Calibri" pitchFamily="34" charset="-120"/>
              </a:rPr>
              <a:t>Criteria 5 and 6 are deliberately permissive: an unlabelled compound is a candidate, not a rejection.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WHERE WE LOOKED</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What each database can and cannot answer</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536192"/>
          <a:ext cx="10881360" cy="914400"/>
        </p:xfrm>
        <a:graphic>
          <a:graphicData uri="http://schemas.openxmlformats.org/drawingml/2006/table">
            <a:tbl>
              <a:tblPr/>
              <a:tblGrid>
                <a:gridCol w="2286000"/>
                <a:gridCol w="868680"/>
                <a:gridCol w="3291840"/>
                <a:gridCol w="4434840"/>
              </a:tblGrid>
              <a:tr h="384048">
                <a:tc>
                  <a:txBody>
                    <a:bodyPr/>
                    <a:lstStyle/>
                    <a:p>
                      <a:pPr indent="0" marL="0">
                        <a:buNone/>
                      </a:pPr>
                      <a:r>
                        <a:rPr lang="en-US" sz="1200" b="1" dirty="0">
                          <a:solidFill>
                            <a:srgbClr val="1A2233"/>
                          </a:solidFill>
                          <a:latin typeface="Calibri" pitchFamily="34" charset="0"/>
                          <a:ea typeface="Calibri" pitchFamily="34" charset="-122"/>
                          <a:cs typeface="Calibri" pitchFamily="34" charset="-120"/>
                        </a:rPr>
                        <a:t>Database</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b="1" dirty="0">
                          <a:solidFill>
                            <a:srgbClr val="1A2233"/>
                          </a:solidFill>
                          <a:latin typeface="Calibri" pitchFamily="34" charset="0"/>
                          <a:ea typeface="Calibri" pitchFamily="34" charset="-122"/>
                          <a:cs typeface="Calibri" pitchFamily="34" charset="-120"/>
                        </a:rPr>
                        <a:t>Hits</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b="1" dirty="0">
                          <a:solidFill>
                            <a:srgbClr val="1A2233"/>
                          </a:solidFill>
                          <a:latin typeface="Calibri" pitchFamily="34" charset="0"/>
                          <a:ea typeface="Calibri" pitchFamily="34" charset="-122"/>
                          <a:cs typeface="Calibri" pitchFamily="34" charset="-120"/>
                        </a:rPr>
                        <a:t>Filters natively</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b="1" dirty="0">
                          <a:solidFill>
                            <a:srgbClr val="1A2233"/>
                          </a:solidFill>
                          <a:latin typeface="Calibri" pitchFamily="34" charset="0"/>
                          <a:ea typeface="Calibri" pitchFamily="34" charset="-122"/>
                          <a:cs typeface="Calibri" pitchFamily="34" charset="-120"/>
                        </a:rPr>
                        <a:t>Key limitation</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GNoME</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749</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composition, stability</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no magnetic data at all; on-hull set only</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Materials Project</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178</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ordering label, hull, moment</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FM-initialised label; 4f frozen in core</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OQMD</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283</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hull, composition</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moments not exposed; structures via slow API</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Alexandria</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73</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elements, nelements</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moments response-only; server outages</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AFLOW</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spin per atom, species</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no hull distance; thin RE-TM ternary coverage</a:t>
                      </a:r>
                      <a:endParaRPr lang="en-US" sz="120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4251960"/>
            <a:ext cx="10881360" cy="1417320"/>
          </a:xfrm>
          <a:prstGeom prst="roundRect">
            <a:avLst>
              <a:gd name="adj" fmla="val 5161"/>
            </a:avLst>
          </a:prstGeom>
          <a:solidFill>
            <a:srgbClr val="1B2A4A"/>
          </a:solidFill>
          <a:ln/>
        </p:spPr>
      </p:sp>
      <p:sp>
        <p:nvSpPr>
          <p:cNvPr id="6" name="Text 3"/>
          <p:cNvSpPr txBox="1"/>
          <p:nvPr/>
        </p:nvSpPr>
        <p:spPr>
          <a:xfrm>
            <a:off x="960120" y="4434840"/>
            <a:ext cx="5486400" cy="274320"/>
          </a:xfrm>
          <a:prstGeom prst="rect">
            <a:avLst/>
          </a:prstGeom>
          <a:noFill/>
          <a:ln/>
        </p:spPr>
        <p:txBody>
          <a:bodyPr wrap="square" lIns="0" tIns="0" rIns="0" bIns="0" rtlCol="0" anchor="ctr"/>
          <a:lstStyle/>
          <a:p>
            <a:pPr indent="0" marL="0">
              <a:buNone/>
            </a:pPr>
            <a:r>
              <a:rPr lang="en-US" sz="1400" b="1" dirty="0">
                <a:solidFill>
                  <a:srgbClr val="F2B134"/>
                </a:solidFill>
                <a:latin typeface="Calibri" pitchFamily="34" charset="0"/>
                <a:ea typeface="Calibri" pitchFamily="34" charset="-122"/>
                <a:cs typeface="Calibri" pitchFamily="34" charset="-120"/>
              </a:rPr>
              <a:t>The limitation they share</a:t>
            </a:r>
            <a:endParaRPr lang="en-US" sz="1400" dirty="0"/>
          </a:p>
        </p:txBody>
      </p:sp>
      <p:sp>
        <p:nvSpPr>
          <p:cNvPr id="7" name="Text 4"/>
          <p:cNvSpPr txBox="1"/>
          <p:nvPr/>
        </p:nvSpPr>
        <p:spPr>
          <a:xfrm>
            <a:off x="960120" y="4754880"/>
            <a:ext cx="10241280" cy="822960"/>
          </a:xfrm>
          <a:prstGeom prst="rect">
            <a:avLst/>
          </a:prstGeom>
          <a:noFill/>
          <a:ln/>
        </p:spPr>
        <p:txBody>
          <a:bodyPr wrap="square" lIns="0" tIns="0" rIns="0" bIns="0" rtlCol="0" anchor="ctr"/>
          <a:lstStyle/>
          <a:p>
            <a:pPr indent="0" marL="0">
              <a:buNone/>
            </a:pPr>
            <a:r>
              <a:rPr lang="en-US" sz="1200" dirty="0">
                <a:solidFill>
                  <a:srgbClr val="C6D2E4"/>
                </a:solidFill>
                <a:latin typeface="Calibri" pitchFamily="34" charset="0"/>
                <a:ea typeface="Calibri" pitchFamily="34" charset="-122"/>
                <a:cs typeface="Calibri" pitchFamily="34" charset="-120"/>
              </a:rPr>
              <a:t>Every large database runs ONE spin-polarised calculation per structure, initialised ferromagnetically, with heavy-RE 4f frozen in the PAW core. So a “FM” label means “the Fe sublattice kept its moments” — never that the RE couples parallel. Nine FM-labelled Fe/Co-HREE candidates were found across all five databases; all nine contained Gd, the one heavy RE these codes treat explicitly.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THE SCARCE COMMODITY</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Datasets that actually contain anisotropy</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517904"/>
          <a:ext cx="10881360" cy="914400"/>
        </p:xfrm>
        <a:graphic>
          <a:graphicData uri="http://schemas.openxmlformats.org/drawingml/2006/table">
            <a:tbl>
              <a:tblPr/>
              <a:tblGrid>
                <a:gridCol w="2468880"/>
                <a:gridCol w="4114800"/>
                <a:gridCol w="4297680"/>
              </a:tblGrid>
              <a:tr h="365760">
                <a:tc>
                  <a:txBody>
                    <a:bodyPr/>
                    <a:lstStyle/>
                    <a:p>
                      <a:pPr indent="0" marL="0">
                        <a:buNone/>
                      </a:pPr>
                      <a:r>
                        <a:rPr lang="en-US" sz="1150" b="1" dirty="0">
                          <a:solidFill>
                            <a:srgbClr val="1A2233"/>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b="1" dirty="0">
                          <a:solidFill>
                            <a:srgbClr val="1A2233"/>
                          </a:solidFill>
                          <a:latin typeface="Calibri" pitchFamily="34" charset="0"/>
                          <a:ea typeface="Calibri" pitchFamily="34" charset="-122"/>
                          <a:cs typeface="Calibri" pitchFamily="34" charset="-120"/>
                        </a:rPr>
                        <a:t>What it uniquely has</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b="1" dirty="0">
                          <a:solidFill>
                            <a:srgbClr val="1A2233"/>
                          </a:solidFill>
                          <a:latin typeface="Calibri" pitchFamily="34" charset="0"/>
                          <a:ea typeface="Calibri" pitchFamily="34" charset="-122"/>
                          <a:cs typeface="Calibri" pitchFamily="34" charset="-120"/>
                        </a:rPr>
                        <a:t>Role in this campaign</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Novamag</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DFT K₁/MAE, exchange, Tc for RE-lean magnets</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train + validate the MAE surrogate; calibrate A₂⁰</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MAGNDATA</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~2,000 EXPERIMENTAL magnetic structures</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ground truth for the fm/ferri coupling sign</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C2DB</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systematic MAE + exchange (2D materials)</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benchmark an MAE model before trusting it in 3D</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Heusler set (Sanvito)</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~236k compositions, moments + est. Tc</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Tc training data; funnel-reporting template</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Nelson–Sanvito Tc</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~2,500 experimental Curie temperatures</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screen Tc before computing exchange constants</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NIMS MatNavi / MDR</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curated Nd-Fe-B and 1-12 experiment</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validation targets (registration required)</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4343400"/>
            <a:ext cx="6949440" cy="1417320"/>
          </a:xfrm>
          <a:prstGeom prst="roundRect">
            <a:avLst>
              <a:gd name="adj" fmla="val 5161"/>
            </a:avLst>
          </a:prstGeom>
          <a:solidFill>
            <a:srgbClr val="1B2A4A"/>
          </a:solidFill>
          <a:ln/>
        </p:spPr>
      </p:sp>
      <p:sp>
        <p:nvSpPr>
          <p:cNvPr id="6" name="Text 3"/>
          <p:cNvSpPr txBox="1"/>
          <p:nvPr/>
        </p:nvSpPr>
        <p:spPr>
          <a:xfrm>
            <a:off x="932688" y="4507992"/>
            <a:ext cx="6400800" cy="274320"/>
          </a:xfrm>
          <a:prstGeom prst="rect">
            <a:avLst/>
          </a:prstGeom>
          <a:noFill/>
          <a:ln/>
        </p:spPr>
        <p:txBody>
          <a:bodyPr wrap="square" lIns="0" tIns="0" rIns="0" bIns="0" rtlCol="0" anchor="ctr"/>
          <a:lstStyle/>
          <a:p>
            <a:pPr indent="0" marL="0">
              <a:buNone/>
            </a:pPr>
            <a:r>
              <a:rPr lang="en-US" sz="1400" b="1" dirty="0">
                <a:solidFill>
                  <a:srgbClr val="F2B134"/>
                </a:solidFill>
                <a:latin typeface="Calibri" pitchFamily="34" charset="0"/>
                <a:ea typeface="Calibri" pitchFamily="34" charset="-122"/>
                <a:cs typeface="Calibri" pitchFamily="34" charset="-120"/>
              </a:rPr>
              <a:t>Why these are worth more per entry</a:t>
            </a:r>
            <a:endParaRPr lang="en-US" sz="1400" dirty="0"/>
          </a:p>
        </p:txBody>
      </p:sp>
      <p:sp>
        <p:nvSpPr>
          <p:cNvPr id="7" name="Text 4"/>
          <p:cNvSpPr txBox="1"/>
          <p:nvPr/>
        </p:nvSpPr>
        <p:spPr>
          <a:xfrm>
            <a:off x="932688" y="4828032"/>
            <a:ext cx="6400800" cy="822960"/>
          </a:xfrm>
          <a:prstGeom prst="rect">
            <a:avLst/>
          </a:prstGeom>
          <a:noFill/>
          <a:ln/>
        </p:spPr>
        <p:txBody>
          <a:bodyPr wrap="square" lIns="0" tIns="0" rIns="0" bIns="0" rtlCol="0" anchor="ctr"/>
          <a:lstStyle/>
          <a:p>
            <a:pPr indent="0" marL="0">
              <a:buNone/>
            </a:pPr>
            <a:r>
              <a:rPr lang="en-US" sz="1150" dirty="0">
                <a:solidFill>
                  <a:srgbClr val="C6D2E4"/>
                </a:solidFill>
                <a:latin typeface="Calibri" pitchFamily="34" charset="0"/>
                <a:ea typeface="Calibri" pitchFamily="34" charset="-122"/>
                <a:cs typeface="Calibri" pitchFamily="34" charset="-120"/>
              </a:rPr>
              <a:t>The five large databases we screened carry composition, stability and a moment. None carries MAE, exchange constants or Tc at scale — the quantities a permanent magnet is actually judged on. Novamag is the only open source of systematic anisotropy, which is what makes an MAE surrogate trainable at all.</a:t>
            </a:r>
            <a:endParaRPr lang="en-US" sz="1150" dirty="0"/>
          </a:p>
        </p:txBody>
      </p:sp>
      <p:sp>
        <p:nvSpPr>
          <p:cNvPr id="8" name="Shape 5"/>
          <p:cNvSpPr/>
          <p:nvPr/>
        </p:nvSpPr>
        <p:spPr>
          <a:xfrm>
            <a:off x="7818120" y="4343400"/>
            <a:ext cx="3703320" cy="1417320"/>
          </a:xfrm>
          <a:prstGeom prst="roundRect">
            <a:avLst>
              <a:gd name="adj" fmla="val 5161"/>
            </a:avLst>
          </a:prstGeom>
          <a:solidFill>
            <a:srgbClr val="FCEDE8"/>
          </a:solidFill>
          <a:ln/>
        </p:spPr>
      </p:sp>
      <p:sp>
        <p:nvSpPr>
          <p:cNvPr id="9" name="Text 6"/>
          <p:cNvSpPr txBox="1"/>
          <p:nvPr/>
        </p:nvSpPr>
        <p:spPr>
          <a:xfrm>
            <a:off x="8092440" y="4507992"/>
            <a:ext cx="3200400" cy="274320"/>
          </a:xfrm>
          <a:prstGeom prst="rect">
            <a:avLst/>
          </a:prstGeom>
          <a:noFill/>
          <a:ln/>
        </p:spPr>
        <p:txBody>
          <a:bodyPr wrap="square" lIns="0" tIns="0" rIns="0" bIns="0" rtlCol="0" anchor="ctr"/>
          <a:lstStyle/>
          <a:p>
            <a:pPr indent="0" marL="0">
              <a:buNone/>
            </a:pPr>
            <a:r>
              <a:rPr lang="en-US" sz="1350" b="1" dirty="0">
                <a:solidFill>
                  <a:srgbClr val="E4572E"/>
                </a:solidFill>
                <a:latin typeface="Calibri" pitchFamily="34" charset="0"/>
                <a:ea typeface="Calibri" pitchFamily="34" charset="-122"/>
                <a:cs typeface="Calibri" pitchFamily="34" charset="-120"/>
              </a:rPr>
              <a:t>Not open — do not plan around</a:t>
            </a:r>
            <a:endParaRPr lang="en-US" sz="1350" dirty="0"/>
          </a:p>
        </p:txBody>
      </p:sp>
      <p:sp>
        <p:nvSpPr>
          <p:cNvPr id="10" name="Text 7"/>
          <p:cNvSpPr txBox="1"/>
          <p:nvPr/>
        </p:nvSpPr>
        <p:spPr>
          <a:xfrm>
            <a:off x="8092440" y="4828032"/>
            <a:ext cx="3200400" cy="822960"/>
          </a:xfrm>
          <a:prstGeom prst="rect">
            <a:avLst/>
          </a:prstGeom>
          <a:noFill/>
          <a:ln/>
        </p:spPr>
        <p:txBody>
          <a:bodyPr wrap="square" lIns="0" tIns="0" rIns="0" bIns="0" rtlCol="0" anchor="ctr"/>
          <a:lstStyle/>
          <a:p>
            <a:pPr indent="0" marL="0">
              <a:buNone/>
            </a:pPr>
            <a:r>
              <a:rPr lang="en-US" sz="1100" dirty="0">
                <a:solidFill>
                  <a:srgbClr val="7A4034"/>
                </a:solidFill>
                <a:latin typeface="Calibri" pitchFamily="34" charset="0"/>
                <a:ea typeface="Calibri" pitchFamily="34" charset="-122"/>
                <a:cs typeface="Calibri" pitchFamily="34" charset="-120"/>
              </a:rPr>
              <a:t>MPDS / Pauling File and Springer Materials hold the deepest experimental magnet record, but neither is openly accessible.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FROM DATABASES TO CALCULATIONS</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Screening funnel</a:t>
            </a:r>
            <a:endParaRPr lang="en-US" sz="3200" dirty="0"/>
          </a:p>
        </p:txBody>
      </p:sp>
      <p:sp>
        <p:nvSpPr>
          <p:cNvPr id="4" name="Shape 2"/>
          <p:cNvSpPr/>
          <p:nvPr/>
        </p:nvSpPr>
        <p:spPr>
          <a:xfrm>
            <a:off x="640080" y="1554480"/>
            <a:ext cx="10881360" cy="658368"/>
          </a:xfrm>
          <a:prstGeom prst="roundRect">
            <a:avLst>
              <a:gd name="adj" fmla="val 8333"/>
            </a:avLst>
          </a:prstGeom>
          <a:solidFill>
            <a:srgbClr val="2E86AB"/>
          </a:solidFill>
          <a:ln/>
        </p:spPr>
      </p:sp>
      <p:sp>
        <p:nvSpPr>
          <p:cNvPr id="5" name="Text 3"/>
          <p:cNvSpPr txBox="1"/>
          <p:nvPr/>
        </p:nvSpPr>
        <p:spPr>
          <a:xfrm>
            <a:off x="896112" y="1554480"/>
            <a:ext cx="1920240" cy="65836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554,055</a:t>
            </a:r>
            <a:endParaRPr lang="en-US" sz="2200" dirty="0"/>
          </a:p>
        </p:txBody>
      </p:sp>
      <p:sp>
        <p:nvSpPr>
          <p:cNvPr id="6" name="Text 4"/>
          <p:cNvSpPr txBox="1"/>
          <p:nvPr/>
        </p:nvSpPr>
        <p:spPr>
          <a:xfrm>
            <a:off x="2880360" y="1554480"/>
            <a:ext cx="8503920" cy="65836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GNoME stable entries scanned</a:t>
            </a:r>
            <a:endParaRPr lang="en-US" sz="1300" dirty="0"/>
          </a:p>
        </p:txBody>
      </p:sp>
      <p:sp>
        <p:nvSpPr>
          <p:cNvPr id="7" name="Shape 5"/>
          <p:cNvSpPr/>
          <p:nvPr/>
        </p:nvSpPr>
        <p:spPr>
          <a:xfrm>
            <a:off x="640080" y="2395728"/>
            <a:ext cx="8778240" cy="658368"/>
          </a:xfrm>
          <a:prstGeom prst="roundRect">
            <a:avLst>
              <a:gd name="adj" fmla="val 8333"/>
            </a:avLst>
          </a:prstGeom>
          <a:solidFill>
            <a:srgbClr val="2E86AB"/>
          </a:solidFill>
          <a:ln/>
        </p:spPr>
      </p:sp>
      <p:sp>
        <p:nvSpPr>
          <p:cNvPr id="8" name="Text 6"/>
          <p:cNvSpPr txBox="1"/>
          <p:nvPr/>
        </p:nvSpPr>
        <p:spPr>
          <a:xfrm>
            <a:off x="896112" y="2395728"/>
            <a:ext cx="1920240" cy="65836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1,152</a:t>
            </a:r>
            <a:endParaRPr lang="en-US" sz="2200" dirty="0"/>
          </a:p>
        </p:txBody>
      </p:sp>
      <p:sp>
        <p:nvSpPr>
          <p:cNvPr id="9" name="Text 7"/>
          <p:cNvSpPr txBox="1"/>
          <p:nvPr/>
        </p:nvSpPr>
        <p:spPr>
          <a:xfrm>
            <a:off x="2880360" y="2395728"/>
            <a:ext cx="6400800" cy="65836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unique candidate formulas across 5 databases</a:t>
            </a:r>
            <a:endParaRPr lang="en-US" sz="1300" dirty="0"/>
          </a:p>
        </p:txBody>
      </p:sp>
      <p:sp>
        <p:nvSpPr>
          <p:cNvPr id="10" name="Shape 8"/>
          <p:cNvSpPr/>
          <p:nvPr/>
        </p:nvSpPr>
        <p:spPr>
          <a:xfrm>
            <a:off x="640080" y="3236976"/>
            <a:ext cx="6949440" cy="658368"/>
          </a:xfrm>
          <a:prstGeom prst="roundRect">
            <a:avLst>
              <a:gd name="adj" fmla="val 8333"/>
            </a:avLst>
          </a:prstGeom>
          <a:solidFill>
            <a:srgbClr val="3E7FA6"/>
          </a:solidFill>
          <a:ln/>
        </p:spPr>
      </p:sp>
      <p:sp>
        <p:nvSpPr>
          <p:cNvPr id="11" name="Text 9"/>
          <p:cNvSpPr txBox="1"/>
          <p:nvPr/>
        </p:nvSpPr>
        <p:spPr>
          <a:xfrm>
            <a:off x="896112" y="3236976"/>
            <a:ext cx="1920240" cy="65836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756</a:t>
            </a:r>
            <a:endParaRPr lang="en-US" sz="2200" dirty="0"/>
          </a:p>
        </p:txBody>
      </p:sp>
      <p:sp>
        <p:nvSpPr>
          <p:cNvPr id="12" name="Text 10"/>
          <p:cNvSpPr txBox="1"/>
          <p:nvPr/>
        </p:nvSpPr>
        <p:spPr>
          <a:xfrm>
            <a:off x="2880360" y="3236976"/>
            <a:ext cx="4572000" cy="65836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with retrievable crystal structures</a:t>
            </a:r>
            <a:endParaRPr lang="en-US" sz="1300" dirty="0"/>
          </a:p>
        </p:txBody>
      </p:sp>
      <p:sp>
        <p:nvSpPr>
          <p:cNvPr id="13" name="Shape 11"/>
          <p:cNvSpPr/>
          <p:nvPr/>
        </p:nvSpPr>
        <p:spPr>
          <a:xfrm>
            <a:off x="640080" y="4078224"/>
            <a:ext cx="5303520" cy="658368"/>
          </a:xfrm>
          <a:prstGeom prst="roundRect">
            <a:avLst>
              <a:gd name="adj" fmla="val 8333"/>
            </a:avLst>
          </a:prstGeom>
          <a:solidFill>
            <a:srgbClr val="E4572E"/>
          </a:solidFill>
          <a:ln/>
        </p:spPr>
      </p:sp>
      <p:sp>
        <p:nvSpPr>
          <p:cNvPr id="14" name="Text 12"/>
          <p:cNvSpPr txBox="1"/>
          <p:nvPr/>
        </p:nvSpPr>
        <p:spPr>
          <a:xfrm>
            <a:off x="896112" y="4078224"/>
            <a:ext cx="1920240" cy="65836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352</a:t>
            </a:r>
            <a:endParaRPr lang="en-US" sz="2200" dirty="0"/>
          </a:p>
        </p:txBody>
      </p:sp>
      <p:sp>
        <p:nvSpPr>
          <p:cNvPr id="15" name="Text 13"/>
          <p:cNvSpPr txBox="1"/>
          <p:nvPr/>
        </p:nvSpPr>
        <p:spPr>
          <a:xfrm>
            <a:off x="2880360" y="4078224"/>
            <a:ext cx="2926080" cy="65836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compounds staged for DFT (24 native Gd + 328 Gd surrogates)</a:t>
            </a:r>
            <a:endParaRPr lang="en-US" sz="1300" dirty="0"/>
          </a:p>
        </p:txBody>
      </p:sp>
      <p:sp>
        <p:nvSpPr>
          <p:cNvPr id="16" name="Shape 14"/>
          <p:cNvSpPr/>
          <p:nvPr/>
        </p:nvSpPr>
        <p:spPr>
          <a:xfrm>
            <a:off x="640080" y="4919472"/>
            <a:ext cx="3840480" cy="658368"/>
          </a:xfrm>
          <a:prstGeom prst="roundRect">
            <a:avLst>
              <a:gd name="adj" fmla="val 8333"/>
            </a:avLst>
          </a:prstGeom>
          <a:solidFill>
            <a:srgbClr val="E4572E"/>
          </a:solidFill>
          <a:ln/>
        </p:spPr>
      </p:sp>
      <p:sp>
        <p:nvSpPr>
          <p:cNvPr id="17" name="Text 15"/>
          <p:cNvSpPr txBox="1"/>
          <p:nvPr/>
        </p:nvSpPr>
        <p:spPr>
          <a:xfrm>
            <a:off x="896112" y="4919472"/>
            <a:ext cx="1920240" cy="65836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706</a:t>
            </a:r>
            <a:endParaRPr lang="en-US" sz="2200" dirty="0"/>
          </a:p>
        </p:txBody>
      </p:sp>
      <p:sp>
        <p:nvSpPr>
          <p:cNvPr id="18" name="Text 16"/>
          <p:cNvSpPr txBox="1"/>
          <p:nvPr/>
        </p:nvSpPr>
        <p:spPr>
          <a:xfrm>
            <a:off x="2880360" y="4919472"/>
            <a:ext cx="1463040" cy="65836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paired fm / ferri VASP calculations</a:t>
            </a:r>
            <a:endParaRPr lang="en-US" sz="1300" dirty="0"/>
          </a:p>
        </p:txBody>
      </p:sp>
      <p:sp>
        <p:nvSpPr>
          <p:cNvPr id="19" name="Text 17"/>
          <p:cNvSpPr txBox="1"/>
          <p:nvPr/>
        </p:nvSpPr>
        <p:spPr>
          <a:xfrm>
            <a:off x="8778240" y="4114800"/>
            <a:ext cx="2743200" cy="914400"/>
          </a:xfrm>
          <a:prstGeom prst="rect">
            <a:avLst/>
          </a:prstGeom>
          <a:noFill/>
          <a:ln/>
        </p:spPr>
        <p:txBody>
          <a:bodyPr wrap="square" lIns="0" tIns="0" rIns="0" bIns="0" rtlCol="0" anchor="ctr"/>
          <a:lstStyle/>
          <a:p>
            <a:pPr algn="r" indent="0" marL="0">
              <a:buNone/>
            </a:pPr>
            <a:r>
              <a:rPr lang="en-US" sz="1300" b="1" dirty="0">
                <a:solidFill>
                  <a:srgbClr val="E4572E"/>
                </a:solidFill>
                <a:latin typeface="Calibri" pitchFamily="34" charset="0"/>
                <a:ea typeface="Calibri" pitchFamily="34" charset="-122"/>
                <a:cs typeface="Calibri" pitchFamily="34" charset="-120"/>
              </a:rPr>
              <a:t>726 parent compounds</a:t>
            </a:r>
            <a:endParaRPr lang="en-US" sz="1300" dirty="0"/>
          </a:p>
          <a:p>
            <a:pPr algn="r" indent="0" marL="0">
              <a:buNone/>
            </a:pPr>
            <a:r>
              <a:rPr lang="en-US" sz="1300" b="1" dirty="0">
                <a:solidFill>
                  <a:srgbClr val="E4572E"/>
                </a:solidFill>
                <a:latin typeface="Calibri" pitchFamily="34" charset="0"/>
                <a:ea typeface="Calibri" pitchFamily="34" charset="-122"/>
                <a:cs typeface="Calibri" pitchFamily="34" charset="-120"/>
              </a:rPr>
              <a:t>collapse into 328</a:t>
            </a:r>
            <a:endParaRPr lang="en-US" sz="1300" dirty="0"/>
          </a:p>
          <a:p>
            <a:pPr algn="r" indent="0" marL="0">
              <a:buNone/>
            </a:pPr>
            <a:r>
              <a:rPr lang="en-US" sz="1300" b="1" dirty="0">
                <a:solidFill>
                  <a:srgbClr val="E4572E"/>
                </a:solidFill>
                <a:latin typeface="Calibri" pitchFamily="34" charset="0"/>
                <a:ea typeface="Calibri" pitchFamily="34" charset="-122"/>
                <a:cs typeface="Calibri" pitchFamily="34" charset="-120"/>
              </a:rPr>
              <a:t>surrogate calculations</a:t>
            </a:r>
            <a:endParaRPr lang="en-US" sz="1300" dirty="0"/>
          </a:p>
        </p:txBody>
      </p:sp>
      <p:sp>
        <p:nvSpPr>
          <p:cNvPr id="20" name="Text 18"/>
          <p:cNvSpPr txBox="1"/>
          <p:nvPr/>
        </p:nvSpPr>
        <p:spPr>
          <a:xfrm>
            <a:off x="8229600" y="5074920"/>
            <a:ext cx="3291840" cy="731520"/>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Deduplicated on (substituted formula, space group); coupling transfers back to each parent by de Gennes scaling.</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THE DECIDING CALCULATION</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Two configurations, one energy difference</a:t>
            </a:r>
            <a:endParaRPr lang="en-US" sz="3200" dirty="0"/>
          </a:p>
        </p:txBody>
      </p:sp>
      <p:sp>
        <p:nvSpPr>
          <p:cNvPr id="4" name="Shape 2"/>
          <p:cNvSpPr/>
          <p:nvPr/>
        </p:nvSpPr>
        <p:spPr>
          <a:xfrm>
            <a:off x="640080" y="1554480"/>
            <a:ext cx="3566160" cy="2286000"/>
          </a:xfrm>
          <a:prstGeom prst="roundRect">
            <a:avLst>
              <a:gd name="adj" fmla="val 3200"/>
            </a:avLst>
          </a:prstGeom>
          <a:solidFill>
            <a:srgbClr val="EEF2F7"/>
          </a:solidFill>
          <a:ln/>
        </p:spPr>
      </p:sp>
      <p:sp>
        <p:nvSpPr>
          <p:cNvPr id="5" name="Shape 3"/>
          <p:cNvSpPr/>
          <p:nvPr/>
        </p:nvSpPr>
        <p:spPr>
          <a:xfrm>
            <a:off x="914400" y="1783080"/>
            <a:ext cx="384048" cy="384048"/>
          </a:xfrm>
          <a:prstGeom prst="ellipse">
            <a:avLst/>
          </a:prstGeom>
          <a:solidFill>
            <a:srgbClr val="E4572E"/>
          </a:solidFill>
          <a:ln/>
        </p:spPr>
      </p:sp>
      <p:sp>
        <p:nvSpPr>
          <p:cNvPr id="6" name="Text 4"/>
          <p:cNvSpPr txBox="1"/>
          <p:nvPr/>
        </p:nvSpPr>
        <p:spPr>
          <a:xfrm>
            <a:off x="914400"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14400" y="2286000"/>
            <a:ext cx="3017520" cy="320040"/>
          </a:xfrm>
          <a:prstGeom prst="rect">
            <a:avLst/>
          </a:prstGeom>
          <a:noFill/>
          <a:ln/>
        </p:spPr>
        <p:txBody>
          <a:bodyPr wrap="square" lIns="0" tIns="0" rIns="0" bIns="0" rtlCol="0" anchor="ctr"/>
          <a:lstStyle/>
          <a:p>
            <a:pPr indent="0" marL="0">
              <a:buNone/>
            </a:pPr>
            <a:r>
              <a:rPr lang="en-US" sz="1450" b="1" dirty="0">
                <a:solidFill>
                  <a:srgbClr val="1A2233"/>
                </a:solidFill>
                <a:latin typeface="Calibri" pitchFamily="34" charset="0"/>
                <a:ea typeface="Calibri" pitchFamily="34" charset="-122"/>
                <a:cs typeface="Calibri" pitchFamily="34" charset="-120"/>
              </a:rPr>
              <a:t>Pair every structure</a:t>
            </a:r>
            <a:endParaRPr lang="en-US" sz="1450" dirty="0"/>
          </a:p>
        </p:txBody>
      </p:sp>
      <p:sp>
        <p:nvSpPr>
          <p:cNvPr id="8" name="Text 6"/>
          <p:cNvSpPr txBox="1"/>
          <p:nvPr/>
        </p:nvSpPr>
        <p:spPr>
          <a:xfrm>
            <a:off x="914400" y="2633472"/>
            <a:ext cx="3063240" cy="109728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Two collinear spin-polarised PBE+U runs, identical except the SIGN of the initial Gd moment: fm (+7 μᴮ) and ferri (−7 μᴮ).</a:t>
            </a:r>
            <a:endParaRPr lang="en-US" sz="1150" dirty="0"/>
          </a:p>
        </p:txBody>
      </p:sp>
      <p:sp>
        <p:nvSpPr>
          <p:cNvPr id="9" name="Text 7"/>
          <p:cNvSpPr txBox="1"/>
          <p:nvPr/>
        </p:nvSpPr>
        <p:spPr>
          <a:xfrm>
            <a:off x="4224528" y="2377440"/>
            <a:ext cx="274320" cy="365760"/>
          </a:xfrm>
          <a:prstGeom prst="rect">
            <a:avLst/>
          </a:prstGeom>
          <a:noFill/>
          <a:ln/>
        </p:spPr>
        <p:txBody>
          <a:bodyPr wrap="square" lIns="0" tIns="0" rIns="0" bIns="0" rtlCol="0" anchor="ctr"/>
          <a:lstStyle/>
          <a:p>
            <a:pPr algn="ctr" indent="0" marL="0">
              <a:buNone/>
            </a:pPr>
            <a:r>
              <a:rPr lang="en-US" sz="2000" b="1" dirty="0">
                <a:solidFill>
                  <a:srgbClr val="2E86AB"/>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4480560" y="1554480"/>
            <a:ext cx="3566160" cy="2286000"/>
          </a:xfrm>
          <a:prstGeom prst="roundRect">
            <a:avLst>
              <a:gd name="adj" fmla="val 3200"/>
            </a:avLst>
          </a:prstGeom>
          <a:solidFill>
            <a:srgbClr val="EEF2F7"/>
          </a:solidFill>
          <a:ln/>
        </p:spPr>
      </p:sp>
      <p:sp>
        <p:nvSpPr>
          <p:cNvPr id="11" name="Shape 9"/>
          <p:cNvSpPr/>
          <p:nvPr/>
        </p:nvSpPr>
        <p:spPr>
          <a:xfrm>
            <a:off x="4754880" y="1783080"/>
            <a:ext cx="384048" cy="384048"/>
          </a:xfrm>
          <a:prstGeom prst="ellipse">
            <a:avLst/>
          </a:prstGeom>
          <a:solidFill>
            <a:srgbClr val="E4572E"/>
          </a:solidFill>
          <a:ln/>
        </p:spPr>
      </p:sp>
      <p:sp>
        <p:nvSpPr>
          <p:cNvPr id="12" name="Text 10"/>
          <p:cNvSpPr txBox="1"/>
          <p:nvPr/>
        </p:nvSpPr>
        <p:spPr>
          <a:xfrm>
            <a:off x="4754880"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4754880" y="2286000"/>
            <a:ext cx="3017520" cy="320040"/>
          </a:xfrm>
          <a:prstGeom prst="rect">
            <a:avLst/>
          </a:prstGeom>
          <a:noFill/>
          <a:ln/>
        </p:spPr>
        <p:txBody>
          <a:bodyPr wrap="square" lIns="0" tIns="0" rIns="0" bIns="0" rtlCol="0" anchor="ctr"/>
          <a:lstStyle/>
          <a:p>
            <a:pPr indent="0" marL="0">
              <a:buNone/>
            </a:pPr>
            <a:r>
              <a:rPr lang="en-US" sz="1450" b="1" dirty="0">
                <a:solidFill>
                  <a:srgbClr val="1A2233"/>
                </a:solidFill>
                <a:latin typeface="Calibri" pitchFamily="34" charset="0"/>
                <a:ea typeface="Calibri" pitchFamily="34" charset="-122"/>
                <a:cs typeface="Calibri" pitchFamily="34" charset="-120"/>
              </a:rPr>
              <a:t>Read the sign of ΔE</a:t>
            </a:r>
            <a:endParaRPr lang="en-US" sz="1450" dirty="0"/>
          </a:p>
        </p:txBody>
      </p:sp>
      <p:sp>
        <p:nvSpPr>
          <p:cNvPr id="14" name="Text 12"/>
          <p:cNvSpPr txBox="1"/>
          <p:nvPr/>
        </p:nvSpPr>
        <p:spPr>
          <a:xfrm>
            <a:off x="4754880" y="2633472"/>
            <a:ext cx="3063240" cy="109728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ΔE = E(ferri) − E(fm).  Negative → ferrimagnetic ground state.  Positive → genuine FM RE-TM coupling.</a:t>
            </a:r>
            <a:endParaRPr lang="en-US" sz="1150" dirty="0"/>
          </a:p>
        </p:txBody>
      </p:sp>
      <p:sp>
        <p:nvSpPr>
          <p:cNvPr id="15" name="Text 13"/>
          <p:cNvSpPr txBox="1"/>
          <p:nvPr/>
        </p:nvSpPr>
        <p:spPr>
          <a:xfrm>
            <a:off x="8065008" y="2377440"/>
            <a:ext cx="274320" cy="365760"/>
          </a:xfrm>
          <a:prstGeom prst="rect">
            <a:avLst/>
          </a:prstGeom>
          <a:noFill/>
          <a:ln/>
        </p:spPr>
        <p:txBody>
          <a:bodyPr wrap="square" lIns="0" tIns="0" rIns="0" bIns="0" rtlCol="0" anchor="ctr"/>
          <a:lstStyle/>
          <a:p>
            <a:pPr algn="ctr" indent="0" marL="0">
              <a:buNone/>
            </a:pPr>
            <a:r>
              <a:rPr lang="en-US" sz="2000" b="1" dirty="0">
                <a:solidFill>
                  <a:srgbClr val="2E86AB"/>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8321040" y="1554480"/>
            <a:ext cx="3566160" cy="2286000"/>
          </a:xfrm>
          <a:prstGeom prst="roundRect">
            <a:avLst>
              <a:gd name="adj" fmla="val 3200"/>
            </a:avLst>
          </a:prstGeom>
          <a:solidFill>
            <a:srgbClr val="EEF2F7"/>
          </a:solidFill>
          <a:ln/>
        </p:spPr>
      </p:sp>
      <p:sp>
        <p:nvSpPr>
          <p:cNvPr id="17" name="Shape 15"/>
          <p:cNvSpPr/>
          <p:nvPr/>
        </p:nvSpPr>
        <p:spPr>
          <a:xfrm>
            <a:off x="8595360" y="1783080"/>
            <a:ext cx="384048" cy="384048"/>
          </a:xfrm>
          <a:prstGeom prst="ellipse">
            <a:avLst/>
          </a:prstGeom>
          <a:solidFill>
            <a:srgbClr val="E4572E"/>
          </a:solidFill>
          <a:ln/>
        </p:spPr>
      </p:sp>
      <p:sp>
        <p:nvSpPr>
          <p:cNvPr id="18" name="Text 16"/>
          <p:cNvSpPr txBox="1"/>
          <p:nvPr/>
        </p:nvSpPr>
        <p:spPr>
          <a:xfrm>
            <a:off x="8595360"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8595360" y="2286000"/>
            <a:ext cx="3017520" cy="320040"/>
          </a:xfrm>
          <a:prstGeom prst="rect">
            <a:avLst/>
          </a:prstGeom>
          <a:noFill/>
          <a:ln/>
        </p:spPr>
        <p:txBody>
          <a:bodyPr wrap="square" lIns="0" tIns="0" rIns="0" bIns="0" rtlCol="0" anchor="ctr"/>
          <a:lstStyle/>
          <a:p>
            <a:pPr indent="0" marL="0">
              <a:buNone/>
            </a:pPr>
            <a:r>
              <a:rPr lang="en-US" sz="1450" b="1" dirty="0">
                <a:solidFill>
                  <a:srgbClr val="1A2233"/>
                </a:solidFill>
                <a:latin typeface="Calibri" pitchFamily="34" charset="0"/>
                <a:ea typeface="Calibri" pitchFamily="34" charset="-122"/>
                <a:cs typeface="Calibri" pitchFamily="34" charset="-120"/>
              </a:rPr>
              <a:t>Transfer across the series</a:t>
            </a:r>
            <a:endParaRPr lang="en-US" sz="1450" dirty="0"/>
          </a:p>
        </p:txBody>
      </p:sp>
      <p:sp>
        <p:nvSpPr>
          <p:cNvPr id="20" name="Text 18"/>
          <p:cNvSpPr txBox="1"/>
          <p:nvPr/>
        </p:nvSpPr>
        <p:spPr>
          <a:xfrm>
            <a:off x="8595360" y="2633472"/>
            <a:ext cx="3063240" cy="109728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Tb–Tm ship as f-in-core potentials whose 4f cannot flip, so Gd is substituted onto every RE site and the result is carried back by de Gennes scaling, (gᴊ − 1)J.</a:t>
            </a:r>
            <a:endParaRPr lang="en-US" sz="1150" dirty="0"/>
          </a:p>
        </p:txBody>
      </p:sp>
      <p:sp>
        <p:nvSpPr>
          <p:cNvPr id="21" name="Shape 19"/>
          <p:cNvSpPr/>
          <p:nvPr/>
        </p:nvSpPr>
        <p:spPr>
          <a:xfrm>
            <a:off x="640080" y="4041648"/>
            <a:ext cx="10881360" cy="1691640"/>
          </a:xfrm>
          <a:prstGeom prst="roundRect">
            <a:avLst>
              <a:gd name="adj" fmla="val 4324"/>
            </a:avLst>
          </a:prstGeom>
          <a:solidFill>
            <a:srgbClr val="1B2A4A"/>
          </a:solidFill>
          <a:ln/>
        </p:spPr>
      </p:sp>
      <p:sp>
        <p:nvSpPr>
          <p:cNvPr id="22" name="Text 20"/>
          <p:cNvSpPr txBox="1"/>
          <p:nvPr/>
        </p:nvSpPr>
        <p:spPr>
          <a:xfrm>
            <a:off x="960120" y="4206240"/>
            <a:ext cx="4572000" cy="274320"/>
          </a:xfrm>
          <a:prstGeom prst="rect">
            <a:avLst/>
          </a:prstGeom>
          <a:noFill/>
          <a:ln/>
        </p:spPr>
        <p:txBody>
          <a:bodyPr wrap="square" lIns="0" tIns="0" rIns="0" bIns="0" rtlCol="0" anchor="ctr"/>
          <a:lstStyle/>
          <a:p>
            <a:pPr indent="0" marL="0">
              <a:buNone/>
            </a:pPr>
            <a:r>
              <a:rPr lang="en-US" sz="1400" b="1" dirty="0">
                <a:solidFill>
                  <a:srgbClr val="F2B134"/>
                </a:solidFill>
                <a:latin typeface="Calibri" pitchFamily="34" charset="0"/>
                <a:ea typeface="Calibri" pitchFamily="34" charset="-122"/>
                <a:cs typeface="Calibri" pitchFamily="34" charset="-120"/>
              </a:rPr>
              <a:t>Settings and controls</a:t>
            </a:r>
            <a:endParaRPr lang="en-US" sz="1400" dirty="0"/>
          </a:p>
        </p:txBody>
      </p:sp>
      <p:sp>
        <p:nvSpPr>
          <p:cNvPr id="23" name="Text 21"/>
          <p:cNvSpPr txBox="1"/>
          <p:nvPr/>
        </p:nvSpPr>
        <p:spPr>
          <a:xfrm>
            <a:off x="960120" y="4526280"/>
            <a:ext cx="1024128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PBE+U  </a:t>
            </a:r>
            <a:pPr indent="0" marL="0">
              <a:buNone/>
            </a:pPr>
            <a:r>
              <a:rPr lang="en-US" sz="1200" dirty="0">
                <a:solidFill>
                  <a:srgbClr val="C6D2E4"/>
                </a:solidFill>
                <a:latin typeface="Calibri" pitchFamily="34" charset="0"/>
                <a:ea typeface="Calibri" pitchFamily="34" charset="-122"/>
                <a:cs typeface="Calibri" pitchFamily="34" charset="-120"/>
              </a:rPr>
              <a:t>Gd 4f U = 6.7 / J = 0.7 eV (U_eff = 6)  ·  no U on metallic Fe  ·  LASPH, LMAXMIX = 6  ·  ENCUT 520  ·  8000 k-points·atom</a:t>
            </a:r>
            <a:endParaRPr lang="en-US" sz="1200" dirty="0"/>
          </a:p>
        </p:txBody>
      </p:sp>
      <p:sp>
        <p:nvSpPr>
          <p:cNvPr id="24" name="Text 22"/>
          <p:cNvSpPr txBox="1"/>
          <p:nvPr/>
        </p:nvSpPr>
        <p:spPr>
          <a:xfrm>
            <a:off x="960120" y="4919472"/>
            <a:ext cx="10241280" cy="7315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Guards  </a:t>
            </a:r>
            <a:pPr indent="0" marL="0">
              <a:buNone/>
            </a:pPr>
            <a:r>
              <a:rPr lang="en-US" sz="1200" dirty="0">
                <a:solidFill>
                  <a:srgbClr val="C6D2E4"/>
                </a:solidFill>
                <a:latin typeface="Calibri" pitchFamily="34" charset="0"/>
                <a:ea typeface="Calibri" pitchFamily="34" charset="-122"/>
                <a:cs typeface="Calibri" pitchFamily="34" charset="-120"/>
              </a:rPr>
              <a:t>statics on a common geometry so ΔE isolates exchange  ·  every run checked for SCF drift into the other spin state  ·  light RE pinned to f-in-core so only Gd carries a flippable 4f  ·  GdFe₂ (a known ferrimagnet) run as a protocol control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PILOT — 16 RUNS, 8 COMPOUNDS</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The protocol validates, and the database labels fall</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517904"/>
          <a:ext cx="10881360" cy="914400"/>
        </p:xfrm>
        <a:graphic>
          <a:graphicData uri="http://schemas.openxmlformats.org/drawingml/2006/table">
            <a:tbl>
              <a:tblPr/>
              <a:tblGrid>
                <a:gridCol w="2606040"/>
                <a:gridCol w="2103120"/>
                <a:gridCol w="2148840"/>
                <a:gridCol w="2148840"/>
                <a:gridCol w="1874520"/>
              </a:tblGrid>
              <a:tr h="301752">
                <a:tc>
                  <a:txBody>
                    <a:bodyPr/>
                    <a:lstStyle/>
                    <a:p>
                      <a:pPr indent="0" marL="0">
                        <a:buNone/>
                      </a:pPr>
                      <a:r>
                        <a:rPr lang="en-US" sz="1150" b="1" dirty="0">
                          <a:solidFill>
                            <a:srgbClr val="1A2233"/>
                          </a:solidFill>
                          <a:latin typeface="Calibri" pitchFamily="34" charset="0"/>
                          <a:ea typeface="Calibri" pitchFamily="34" charset="-122"/>
                          <a:cs typeface="Calibri" pitchFamily="34" charset="-120"/>
                        </a:rPr>
                        <a:t>Compound</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b="1" dirty="0">
                          <a:solidFill>
                            <a:srgbClr val="1A2233"/>
                          </a:solidFill>
                          <a:latin typeface="Calibri" pitchFamily="34" charset="0"/>
                          <a:ea typeface="Calibri" pitchFamily="34" charset="-122"/>
                          <a:cs typeface="Calibri" pitchFamily="34" charset="-120"/>
                        </a:rPr>
                        <a:t>Prototype</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b="1" dirty="0">
                          <a:solidFill>
                            <a:srgbClr val="1A2233"/>
                          </a:solidFill>
                          <a:latin typeface="Calibri" pitchFamily="34" charset="0"/>
                          <a:ea typeface="Calibri" pitchFamily="34" charset="-122"/>
                          <a:cs typeface="Calibri" pitchFamily="34" charset="-120"/>
                        </a:rPr>
                        <a:t>ΔE per Gd (meV)</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b="1" dirty="0">
                          <a:solidFill>
                            <a:srgbClr val="1A2233"/>
                          </a:solidFill>
                          <a:latin typeface="Calibri" pitchFamily="34" charset="0"/>
                          <a:ea typeface="Calibri" pitchFamily="34" charset="-122"/>
                          <a:cs typeface="Calibri" pitchFamily="34" charset="-120"/>
                        </a:rPr>
                        <a:t>Ground state</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b="1" dirty="0">
                          <a:solidFill>
                            <a:srgbClr val="1A2233"/>
                          </a:solidFill>
                          <a:latin typeface="Calibri" pitchFamily="34" charset="0"/>
                          <a:ea typeface="Calibri" pitchFamily="34" charset="-122"/>
                          <a:cs typeface="Calibri" pitchFamily="34" charset="-120"/>
                        </a:rPr>
                        <a:t>Net moment, ferri (μᴮ)</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GdFe₂  (control)</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Laves C15</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−352</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ferrimagnetic</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−6.98</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GdAlFe₄</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CaCu₅ RT₄X</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−277</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ferrimagnetic</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−0.03</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GdGaFe₄</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CaCu₅ RT₄X</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−284</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ferrimagnetic</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0.24</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GdCo₄Si</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CaCu₅ RT₄X</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−155</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ferrimagnetic</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−3.14</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GdFe₄B</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CaCu₅ RT₄X</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−521</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ferrimagnetic</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1.08</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GdCo₄B</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CaCu₅ RT₄X</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−263</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ferrimagnetic</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−6.78</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Gd₂Fe₃Co</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Laves C14</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−329</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ferrimagnetic</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−7.53</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Gd₂Fe₁₂Ga₅C₂</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new, C2/m</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−107</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ferrimagnetic</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8.53</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4892040"/>
            <a:ext cx="5532120" cy="1325880"/>
          </a:xfrm>
          <a:prstGeom prst="roundRect">
            <a:avLst>
              <a:gd name="adj" fmla="val 5517"/>
            </a:avLst>
          </a:prstGeom>
          <a:solidFill>
            <a:srgbClr val="EEF2F7"/>
          </a:solidFill>
          <a:ln/>
        </p:spPr>
      </p:sp>
      <p:sp>
        <p:nvSpPr>
          <p:cNvPr id="6" name="Text 3"/>
          <p:cNvSpPr txBox="1"/>
          <p:nvPr/>
        </p:nvSpPr>
        <p:spPr>
          <a:xfrm>
            <a:off x="914400" y="5047488"/>
            <a:ext cx="4937760" cy="274320"/>
          </a:xfrm>
          <a:prstGeom prst="rect">
            <a:avLst/>
          </a:prstGeom>
          <a:noFill/>
          <a:ln/>
        </p:spPr>
        <p:txBody>
          <a:bodyPr wrap="square" lIns="0" tIns="0" rIns="0" bIns="0" rtlCol="0" anchor="ctr"/>
          <a:lstStyle/>
          <a:p>
            <a:pPr indent="0" marL="0">
              <a:buNone/>
            </a:pPr>
            <a:r>
              <a:rPr lang="en-US" sz="1350" b="1" dirty="0">
                <a:solidFill>
                  <a:srgbClr val="2E86AB"/>
                </a:solidFill>
                <a:latin typeface="Calibri" pitchFamily="34" charset="0"/>
                <a:ea typeface="Calibri" pitchFamily="34" charset="-122"/>
                <a:cs typeface="Calibri" pitchFamily="34" charset="-120"/>
              </a:rPr>
              <a:t>Control passed</a:t>
            </a:r>
            <a:endParaRPr lang="en-US" sz="1350" dirty="0"/>
          </a:p>
        </p:txBody>
      </p:sp>
      <p:sp>
        <p:nvSpPr>
          <p:cNvPr id="7" name="Text 4"/>
          <p:cNvSpPr txBox="1"/>
          <p:nvPr/>
        </p:nvSpPr>
        <p:spPr>
          <a:xfrm>
            <a:off x="914400" y="5349240"/>
            <a:ext cx="4983480" cy="68580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GdFe₂ is experimentally a ferrimagnet and the protocol reproduces that by 352 meV/Gd — which is what licenses trusting the rest.</a:t>
            </a:r>
            <a:endParaRPr lang="en-US" sz="1150" dirty="0"/>
          </a:p>
        </p:txBody>
      </p:sp>
      <p:sp>
        <p:nvSpPr>
          <p:cNvPr id="8" name="Shape 5"/>
          <p:cNvSpPr/>
          <p:nvPr/>
        </p:nvSpPr>
        <p:spPr>
          <a:xfrm>
            <a:off x="6355080" y="4892040"/>
            <a:ext cx="5166360" cy="1325880"/>
          </a:xfrm>
          <a:prstGeom prst="roundRect">
            <a:avLst>
              <a:gd name="adj" fmla="val 5517"/>
            </a:avLst>
          </a:prstGeom>
          <a:solidFill>
            <a:srgbClr val="FCEDE8"/>
          </a:solidFill>
          <a:ln/>
        </p:spPr>
      </p:sp>
      <p:sp>
        <p:nvSpPr>
          <p:cNvPr id="9" name="Text 6"/>
          <p:cNvSpPr txBox="1"/>
          <p:nvPr/>
        </p:nvSpPr>
        <p:spPr>
          <a:xfrm>
            <a:off x="6629400" y="5047488"/>
            <a:ext cx="4663440" cy="274320"/>
          </a:xfrm>
          <a:prstGeom prst="rect">
            <a:avLst/>
          </a:prstGeom>
          <a:noFill/>
          <a:ln/>
        </p:spPr>
        <p:txBody>
          <a:bodyPr wrap="square" lIns="0" tIns="0" rIns="0" bIns="0" rtlCol="0" anchor="ctr"/>
          <a:lstStyle/>
          <a:p>
            <a:pPr indent="0" marL="0">
              <a:buNone/>
            </a:pPr>
            <a:r>
              <a:rPr lang="en-US" sz="1350" b="1" dirty="0">
                <a:solidFill>
                  <a:srgbClr val="E4572E"/>
                </a:solidFill>
                <a:latin typeface="Calibri" pitchFamily="34" charset="0"/>
                <a:ea typeface="Calibri" pitchFamily="34" charset="-122"/>
                <a:cs typeface="Calibri" pitchFamily="34" charset="-120"/>
              </a:rPr>
              <a:t>Database FM labels were artefacts</a:t>
            </a:r>
            <a:endParaRPr lang="en-US" sz="1350" dirty="0"/>
          </a:p>
        </p:txBody>
      </p:sp>
      <p:sp>
        <p:nvSpPr>
          <p:cNvPr id="10" name="Text 7"/>
          <p:cNvSpPr txBox="1"/>
          <p:nvPr/>
        </p:nvSpPr>
        <p:spPr>
          <a:xfrm>
            <a:off x="6629400" y="5349240"/>
            <a:ext cx="4663440" cy="777240"/>
          </a:xfrm>
          <a:prstGeom prst="rect">
            <a:avLst/>
          </a:prstGeom>
          <a:noFill/>
          <a:ln/>
        </p:spPr>
        <p:txBody>
          <a:bodyPr wrap="square" lIns="0" tIns="0" rIns="0" bIns="0" rtlCol="0" anchor="ctr"/>
          <a:lstStyle/>
          <a:p>
            <a:pPr indent="0" marL="0">
              <a:buNone/>
            </a:pPr>
            <a:r>
              <a:rPr lang="en-US" sz="1100" dirty="0">
                <a:solidFill>
                  <a:srgbClr val="7A4034"/>
                </a:solidFill>
                <a:latin typeface="Calibri" pitchFamily="34" charset="0"/>
                <a:ea typeface="Calibri" pitchFamily="34" charset="-122"/>
                <a:cs typeface="Calibri" pitchFamily="34" charset="-120"/>
              </a:rPr>
              <a:t>GdAlFe₄ and GdGaFe₄ (Alexandria) and GdCo₄Si (MP) were all FM-labelled. All three are ferrimagnetic by 155–284 meV/Gd — and the two RT₄X phases are almost fully compensated, so their true net moment is ≈ 0, not the ≈1.9 T the FM-initialised numbers implied.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SCALING THE SCREEN</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Why the fm/ferri energies had to be forced apart before they could be trusted</a:t>
            </a:r>
            <a:endParaRPr lang="en-US" sz="3200" dirty="0"/>
          </a:p>
        </p:txBody>
      </p:sp>
      <p:sp>
        <p:nvSpPr>
          <p:cNvPr id="4" name="Shape 2"/>
          <p:cNvSpPr/>
          <p:nvPr/>
        </p:nvSpPr>
        <p:spPr>
          <a:xfrm>
            <a:off x="640080" y="1463040"/>
            <a:ext cx="5577840" cy="3931920"/>
          </a:xfrm>
          <a:prstGeom prst="roundRect">
            <a:avLst>
              <a:gd name="adj" fmla="val 1860"/>
            </a:avLst>
          </a:prstGeom>
          <a:solidFill>
            <a:srgbClr val="1B2A4A"/>
          </a:solidFill>
          <a:ln/>
        </p:spPr>
      </p:sp>
      <p:sp>
        <p:nvSpPr>
          <p:cNvPr id="5" name="Text 3"/>
          <p:cNvSpPr txBox="1"/>
          <p:nvPr/>
        </p:nvSpPr>
        <p:spPr>
          <a:xfrm>
            <a:off x="914400" y="1664208"/>
            <a:ext cx="5029200" cy="274320"/>
          </a:xfrm>
          <a:prstGeom prst="rect">
            <a:avLst/>
          </a:prstGeom>
          <a:noFill/>
          <a:ln/>
        </p:spPr>
        <p:txBody>
          <a:bodyPr wrap="square" lIns="0" tIns="0" rIns="0" bIns="0" rtlCol="0" anchor="ctr"/>
          <a:lstStyle/>
          <a:p>
            <a:pPr indent="0" marL="0">
              <a:buNone/>
            </a:pPr>
            <a:r>
              <a:rPr lang="en-US" sz="1350" b="1" dirty="0">
                <a:solidFill>
                  <a:srgbClr val="F2B134"/>
                </a:solidFill>
                <a:latin typeface="Calibri" pitchFamily="34" charset="0"/>
                <a:ea typeface="Calibri" pitchFamily="34" charset="-122"/>
                <a:cs typeface="Calibri" pitchFamily="34" charset="-120"/>
              </a:rPr>
              <a:t>The problem: a plain SCF doesn't stay where you put it</a:t>
            </a:r>
            <a:endParaRPr lang="en-US" sz="1350" dirty="0"/>
          </a:p>
        </p:txBody>
      </p:sp>
      <p:sp>
        <p:nvSpPr>
          <p:cNvPr id="6" name="Text 4"/>
          <p:cNvSpPr txBox="1"/>
          <p:nvPr/>
        </p:nvSpPr>
        <p:spPr>
          <a:xfrm>
            <a:off x="914400" y="1975104"/>
            <a:ext cx="5029200" cy="960120"/>
          </a:xfrm>
          <a:prstGeom prst="rect">
            <a:avLst/>
          </a:prstGeom>
          <a:noFill/>
          <a:ln/>
        </p:spPr>
        <p:txBody>
          <a:bodyPr wrap="square" lIns="0" tIns="0" rIns="0" bIns="0" rtlCol="0" anchor="ctr"/>
          <a:lstStyle/>
          <a:p>
            <a:pPr indent="0" marL="0">
              <a:buNone/>
            </a:pPr>
            <a:r>
              <a:rPr lang="en-US" sz="1050" dirty="0">
                <a:solidFill>
                  <a:srgbClr val="C6D2E4"/>
                </a:solidFill>
                <a:latin typeface="Calibri" pitchFamily="34" charset="0"/>
                <a:ea typeface="Calibri" pitchFamily="34" charset="-122"/>
                <a:cs typeface="Calibri" pitchFamily="34" charset="-120"/>
              </a:rPr>
              <a:t>Each compound needs two static calculations - one initialised ferromagnetic, one ferrimagnetic - and the energy difference between them is the answer. At 353-compound scale, a plain unconstrained SCF too often drifts out of the state it was initialised in: LDA+U has several self-consistent solutions, and a simple collinear starting guess is not a strong enough anchor to hold either configuration in place through convergence.</a:t>
            </a:r>
            <a:endParaRPr lang="en-US" sz="1050" dirty="0"/>
          </a:p>
        </p:txBody>
      </p:sp>
      <p:sp>
        <p:nvSpPr>
          <p:cNvPr id="7" name="Text 5"/>
          <p:cNvSpPr txBox="1"/>
          <p:nvPr/>
        </p:nvSpPr>
        <p:spPr>
          <a:xfrm>
            <a:off x="914400" y="3035808"/>
            <a:ext cx="5029200" cy="274320"/>
          </a:xfrm>
          <a:prstGeom prst="rect">
            <a:avLst/>
          </a:prstGeom>
          <a:noFill/>
          <a:ln/>
        </p:spPr>
        <p:txBody>
          <a:bodyPr wrap="square" lIns="0" tIns="0" rIns="0" bIns="0" rtlCol="0" anchor="ctr"/>
          <a:lstStyle/>
          <a:p>
            <a:pPr indent="0" marL="0">
              <a:buNone/>
            </a:pPr>
            <a:r>
              <a:rPr lang="en-US" sz="1350" b="1" dirty="0">
                <a:solidFill>
                  <a:srgbClr val="F2B134"/>
                </a:solidFill>
                <a:latin typeface="Calibri" pitchFamily="34" charset="0"/>
                <a:ea typeface="Calibri" pitchFamily="34" charset="-122"/>
                <a:cs typeface="Calibri" pitchFamily="34" charset="-120"/>
              </a:rPr>
              <a:t>The fix: lock the total moment, then release it</a:t>
            </a:r>
            <a:endParaRPr lang="en-US" sz="1350" dirty="0"/>
          </a:p>
        </p:txBody>
      </p:sp>
      <p:sp>
        <p:nvSpPr>
          <p:cNvPr id="8" name="Text 6"/>
          <p:cNvSpPr txBox="1"/>
          <p:nvPr/>
        </p:nvSpPr>
        <p:spPr>
          <a:xfrm>
            <a:off x="914400" y="3346704"/>
            <a:ext cx="5029200" cy="566928"/>
          </a:xfrm>
          <a:prstGeom prst="rect">
            <a:avLst/>
          </a:prstGeom>
          <a:noFill/>
          <a:ln/>
        </p:spPr>
        <p:txBody>
          <a:bodyPr wrap="square" lIns="0" tIns="0" rIns="0" bIns="0" rtlCol="0" anchor="ctr"/>
          <a:lstStyle/>
          <a:p>
            <a:pPr indent="0" marL="0">
              <a:buNone/>
            </a:pPr>
            <a:r>
              <a:rPr lang="en-US" sz="1050" dirty="0">
                <a:solidFill>
                  <a:srgbClr val="C6D2E4"/>
                </a:solidFill>
                <a:latin typeface="Calibri" pitchFamily="34" charset="0"/>
                <a:ea typeface="Calibri" pitchFamily="34" charset="-122"/>
                <a:cs typeface="Calibri" pitchFamily="34" charset="-120"/>
              </a:rPr>
              <a:t>NUPDOWN fixes the total spin-up minus spin-down electron count, forcing the SCF to converge inside the intended basin. The target is derived from each element's own measured moment (not textbook values), never from a run already suspected of drifting.</a:t>
            </a:r>
            <a:endParaRPr lang="en-US" sz="1050" dirty="0"/>
          </a:p>
        </p:txBody>
      </p:sp>
      <p:sp>
        <p:nvSpPr>
          <p:cNvPr id="9" name="Shape 7"/>
          <p:cNvSpPr/>
          <p:nvPr/>
        </p:nvSpPr>
        <p:spPr>
          <a:xfrm>
            <a:off x="914400" y="4041648"/>
            <a:ext cx="384048" cy="384048"/>
          </a:xfrm>
          <a:prstGeom prst="ellipse">
            <a:avLst/>
          </a:prstGeom>
          <a:solidFill>
            <a:srgbClr val="2E86AB"/>
          </a:solidFill>
          <a:ln/>
        </p:spPr>
      </p:sp>
      <p:sp>
        <p:nvSpPr>
          <p:cNvPr id="10" name="Text 8"/>
          <p:cNvSpPr txBox="1"/>
          <p:nvPr/>
        </p:nvSpPr>
        <p:spPr>
          <a:xfrm>
            <a:off x="914400" y="4041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1444752" y="4023360"/>
            <a:ext cx="4480560"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Stage A - locked</a:t>
            </a:r>
            <a:endParaRPr lang="en-US" sz="1050" dirty="0"/>
          </a:p>
        </p:txBody>
      </p:sp>
      <p:sp>
        <p:nvSpPr>
          <p:cNvPr id="12" name="Text 10"/>
          <p:cNvSpPr txBox="1"/>
          <p:nvPr/>
        </p:nvSpPr>
        <p:spPr>
          <a:xfrm>
            <a:off x="1444752" y="4206240"/>
            <a:ext cx="4480560" cy="420624"/>
          </a:xfrm>
          <a:prstGeom prst="rect">
            <a:avLst/>
          </a:prstGeom>
          <a:noFill/>
          <a:ln/>
        </p:spPr>
        <p:txBody>
          <a:bodyPr wrap="square" lIns="0" tIns="0" rIns="0" bIns="0" rtlCol="0" anchor="ctr"/>
          <a:lstStyle/>
          <a:p>
            <a:pPr indent="0" marL="0">
              <a:buNone/>
            </a:pPr>
            <a:r>
              <a:rPr lang="en-US" sz="850" dirty="0">
                <a:solidFill>
                  <a:srgbClr val="AEBBD0"/>
                </a:solidFill>
                <a:latin typeface="Calibri" pitchFamily="34" charset="0"/>
                <a:ea typeface="Calibri" pitchFamily="34" charset="-122"/>
                <a:cs typeface="Calibri" pitchFamily="34" charset="-120"/>
              </a:rPr>
              <a:t>NUPDOWN set to the intended fm/ferri moment; hardened mixing (NELM, EDIFF, AMIX); CHGCAR-only restart (WAVECAR skipped - it once cost 700 GB and failed ~60 runs on disk pressure alone)</a:t>
            </a:r>
            <a:endParaRPr lang="en-US" sz="850" dirty="0"/>
          </a:p>
        </p:txBody>
      </p:sp>
      <p:sp>
        <p:nvSpPr>
          <p:cNvPr id="13" name="Shape 11"/>
          <p:cNvSpPr/>
          <p:nvPr/>
        </p:nvSpPr>
        <p:spPr>
          <a:xfrm>
            <a:off x="914400" y="4645152"/>
            <a:ext cx="384048" cy="384048"/>
          </a:xfrm>
          <a:prstGeom prst="ellipse">
            <a:avLst/>
          </a:prstGeom>
          <a:solidFill>
            <a:srgbClr val="E4572E"/>
          </a:solidFill>
          <a:ln/>
        </p:spPr>
      </p:sp>
      <p:sp>
        <p:nvSpPr>
          <p:cNvPr id="14" name="Text 12"/>
          <p:cNvSpPr txBox="1"/>
          <p:nvPr/>
        </p:nvSpPr>
        <p:spPr>
          <a:xfrm>
            <a:off x="914400" y="46451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1444752" y="4626864"/>
            <a:ext cx="4480560"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Stage B - released</a:t>
            </a:r>
            <a:endParaRPr lang="en-US" sz="1050" dirty="0"/>
          </a:p>
        </p:txBody>
      </p:sp>
      <p:sp>
        <p:nvSpPr>
          <p:cNvPr id="16" name="Text 14"/>
          <p:cNvSpPr txBox="1"/>
          <p:nvPr/>
        </p:nvSpPr>
        <p:spPr>
          <a:xfrm>
            <a:off x="1444752" y="4809744"/>
            <a:ext cx="4480560" cy="420624"/>
          </a:xfrm>
          <a:prstGeom prst="rect">
            <a:avLst/>
          </a:prstGeom>
          <a:noFill/>
          <a:ln/>
        </p:spPr>
        <p:txBody>
          <a:bodyPr wrap="square" lIns="0" tIns="0" rIns="0" bIns="0" rtlCol="0" anchor="ctr"/>
          <a:lstStyle/>
          <a:p>
            <a:pPr indent="0" marL="0">
              <a:buNone/>
            </a:pPr>
            <a:r>
              <a:rPr lang="en-US" sz="850" dirty="0">
                <a:solidFill>
                  <a:srgbClr val="AEBBD0"/>
                </a:solidFill>
                <a:latin typeface="Calibri" pitchFamily="34" charset="0"/>
                <a:ea typeface="Calibri" pitchFamily="34" charset="-122"/>
                <a:cs typeface="Calibri" pitchFamily="34" charset="-120"/>
              </a:rPr>
              <a:t>NUPDOWN removed; one final unconstrained static from Stage A's charge density - the energy actually compared, since a locked run only proves a state exists, not that VASP would choose it freely</a:t>
            </a:r>
            <a:endParaRPr lang="en-US" sz="850" dirty="0"/>
          </a:p>
        </p:txBody>
      </p:sp>
      <p:sp>
        <p:nvSpPr>
          <p:cNvPr id="17" name="Shape 15"/>
          <p:cNvSpPr/>
          <p:nvPr/>
        </p:nvSpPr>
        <p:spPr>
          <a:xfrm>
            <a:off x="6355080" y="1463040"/>
            <a:ext cx="5166360" cy="3931920"/>
          </a:xfrm>
          <a:prstGeom prst="roundRect">
            <a:avLst>
              <a:gd name="adj" fmla="val 1860"/>
            </a:avLst>
          </a:prstGeom>
          <a:solidFill>
            <a:srgbClr val="EEF2F7"/>
          </a:solidFill>
          <a:ln/>
        </p:spPr>
      </p:sp>
      <p:sp>
        <p:nvSpPr>
          <p:cNvPr id="18" name="Text 16"/>
          <p:cNvSpPr txBox="1"/>
          <p:nvPr/>
        </p:nvSpPr>
        <p:spPr>
          <a:xfrm>
            <a:off x="6611112" y="1664208"/>
            <a:ext cx="4663440" cy="274320"/>
          </a:xfrm>
          <a:prstGeom prst="rect">
            <a:avLst/>
          </a:prstGeom>
          <a:noFill/>
          <a:ln/>
        </p:spPr>
        <p:txBody>
          <a:bodyPr wrap="square" lIns="0" tIns="0" rIns="0" bIns="0" rtlCol="0" anchor="ctr"/>
          <a:lstStyle/>
          <a:p>
            <a:pPr indent="0" marL="0">
              <a:buNone/>
            </a:pPr>
            <a:r>
              <a:rPr lang="en-US" sz="1350" b="1" dirty="0">
                <a:solidFill>
                  <a:srgbClr val="1A2233"/>
                </a:solidFill>
                <a:latin typeface="Calibri" pitchFamily="34" charset="0"/>
                <a:ea typeface="Calibri" pitchFamily="34" charset="-122"/>
                <a:cs typeface="Calibri" pitchFamily="34" charset="-120"/>
              </a:rPr>
              <a:t>The funnel this actually produced</a:t>
            </a:r>
            <a:endParaRPr lang="en-US" sz="1350" dirty="0"/>
          </a:p>
        </p:txBody>
      </p:sp>
      <p:sp>
        <p:nvSpPr>
          <p:cNvPr id="19" name="Shape 17"/>
          <p:cNvSpPr/>
          <p:nvPr/>
        </p:nvSpPr>
        <p:spPr>
          <a:xfrm>
            <a:off x="6611112" y="2029968"/>
            <a:ext cx="4572000" cy="768096"/>
          </a:xfrm>
          <a:prstGeom prst="roundRect">
            <a:avLst>
              <a:gd name="adj" fmla="val 9524"/>
            </a:avLst>
          </a:prstGeom>
          <a:solidFill>
            <a:srgbClr val="FFFFFF"/>
          </a:solidFill>
          <a:ln/>
        </p:spPr>
      </p:sp>
      <p:sp>
        <p:nvSpPr>
          <p:cNvPr id="20" name="Text 18"/>
          <p:cNvSpPr txBox="1"/>
          <p:nvPr/>
        </p:nvSpPr>
        <p:spPr>
          <a:xfrm>
            <a:off x="6793992" y="2121408"/>
            <a:ext cx="1005840" cy="585216"/>
          </a:xfrm>
          <a:prstGeom prst="rect">
            <a:avLst/>
          </a:prstGeom>
          <a:noFill/>
          <a:ln/>
        </p:spPr>
        <p:txBody>
          <a:bodyPr wrap="square" lIns="0" tIns="0" rIns="0" bIns="0" rtlCol="0" anchor="ctr"/>
          <a:lstStyle/>
          <a:p>
            <a:pPr indent="0" marL="0">
              <a:buNone/>
            </a:pPr>
            <a:r>
              <a:rPr lang="en-US" sz="3000" b="1" dirty="0">
                <a:solidFill>
                  <a:srgbClr val="1A2233"/>
                </a:solidFill>
                <a:latin typeface="Cambria" pitchFamily="34" charset="0"/>
                <a:ea typeface="Cambria" pitchFamily="34" charset="-122"/>
                <a:cs typeface="Cambria" pitchFamily="34" charset="-120"/>
              </a:rPr>
              <a:t>353</a:t>
            </a:r>
            <a:endParaRPr lang="en-US" sz="3000" dirty="0"/>
          </a:p>
        </p:txBody>
      </p:sp>
      <p:sp>
        <p:nvSpPr>
          <p:cNvPr id="21" name="Text 19"/>
          <p:cNvSpPr txBox="1"/>
          <p:nvPr/>
        </p:nvSpPr>
        <p:spPr>
          <a:xfrm>
            <a:off x="7863840" y="2121408"/>
            <a:ext cx="3337560" cy="256032"/>
          </a:xfrm>
          <a:prstGeom prst="rect">
            <a:avLst/>
          </a:prstGeom>
          <a:noFill/>
          <a:ln/>
        </p:spPr>
        <p:txBody>
          <a:bodyPr wrap="square" lIns="0" tIns="0" rIns="0" bIns="0" rtlCol="0" anchor="ctr"/>
          <a:lstStyle/>
          <a:p>
            <a:pPr indent="0" marL="0">
              <a:buNone/>
            </a:pPr>
            <a:r>
              <a:rPr lang="en-US" sz="1150" b="1" dirty="0">
                <a:solidFill>
                  <a:srgbClr val="1A2233"/>
                </a:solidFill>
                <a:latin typeface="Calibri" pitchFamily="34" charset="0"/>
                <a:ea typeface="Calibri" pitchFamily="34" charset="-122"/>
                <a:cs typeface="Calibri" pitchFamily="34" charset="-120"/>
              </a:rPr>
              <a:t>compounds analysed</a:t>
            </a:r>
            <a:endParaRPr lang="en-US" sz="1150" dirty="0"/>
          </a:p>
        </p:txBody>
      </p:sp>
      <p:sp>
        <p:nvSpPr>
          <p:cNvPr id="22" name="Text 20"/>
          <p:cNvSpPr txBox="1"/>
          <p:nvPr/>
        </p:nvSpPr>
        <p:spPr>
          <a:xfrm>
            <a:off x="7863840" y="2377440"/>
            <a:ext cx="3337560" cy="384048"/>
          </a:xfrm>
          <a:prstGeom prst="rect">
            <a:avLst/>
          </a:prstGeom>
          <a:noFill/>
          <a:ln/>
        </p:spPr>
        <p:txBody>
          <a:bodyPr wrap="square" lIns="0" tIns="0" rIns="0" bIns="0" rtlCol="0" anchor="ctr"/>
          <a:lstStyle/>
          <a:p>
            <a:pPr indent="0" marL="0">
              <a:buNone/>
            </a:pPr>
            <a:r>
              <a:rPr lang="en-US" sz="860" dirty="0">
                <a:solidFill>
                  <a:srgbClr val="1A2233"/>
                </a:solidFill>
                <a:latin typeface="Calibri" pitchFamily="34" charset="0"/>
                <a:ea typeface="Calibri" pitchFamily="34" charset="-122"/>
                <a:cs typeface="Calibri" pitchFamily="34" charset="-120"/>
              </a:rPr>
              <a:t>static fm/ferri pair, Gd surrogate</a:t>
            </a:r>
            <a:endParaRPr lang="en-US" sz="860" dirty="0"/>
          </a:p>
        </p:txBody>
      </p:sp>
      <p:sp>
        <p:nvSpPr>
          <p:cNvPr id="23" name="Shape 21"/>
          <p:cNvSpPr/>
          <p:nvPr/>
        </p:nvSpPr>
        <p:spPr>
          <a:xfrm>
            <a:off x="6611112" y="2907792"/>
            <a:ext cx="4572000" cy="768096"/>
          </a:xfrm>
          <a:prstGeom prst="roundRect">
            <a:avLst>
              <a:gd name="adj" fmla="val 9524"/>
            </a:avLst>
          </a:prstGeom>
          <a:solidFill>
            <a:srgbClr val="FCEDE8"/>
          </a:solidFill>
          <a:ln/>
        </p:spPr>
      </p:sp>
      <p:sp>
        <p:nvSpPr>
          <p:cNvPr id="24" name="Text 22"/>
          <p:cNvSpPr txBox="1"/>
          <p:nvPr/>
        </p:nvSpPr>
        <p:spPr>
          <a:xfrm>
            <a:off x="6793992" y="2999232"/>
            <a:ext cx="1005840" cy="585216"/>
          </a:xfrm>
          <a:prstGeom prst="rect">
            <a:avLst/>
          </a:prstGeom>
          <a:noFill/>
          <a:ln/>
        </p:spPr>
        <p:txBody>
          <a:bodyPr wrap="square" lIns="0" tIns="0" rIns="0" bIns="0" rtlCol="0" anchor="ctr"/>
          <a:lstStyle/>
          <a:p>
            <a:pPr indent="0" marL="0">
              <a:buNone/>
            </a:pPr>
            <a:r>
              <a:rPr lang="en-US" sz="3000" b="1" dirty="0">
                <a:solidFill>
                  <a:srgbClr val="8A3B2E"/>
                </a:solidFill>
                <a:latin typeface="Cambria" pitchFamily="34" charset="0"/>
                <a:ea typeface="Cambria" pitchFamily="34" charset="-122"/>
                <a:cs typeface="Cambria" pitchFamily="34" charset="-120"/>
              </a:rPr>
              <a:t>95</a:t>
            </a:r>
            <a:endParaRPr lang="en-US" sz="3000" dirty="0"/>
          </a:p>
        </p:txBody>
      </p:sp>
      <p:sp>
        <p:nvSpPr>
          <p:cNvPr id="25" name="Text 23"/>
          <p:cNvSpPr txBox="1"/>
          <p:nvPr/>
        </p:nvSpPr>
        <p:spPr>
          <a:xfrm>
            <a:off x="7863840" y="2999232"/>
            <a:ext cx="3337560" cy="256032"/>
          </a:xfrm>
          <a:prstGeom prst="rect">
            <a:avLst/>
          </a:prstGeom>
          <a:noFill/>
          <a:ln/>
        </p:spPr>
        <p:txBody>
          <a:bodyPr wrap="square" lIns="0" tIns="0" rIns="0" bIns="0" rtlCol="0" anchor="ctr"/>
          <a:lstStyle/>
          <a:p>
            <a:pPr indent="0" marL="0">
              <a:buNone/>
            </a:pPr>
            <a:r>
              <a:rPr lang="en-US" sz="1150" b="1" dirty="0">
                <a:solidFill>
                  <a:srgbClr val="8A3B2E"/>
                </a:solidFill>
                <a:latin typeface="Calibri" pitchFamily="34" charset="0"/>
                <a:ea typeface="Calibri" pitchFamily="34" charset="-122"/>
                <a:cs typeface="Calibri" pitchFamily="34" charset="-120"/>
              </a:rPr>
              <a:t>apparent ferromagnets</a:t>
            </a:r>
            <a:endParaRPr lang="en-US" sz="1150" dirty="0"/>
          </a:p>
        </p:txBody>
      </p:sp>
      <p:sp>
        <p:nvSpPr>
          <p:cNvPr id="26" name="Text 24"/>
          <p:cNvSpPr txBox="1"/>
          <p:nvPr/>
        </p:nvSpPr>
        <p:spPr>
          <a:xfrm>
            <a:off x="7863840" y="3255264"/>
            <a:ext cx="3337560" cy="384048"/>
          </a:xfrm>
          <a:prstGeom prst="rect">
            <a:avLst/>
          </a:prstGeom>
          <a:noFill/>
          <a:ln/>
        </p:spPr>
        <p:txBody>
          <a:bodyPr wrap="square" lIns="0" tIns="0" rIns="0" bIns="0" rtlCol="0" anchor="ctr"/>
          <a:lstStyle/>
          <a:p>
            <a:pPr indent="0" marL="0">
              <a:buNone/>
            </a:pPr>
            <a:r>
              <a:rPr lang="en-US" sz="860" dirty="0">
                <a:solidFill>
                  <a:srgbClr val="8A3B2E"/>
                </a:solidFill>
                <a:latin typeface="Calibri" pitchFamily="34" charset="0"/>
                <a:ea typeface="Calibri" pitchFamily="34" charset="-122"/>
                <a:cs typeface="Calibri" pitchFamily="34" charset="-120"/>
              </a:rPr>
              <a:t>naive, unconstrained SCF result - taken at face value, most are not real</a:t>
            </a:r>
            <a:endParaRPr lang="en-US" sz="860" dirty="0"/>
          </a:p>
        </p:txBody>
      </p:sp>
      <p:sp>
        <p:nvSpPr>
          <p:cNvPr id="27" name="Shape 25"/>
          <p:cNvSpPr/>
          <p:nvPr/>
        </p:nvSpPr>
        <p:spPr>
          <a:xfrm>
            <a:off x="6611112" y="3785616"/>
            <a:ext cx="4572000" cy="768096"/>
          </a:xfrm>
          <a:prstGeom prst="roundRect">
            <a:avLst>
              <a:gd name="adj" fmla="val 9524"/>
            </a:avLst>
          </a:prstGeom>
          <a:solidFill>
            <a:srgbClr val="FFF3D6"/>
          </a:solidFill>
          <a:ln/>
        </p:spPr>
      </p:sp>
      <p:sp>
        <p:nvSpPr>
          <p:cNvPr id="28" name="Text 26"/>
          <p:cNvSpPr txBox="1"/>
          <p:nvPr/>
        </p:nvSpPr>
        <p:spPr>
          <a:xfrm>
            <a:off x="6793992" y="3877056"/>
            <a:ext cx="1005840" cy="585216"/>
          </a:xfrm>
          <a:prstGeom prst="rect">
            <a:avLst/>
          </a:prstGeom>
          <a:noFill/>
          <a:ln/>
        </p:spPr>
        <p:txBody>
          <a:bodyPr wrap="square" lIns="0" tIns="0" rIns="0" bIns="0" rtlCol="0" anchor="ctr"/>
          <a:lstStyle/>
          <a:p>
            <a:pPr indent="0" marL="0">
              <a:buNone/>
            </a:pPr>
            <a:r>
              <a:rPr lang="en-US" sz="3000" b="1" dirty="0">
                <a:solidFill>
                  <a:srgbClr val="8A6A1E"/>
                </a:solidFill>
                <a:latin typeface="Cambria" pitchFamily="34" charset="0"/>
                <a:ea typeface="Cambria" pitchFamily="34" charset="-122"/>
                <a:cs typeface="Cambria" pitchFamily="34" charset="-120"/>
              </a:rPr>
              <a:t>4</a:t>
            </a:r>
            <a:endParaRPr lang="en-US" sz="3000" dirty="0"/>
          </a:p>
        </p:txBody>
      </p:sp>
      <p:sp>
        <p:nvSpPr>
          <p:cNvPr id="29" name="Text 27"/>
          <p:cNvSpPr txBox="1"/>
          <p:nvPr/>
        </p:nvSpPr>
        <p:spPr>
          <a:xfrm>
            <a:off x="7863840" y="3877056"/>
            <a:ext cx="3337560" cy="256032"/>
          </a:xfrm>
          <a:prstGeom prst="rect">
            <a:avLst/>
          </a:prstGeom>
          <a:noFill/>
          <a:ln/>
        </p:spPr>
        <p:txBody>
          <a:bodyPr wrap="square" lIns="0" tIns="0" rIns="0" bIns="0" rtlCol="0" anchor="ctr"/>
          <a:lstStyle/>
          <a:p>
            <a:pPr indent="0" marL="0">
              <a:buNone/>
            </a:pPr>
            <a:r>
              <a:rPr lang="en-US" sz="1150" b="1" dirty="0">
                <a:solidFill>
                  <a:srgbClr val="8A6A1E"/>
                </a:solidFill>
                <a:latin typeface="Calibri" pitchFamily="34" charset="0"/>
                <a:ea typeface="Calibri" pitchFamily="34" charset="-122"/>
                <a:cs typeface="Calibri" pitchFamily="34" charset="-120"/>
              </a:rPr>
              <a:t>survive NUPDOWN hardening</a:t>
            </a:r>
            <a:endParaRPr lang="en-US" sz="1150" dirty="0"/>
          </a:p>
        </p:txBody>
      </p:sp>
      <p:sp>
        <p:nvSpPr>
          <p:cNvPr id="30" name="Text 28"/>
          <p:cNvSpPr txBox="1"/>
          <p:nvPr/>
        </p:nvSpPr>
        <p:spPr>
          <a:xfrm>
            <a:off x="7863840" y="4133088"/>
            <a:ext cx="3337560" cy="384048"/>
          </a:xfrm>
          <a:prstGeom prst="rect">
            <a:avLst/>
          </a:prstGeom>
          <a:noFill/>
          <a:ln/>
        </p:spPr>
        <p:txBody>
          <a:bodyPr wrap="square" lIns="0" tIns="0" rIns="0" bIns="0" rtlCol="0" anchor="ctr"/>
          <a:lstStyle/>
          <a:p>
            <a:pPr indent="0" marL="0">
              <a:buNone/>
            </a:pPr>
            <a:r>
              <a:rPr lang="en-US" sz="860" dirty="0">
                <a:solidFill>
                  <a:srgbClr val="8A6A1E"/>
                </a:solidFill>
                <a:latin typeface="Calibri" pitchFamily="34" charset="0"/>
                <a:ea typeface="Calibri" pitchFamily="34" charset="-122"/>
                <a:cs typeface="Calibri" pitchFamily="34" charset="-120"/>
              </a:rPr>
              <a:t>measured-moment-derived locked rerun, released to a final unconstrained static</a:t>
            </a:r>
            <a:endParaRPr lang="en-US" sz="860" dirty="0"/>
          </a:p>
        </p:txBody>
      </p:sp>
      <p:sp>
        <p:nvSpPr>
          <p:cNvPr id="31" name="Shape 29"/>
          <p:cNvSpPr/>
          <p:nvPr/>
        </p:nvSpPr>
        <p:spPr>
          <a:xfrm>
            <a:off x="6611112" y="4663440"/>
            <a:ext cx="4572000" cy="768096"/>
          </a:xfrm>
          <a:prstGeom prst="roundRect">
            <a:avLst>
              <a:gd name="adj" fmla="val 9524"/>
            </a:avLst>
          </a:prstGeom>
          <a:solidFill>
            <a:srgbClr val="1B2A4A"/>
          </a:solidFill>
          <a:ln/>
        </p:spPr>
      </p:sp>
      <p:sp>
        <p:nvSpPr>
          <p:cNvPr id="32" name="Text 30"/>
          <p:cNvSpPr txBox="1"/>
          <p:nvPr/>
        </p:nvSpPr>
        <p:spPr>
          <a:xfrm>
            <a:off x="6793992" y="4754880"/>
            <a:ext cx="1005840" cy="585216"/>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0</a:t>
            </a:r>
            <a:endParaRPr lang="en-US" sz="3000" dirty="0"/>
          </a:p>
        </p:txBody>
      </p:sp>
      <p:sp>
        <p:nvSpPr>
          <p:cNvPr id="33" name="Text 31"/>
          <p:cNvSpPr txBox="1"/>
          <p:nvPr/>
        </p:nvSpPr>
        <p:spPr>
          <a:xfrm>
            <a:off x="7863840" y="4754880"/>
            <a:ext cx="333756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survive the release test</a:t>
            </a:r>
            <a:endParaRPr lang="en-US" sz="1150" dirty="0"/>
          </a:p>
        </p:txBody>
      </p:sp>
      <p:sp>
        <p:nvSpPr>
          <p:cNvPr id="34" name="Text 32"/>
          <p:cNvSpPr txBox="1"/>
          <p:nvPr/>
        </p:nvSpPr>
        <p:spPr>
          <a:xfrm>
            <a:off x="7863840" y="5010912"/>
            <a:ext cx="3337560" cy="384048"/>
          </a:xfrm>
          <a:prstGeom prst="rect">
            <a:avLst/>
          </a:prstGeom>
          <a:noFill/>
          <a:ln/>
        </p:spPr>
        <p:txBody>
          <a:bodyPr wrap="square" lIns="0" tIns="0" rIns="0" bIns="0" rtlCol="0" anchor="ctr"/>
          <a:lstStyle/>
          <a:p>
            <a:pPr indent="0" marL="0">
              <a:buNone/>
            </a:pPr>
            <a:r>
              <a:rPr lang="en-US" sz="860" dirty="0">
                <a:solidFill>
                  <a:srgbClr val="FFFFFF"/>
                </a:solidFill>
                <a:latin typeface="Calibri" pitchFamily="34" charset="0"/>
                <a:ea typeface="Calibri" pitchFamily="34" charset="-122"/>
                <a:cs typeface="Calibri" pitchFamily="34" charset="-120"/>
              </a:rPr>
              <a:t>3 of the 4 carried multi-eV exchange energies (LDA+U multi-minima artefact); the 4th, Co16Gd2Mn, was a metastable Mn-parallel-to-Gd basin that released to a ferrimagnet</a:t>
            </a:r>
            <a:endParaRPr lang="en-US" sz="8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CAMPAIGN RESULTS</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No ferromagnet survives the release test; the false positive taught us the most</a:t>
            </a:r>
            <a:endParaRPr lang="en-US" sz="3200" dirty="0"/>
          </a:p>
        </p:txBody>
      </p:sp>
      <p:sp>
        <p:nvSpPr>
          <p:cNvPr id="4" name="Shape 2"/>
          <p:cNvSpPr/>
          <p:nvPr/>
        </p:nvSpPr>
        <p:spPr>
          <a:xfrm>
            <a:off x="640080" y="1463040"/>
            <a:ext cx="4846320" cy="4526280"/>
          </a:xfrm>
          <a:prstGeom prst="roundRect">
            <a:avLst>
              <a:gd name="adj" fmla="val 1616"/>
            </a:avLst>
          </a:prstGeom>
          <a:solidFill>
            <a:srgbClr val="EEF2F7"/>
          </a:solidFill>
          <a:ln/>
        </p:spPr>
      </p:sp>
      <p:sp>
        <p:nvSpPr>
          <p:cNvPr id="5" name="Text 3"/>
          <p:cNvSpPr txBox="1"/>
          <p:nvPr/>
        </p:nvSpPr>
        <p:spPr>
          <a:xfrm>
            <a:off x="896112" y="1609344"/>
            <a:ext cx="4389120" cy="274320"/>
          </a:xfrm>
          <a:prstGeom prst="rect">
            <a:avLst/>
          </a:prstGeom>
          <a:noFill/>
          <a:ln/>
        </p:spPr>
        <p:txBody>
          <a:bodyPr wrap="square" lIns="0" tIns="0" rIns="0" bIns="0" rtlCol="0" anchor="ctr"/>
          <a:lstStyle/>
          <a:p>
            <a:pPr indent="0" marL="0">
              <a:buNone/>
            </a:pPr>
            <a:r>
              <a:rPr lang="en-US" sz="1300" b="1" dirty="0">
                <a:solidFill>
                  <a:srgbClr val="1A2233"/>
                </a:solidFill>
                <a:latin typeface="Calibri" pitchFamily="34" charset="0"/>
                <a:ea typeface="Calibri" pitchFamily="34" charset="-122"/>
                <a:cs typeface="Calibri" pitchFamily="34" charset="-120"/>
              </a:rPr>
              <a:t>The funnel, after every validity rule</a:t>
            </a:r>
            <a:endParaRPr lang="en-US" sz="1300" dirty="0"/>
          </a:p>
        </p:txBody>
      </p:sp>
      <p:sp>
        <p:nvSpPr>
          <p:cNvPr id="6" name="Shape 4"/>
          <p:cNvSpPr/>
          <p:nvPr/>
        </p:nvSpPr>
        <p:spPr>
          <a:xfrm>
            <a:off x="896112" y="1956816"/>
            <a:ext cx="4370832" cy="859536"/>
          </a:xfrm>
          <a:prstGeom prst="roundRect">
            <a:avLst>
              <a:gd name="adj" fmla="val 8511"/>
            </a:avLst>
          </a:prstGeom>
          <a:solidFill>
            <a:srgbClr val="FFFFFF"/>
          </a:solidFill>
          <a:ln/>
        </p:spPr>
      </p:sp>
      <p:sp>
        <p:nvSpPr>
          <p:cNvPr id="7" name="Text 5"/>
          <p:cNvSpPr txBox="1"/>
          <p:nvPr/>
        </p:nvSpPr>
        <p:spPr>
          <a:xfrm>
            <a:off x="1051560" y="2048256"/>
            <a:ext cx="914400" cy="676656"/>
          </a:xfrm>
          <a:prstGeom prst="rect">
            <a:avLst/>
          </a:prstGeom>
          <a:noFill/>
          <a:ln/>
        </p:spPr>
        <p:txBody>
          <a:bodyPr wrap="square" lIns="0" tIns="0" rIns="0" bIns="0" rtlCol="0" anchor="ctr"/>
          <a:lstStyle/>
          <a:p>
            <a:pPr indent="0" marL="0">
              <a:buNone/>
            </a:pPr>
            <a:r>
              <a:rPr lang="en-US" sz="2800" b="1" dirty="0">
                <a:solidFill>
                  <a:srgbClr val="1A2233"/>
                </a:solidFill>
                <a:latin typeface="Cambria" pitchFamily="34" charset="0"/>
                <a:ea typeface="Cambria" pitchFamily="34" charset="-122"/>
                <a:cs typeface="Cambria" pitchFamily="34" charset="-120"/>
              </a:rPr>
              <a:t>353</a:t>
            </a:r>
            <a:endParaRPr lang="en-US" sz="2800" dirty="0"/>
          </a:p>
        </p:txBody>
      </p:sp>
      <p:sp>
        <p:nvSpPr>
          <p:cNvPr id="8" name="Text 6"/>
          <p:cNvSpPr txBox="1"/>
          <p:nvPr/>
        </p:nvSpPr>
        <p:spPr>
          <a:xfrm>
            <a:off x="2011680" y="2048256"/>
            <a:ext cx="3200400" cy="237744"/>
          </a:xfrm>
          <a:prstGeom prst="rect">
            <a:avLst/>
          </a:prstGeom>
          <a:noFill/>
          <a:ln/>
        </p:spPr>
        <p:txBody>
          <a:bodyPr wrap="square" lIns="0" tIns="0" rIns="0" bIns="0" rtlCol="0" anchor="ctr"/>
          <a:lstStyle/>
          <a:p>
            <a:pPr indent="0" marL="0">
              <a:buNone/>
            </a:pPr>
            <a:r>
              <a:rPr lang="en-US" sz="1150" b="1" dirty="0">
                <a:solidFill>
                  <a:srgbClr val="1A2233"/>
                </a:solidFill>
                <a:latin typeface="Calibri" pitchFamily="34" charset="0"/>
                <a:ea typeface="Calibri" pitchFamily="34" charset="-122"/>
                <a:cs typeface="Calibri" pitchFamily="34" charset="-120"/>
              </a:rPr>
              <a:t>fm / ferri pairs staged</a:t>
            </a:r>
            <a:endParaRPr lang="en-US" sz="1150" dirty="0"/>
          </a:p>
        </p:txBody>
      </p:sp>
      <p:sp>
        <p:nvSpPr>
          <p:cNvPr id="9" name="Text 7"/>
          <p:cNvSpPr txBox="1"/>
          <p:nvPr/>
        </p:nvSpPr>
        <p:spPr>
          <a:xfrm>
            <a:off x="2011680" y="2295144"/>
            <a:ext cx="3200400" cy="493776"/>
          </a:xfrm>
          <a:prstGeom prst="rect">
            <a:avLst/>
          </a:prstGeom>
          <a:noFill/>
          <a:ln/>
        </p:spPr>
        <p:txBody>
          <a:bodyPr wrap="square" lIns="0" tIns="0" rIns="0" bIns="0" rtlCol="0" anchor="ctr"/>
          <a:lstStyle/>
          <a:p>
            <a:pPr indent="0" marL="0">
              <a:buNone/>
            </a:pPr>
            <a:r>
              <a:rPr lang="en-US" sz="840" dirty="0">
                <a:solidFill>
                  <a:srgbClr val="1A2233"/>
                </a:solidFill>
                <a:latin typeface="Calibri" pitchFamily="34" charset="0"/>
                <a:ea typeface="Calibri" pitchFamily="34" charset="-122"/>
                <a:cs typeface="Calibri" pitchFamily="34" charset="-120"/>
              </a:rPr>
              <a:t>Gd stand-in for Tb-Tm, PBE+U, NUPDOWN-locked then released</a:t>
            </a:r>
            <a:endParaRPr lang="en-US" sz="840" dirty="0"/>
          </a:p>
        </p:txBody>
      </p:sp>
      <p:sp>
        <p:nvSpPr>
          <p:cNvPr id="10" name="Shape 8"/>
          <p:cNvSpPr/>
          <p:nvPr/>
        </p:nvSpPr>
        <p:spPr>
          <a:xfrm>
            <a:off x="896112" y="2926080"/>
            <a:ext cx="4370832" cy="859536"/>
          </a:xfrm>
          <a:prstGeom prst="roundRect">
            <a:avLst>
              <a:gd name="adj" fmla="val 8511"/>
            </a:avLst>
          </a:prstGeom>
          <a:solidFill>
            <a:srgbClr val="FFF3D6"/>
          </a:solidFill>
          <a:ln/>
        </p:spPr>
      </p:sp>
      <p:sp>
        <p:nvSpPr>
          <p:cNvPr id="11" name="Text 9"/>
          <p:cNvSpPr txBox="1"/>
          <p:nvPr/>
        </p:nvSpPr>
        <p:spPr>
          <a:xfrm>
            <a:off x="1051560" y="3017520"/>
            <a:ext cx="914400" cy="676656"/>
          </a:xfrm>
          <a:prstGeom prst="rect">
            <a:avLst/>
          </a:prstGeom>
          <a:noFill/>
          <a:ln/>
        </p:spPr>
        <p:txBody>
          <a:bodyPr wrap="square" lIns="0" tIns="0" rIns="0" bIns="0" rtlCol="0" anchor="ctr"/>
          <a:lstStyle/>
          <a:p>
            <a:pPr indent="0" marL="0">
              <a:buNone/>
            </a:pPr>
            <a:r>
              <a:rPr lang="en-US" sz="2800" b="1" dirty="0">
                <a:solidFill>
                  <a:srgbClr val="8A6A1E"/>
                </a:solidFill>
                <a:latin typeface="Cambria" pitchFamily="34" charset="0"/>
                <a:ea typeface="Cambria" pitchFamily="34" charset="-122"/>
                <a:cs typeface="Cambria" pitchFamily="34" charset="-120"/>
              </a:rPr>
              <a:t>180</a:t>
            </a:r>
            <a:endParaRPr lang="en-US" sz="2800" dirty="0"/>
          </a:p>
        </p:txBody>
      </p:sp>
      <p:sp>
        <p:nvSpPr>
          <p:cNvPr id="12" name="Text 10"/>
          <p:cNvSpPr txBox="1"/>
          <p:nvPr/>
        </p:nvSpPr>
        <p:spPr>
          <a:xfrm>
            <a:off x="2011680" y="3017520"/>
            <a:ext cx="3200400" cy="237744"/>
          </a:xfrm>
          <a:prstGeom prst="rect">
            <a:avLst/>
          </a:prstGeom>
          <a:noFill/>
          <a:ln/>
        </p:spPr>
        <p:txBody>
          <a:bodyPr wrap="square" lIns="0" tIns="0" rIns="0" bIns="0" rtlCol="0" anchor="ctr"/>
          <a:lstStyle/>
          <a:p>
            <a:pPr indent="0" marL="0">
              <a:buNone/>
            </a:pPr>
            <a:r>
              <a:rPr lang="en-US" sz="1150" b="1" dirty="0">
                <a:solidFill>
                  <a:srgbClr val="8A6A1E"/>
                </a:solidFill>
                <a:latin typeface="Calibri" pitchFamily="34" charset="0"/>
                <a:ea typeface="Calibri" pitchFamily="34" charset="-122"/>
                <a:cs typeface="Calibri" pitchFamily="34" charset="-120"/>
              </a:rPr>
              <a:t>credible exchange labels</a:t>
            </a:r>
            <a:endParaRPr lang="en-US" sz="1150" dirty="0"/>
          </a:p>
        </p:txBody>
      </p:sp>
      <p:sp>
        <p:nvSpPr>
          <p:cNvPr id="13" name="Text 11"/>
          <p:cNvSpPr txBox="1"/>
          <p:nvPr/>
        </p:nvSpPr>
        <p:spPr>
          <a:xfrm>
            <a:off x="2011680" y="3264408"/>
            <a:ext cx="3200400" cy="493776"/>
          </a:xfrm>
          <a:prstGeom prst="rect">
            <a:avLst/>
          </a:prstGeom>
          <a:noFill/>
          <a:ln/>
        </p:spPr>
        <p:txBody>
          <a:bodyPr wrap="square" lIns="0" tIns="0" rIns="0" bIns="0" rtlCol="0" anchor="ctr"/>
          <a:lstStyle/>
          <a:p>
            <a:pPr indent="0" marL="0">
              <a:buNone/>
            </a:pPr>
            <a:r>
              <a:rPr lang="en-US" sz="840" dirty="0">
                <a:solidFill>
                  <a:srgbClr val="8A6A1E"/>
                </a:solidFill>
                <a:latin typeface="Calibri" pitchFamily="34" charset="0"/>
                <a:ea typeface="Calibri" pitchFamily="34" charset="-122"/>
                <a:cs typeface="Calibri" pitchFamily="34" charset="-120"/>
              </a:rPr>
              <a:t>both configs converged, TM and spectator sublattices stable, RE sites equal, exchange energy on a physical scale</a:t>
            </a:r>
            <a:endParaRPr lang="en-US" sz="840" dirty="0"/>
          </a:p>
        </p:txBody>
      </p:sp>
      <p:sp>
        <p:nvSpPr>
          <p:cNvPr id="14" name="Shape 12"/>
          <p:cNvSpPr/>
          <p:nvPr/>
        </p:nvSpPr>
        <p:spPr>
          <a:xfrm>
            <a:off x="896112" y="3895344"/>
            <a:ext cx="4370832" cy="859536"/>
          </a:xfrm>
          <a:prstGeom prst="roundRect">
            <a:avLst>
              <a:gd name="adj" fmla="val 8511"/>
            </a:avLst>
          </a:prstGeom>
          <a:solidFill>
            <a:srgbClr val="E3F0F6"/>
          </a:solidFill>
          <a:ln/>
        </p:spPr>
      </p:sp>
      <p:sp>
        <p:nvSpPr>
          <p:cNvPr id="15" name="Text 13"/>
          <p:cNvSpPr txBox="1"/>
          <p:nvPr/>
        </p:nvSpPr>
        <p:spPr>
          <a:xfrm>
            <a:off x="1051560" y="3986784"/>
            <a:ext cx="914400" cy="676656"/>
          </a:xfrm>
          <a:prstGeom prst="rect">
            <a:avLst/>
          </a:prstGeom>
          <a:noFill/>
          <a:ln/>
        </p:spPr>
        <p:txBody>
          <a:bodyPr wrap="square" lIns="0" tIns="0" rIns="0" bIns="0" rtlCol="0" anchor="ctr"/>
          <a:lstStyle/>
          <a:p>
            <a:pPr indent="0" marL="0">
              <a:buNone/>
            </a:pPr>
            <a:r>
              <a:rPr lang="en-US" sz="2800" b="1" dirty="0">
                <a:solidFill>
                  <a:srgbClr val="1F5F7A"/>
                </a:solidFill>
                <a:latin typeface="Cambria" pitchFamily="34" charset="0"/>
                <a:ea typeface="Cambria" pitchFamily="34" charset="-122"/>
                <a:cs typeface="Cambria" pitchFamily="34" charset="-120"/>
              </a:rPr>
              <a:t>180</a:t>
            </a:r>
            <a:endParaRPr lang="en-US" sz="2800" dirty="0"/>
          </a:p>
        </p:txBody>
      </p:sp>
      <p:sp>
        <p:nvSpPr>
          <p:cNvPr id="16" name="Text 14"/>
          <p:cNvSpPr txBox="1"/>
          <p:nvPr/>
        </p:nvSpPr>
        <p:spPr>
          <a:xfrm>
            <a:off x="2011680" y="3986784"/>
            <a:ext cx="3200400" cy="237744"/>
          </a:xfrm>
          <a:prstGeom prst="rect">
            <a:avLst/>
          </a:prstGeom>
          <a:noFill/>
          <a:ln/>
        </p:spPr>
        <p:txBody>
          <a:bodyPr wrap="square" lIns="0" tIns="0" rIns="0" bIns="0" rtlCol="0" anchor="ctr"/>
          <a:lstStyle/>
          <a:p>
            <a:pPr indent="0" marL="0">
              <a:buNone/>
            </a:pPr>
            <a:r>
              <a:rPr lang="en-US" sz="1150" b="1" dirty="0">
                <a:solidFill>
                  <a:srgbClr val="1F5F7A"/>
                </a:solidFill>
                <a:latin typeface="Calibri" pitchFamily="34" charset="0"/>
                <a:ea typeface="Calibri" pitchFamily="34" charset="-122"/>
                <a:cs typeface="Calibri" pitchFamily="34" charset="-120"/>
              </a:rPr>
              <a:t>ferrimagnetic</a:t>
            </a:r>
            <a:endParaRPr lang="en-US" sz="1150" dirty="0"/>
          </a:p>
        </p:txBody>
      </p:sp>
      <p:sp>
        <p:nvSpPr>
          <p:cNvPr id="17" name="Text 15"/>
          <p:cNvSpPr txBox="1"/>
          <p:nvPr/>
        </p:nvSpPr>
        <p:spPr>
          <a:xfrm>
            <a:off x="2011680" y="4233672"/>
            <a:ext cx="3200400" cy="493776"/>
          </a:xfrm>
          <a:prstGeom prst="rect">
            <a:avLst/>
          </a:prstGeom>
          <a:noFill/>
          <a:ln/>
        </p:spPr>
        <p:txBody>
          <a:bodyPr wrap="square" lIns="0" tIns="0" rIns="0" bIns="0" rtlCol="0" anchor="ctr"/>
          <a:lstStyle/>
          <a:p>
            <a:pPr indent="0" marL="0">
              <a:buNone/>
            </a:pPr>
            <a:r>
              <a:rPr lang="en-US" sz="840" dirty="0">
                <a:solidFill>
                  <a:srgbClr val="1F5F7A"/>
                </a:solidFill>
                <a:latin typeface="Calibri" pitchFamily="34" charset="0"/>
                <a:ea typeface="Calibri" pitchFamily="34" charset="-122"/>
                <a:cs typeface="Calibri" pitchFamily="34" charset="-120"/>
              </a:rPr>
              <a:t>every credible pair: Gd antiparallel to Fe/Co, 28-371 meV per Gd</a:t>
            </a:r>
            <a:endParaRPr lang="en-US" sz="840" dirty="0"/>
          </a:p>
        </p:txBody>
      </p:sp>
      <p:sp>
        <p:nvSpPr>
          <p:cNvPr id="18" name="Shape 16"/>
          <p:cNvSpPr/>
          <p:nvPr/>
        </p:nvSpPr>
        <p:spPr>
          <a:xfrm>
            <a:off x="896112" y="4864608"/>
            <a:ext cx="4370832" cy="859536"/>
          </a:xfrm>
          <a:prstGeom prst="roundRect">
            <a:avLst>
              <a:gd name="adj" fmla="val 8511"/>
            </a:avLst>
          </a:prstGeom>
          <a:solidFill>
            <a:srgbClr val="1B2A4A"/>
          </a:solidFill>
          <a:ln/>
        </p:spPr>
      </p:sp>
      <p:sp>
        <p:nvSpPr>
          <p:cNvPr id="19" name="Text 17"/>
          <p:cNvSpPr txBox="1"/>
          <p:nvPr/>
        </p:nvSpPr>
        <p:spPr>
          <a:xfrm>
            <a:off x="1051560" y="4956048"/>
            <a:ext cx="914400" cy="676656"/>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0</a:t>
            </a:r>
            <a:endParaRPr lang="en-US" sz="2800" dirty="0"/>
          </a:p>
        </p:txBody>
      </p:sp>
      <p:sp>
        <p:nvSpPr>
          <p:cNvPr id="20" name="Text 18"/>
          <p:cNvSpPr txBox="1"/>
          <p:nvPr/>
        </p:nvSpPr>
        <p:spPr>
          <a:xfrm>
            <a:off x="2011680" y="4956048"/>
            <a:ext cx="32004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ferromagnetic</a:t>
            </a:r>
            <a:endParaRPr lang="en-US" sz="1150" dirty="0"/>
          </a:p>
        </p:txBody>
      </p:sp>
      <p:sp>
        <p:nvSpPr>
          <p:cNvPr id="21" name="Text 19"/>
          <p:cNvSpPr txBox="1"/>
          <p:nvPr/>
        </p:nvSpPr>
        <p:spPr>
          <a:xfrm>
            <a:off x="2011680" y="5202936"/>
            <a:ext cx="3200400" cy="493776"/>
          </a:xfrm>
          <a:prstGeom prst="rect">
            <a:avLst/>
          </a:prstGeom>
          <a:noFill/>
          <a:ln/>
        </p:spPr>
        <p:txBody>
          <a:bodyPr wrap="square" lIns="0" tIns="0" rIns="0" bIns="0" rtlCol="0" anchor="ctr"/>
          <a:lstStyle/>
          <a:p>
            <a:pPr indent="0" marL="0">
              <a:buNone/>
            </a:pPr>
            <a:r>
              <a:rPr lang="en-US" sz="840" dirty="0">
                <a:solidFill>
                  <a:srgbClr val="FFFFFF"/>
                </a:solidFill>
                <a:latin typeface="Calibri" pitchFamily="34" charset="0"/>
                <a:ea typeface="Calibri" pitchFamily="34" charset="-122"/>
                <a:cs typeface="Calibri" pitchFamily="34" charset="-120"/>
              </a:rPr>
              <a:t>the Campbell 4f-5d-3d chain holds in all 180 - no host, decoration or Mn trick broke it</a:t>
            </a:r>
            <a:endParaRPr lang="en-US" sz="840" dirty="0"/>
          </a:p>
        </p:txBody>
      </p:sp>
      <p:sp>
        <p:nvSpPr>
          <p:cNvPr id="22" name="Shape 20"/>
          <p:cNvSpPr/>
          <p:nvPr/>
        </p:nvSpPr>
        <p:spPr>
          <a:xfrm>
            <a:off x="5806440" y="1463040"/>
            <a:ext cx="5715000" cy="3017520"/>
          </a:xfrm>
          <a:prstGeom prst="roundRect">
            <a:avLst>
              <a:gd name="adj" fmla="val 2424"/>
            </a:avLst>
          </a:prstGeom>
          <a:solidFill>
            <a:srgbClr val="1B2A4A"/>
          </a:solidFill>
          <a:ln/>
        </p:spPr>
      </p:sp>
      <p:sp>
        <p:nvSpPr>
          <p:cNvPr id="23" name="Text 21"/>
          <p:cNvSpPr txBox="1"/>
          <p:nvPr/>
        </p:nvSpPr>
        <p:spPr>
          <a:xfrm>
            <a:off x="6062472" y="1609344"/>
            <a:ext cx="5212080" cy="274320"/>
          </a:xfrm>
          <a:prstGeom prst="rect">
            <a:avLst/>
          </a:prstGeom>
          <a:noFill/>
          <a:ln/>
        </p:spPr>
        <p:txBody>
          <a:bodyPr wrap="square" lIns="0" tIns="0" rIns="0" bIns="0" rtlCol="0" anchor="ctr"/>
          <a:lstStyle/>
          <a:p>
            <a:pPr indent="0" marL="0">
              <a:buNone/>
            </a:pPr>
            <a:r>
              <a:rPr lang="en-US" sz="1300" b="1" dirty="0">
                <a:solidFill>
                  <a:srgbClr val="F2B134"/>
                </a:solidFill>
                <a:latin typeface="Calibri" pitchFamily="34" charset="0"/>
                <a:ea typeface="Calibri" pitchFamily="34" charset="-122"/>
                <a:cs typeface="Calibri" pitchFamily="34" charset="-120"/>
              </a:rPr>
              <a:t>Co16Gd2Mn: the false positive, and why it was false</a:t>
            </a:r>
            <a:endParaRPr lang="en-US" sz="1300" dirty="0"/>
          </a:p>
        </p:txBody>
      </p:sp>
      <p:sp>
        <p:nvSpPr>
          <p:cNvPr id="24" name="Shape 22"/>
          <p:cNvSpPr/>
          <p:nvPr/>
        </p:nvSpPr>
        <p:spPr>
          <a:xfrm>
            <a:off x="6062472" y="1993392"/>
            <a:ext cx="384048" cy="384048"/>
          </a:xfrm>
          <a:prstGeom prst="ellipse">
            <a:avLst/>
          </a:prstGeom>
          <a:solidFill>
            <a:srgbClr val="2E86AB"/>
          </a:solidFill>
          <a:ln/>
        </p:spPr>
      </p:sp>
      <p:sp>
        <p:nvSpPr>
          <p:cNvPr id="25" name="Text 23"/>
          <p:cNvSpPr txBox="1"/>
          <p:nvPr/>
        </p:nvSpPr>
        <p:spPr>
          <a:xfrm>
            <a:off x="6062472" y="19933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6" name="Text 24"/>
          <p:cNvSpPr txBox="1"/>
          <p:nvPr/>
        </p:nvSpPr>
        <p:spPr>
          <a:xfrm>
            <a:off x="6583680" y="1956816"/>
            <a:ext cx="219456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Locked relaxation</a:t>
            </a:r>
            <a:endParaRPr lang="en-US" sz="1050" dirty="0"/>
          </a:p>
        </p:txBody>
      </p:sp>
      <p:sp>
        <p:nvSpPr>
          <p:cNvPr id="27" name="Text 25"/>
          <p:cNvSpPr txBox="1"/>
          <p:nvPr/>
        </p:nvSpPr>
        <p:spPr>
          <a:xfrm>
            <a:off x="8732520" y="1956816"/>
            <a:ext cx="2651760" cy="219456"/>
          </a:xfrm>
          <a:prstGeom prst="rect">
            <a:avLst/>
          </a:prstGeom>
          <a:noFill/>
          <a:ln/>
        </p:spPr>
        <p:txBody>
          <a:bodyPr wrap="square" lIns="0" tIns="0" rIns="0" bIns="0" rtlCol="0" anchor="ctr"/>
          <a:lstStyle/>
          <a:p>
            <a:pPr algn="r" indent="0" marL="0">
              <a:buNone/>
            </a:pPr>
            <a:r>
              <a:rPr lang="en-US" sz="1050" b="1" dirty="0">
                <a:solidFill>
                  <a:srgbClr val="F2B134"/>
                </a:solidFill>
                <a:latin typeface="Calibri" pitchFamily="34" charset="0"/>
                <a:ea typeface="Calibri" pitchFamily="34" charset="-122"/>
                <a:cs typeface="Calibri" pitchFamily="34" charset="-120"/>
              </a:rPr>
              <a:t>fm lower by 114.5 meV/Gd</a:t>
            </a:r>
            <a:endParaRPr lang="en-US" sz="1050" dirty="0"/>
          </a:p>
        </p:txBody>
      </p:sp>
      <p:sp>
        <p:nvSpPr>
          <p:cNvPr id="28" name="Text 26"/>
          <p:cNvSpPr txBox="1"/>
          <p:nvPr/>
        </p:nvSpPr>
        <p:spPr>
          <a:xfrm>
            <a:off x="6583680" y="2194560"/>
            <a:ext cx="4800600" cy="512064"/>
          </a:xfrm>
          <a:prstGeom prst="rect">
            <a:avLst/>
          </a:prstGeom>
          <a:noFill/>
          <a:ln/>
        </p:spPr>
        <p:txBody>
          <a:bodyPr wrap="square" lIns="0" tIns="0" rIns="0" bIns="0" rtlCol="0" anchor="ctr"/>
          <a:lstStyle/>
          <a:p>
            <a:pPr indent="0" marL="0">
              <a:buNone/>
            </a:pPr>
            <a:r>
              <a:rPr lang="en-US" sz="840" dirty="0">
                <a:solidFill>
                  <a:srgbClr val="C6D2E4"/>
                </a:solidFill>
                <a:latin typeface="Calibri" pitchFamily="34" charset="0"/>
                <a:ea typeface="Calibri" pitchFamily="34" charset="-122"/>
                <a:cs typeface="Calibri" pitchFamily="34" charset="-120"/>
              </a:rPr>
              <a:t>the ferri reference had Mn parallel to Gd - a metastable spectator basin, held in place by the NUPDOWN lock and -42 kbar of residual pressure</a:t>
            </a:r>
            <a:endParaRPr lang="en-US" sz="840" dirty="0"/>
          </a:p>
        </p:txBody>
      </p:sp>
      <p:sp>
        <p:nvSpPr>
          <p:cNvPr id="29" name="Shape 27"/>
          <p:cNvSpPr/>
          <p:nvPr/>
        </p:nvSpPr>
        <p:spPr>
          <a:xfrm>
            <a:off x="6062472" y="2779776"/>
            <a:ext cx="384048" cy="384048"/>
          </a:xfrm>
          <a:prstGeom prst="ellipse">
            <a:avLst/>
          </a:prstGeom>
          <a:solidFill>
            <a:srgbClr val="E4572E"/>
          </a:solidFill>
          <a:ln/>
        </p:spPr>
      </p:sp>
      <p:sp>
        <p:nvSpPr>
          <p:cNvPr id="30" name="Text 28"/>
          <p:cNvSpPr txBox="1"/>
          <p:nvPr/>
        </p:nvSpPr>
        <p:spPr>
          <a:xfrm>
            <a:off x="6062472" y="27797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1" name="Text 29"/>
          <p:cNvSpPr txBox="1"/>
          <p:nvPr/>
        </p:nvSpPr>
        <p:spPr>
          <a:xfrm>
            <a:off x="6583680" y="2743200"/>
            <a:ext cx="219456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Released statics</a:t>
            </a:r>
            <a:endParaRPr lang="en-US" sz="1050" dirty="0"/>
          </a:p>
        </p:txBody>
      </p:sp>
      <p:sp>
        <p:nvSpPr>
          <p:cNvPr id="32" name="Text 30"/>
          <p:cNvSpPr txBox="1"/>
          <p:nvPr/>
        </p:nvSpPr>
        <p:spPr>
          <a:xfrm>
            <a:off x="8732520" y="2743200"/>
            <a:ext cx="2651760" cy="219456"/>
          </a:xfrm>
          <a:prstGeom prst="rect">
            <a:avLst/>
          </a:prstGeom>
          <a:noFill/>
          <a:ln/>
        </p:spPr>
        <p:txBody>
          <a:bodyPr wrap="square" lIns="0" tIns="0" rIns="0" bIns="0" rtlCol="0" anchor="ctr"/>
          <a:lstStyle/>
          <a:p>
            <a:pPr algn="r" indent="0" marL="0">
              <a:buNone/>
            </a:pPr>
            <a:r>
              <a:rPr lang="en-US" sz="1050" b="1" dirty="0">
                <a:solidFill>
                  <a:srgbClr val="F2B134"/>
                </a:solidFill>
                <a:latin typeface="Calibri" pitchFamily="34" charset="0"/>
                <a:ea typeface="Calibri" pitchFamily="34" charset="-122"/>
                <a:cs typeface="Calibri" pitchFamily="34" charset="-120"/>
              </a:rPr>
              <a:t>ferri (Mn ∥ Co) lower by 208 meV/Gd</a:t>
            </a:r>
            <a:endParaRPr lang="en-US" sz="1050" dirty="0"/>
          </a:p>
        </p:txBody>
      </p:sp>
      <p:sp>
        <p:nvSpPr>
          <p:cNvPr id="33" name="Text 31"/>
          <p:cNvSpPr txBox="1"/>
          <p:nvPr/>
        </p:nvSpPr>
        <p:spPr>
          <a:xfrm>
            <a:off x="6583680" y="2980944"/>
            <a:ext cx="4800600" cy="512064"/>
          </a:xfrm>
          <a:prstGeom prst="rect">
            <a:avLst/>
          </a:prstGeom>
          <a:noFill/>
          <a:ln/>
        </p:spPr>
        <p:txBody>
          <a:bodyPr wrap="square" lIns="0" tIns="0" rIns="0" bIns="0" rtlCol="0" anchor="ctr"/>
          <a:lstStyle/>
          <a:p>
            <a:pPr indent="0" marL="0">
              <a:buNone/>
            </a:pPr>
            <a:r>
              <a:rPr lang="en-US" sz="840" dirty="0">
                <a:solidFill>
                  <a:srgbClr val="C6D2E4"/>
                </a:solidFill>
                <a:latin typeface="Calibri" pitchFamily="34" charset="0"/>
                <a:ea typeface="Calibri" pitchFamily="34" charset="-122"/>
                <a:cs typeface="Calibri" pitchFamily="34" charset="-120"/>
              </a:rPr>
              <a:t>E(ferri) = -146.088 eV vs E(fm) = -145.671 eV: a textbook Néel ferrimagnet once Mn is allowed to sit where it wants</a:t>
            </a:r>
            <a:endParaRPr lang="en-US" sz="840" dirty="0"/>
          </a:p>
        </p:txBody>
      </p:sp>
      <p:sp>
        <p:nvSpPr>
          <p:cNvPr id="34" name="Shape 32"/>
          <p:cNvSpPr/>
          <p:nvPr/>
        </p:nvSpPr>
        <p:spPr>
          <a:xfrm>
            <a:off x="6062472" y="3566160"/>
            <a:ext cx="384048" cy="384048"/>
          </a:xfrm>
          <a:prstGeom prst="ellipse">
            <a:avLst/>
          </a:prstGeom>
          <a:solidFill>
            <a:srgbClr val="2E86AB"/>
          </a:solidFill>
          <a:ln/>
        </p:spPr>
      </p:sp>
      <p:sp>
        <p:nvSpPr>
          <p:cNvPr id="35" name="Text 33"/>
          <p:cNvSpPr txBox="1"/>
          <p:nvPr/>
        </p:nvSpPr>
        <p:spPr>
          <a:xfrm>
            <a:off x="6062472" y="3566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6" name="Text 34"/>
          <p:cNvSpPr txBox="1"/>
          <p:nvPr/>
        </p:nvSpPr>
        <p:spPr>
          <a:xfrm>
            <a:off x="6583680" y="3529584"/>
            <a:ext cx="219456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Two Mn, four spin states</a:t>
            </a:r>
            <a:endParaRPr lang="en-US" sz="1050" dirty="0"/>
          </a:p>
        </p:txBody>
      </p:sp>
      <p:sp>
        <p:nvSpPr>
          <p:cNvPr id="37" name="Text 35"/>
          <p:cNvSpPr txBox="1"/>
          <p:nvPr/>
        </p:nvSpPr>
        <p:spPr>
          <a:xfrm>
            <a:off x="8732520" y="3529584"/>
            <a:ext cx="2651760" cy="219456"/>
          </a:xfrm>
          <a:prstGeom prst="rect">
            <a:avLst/>
          </a:prstGeom>
          <a:noFill/>
          <a:ln/>
        </p:spPr>
        <p:txBody>
          <a:bodyPr wrap="square" lIns="0" tIns="0" rIns="0" bIns="0" rtlCol="0" anchor="ctr"/>
          <a:lstStyle/>
          <a:p>
            <a:pPr algn="r" indent="0" marL="0">
              <a:buNone/>
            </a:pPr>
            <a:r>
              <a:rPr lang="en-US" sz="1050" b="1" dirty="0">
                <a:solidFill>
                  <a:srgbClr val="F2B134"/>
                </a:solidFill>
                <a:latin typeface="Calibri" pitchFamily="34" charset="0"/>
                <a:ea typeface="Calibri" pitchFamily="34" charset="-122"/>
                <a:cs typeface="Calibri" pitchFamily="34" charset="-120"/>
              </a:rPr>
              <a:t>same ferrimagnet, 208 meV/Gd</a:t>
            </a:r>
            <a:endParaRPr lang="en-US" sz="1050" dirty="0"/>
          </a:p>
        </p:txBody>
      </p:sp>
      <p:sp>
        <p:nvSpPr>
          <p:cNvPr id="38" name="Text 36"/>
          <p:cNvSpPr txBox="1"/>
          <p:nvPr/>
        </p:nvSpPr>
        <p:spPr>
          <a:xfrm>
            <a:off x="6583680" y="3767328"/>
            <a:ext cx="4800600" cy="512064"/>
          </a:xfrm>
          <a:prstGeom prst="rect">
            <a:avLst/>
          </a:prstGeom>
          <a:noFill/>
          <a:ln/>
        </p:spPr>
        <p:txBody>
          <a:bodyPr wrap="square" lIns="0" tIns="0" rIns="0" bIns="0" rtlCol="0" anchor="ctr"/>
          <a:lstStyle/>
          <a:p>
            <a:pPr indent="0" marL="0">
              <a:buNone/>
            </a:pPr>
            <a:r>
              <a:rPr lang="en-US" sz="840" dirty="0">
                <a:solidFill>
                  <a:srgbClr val="C6D2E4"/>
                </a:solidFill>
                <a:latin typeface="Calibri" pitchFamily="34" charset="0"/>
                <a:ea typeface="Calibri" pitchFamily="34" charset="-122"/>
                <a:cs typeface="Calibri" pitchFamily="34" charset="-120"/>
              </a:rPr>
              <a:t>Gd↓ Mn↑↑Co lowest; Mn forced against Co costs 1.25 eV per cell; Mn–Mn exchange ferromagnetic (B − A = 180 meV). Mechanism 2 closed at every site (18f, 18h, 9d, 6c)</a:t>
            </a:r>
            <a:endParaRPr lang="en-US" sz="840" dirty="0"/>
          </a:p>
        </p:txBody>
      </p:sp>
      <p:sp>
        <p:nvSpPr>
          <p:cNvPr id="39" name="Shape 37"/>
          <p:cNvSpPr/>
          <p:nvPr/>
        </p:nvSpPr>
        <p:spPr>
          <a:xfrm>
            <a:off x="5806440" y="4617720"/>
            <a:ext cx="5715000" cy="1371600"/>
          </a:xfrm>
          <a:prstGeom prst="roundRect">
            <a:avLst>
              <a:gd name="adj" fmla="val 5333"/>
            </a:avLst>
          </a:prstGeom>
          <a:solidFill>
            <a:srgbClr val="FCEDE8"/>
          </a:solidFill>
          <a:ln/>
        </p:spPr>
      </p:sp>
      <p:sp>
        <p:nvSpPr>
          <p:cNvPr id="40" name="Text 38"/>
          <p:cNvSpPr txBox="1"/>
          <p:nvPr/>
        </p:nvSpPr>
        <p:spPr>
          <a:xfrm>
            <a:off x="6062472" y="4736592"/>
            <a:ext cx="5212080" cy="237744"/>
          </a:xfrm>
          <a:prstGeom prst="rect">
            <a:avLst/>
          </a:prstGeom>
          <a:noFill/>
          <a:ln/>
        </p:spPr>
        <p:txBody>
          <a:bodyPr wrap="square" lIns="0" tIns="0" rIns="0" bIns="0" rtlCol="0" anchor="ctr"/>
          <a:lstStyle/>
          <a:p>
            <a:pPr indent="0" marL="0">
              <a:buNone/>
            </a:pPr>
            <a:r>
              <a:rPr lang="en-US" sz="1200" b="1" dirty="0">
                <a:solidFill>
                  <a:srgbClr val="E4572E"/>
                </a:solidFill>
                <a:latin typeface="Calibri" pitchFamily="34" charset="0"/>
                <a:ea typeface="Calibri" pitchFamily="34" charset="-122"/>
                <a:cs typeface="Calibri" pitchFamily="34" charset="-120"/>
              </a:rPr>
              <a:t>What was learnt</a:t>
            </a:r>
            <a:endParaRPr lang="en-US" sz="1200" dirty="0"/>
          </a:p>
        </p:txBody>
      </p:sp>
      <p:sp>
        <p:nvSpPr>
          <p:cNvPr id="41" name="Text 39"/>
          <p:cNvSpPr txBox="1"/>
          <p:nvPr/>
        </p:nvSpPr>
        <p:spPr>
          <a:xfrm>
            <a:off x="6062472" y="4983480"/>
            <a:ext cx="5257800" cy="960120"/>
          </a:xfrm>
          <a:prstGeom prst="rect">
            <a:avLst/>
          </a:prstGeom>
          <a:noFill/>
          <a:ln/>
        </p:spPr>
        <p:txBody>
          <a:bodyPr wrap="square" lIns="0" tIns="0" rIns="0" bIns="0" rtlCol="0" anchor="ctr"/>
          <a:lstStyle/>
          <a:p>
            <a:pPr indent="0" marL="0">
              <a:buNone/>
            </a:pPr>
            <a:r>
              <a:rPr lang="en-US" sz="960" dirty="0">
                <a:solidFill>
                  <a:srgbClr val="7A4034"/>
                </a:solidFill>
                <a:latin typeface="Calibri" pitchFamily="34" charset="0"/>
                <a:ea typeface="Calibri" pitchFamily="34" charset="-122"/>
                <a:cs typeface="Calibri" pitchFamily="34" charset="-120"/>
              </a:rPr>
              <a:t>A constrained calculation proves a state exists, not that nature picks it. Three validity rules were added to the analysis - spectator-flip detection, per-config convergence, RE-site equality - and only energies that survive an unconstrained release are compared. Under those rules the 180 credible pairs are a clean, systematic measurement of RE-TM exchange, which is worth more than one unverified ferromagnet.</a:t>
            </a:r>
            <a:endParaRPr lang="en-US" sz="9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THE Mn ARGUMENT, AND WHY IT FAILS</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Right syllogism, wrong premise - and the corrected version cancels the magnet it tries to make</a:t>
            </a:r>
            <a:endParaRPr lang="en-US" sz="3200" dirty="0"/>
          </a:p>
        </p:txBody>
      </p:sp>
      <p:sp>
        <p:nvSpPr>
          <p:cNvPr id="4" name="Shape 2"/>
          <p:cNvSpPr/>
          <p:nvPr/>
        </p:nvSpPr>
        <p:spPr>
          <a:xfrm>
            <a:off x="640080" y="1417320"/>
            <a:ext cx="5120640" cy="2331720"/>
          </a:xfrm>
          <a:prstGeom prst="roundRect">
            <a:avLst>
              <a:gd name="adj" fmla="val 3137"/>
            </a:avLst>
          </a:prstGeom>
          <a:solidFill>
            <a:srgbClr val="EEF2F7"/>
          </a:solidFill>
          <a:ln/>
        </p:spPr>
      </p:sp>
      <p:sp>
        <p:nvSpPr>
          <p:cNvPr id="5" name="Text 3"/>
          <p:cNvSpPr txBox="1"/>
          <p:nvPr/>
        </p:nvSpPr>
        <p:spPr>
          <a:xfrm>
            <a:off x="868680" y="1536192"/>
            <a:ext cx="4663440" cy="256032"/>
          </a:xfrm>
          <a:prstGeom prst="rect">
            <a:avLst/>
          </a:prstGeom>
          <a:noFill/>
          <a:ln/>
        </p:spPr>
        <p:txBody>
          <a:bodyPr wrap="square" lIns="0" tIns="0" rIns="0" bIns="0" rtlCol="0" anchor="ctr"/>
          <a:lstStyle/>
          <a:p>
            <a:pPr indent="0" marL="0">
              <a:buNone/>
            </a:pPr>
            <a:r>
              <a:rPr lang="en-US" sz="1250" b="1" dirty="0">
                <a:solidFill>
                  <a:srgbClr val="1A2233"/>
                </a:solidFill>
                <a:latin typeface="Calibri" pitchFamily="34" charset="0"/>
                <a:ea typeface="Calibri" pitchFamily="34" charset="-122"/>
                <a:cs typeface="Calibri" pitchFamily="34" charset="-120"/>
              </a:rPr>
              <a:t>The original logic</a:t>
            </a:r>
            <a:endParaRPr lang="en-US" sz="1250" dirty="0"/>
          </a:p>
        </p:txBody>
      </p:sp>
      <p:sp>
        <p:nvSpPr>
          <p:cNvPr id="6" name="Shape 4"/>
          <p:cNvSpPr/>
          <p:nvPr/>
        </p:nvSpPr>
        <p:spPr>
          <a:xfrm>
            <a:off x="868680" y="1847088"/>
            <a:ext cx="384048" cy="384048"/>
          </a:xfrm>
          <a:prstGeom prst="ellipse">
            <a:avLst/>
          </a:prstGeom>
          <a:solidFill>
            <a:srgbClr val="2E86AB"/>
          </a:solidFill>
          <a:ln/>
        </p:spPr>
      </p:sp>
      <p:sp>
        <p:nvSpPr>
          <p:cNvPr id="7" name="Text 5"/>
          <p:cNvSpPr txBox="1"/>
          <p:nvPr/>
        </p:nvSpPr>
        <p:spPr>
          <a:xfrm>
            <a:off x="868680" y="18470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389888" y="1828800"/>
            <a:ext cx="4160520" cy="512064"/>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Gd is antiparallel to Co because its 5d sees parallel 3d neighbours (Campbell).</a:t>
            </a:r>
            <a:endParaRPr lang="en-US" sz="1000" dirty="0"/>
          </a:p>
        </p:txBody>
      </p:sp>
      <p:sp>
        <p:nvSpPr>
          <p:cNvPr id="9" name="Shape 7"/>
          <p:cNvSpPr/>
          <p:nvPr/>
        </p:nvSpPr>
        <p:spPr>
          <a:xfrm>
            <a:off x="868680" y="2414016"/>
            <a:ext cx="384048" cy="384048"/>
          </a:xfrm>
          <a:prstGeom prst="ellipse">
            <a:avLst/>
          </a:prstGeom>
          <a:solidFill>
            <a:srgbClr val="2E86AB"/>
          </a:solidFill>
          <a:ln/>
        </p:spPr>
      </p:sp>
      <p:sp>
        <p:nvSpPr>
          <p:cNvPr id="10" name="Text 8"/>
          <p:cNvSpPr txBox="1"/>
          <p:nvPr/>
        </p:nvSpPr>
        <p:spPr>
          <a:xfrm>
            <a:off x="868680" y="24140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389888" y="2395728"/>
            <a:ext cx="4160520" cy="512064"/>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Mn couples antiparallel to Co, so a Mn on the dumbbell next to Gd gives the 5d an antiparallel neighbour.</a:t>
            </a:r>
            <a:endParaRPr lang="en-US" sz="1000" dirty="0"/>
          </a:p>
        </p:txBody>
      </p:sp>
      <p:sp>
        <p:nvSpPr>
          <p:cNvPr id="12" name="Shape 10"/>
          <p:cNvSpPr/>
          <p:nvPr/>
        </p:nvSpPr>
        <p:spPr>
          <a:xfrm>
            <a:off x="868680" y="2980944"/>
            <a:ext cx="384048" cy="384048"/>
          </a:xfrm>
          <a:prstGeom prst="ellipse">
            <a:avLst/>
          </a:prstGeom>
          <a:solidFill>
            <a:srgbClr val="2E86AB"/>
          </a:solidFill>
          <a:ln/>
        </p:spPr>
      </p:sp>
      <p:sp>
        <p:nvSpPr>
          <p:cNvPr id="13" name="Text 11"/>
          <p:cNvSpPr txBox="1"/>
          <p:nvPr/>
        </p:nvSpPr>
        <p:spPr>
          <a:xfrm>
            <a:off x="868680" y="29809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389888" y="2962656"/>
            <a:ext cx="4160520" cy="512064"/>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The 5d–3d rule then flips Gd to the Co side: ferromagnet, 1.95 T projected.</a:t>
            </a:r>
            <a:endParaRPr lang="en-US" sz="1000" dirty="0"/>
          </a:p>
        </p:txBody>
      </p:sp>
      <p:sp>
        <p:nvSpPr>
          <p:cNvPr id="15" name="Shape 13"/>
          <p:cNvSpPr/>
          <p:nvPr/>
        </p:nvSpPr>
        <p:spPr>
          <a:xfrm>
            <a:off x="640080" y="3886200"/>
            <a:ext cx="5120640" cy="2286000"/>
          </a:xfrm>
          <a:prstGeom prst="roundRect">
            <a:avLst>
              <a:gd name="adj" fmla="val 3200"/>
            </a:avLst>
          </a:prstGeom>
          <a:solidFill>
            <a:srgbClr val="FCEDE8"/>
          </a:solidFill>
          <a:ln/>
        </p:spPr>
      </p:sp>
      <p:sp>
        <p:nvSpPr>
          <p:cNvPr id="16" name="Text 14"/>
          <p:cNvSpPr txBox="1"/>
          <p:nvPr/>
        </p:nvSpPr>
        <p:spPr>
          <a:xfrm>
            <a:off x="868680" y="4005072"/>
            <a:ext cx="4663440" cy="256032"/>
          </a:xfrm>
          <a:prstGeom prst="rect">
            <a:avLst/>
          </a:prstGeom>
          <a:noFill/>
          <a:ln/>
        </p:spPr>
        <p:txBody>
          <a:bodyPr wrap="square" lIns="0" tIns="0" rIns="0" bIns="0" rtlCol="0" anchor="ctr"/>
          <a:lstStyle/>
          <a:p>
            <a:pPr indent="0" marL="0">
              <a:buNone/>
            </a:pPr>
            <a:r>
              <a:rPr lang="en-US" sz="1250" b="1" dirty="0">
                <a:solidFill>
                  <a:srgbClr val="E4572E"/>
                </a:solidFill>
                <a:latin typeface="Calibri" pitchFamily="34" charset="0"/>
                <a:ea typeface="Calibri" pitchFamily="34" charset="-122"/>
                <a:cs typeface="Calibri" pitchFamily="34" charset="-120"/>
              </a:rPr>
              <a:t>What the calculations said</a:t>
            </a:r>
            <a:endParaRPr lang="en-US" sz="1250" dirty="0"/>
          </a:p>
        </p:txBody>
      </p:sp>
      <p:sp>
        <p:nvSpPr>
          <p:cNvPr id="17" name="Text 15"/>
          <p:cNvSpPr txBox="1"/>
          <p:nvPr/>
        </p:nvSpPr>
        <p:spPr>
          <a:xfrm>
            <a:off x="868680" y="4297680"/>
            <a:ext cx="4709160" cy="548640"/>
          </a:xfrm>
          <a:prstGeom prst="rect">
            <a:avLst/>
          </a:prstGeom>
          <a:noFill/>
          <a:ln/>
        </p:spPr>
        <p:txBody>
          <a:bodyPr wrap="square" lIns="0" tIns="0" rIns="0" bIns="0" rtlCol="0" anchor="ctr"/>
          <a:lstStyle/>
          <a:p>
            <a:pPr marL="342900" indent="-342900">
              <a:buSzPct val="100000"/>
              <a:buChar char="•"/>
            </a:pPr>
            <a:r>
              <a:rPr lang="en-US" sz="960" dirty="0">
                <a:solidFill>
                  <a:srgbClr val="7A4034"/>
                </a:solidFill>
                <a:latin typeface="Calibri" pitchFamily="34" charset="0"/>
                <a:ea typeface="Calibri" pitchFamily="34" charset="-122"/>
                <a:cs typeface="Calibri" pitchFamily="34" charset="-120"/>
              </a:rPr>
              <a:t>Premise 2 is false here: Mn aligns WITH Co at 6c, 18f, 18h and 9d; opposing Co costs ~0.6 eV per Mn (state C, +1.25 eV for two).</a:t>
            </a:r>
            <a:endParaRPr lang="en-US" sz="960" dirty="0"/>
          </a:p>
        </p:txBody>
      </p:sp>
      <p:sp>
        <p:nvSpPr>
          <p:cNvPr id="18" name="Text 16"/>
          <p:cNvSpPr txBox="1"/>
          <p:nvPr/>
        </p:nvSpPr>
        <p:spPr>
          <a:xfrm>
            <a:off x="868680" y="4864608"/>
            <a:ext cx="4709160" cy="548640"/>
          </a:xfrm>
          <a:prstGeom prst="rect">
            <a:avLst/>
          </a:prstGeom>
          <a:noFill/>
          <a:ln/>
        </p:spPr>
        <p:txBody>
          <a:bodyPr wrap="square" lIns="0" tIns="0" rIns="0" bIns="0" rtlCol="0" anchor="ctr"/>
          <a:lstStyle/>
          <a:p>
            <a:pPr marL="342900" indent="-342900">
              <a:buSzPct val="100000"/>
              <a:buChar char="•"/>
            </a:pPr>
            <a:r>
              <a:rPr lang="en-US" sz="960" dirty="0">
                <a:solidFill>
                  <a:srgbClr val="7A4034"/>
                </a:solidFill>
                <a:latin typeface="Calibri" pitchFamily="34" charset="0"/>
                <a:ea typeface="Calibri" pitchFamily="34" charset="-122"/>
                <a:cs typeface="Calibri" pitchFamily="34" charset="-120"/>
              </a:rPr>
              <a:t>The +114.5 meV compared fm against the Mn-against-Co basin, held by the NUPDOWN lock and −42 kbar. Released: ferri lower by 208 meV/Gd, same as without Mn.</a:t>
            </a:r>
            <a:endParaRPr lang="en-US" sz="960" dirty="0"/>
          </a:p>
        </p:txBody>
      </p:sp>
      <p:sp>
        <p:nvSpPr>
          <p:cNvPr id="19" name="Text 17"/>
          <p:cNvSpPr txBox="1"/>
          <p:nvPr/>
        </p:nvSpPr>
        <p:spPr>
          <a:xfrm>
            <a:off x="868680" y="5431536"/>
            <a:ext cx="4709160" cy="548640"/>
          </a:xfrm>
          <a:prstGeom prst="rect">
            <a:avLst/>
          </a:prstGeom>
          <a:noFill/>
          <a:ln/>
        </p:spPr>
        <p:txBody>
          <a:bodyPr wrap="square" lIns="0" tIns="0" rIns="0" bIns="0" rtlCol="0" anchor="ctr"/>
          <a:lstStyle/>
          <a:p>
            <a:pPr marL="342900" indent="-342900">
              <a:buSzPct val="100000"/>
              <a:buChar char="•"/>
            </a:pPr>
            <a:r>
              <a:rPr lang="en-US" sz="960" dirty="0">
                <a:solidFill>
                  <a:srgbClr val="7A4034"/>
                </a:solidFill>
                <a:latin typeface="Calibri" pitchFamily="34" charset="0"/>
                <a:ea typeface="Calibri" pitchFamily="34" charset="-122"/>
                <a:cs typeface="Calibri" pitchFamily="34" charset="-120"/>
              </a:rPr>
              <a:t>One or two Mn cannot change what sixteen Co set: h, the summed shell polarisation, moved by &lt; 10 %; the gap by 0 at two Mn.</a:t>
            </a:r>
            <a:endParaRPr lang="en-US" sz="960" dirty="0"/>
          </a:p>
        </p:txBody>
      </p:sp>
      <p:pic>
        <p:nvPicPr>
          <p:cNvPr id="20" name="Image 0" descr="/Users/g5q/Documents/GitHub/gnome-fe-hree-magnets/assets/mn_compensation.png">    </p:cNvPr>
          <p:cNvPicPr>
            <a:picLocks noChangeAspect="1"/>
          </p:cNvPicPr>
          <p:nvPr/>
        </p:nvPicPr>
        <p:blipFill>
          <a:blip r:embed="rId1"/>
          <a:stretch>
            <a:fillRect/>
          </a:stretch>
        </p:blipFill>
        <p:spPr>
          <a:xfrm>
            <a:off x="5760720" y="1417320"/>
            <a:ext cx="5760720" cy="3246120"/>
          </a:xfrm>
          <a:prstGeom prst="rect">
            <a:avLst/>
          </a:prstGeom>
        </p:spPr>
      </p:pic>
      <p:sp>
        <p:nvSpPr>
          <p:cNvPr id="21" name="Shape 18"/>
          <p:cNvSpPr/>
          <p:nvPr/>
        </p:nvSpPr>
        <p:spPr>
          <a:xfrm>
            <a:off x="5760720" y="4754880"/>
            <a:ext cx="5760720" cy="1417320"/>
          </a:xfrm>
          <a:prstGeom prst="roundRect">
            <a:avLst>
              <a:gd name="adj" fmla="val 5161"/>
            </a:avLst>
          </a:prstGeom>
          <a:solidFill>
            <a:srgbClr val="1B2A4A"/>
          </a:solidFill>
          <a:ln/>
        </p:spPr>
      </p:sp>
      <p:sp>
        <p:nvSpPr>
          <p:cNvPr id="22" name="Text 19"/>
          <p:cNvSpPr txBox="1"/>
          <p:nvPr/>
        </p:nvSpPr>
        <p:spPr>
          <a:xfrm>
            <a:off x="5989320" y="4864608"/>
            <a:ext cx="5394960" cy="237744"/>
          </a:xfrm>
          <a:prstGeom prst="rect">
            <a:avLst/>
          </a:prstGeom>
          <a:noFill/>
          <a:ln/>
        </p:spPr>
        <p:txBody>
          <a:bodyPr wrap="square" lIns="0" tIns="0" rIns="0" bIns="0" rtlCol="0" anchor="ctr"/>
          <a:lstStyle/>
          <a:p>
            <a:pPr indent="0" marL="0">
              <a:buNone/>
            </a:pPr>
            <a:r>
              <a:rPr lang="en-US" sz="1200" b="1" dirty="0">
                <a:solidFill>
                  <a:srgbClr val="F2B134"/>
                </a:solidFill>
                <a:latin typeface="Calibri" pitchFamily="34" charset="0"/>
                <a:ea typeface="Calibri" pitchFamily="34" charset="-122"/>
                <a:cs typeface="Calibri" pitchFamily="34" charset="-120"/>
              </a:rPr>
              <a:t>The compensation argument: more Mn does not help either</a:t>
            </a:r>
            <a:endParaRPr lang="en-US" sz="1200" dirty="0"/>
          </a:p>
        </p:txBody>
      </p:sp>
      <p:sp>
        <p:nvSpPr>
          <p:cNvPr id="23" name="Text 20"/>
          <p:cNvSpPr txBox="1"/>
          <p:nvPr/>
        </p:nvSpPr>
        <p:spPr>
          <a:xfrm>
            <a:off x="5989320" y="5120640"/>
            <a:ext cx="5440680" cy="1024128"/>
          </a:xfrm>
          <a:prstGeom prst="rect">
            <a:avLst/>
          </a:prstGeom>
          <a:noFill/>
          <a:ln/>
        </p:spPr>
        <p:txBody>
          <a:bodyPr wrap="square" lIns="0" tIns="0" rIns="0" bIns="0" rtlCol="0" anchor="ctr"/>
          <a:lstStyle/>
          <a:p>
            <a:pPr indent="0" marL="0">
              <a:buNone/>
            </a:pPr>
            <a:r>
              <a:rPr lang="en-US" sz="930" dirty="0">
                <a:solidFill>
                  <a:srgbClr val="C6D2E4"/>
                </a:solidFill>
                <a:latin typeface="Calibri" pitchFamily="34" charset="0"/>
                <a:ea typeface="Calibri" pitchFamily="34" charset="-122"/>
                <a:cs typeface="Calibri" pitchFamily="34" charset="-120"/>
              </a:rPr>
              <a:t>Suppose Mn did oppose Fe/Co (true in Fe-rich hosts, R₂Fe₁₇₋ₓMnₓ). The Gd 5d follows the NET 3d spin of its shell: adding opposed Mn shrinks h and the gap, and Gd stays antiparallel to the net. At the crossover h → 0, but the net TM moment → 0 with it; past it Gd flips to oppose the Mn-dominated net. Gd is never parallel to the majority 3d moment, and the only point with no coupling is the point with no magnetisation. A Mn series measures a compensation curve, not a magnet.</a:t>
            </a:r>
            <a:endParaRPr lang="en-US" sz="9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WHAT THE 180 LABELS SAY  ·  1 / 2</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The gap is not a neighbour count: the per-neighbour coupling itself varies 10-fold</a:t>
            </a:r>
            <a:endParaRPr lang="en-US" sz="3200" dirty="0"/>
          </a:p>
        </p:txBody>
      </p:sp>
      <p:pic>
        <p:nvPicPr>
          <p:cNvPr id="4" name="Image 0" descr="/Users/g5q/Documents/GitHub/gnome-fe-hree-magnets/assets/trends_neighbours.png">    </p:cNvPr>
          <p:cNvPicPr>
            <a:picLocks noChangeAspect="1"/>
          </p:cNvPicPr>
          <p:nvPr/>
        </p:nvPicPr>
        <p:blipFill>
          <a:blip r:embed="rId1"/>
          <a:stretch>
            <a:fillRect/>
          </a:stretch>
        </p:blipFill>
        <p:spPr>
          <a:xfrm>
            <a:off x="640080" y="1417320"/>
            <a:ext cx="6766560" cy="4736592"/>
          </a:xfrm>
          <a:prstGeom prst="rect">
            <a:avLst/>
          </a:prstGeom>
        </p:spPr>
      </p:pic>
      <p:sp>
        <p:nvSpPr>
          <p:cNvPr id="5" name="Shape 2"/>
          <p:cNvSpPr/>
          <p:nvPr/>
        </p:nvSpPr>
        <p:spPr>
          <a:xfrm>
            <a:off x="7635240" y="1417320"/>
            <a:ext cx="3886200" cy="4736592"/>
          </a:xfrm>
          <a:prstGeom prst="roundRect">
            <a:avLst>
              <a:gd name="adj" fmla="val 1882"/>
            </a:avLst>
          </a:prstGeom>
          <a:solidFill>
            <a:srgbClr val="EEF2F7"/>
          </a:solidFill>
          <a:ln/>
        </p:spPr>
      </p:sp>
      <p:sp>
        <p:nvSpPr>
          <p:cNvPr id="6" name="Text 3"/>
          <p:cNvSpPr txBox="1"/>
          <p:nvPr/>
        </p:nvSpPr>
        <p:spPr>
          <a:xfrm>
            <a:off x="7863840" y="1554480"/>
            <a:ext cx="3474720" cy="237744"/>
          </a:xfrm>
          <a:prstGeom prst="rect">
            <a:avLst/>
          </a:prstGeom>
          <a:noFill/>
          <a:ln/>
        </p:spPr>
        <p:txBody>
          <a:bodyPr wrap="square" lIns="0" tIns="0" rIns="0" bIns="0" rtlCol="0" anchor="ctr"/>
          <a:lstStyle/>
          <a:p>
            <a:pPr indent="0" marL="0">
              <a:buNone/>
            </a:pPr>
            <a:r>
              <a:rPr lang="en-US" sz="1250" b="1" dirty="0">
                <a:solidFill>
                  <a:srgbClr val="1A2233"/>
                </a:solidFill>
                <a:latin typeface="Calibri" pitchFamily="34" charset="0"/>
                <a:ea typeface="Calibri" pitchFamily="34" charset="-122"/>
                <a:cs typeface="Calibri" pitchFamily="34" charset="-120"/>
              </a:rPr>
              <a:t>How to read it</a:t>
            </a:r>
            <a:endParaRPr lang="en-US" sz="1250" dirty="0"/>
          </a:p>
        </p:txBody>
      </p:sp>
      <p:sp>
        <p:nvSpPr>
          <p:cNvPr id="7" name="Text 4"/>
          <p:cNvSpPr txBox="1"/>
          <p:nvPr/>
        </p:nvSpPr>
        <p:spPr>
          <a:xfrm>
            <a:off x="7863840" y="1828800"/>
            <a:ext cx="3474720" cy="100584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Each point is one compound: the fm/ferri energy gap per Gd against the summed moment of the Fe/Co atoms touching that Gd. If the RE-TM coupling were a universal constant, the points would sit on one dotted line.</a:t>
            </a:r>
            <a:endParaRPr lang="en-US" sz="950" dirty="0"/>
          </a:p>
        </p:txBody>
      </p:sp>
      <p:sp>
        <p:nvSpPr>
          <p:cNvPr id="8" name="Text 5"/>
          <p:cNvSpPr txBox="1"/>
          <p:nvPr/>
        </p:nvSpPr>
        <p:spPr>
          <a:xfrm>
            <a:off x="7863840" y="2926080"/>
            <a:ext cx="3474720" cy="237744"/>
          </a:xfrm>
          <a:prstGeom prst="rect">
            <a:avLst/>
          </a:prstGeom>
          <a:noFill/>
          <a:ln/>
        </p:spPr>
        <p:txBody>
          <a:bodyPr wrap="square" lIns="0" tIns="0" rIns="0" bIns="0" rtlCol="0" anchor="ctr"/>
          <a:lstStyle/>
          <a:p>
            <a:pPr indent="0" marL="0">
              <a:buNone/>
            </a:pPr>
            <a:r>
              <a:rPr lang="en-US" sz="1250" b="1" dirty="0">
                <a:solidFill>
                  <a:srgbClr val="1A2233"/>
                </a:solidFill>
                <a:latin typeface="Calibri" pitchFamily="34" charset="0"/>
                <a:ea typeface="Calibri" pitchFamily="34" charset="-122"/>
                <a:cs typeface="Calibri" pitchFamily="34" charset="-120"/>
              </a:rPr>
              <a:t>What it shows</a:t>
            </a:r>
            <a:endParaRPr lang="en-US" sz="1250" dirty="0"/>
          </a:p>
        </p:txBody>
      </p:sp>
      <p:sp>
        <p:nvSpPr>
          <p:cNvPr id="9" name="Text 6"/>
          <p:cNvSpPr txBox="1"/>
          <p:nvPr/>
        </p:nvSpPr>
        <p:spPr>
          <a:xfrm>
            <a:off x="7863840" y="3200400"/>
            <a:ext cx="3520440" cy="694944"/>
          </a:xfrm>
          <a:prstGeom prst="rect">
            <a:avLst/>
          </a:prstGeom>
          <a:noFill/>
          <a:ln/>
        </p:spPr>
        <p:txBody>
          <a:bodyPr wrap="square" lIns="0" tIns="0" rIns="0" bIns="0" rtlCol="0" anchor="ctr"/>
          <a:lstStyle/>
          <a:p>
            <a:pPr marL="342900" indent="-342900">
              <a:buSzPct val="100000"/>
              <a:buChar char="•"/>
            </a:pPr>
            <a:r>
              <a:rPr lang="en-US" sz="920" dirty="0">
                <a:solidFill>
                  <a:srgbClr val="5A6478"/>
                </a:solidFill>
                <a:latin typeface="Calibri" pitchFamily="34" charset="0"/>
                <a:ea typeface="Calibri" pitchFamily="34" charset="-122"/>
                <a:cs typeface="Calibri" pitchFamily="34" charset="-120"/>
              </a:rPr>
              <a:t>They span J_eff = 0.05 to 1.4 meV/μB²: at a fixed neighbour moment of ~25 μB the gap ranges from 110 to 370 meV.</a:t>
            </a:r>
            <a:endParaRPr lang="en-US" sz="920" dirty="0"/>
          </a:p>
        </p:txBody>
      </p:sp>
      <p:sp>
        <p:nvSpPr>
          <p:cNvPr id="10" name="Text 7"/>
          <p:cNvSpPr txBox="1"/>
          <p:nvPr/>
        </p:nvSpPr>
        <p:spPr>
          <a:xfrm>
            <a:off x="7863840" y="3913632"/>
            <a:ext cx="3520440" cy="694944"/>
          </a:xfrm>
          <a:prstGeom prst="rect">
            <a:avLst/>
          </a:prstGeom>
          <a:noFill/>
          <a:ln/>
        </p:spPr>
        <p:txBody>
          <a:bodyPr wrap="square" lIns="0" tIns="0" rIns="0" bIns="0" rtlCol="0" anchor="ctr"/>
          <a:lstStyle/>
          <a:p>
            <a:pPr marL="342900" indent="-342900">
              <a:buSzPct val="100000"/>
              <a:buChar char="•"/>
            </a:pPr>
            <a:r>
              <a:rPr lang="en-US" sz="920" dirty="0">
                <a:solidFill>
                  <a:srgbClr val="5A6478"/>
                </a:solidFill>
                <a:latin typeface="Calibri" pitchFamily="34" charset="0"/>
                <a:ea typeface="Calibri" pitchFamily="34" charset="-122"/>
                <a:cs typeface="Calibri" pitchFamily="34" charset="-120"/>
              </a:rPr>
              <a:t>The strongest coupling sits at LOW neighbour moment (Fe/Y and Fe+Co hosts, upper left), the weakest at high neighbour moment (2-17 hydride, lower right).</a:t>
            </a:r>
            <a:endParaRPr lang="en-US" sz="920" dirty="0"/>
          </a:p>
        </p:txBody>
      </p:sp>
      <p:sp>
        <p:nvSpPr>
          <p:cNvPr id="11" name="Text 8"/>
          <p:cNvSpPr txBox="1"/>
          <p:nvPr/>
        </p:nvSpPr>
        <p:spPr>
          <a:xfrm>
            <a:off x="7863840" y="4626864"/>
            <a:ext cx="3520440" cy="694944"/>
          </a:xfrm>
          <a:prstGeom prst="rect">
            <a:avLst/>
          </a:prstGeom>
          <a:noFill/>
          <a:ln/>
        </p:spPr>
        <p:txBody>
          <a:bodyPr wrap="square" lIns="0" tIns="0" rIns="0" bIns="0" rtlCol="0" anchor="ctr"/>
          <a:lstStyle/>
          <a:p>
            <a:pPr marL="342900" indent="-342900">
              <a:buSzPct val="100000"/>
              <a:buChar char="•"/>
            </a:pPr>
            <a:r>
              <a:rPr lang="en-US" sz="920" dirty="0">
                <a:solidFill>
                  <a:srgbClr val="5A6478"/>
                </a:solidFill>
                <a:latin typeface="Calibri" pitchFamily="34" charset="0"/>
                <a:ea typeface="Calibri" pitchFamily="34" charset="-122"/>
                <a:cs typeface="Calibri" pitchFamily="34" charset="-120"/>
              </a:rPr>
              <a:t>So neither coordination number nor TM moment predicts the gap. Something about the host, not the count, sets it.</a:t>
            </a:r>
            <a:endParaRPr lang="en-US" sz="920" dirty="0"/>
          </a:p>
        </p:txBody>
      </p:sp>
      <p:sp>
        <p:nvSpPr>
          <p:cNvPr id="12" name="Text 9"/>
          <p:cNvSpPr txBox="1"/>
          <p:nvPr/>
        </p:nvSpPr>
        <p:spPr>
          <a:xfrm>
            <a:off x="7863840" y="5440680"/>
            <a:ext cx="3520440" cy="640080"/>
          </a:xfrm>
          <a:prstGeom prst="rect">
            <a:avLst/>
          </a:prstGeom>
          <a:noFill/>
          <a:ln/>
        </p:spPr>
        <p:txBody>
          <a:bodyPr wrap="square" lIns="0" tIns="0" rIns="0" bIns="0" rtlCol="0" anchor="ctr"/>
          <a:lstStyle/>
          <a:p>
            <a:pPr indent="0" marL="0">
              <a:buNone/>
            </a:pPr>
            <a:r>
              <a:rPr lang="en-US" sz="1000" b="1" dirty="0">
                <a:solidFill>
                  <a:srgbClr val="E4572E"/>
                </a:solidFill>
                <a:latin typeface="Calibri" pitchFamily="34" charset="0"/>
                <a:ea typeface="Calibri" pitchFamily="34" charset="-122"/>
                <a:cs typeface="Calibri" pitchFamily="34" charset="-120"/>
              </a:rPr>
              <a:t>Conclusion: a fixed J_RT times a neighbour count - the usual mean-field shortcut - would be wrong by up to 10x across this chemistry.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WHAT THE 180 LABELS SAY  ·  2 / 2</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Distance and chemistry set the coupling: short RE-TM bonds and mixed Fe+Co hosts couple hardest</a:t>
            </a:r>
            <a:endParaRPr lang="en-US" sz="3200" dirty="0"/>
          </a:p>
        </p:txBody>
      </p:sp>
      <p:pic>
        <p:nvPicPr>
          <p:cNvPr id="4" name="Image 0" descr="/Users/g5q/Documents/GitHub/gnome-fe-hree-magnets/assets/trends_geometry.png">    </p:cNvPr>
          <p:cNvPicPr>
            <a:picLocks noChangeAspect="1"/>
          </p:cNvPicPr>
          <p:nvPr/>
        </p:nvPicPr>
        <p:blipFill>
          <a:blip r:embed="rId1"/>
          <a:stretch>
            <a:fillRect/>
          </a:stretch>
        </p:blipFill>
        <p:spPr>
          <a:xfrm>
            <a:off x="640080" y="1417320"/>
            <a:ext cx="10881360" cy="3931920"/>
          </a:xfrm>
          <a:prstGeom prst="rect">
            <a:avLst/>
          </a:prstGeom>
        </p:spPr>
      </p:pic>
      <p:sp>
        <p:nvSpPr>
          <p:cNvPr id="5" name="Shape 2"/>
          <p:cNvSpPr/>
          <p:nvPr/>
        </p:nvSpPr>
        <p:spPr>
          <a:xfrm>
            <a:off x="640080" y="5440680"/>
            <a:ext cx="5303520" cy="1051560"/>
          </a:xfrm>
          <a:prstGeom prst="roundRect">
            <a:avLst>
              <a:gd name="adj" fmla="val 6957"/>
            </a:avLst>
          </a:prstGeom>
          <a:solidFill>
            <a:srgbClr val="EEF2F7"/>
          </a:solidFill>
          <a:ln/>
        </p:spPr>
      </p:sp>
      <p:sp>
        <p:nvSpPr>
          <p:cNvPr id="6" name="Text 3"/>
          <p:cNvSpPr txBox="1"/>
          <p:nvPr/>
        </p:nvSpPr>
        <p:spPr>
          <a:xfrm>
            <a:off x="841248" y="5504688"/>
            <a:ext cx="4937760" cy="914400"/>
          </a:xfrm>
          <a:prstGeom prst="rect">
            <a:avLst/>
          </a:prstGeom>
          <a:noFill/>
          <a:ln/>
        </p:spPr>
        <p:txBody>
          <a:bodyPr wrap="square" lIns="0" tIns="0" rIns="0" bIns="0" rtlCol="0" anchor="ctr"/>
          <a:lstStyle/>
          <a:p>
            <a:pPr indent="0" marL="0">
              <a:buNone/>
            </a:pPr>
            <a:r>
              <a:rPr lang="en-US" sz="950" dirty="0">
                <a:solidFill>
                  <a:srgbClr val="1A2233"/>
                </a:solidFill>
                <a:latin typeface="Calibri" pitchFamily="34" charset="0"/>
                <a:ea typeface="Calibri" pitchFamily="34" charset="-122"/>
                <a:cs typeface="Calibri" pitchFamily="34" charset="-120"/>
              </a:rPr>
              <a:t>Left: coupling falls as the Gd-TM distance grows (r = −0.61). Below 3.0 Å with 12 TM neighbours the Fe/Y hosts reach J_eff ≈ 1; above 3.15 Å - hydride, metalloid-shell and open cages - it drops to 0.05-0.4.</a:t>
            </a:r>
            <a:endParaRPr lang="en-US" sz="950" dirty="0"/>
          </a:p>
        </p:txBody>
      </p:sp>
      <p:sp>
        <p:nvSpPr>
          <p:cNvPr id="7" name="Shape 4"/>
          <p:cNvSpPr/>
          <p:nvPr/>
        </p:nvSpPr>
        <p:spPr>
          <a:xfrm>
            <a:off x="6217920" y="5440680"/>
            <a:ext cx="5303520" cy="1051560"/>
          </a:xfrm>
          <a:prstGeom prst="roundRect">
            <a:avLst>
              <a:gd name="adj" fmla="val 6957"/>
            </a:avLst>
          </a:prstGeom>
          <a:solidFill>
            <a:srgbClr val="EEF2F7"/>
          </a:solidFill>
          <a:ln/>
        </p:spPr>
      </p:sp>
      <p:sp>
        <p:nvSpPr>
          <p:cNvPr id="8" name="Text 5"/>
          <p:cNvSpPr txBox="1"/>
          <p:nvPr/>
        </p:nvSpPr>
        <p:spPr>
          <a:xfrm>
            <a:off x="6419088" y="5504688"/>
            <a:ext cx="4937760" cy="914400"/>
          </a:xfrm>
          <a:prstGeom prst="rect">
            <a:avLst/>
          </a:prstGeom>
          <a:noFill/>
          <a:ln/>
        </p:spPr>
        <p:txBody>
          <a:bodyPr wrap="square" lIns="0" tIns="0" rIns="0" bIns="0" rtlCol="0" anchor="ctr"/>
          <a:lstStyle/>
          <a:p>
            <a:pPr indent="0" marL="0">
              <a:buNone/>
            </a:pPr>
            <a:r>
              <a:rPr lang="en-US" sz="950" dirty="0">
                <a:solidFill>
                  <a:srgbClr val="1A2233"/>
                </a:solidFill>
                <a:latin typeface="Calibri" pitchFamily="34" charset="0"/>
                <a:ea typeface="Calibri" pitchFamily="34" charset="-122"/>
                <a:cs typeface="Calibri" pitchFamily="34" charset="-120"/>
              </a:rPr>
              <a:t>Right: mixed Fe+Co hosts have median J_eff 0.75 against 0.51 for pure Fe - Brooks' 5d-3d hybridisation argument seen on 27 compounds. The d-band centre and DOS at E_F add nothing once distance and the 5d moment are known (next slide).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THE 5d METHOD</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Calibrated on 180 Gd pairs, the gap is read off a single calculation</a:t>
            </a:r>
            <a:endParaRPr lang="en-US" sz="3200" dirty="0"/>
          </a:p>
        </p:txBody>
      </p:sp>
      <p:pic>
        <p:nvPicPr>
          <p:cNvPr id="4" name="Image 0" descr="/Users/g5q/Documents/GitHub/gnome-fe-hree-magnets/assets/gap_vs_h.png">    </p:cNvPr>
          <p:cNvPicPr>
            <a:picLocks noChangeAspect="1"/>
          </p:cNvPicPr>
          <p:nvPr/>
        </p:nvPicPr>
        <p:blipFill>
          <a:blip r:embed="rId1"/>
          <a:stretch>
            <a:fillRect/>
          </a:stretch>
        </p:blipFill>
        <p:spPr>
          <a:xfrm>
            <a:off x="640080" y="1417320"/>
            <a:ext cx="6720840" cy="4663440"/>
          </a:xfrm>
          <a:prstGeom prst="rect">
            <a:avLst/>
          </a:prstGeom>
        </p:spPr>
      </p:pic>
      <p:sp>
        <p:nvSpPr>
          <p:cNvPr id="5" name="Shape 2"/>
          <p:cNvSpPr/>
          <p:nvPr/>
        </p:nvSpPr>
        <p:spPr>
          <a:xfrm>
            <a:off x="7589520" y="1417320"/>
            <a:ext cx="3931920" cy="2331720"/>
          </a:xfrm>
          <a:prstGeom prst="roundRect">
            <a:avLst>
              <a:gd name="adj" fmla="val 3137"/>
            </a:avLst>
          </a:prstGeom>
          <a:solidFill>
            <a:srgbClr val="1B2A4A"/>
          </a:solidFill>
          <a:ln/>
        </p:spPr>
      </p:sp>
      <p:sp>
        <p:nvSpPr>
          <p:cNvPr id="6" name="Text 3"/>
          <p:cNvSpPr txBox="1"/>
          <p:nvPr/>
        </p:nvSpPr>
        <p:spPr>
          <a:xfrm>
            <a:off x="7818120" y="1554480"/>
            <a:ext cx="3566160" cy="237744"/>
          </a:xfrm>
          <a:prstGeom prst="rect">
            <a:avLst/>
          </a:prstGeom>
          <a:noFill/>
          <a:ln/>
        </p:spPr>
        <p:txBody>
          <a:bodyPr wrap="square" lIns="0" tIns="0" rIns="0" bIns="0" rtlCol="0" anchor="ctr"/>
          <a:lstStyle/>
          <a:p>
            <a:pPr indent="0" marL="0">
              <a:buNone/>
            </a:pPr>
            <a:r>
              <a:rPr lang="en-US" sz="1200" b="1" dirty="0">
                <a:solidFill>
                  <a:srgbClr val="F2B134"/>
                </a:solidFill>
                <a:latin typeface="Calibri" pitchFamily="34" charset="0"/>
                <a:ea typeface="Calibri" pitchFamily="34" charset="-122"/>
                <a:cs typeface="Calibri" pitchFamily="34" charset="-120"/>
              </a:rPr>
              <a:t>Liebs &amp; Fähnle (1993), used forward</a:t>
            </a:r>
            <a:endParaRPr lang="en-US" sz="1200" dirty="0"/>
          </a:p>
        </p:txBody>
      </p:sp>
      <p:sp>
        <p:nvSpPr>
          <p:cNvPr id="7" name="Text 4"/>
          <p:cNvSpPr txBox="1"/>
          <p:nvPr/>
        </p:nvSpPr>
        <p:spPr>
          <a:xfrm>
            <a:off x="7818120" y="1847088"/>
            <a:ext cx="356616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ΔE  =  2 · I₄f₋₅d · S₄f · S₅d</a:t>
            </a:r>
            <a:endParaRPr lang="en-US" sz="1800" dirty="0"/>
          </a:p>
        </p:txBody>
      </p:sp>
      <p:sp>
        <p:nvSpPr>
          <p:cNvPr id="8" name="Text 5"/>
          <p:cNvSpPr txBox="1"/>
          <p:nvPr/>
        </p:nvSpPr>
        <p:spPr>
          <a:xfrm>
            <a:off x="7818120" y="2249424"/>
            <a:ext cx="3566160" cy="292608"/>
          </a:xfrm>
          <a:prstGeom prst="rect">
            <a:avLst/>
          </a:prstGeom>
          <a:noFill/>
          <a:ln/>
        </p:spPr>
        <p:txBody>
          <a:bodyPr wrap="square" lIns="0" tIns="0" rIns="0" bIns="0" rtlCol="0" anchor="ctr"/>
          <a:lstStyle/>
          <a:p>
            <a:pPr indent="0" marL="0">
              <a:buNone/>
            </a:pPr>
            <a:r>
              <a:rPr lang="en-US" sz="1400" b="1" dirty="0">
                <a:solidFill>
                  <a:srgbClr val="C6D2E4"/>
                </a:solidFill>
                <a:latin typeface="Cambria" pitchFamily="34" charset="0"/>
                <a:ea typeface="Cambria" pitchFamily="34" charset="-122"/>
                <a:cs typeface="Cambria" pitchFamily="34" charset="-120"/>
              </a:rPr>
              <a:t>h  =  −½ [ m₅d(ferri) + m₅d(fm) ]</a:t>
            </a:r>
            <a:endParaRPr lang="en-US" sz="1400" dirty="0"/>
          </a:p>
        </p:txBody>
      </p:sp>
      <p:sp>
        <p:nvSpPr>
          <p:cNvPr id="9" name="Text 6"/>
          <p:cNvSpPr txBox="1"/>
          <p:nvPr/>
        </p:nvSpPr>
        <p:spPr>
          <a:xfrm>
            <a:off x="7818120" y="2596896"/>
            <a:ext cx="3566160" cy="822960"/>
          </a:xfrm>
          <a:prstGeom prst="rect">
            <a:avLst/>
          </a:prstGeom>
          <a:noFill/>
          <a:ln/>
        </p:spPr>
        <p:txBody>
          <a:bodyPr wrap="square" lIns="0" tIns="0" rIns="0" bIns="0" rtlCol="0" anchor="ctr"/>
          <a:lstStyle/>
          <a:p>
            <a:pPr indent="0" marL="0">
              <a:buNone/>
            </a:pPr>
            <a:r>
              <a:rPr lang="en-US" sz="900" dirty="0">
                <a:solidFill>
                  <a:srgbClr val="C6D2E4"/>
                </a:solidFill>
                <a:latin typeface="Calibri" pitchFamily="34" charset="0"/>
                <a:ea typeface="Calibri" pitchFamily="34" charset="-122"/>
                <a:cs typeface="Calibri" pitchFamily="34" charset="-120"/>
              </a:rPr>
              <a:t>h is the part of the RE 5d moment tied to the TM neighbours; the part induced by the ion's own 4f flips with it and cancels. h is exactly what a 4f-free host (Y, or f-in-core Nd/Sm) reports as its RE moment.</a:t>
            </a:r>
            <a:endParaRPr lang="en-US" sz="900" dirty="0"/>
          </a:p>
        </p:txBody>
      </p:sp>
      <p:sp>
        <p:nvSpPr>
          <p:cNvPr id="10" name="Text 7"/>
          <p:cNvSpPr txBox="1"/>
          <p:nvPr/>
        </p:nvSpPr>
        <p:spPr>
          <a:xfrm>
            <a:off x="7818120" y="3401568"/>
            <a:ext cx="3566160" cy="274320"/>
          </a:xfrm>
          <a:prstGeom prst="rect">
            <a:avLst/>
          </a:prstGeom>
          <a:noFill/>
          <a:ln/>
        </p:spPr>
        <p:txBody>
          <a:bodyPr wrap="square" lIns="0" tIns="0" rIns="0" bIns="0" rtlCol="0" anchor="ctr"/>
          <a:lstStyle/>
          <a:p>
            <a:pPr indent="0" marL="0">
              <a:buNone/>
            </a:pPr>
            <a:r>
              <a:rPr lang="en-US" sz="1050" b="1" dirty="0">
                <a:solidFill>
                  <a:srgbClr val="F2B134"/>
                </a:solidFill>
                <a:latin typeface="Calibri" pitchFamily="34" charset="0"/>
                <a:ea typeface="Calibri" pitchFamily="34" charset="-122"/>
                <a:cs typeface="Calibri" pitchFamily="34" charset="-120"/>
              </a:rPr>
              <a:t>|ΔE| = 1574 · h meV    r = 0.89    I₄f₋₅d ≈ 225 meV</a:t>
            </a:r>
            <a:endParaRPr lang="en-US" sz="1050" dirty="0"/>
          </a:p>
        </p:txBody>
      </p:sp>
      <p:sp>
        <p:nvSpPr>
          <p:cNvPr id="11" name="Shape 8"/>
          <p:cNvSpPr/>
          <p:nvPr/>
        </p:nvSpPr>
        <p:spPr>
          <a:xfrm>
            <a:off x="7589520" y="3886200"/>
            <a:ext cx="3931920" cy="2240280"/>
          </a:xfrm>
          <a:prstGeom prst="roundRect">
            <a:avLst>
              <a:gd name="adj" fmla="val 3265"/>
            </a:avLst>
          </a:prstGeom>
          <a:solidFill>
            <a:srgbClr val="EEF2F7"/>
          </a:solidFill>
          <a:ln/>
        </p:spPr>
      </p:sp>
      <p:sp>
        <p:nvSpPr>
          <p:cNvPr id="12" name="Text 9"/>
          <p:cNvSpPr txBox="1"/>
          <p:nvPr/>
        </p:nvSpPr>
        <p:spPr>
          <a:xfrm>
            <a:off x="7818120" y="4005072"/>
            <a:ext cx="3566160" cy="237744"/>
          </a:xfrm>
          <a:prstGeom prst="rect">
            <a:avLst/>
          </a:prstGeom>
          <a:noFill/>
          <a:ln/>
        </p:spPr>
        <p:txBody>
          <a:bodyPr wrap="square" lIns="0" tIns="0" rIns="0" bIns="0" rtlCol="0" anchor="ctr"/>
          <a:lstStyle/>
          <a:p>
            <a:pPr indent="0" marL="0">
              <a:buNone/>
            </a:pPr>
            <a:r>
              <a:rPr lang="en-US" sz="1200" b="1" dirty="0">
                <a:solidFill>
                  <a:srgbClr val="1A2233"/>
                </a:solidFill>
                <a:latin typeface="Calibri" pitchFamily="34" charset="0"/>
                <a:ea typeface="Calibri" pitchFamily="34" charset="-122"/>
                <a:cs typeface="Calibri" pitchFamily="34" charset="-120"/>
              </a:rPr>
              <a:t>Why it matters</a:t>
            </a:r>
            <a:endParaRPr lang="en-US" sz="1200" dirty="0"/>
          </a:p>
        </p:txBody>
      </p:sp>
      <p:sp>
        <p:nvSpPr>
          <p:cNvPr id="13" name="Text 10"/>
          <p:cNvSpPr txBox="1"/>
          <p:nvPr/>
        </p:nvSpPr>
        <p:spPr>
          <a:xfrm>
            <a:off x="7818120" y="4242816"/>
            <a:ext cx="3611880" cy="457200"/>
          </a:xfrm>
          <a:prstGeom prst="rect">
            <a:avLst/>
          </a:prstGeom>
          <a:noFill/>
          <a:ln/>
        </p:spPr>
        <p:txBody>
          <a:bodyPr wrap="square" lIns="0" tIns="0" rIns="0" bIns="0" rtlCol="0" anchor="ctr"/>
          <a:lstStyle/>
          <a:p>
            <a:pPr marL="342900" indent="-342900">
              <a:buSzPct val="100000"/>
              <a:buChar char="•"/>
            </a:pPr>
            <a:r>
              <a:rPr lang="en-US" sz="800" dirty="0">
                <a:solidFill>
                  <a:srgbClr val="5A6478"/>
                </a:solidFill>
                <a:latin typeface="Calibri" pitchFamily="34" charset="0"/>
                <a:ea typeface="Calibri" pitchFamily="34" charset="-122"/>
                <a:cs typeface="Calibri" pitchFamily="34" charset="-120"/>
              </a:rPr>
              <a:t>Circles mark the compounds with a measured exchange constant; stars are the gap their experimental J_RT implies. GdFe₂: J_RT 2.97 (ours) vs 2.99 × 10⁻²² J (expt). Validation slide follows.</a:t>
            </a:r>
            <a:endParaRPr lang="en-US" sz="800" dirty="0"/>
          </a:p>
        </p:txBody>
      </p:sp>
      <p:sp>
        <p:nvSpPr>
          <p:cNvPr id="14" name="Text 11"/>
          <p:cNvSpPr txBox="1"/>
          <p:nvPr/>
        </p:nvSpPr>
        <p:spPr>
          <a:xfrm>
            <a:off x="7818120" y="4700016"/>
            <a:ext cx="3611880" cy="457200"/>
          </a:xfrm>
          <a:prstGeom prst="rect">
            <a:avLst/>
          </a:prstGeom>
          <a:noFill/>
          <a:ln/>
        </p:spPr>
        <p:txBody>
          <a:bodyPr wrap="square" lIns="0" tIns="0" rIns="0" bIns="0" rtlCol="0" anchor="ctr"/>
          <a:lstStyle/>
          <a:p>
            <a:pPr marL="342900" indent="-342900">
              <a:buSzPct val="100000"/>
              <a:buChar char="•"/>
            </a:pPr>
            <a:r>
              <a:rPr lang="en-US" sz="800" dirty="0">
                <a:solidFill>
                  <a:srgbClr val="5A6478"/>
                </a:solidFill>
                <a:latin typeface="Calibri" pitchFamily="34" charset="0"/>
                <a:ea typeface="Calibri" pitchFamily="34" charset="-122"/>
                <a:cs typeface="Calibri" pitchFamily="34" charset="-120"/>
              </a:rPr>
              <a:t>Beats the raw ground-state 5d moment as a predictor (r 0.80 → 0.89) because it removes the 4f-induced part.</a:t>
            </a:r>
            <a:endParaRPr lang="en-US" sz="800" dirty="0"/>
          </a:p>
        </p:txBody>
      </p:sp>
      <p:sp>
        <p:nvSpPr>
          <p:cNvPr id="15" name="Text 12"/>
          <p:cNvSpPr txBox="1"/>
          <p:nvPr/>
        </p:nvSpPr>
        <p:spPr>
          <a:xfrm>
            <a:off x="7818120" y="5157216"/>
            <a:ext cx="3611880" cy="457200"/>
          </a:xfrm>
          <a:prstGeom prst="rect">
            <a:avLst/>
          </a:prstGeom>
          <a:noFill/>
          <a:ln/>
        </p:spPr>
        <p:txBody>
          <a:bodyPr wrap="square" lIns="0" tIns="0" rIns="0" bIns="0" rtlCol="0" anchor="ctr"/>
          <a:lstStyle/>
          <a:p>
            <a:pPr marL="342900" indent="-342900">
              <a:buSzPct val="100000"/>
              <a:buChar char="•"/>
            </a:pPr>
            <a:r>
              <a:rPr lang="en-US" sz="800" dirty="0">
                <a:solidFill>
                  <a:srgbClr val="5A6478"/>
                </a:solidFill>
                <a:latin typeface="Calibri" pitchFamily="34" charset="0"/>
                <a:ea typeface="Calibri" pitchFamily="34" charset="-122"/>
                <a:cs typeface="Calibri" pitchFamily="34" charset="-120"/>
              </a:rPr>
              <a:t>Turns an fm/ferri pair with 4f in the valence into ONE f-in-core run: J_RT, the RE molecular field B_RT = ΔE/2μ and T* = ΔE_RE/2k_B all follow.</a:t>
            </a:r>
            <a:endParaRPr lang="en-US" sz="800" dirty="0"/>
          </a:p>
        </p:txBody>
      </p:sp>
      <p:sp>
        <p:nvSpPr>
          <p:cNvPr id="16" name="Text 13"/>
          <p:cNvSpPr txBox="1"/>
          <p:nvPr/>
        </p:nvSpPr>
        <p:spPr>
          <a:xfrm>
            <a:off x="7818120" y="5614416"/>
            <a:ext cx="3611880" cy="457200"/>
          </a:xfrm>
          <a:prstGeom prst="rect">
            <a:avLst/>
          </a:prstGeom>
          <a:noFill/>
          <a:ln/>
        </p:spPr>
        <p:txBody>
          <a:bodyPr wrap="square" lIns="0" tIns="0" rIns="0" bIns="0" rtlCol="0" anchor="ctr"/>
          <a:lstStyle/>
          <a:p>
            <a:pPr marL="342900" indent="-342900">
              <a:buSzPct val="100000"/>
              <a:buChar char="•"/>
            </a:pPr>
            <a:r>
              <a:rPr lang="en-US" sz="800" dirty="0">
                <a:solidFill>
                  <a:srgbClr val="5A6478"/>
                </a:solidFill>
                <a:latin typeface="Calibri" pitchFamily="34" charset="0"/>
                <a:ea typeface="Calibri" pitchFamily="34" charset="-122"/>
                <a:cs typeface="Calibri" pitchFamily="34" charset="-120"/>
              </a:rPr>
              <a:t>Applied to Tao et al. 2026 (diamonds): Sm hosts predicted at 190-220 meV per Sm, T* 1100-1260 K - the Sm anisotropy stays locked to Fe up to Tc, consistent with their ferrimagnetic ground states.</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VALIDATION AGAINST PRIOR WORK</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Where literature gives a number, the campaign reproduces it</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881360" cy="914400"/>
        </p:xfrm>
        <a:graphic>
          <a:graphicData uri="http://schemas.openxmlformats.org/drawingml/2006/table">
            <a:tbl>
              <a:tblPr/>
              <a:tblGrid>
                <a:gridCol w="2743200"/>
                <a:gridCol w="2926080"/>
                <a:gridCol w="3657600"/>
                <a:gridCol w="1554480"/>
              </a:tblGrid>
              <a:tr h="457200">
                <a:tc>
                  <a:txBody>
                    <a:bodyPr/>
                    <a:lstStyle/>
                    <a:p>
                      <a:pPr indent="0" marL="0">
                        <a:buNone/>
                      </a:pPr>
                      <a:r>
                        <a:rPr lang="en-US" sz="950" b="1" dirty="0">
                          <a:solidFill>
                            <a:srgbClr val="1A2233"/>
                          </a:solidFill>
                          <a:latin typeface="Calibri" pitchFamily="34" charset="0"/>
                          <a:ea typeface="Calibri" pitchFamily="34" charset="-122"/>
                          <a:cs typeface="Calibri" pitchFamily="34" charset="-120"/>
                        </a:rPr>
                        <a:t>Quantity / rule</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b="1" dirty="0">
                          <a:solidFill>
                            <a:srgbClr val="1A2233"/>
                          </a:solidFill>
                          <a:latin typeface="Calibri" pitchFamily="34" charset="0"/>
                          <a:ea typeface="Calibri" pitchFamily="34" charset="-122"/>
                          <a:cs typeface="Calibri" pitchFamily="34" charset="-120"/>
                        </a:rPr>
                        <a:t>Literature</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b="1" dirty="0">
                          <a:solidFill>
                            <a:srgbClr val="1A2233"/>
                          </a:solidFill>
                          <a:latin typeface="Calibri" pitchFamily="34" charset="0"/>
                          <a:ea typeface="Calibri" pitchFamily="34" charset="-122"/>
                          <a:cs typeface="Calibri" pitchFamily="34" charset="-120"/>
                        </a:rPr>
                        <a:t>This campaign</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b="1" dirty="0">
                          <a:solidFill>
                            <a:srgbClr val="1A2233"/>
                          </a:solidFill>
                          <a:latin typeface="Calibri" pitchFamily="34" charset="0"/>
                          <a:ea typeface="Calibri" pitchFamily="34" charset="-122"/>
                          <a:cs typeface="Calibri" pitchFamily="34" charset="-120"/>
                        </a:rPr>
                        <a:t>Status</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GdFe₂ RE-TM exchange J_RT</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2.99 × 10⁻²² J (Liebs, Hummler, Fähnle 1992; expt. molecular field)</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2.97 × 10⁻²² J from the fm/ferri gap (352 meV/Gd)</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reproduced</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ΔE ∝ S₅d (Liebs &amp; Fähnle 1993)</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shown on 3 compounds, ab initio</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holds on 180 compounds, r = 0.89; I₄f₋₅d ≈ 225 meV</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confirmed at scale</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Campbell 4f-5d-3d sign rule</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heavy RE always antiparallel to Fe/Co</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180 / 180 credible pairs antiparallel; 0 exceptions</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confirmed</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Duc's early-TM rule</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V/Ti in GdFe₁₂₋ₓVₓ doubles A_GdFe (x = 0 → 4)</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early-TM hosts J_eff ×0.97 of the Fe baseline (CI 0.88-1.07); GdFe₁₀V₂ J_RT 1.52 vs 1.30 expt</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not resolved - needs a concentration series</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Brooks: Co strengthens 5d-3d coupling</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Co-based &gt; Fe-based molecular fields</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Fe+Co hosts J_eff 0.75 vs Fe 0.51, Co 0.57</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confirmed</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Tao et al. 2026: Mn/Cr as weak-coupling mediators</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Sm(Fe,Mn,Cr) hosts; RE moments −0.24 … −0.33 μB (f-frozen)</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same h on our line → Gd-equivalent gaps 380-520 meV; hosts are strongly coupled, not weakly</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reinterpreted</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Mn-mediated RE-TM ferromagnetism (our own claim)</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Co16Gd2Mn, +114.5 meV/Gd (locked)</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Mn ∥ Co ferrimagnet by 208 meV/Gd after release</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rejected</a:t>
                      </a:r>
                      <a:endParaRPr lang="en-US" sz="95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5349240"/>
            <a:ext cx="10881360" cy="777240"/>
          </a:xfrm>
          <a:prstGeom prst="roundRect">
            <a:avLst>
              <a:gd name="adj" fmla="val 9412"/>
            </a:avLst>
          </a:prstGeom>
          <a:solidFill>
            <a:srgbClr val="EEF2F7"/>
          </a:solidFill>
          <a:ln/>
        </p:spPr>
      </p:sp>
      <p:sp>
        <p:nvSpPr>
          <p:cNvPr id="6" name="Text 3"/>
          <p:cNvSpPr txBox="1"/>
          <p:nvPr/>
        </p:nvSpPr>
        <p:spPr>
          <a:xfrm>
            <a:off x="868680" y="5349240"/>
            <a:ext cx="10424160" cy="777240"/>
          </a:xfrm>
          <a:prstGeom prst="rect">
            <a:avLst/>
          </a:prstGeom>
          <a:noFill/>
          <a:ln/>
        </p:spPr>
        <p:txBody>
          <a:bodyPr wrap="square" lIns="0" tIns="0" rIns="0" bIns="0" rtlCol="0" anchor="ctr"/>
          <a:lstStyle/>
          <a:p>
            <a:pPr indent="0" marL="0">
              <a:buNone/>
            </a:pPr>
            <a:r>
              <a:rPr lang="en-US" sz="1100" i="1" dirty="0">
                <a:solidFill>
                  <a:srgbClr val="1A2233"/>
                </a:solidFill>
                <a:latin typeface="Calibri" pitchFamily="34" charset="0"/>
                <a:ea typeface="Calibri" pitchFamily="34" charset="-122"/>
                <a:cs typeface="Calibri" pitchFamily="34" charset="-120"/>
              </a:rPr>
              <a:t>Learnt: the campaign is a quantitative instrument, not a yes/no screen. It reproduces the one measured RE-TM exchange constant it can be checked against, generalises the two-sublattice theory from three compounds to 180, and corrects its own headline when the release test disagrees.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VALIDATION AGAINST PRIOR WORK  ·  THE NUMBERS</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Four exchange constants with experimental values: three within 25 %, the control exact</a:t>
            </a:r>
            <a:endParaRPr lang="en-US" sz="3200" dirty="0"/>
          </a:p>
        </p:txBody>
      </p:sp>
      <p:pic>
        <p:nvPicPr>
          <p:cNvPr id="4" name="Image 0" descr="/Users/g5q/Documents/GitHub/gnome-fe-hree-magnets/assets/validation_jrt.png">    </p:cNvPr>
          <p:cNvPicPr>
            <a:picLocks noChangeAspect="1"/>
          </p:cNvPicPr>
          <p:nvPr/>
        </p:nvPicPr>
        <p:blipFill>
          <a:blip r:embed="rId1"/>
          <a:stretch>
            <a:fillRect/>
          </a:stretch>
        </p:blipFill>
        <p:spPr>
          <a:xfrm>
            <a:off x="640080" y="1417320"/>
            <a:ext cx="6035040" cy="4617720"/>
          </a:xfrm>
          <a:prstGeom prst="rect">
            <a:avLst/>
          </a:prstGeom>
        </p:spPr>
      </p:pic>
      <p:sp>
        <p:nvSpPr>
          <p:cNvPr id="5" name="Shape 2"/>
          <p:cNvSpPr/>
          <p:nvPr/>
        </p:nvSpPr>
        <p:spPr>
          <a:xfrm>
            <a:off x="6949440" y="1417320"/>
            <a:ext cx="4572000" cy="4617720"/>
          </a:xfrm>
          <a:prstGeom prst="roundRect">
            <a:avLst>
              <a:gd name="adj" fmla="val 1600"/>
            </a:avLst>
          </a:prstGeom>
          <a:solidFill>
            <a:srgbClr val="EEF2F7"/>
          </a:solidFill>
          <a:ln/>
        </p:spPr>
      </p:sp>
      <p:sp>
        <p:nvSpPr>
          <p:cNvPr id="6" name="Text 3"/>
          <p:cNvSpPr txBox="1"/>
          <p:nvPr/>
        </p:nvSpPr>
        <p:spPr>
          <a:xfrm>
            <a:off x="7178040" y="1554480"/>
            <a:ext cx="4114800" cy="237744"/>
          </a:xfrm>
          <a:prstGeom prst="rect">
            <a:avLst/>
          </a:prstGeom>
          <a:noFill/>
          <a:ln/>
        </p:spPr>
        <p:txBody>
          <a:bodyPr wrap="square" lIns="0" tIns="0" rIns="0" bIns="0" rtlCol="0" anchor="ctr"/>
          <a:lstStyle/>
          <a:p>
            <a:pPr indent="0" marL="0">
              <a:buNone/>
            </a:pPr>
            <a:r>
              <a:rPr lang="en-US" sz="1250" b="1" dirty="0">
                <a:solidFill>
                  <a:srgbClr val="1A2233"/>
                </a:solidFill>
                <a:latin typeface="Calibri" pitchFamily="34" charset="0"/>
                <a:ea typeface="Calibri" pitchFamily="34" charset="-122"/>
                <a:cs typeface="Calibri" pitchFamily="34" charset="-120"/>
              </a:rPr>
              <a:t>What is compared</a:t>
            </a:r>
            <a:endParaRPr lang="en-US" sz="1250" dirty="0"/>
          </a:p>
        </p:txBody>
      </p:sp>
      <p:sp>
        <p:nvSpPr>
          <p:cNvPr id="7" name="Text 4"/>
          <p:cNvSpPr txBox="1"/>
          <p:nvPr/>
        </p:nvSpPr>
        <p:spPr>
          <a:xfrm>
            <a:off x="7178040" y="1828800"/>
            <a:ext cx="4160520" cy="86868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J_RT in the Liebs-Fähnle two-sublattice convention, ΔE = 4 J_RT S_R S_T Z_RT, computed from our fm/ferri gap with the compound's own TM moment and neighbour count - no fitted parameter.</a:t>
            </a:r>
            <a:endParaRPr lang="en-US" sz="950" dirty="0"/>
          </a:p>
        </p:txBody>
      </p:sp>
      <p:sp>
        <p:nvSpPr>
          <p:cNvPr id="8" name="Text 5"/>
          <p:cNvSpPr txBox="1"/>
          <p:nvPr/>
        </p:nvSpPr>
        <p:spPr>
          <a:xfrm>
            <a:off x="7178040" y="2743200"/>
            <a:ext cx="4114800" cy="201168"/>
          </a:xfrm>
          <a:prstGeom prst="rect">
            <a:avLst/>
          </a:prstGeom>
          <a:noFill/>
          <a:ln/>
        </p:spPr>
        <p:txBody>
          <a:bodyPr wrap="square" lIns="0" tIns="0" rIns="0" bIns="0" rtlCol="0" anchor="ctr"/>
          <a:lstStyle/>
          <a:p>
            <a:pPr indent="0" marL="0">
              <a:buNone/>
            </a:pPr>
            <a:r>
              <a:rPr lang="en-US" sz="1000" b="1" dirty="0">
                <a:solidFill>
                  <a:srgbClr val="2E86AB"/>
                </a:solidFill>
                <a:latin typeface="Calibri" pitchFamily="34" charset="0"/>
                <a:ea typeface="Calibri" pitchFamily="34" charset="-122"/>
                <a:cs typeface="Calibri" pitchFamily="34" charset="-120"/>
              </a:rPr>
              <a:t>GdFe₂</a:t>
            </a:r>
            <a:endParaRPr lang="en-US" sz="1000" dirty="0"/>
          </a:p>
        </p:txBody>
      </p:sp>
      <p:sp>
        <p:nvSpPr>
          <p:cNvPr id="9" name="Text 6"/>
          <p:cNvSpPr txBox="1"/>
          <p:nvPr/>
        </p:nvSpPr>
        <p:spPr>
          <a:xfrm>
            <a:off x="7178040" y="2935224"/>
            <a:ext cx="4160520" cy="512064"/>
          </a:xfrm>
          <a:prstGeom prst="rect">
            <a:avLst/>
          </a:prstGeom>
          <a:noFill/>
          <a:ln/>
        </p:spPr>
        <p:txBody>
          <a:bodyPr wrap="square" lIns="0" tIns="0" rIns="0" bIns="0" rtlCol="0" anchor="ctr"/>
          <a:lstStyle/>
          <a:p>
            <a:pPr indent="0" marL="0">
              <a:buNone/>
            </a:pPr>
            <a:r>
              <a:rPr lang="en-US" sz="860" dirty="0">
                <a:solidFill>
                  <a:srgbClr val="5A6478"/>
                </a:solidFill>
                <a:latin typeface="Calibri" pitchFamily="34" charset="0"/>
                <a:ea typeface="Calibri" pitchFamily="34" charset="-122"/>
                <a:cs typeface="Calibri" pitchFamily="34" charset="-120"/>
              </a:rPr>
              <a:t>2.97 vs 2.99 - the protocol control, reproduced to 1 %.</a:t>
            </a:r>
            <a:endParaRPr lang="en-US" sz="860" dirty="0"/>
          </a:p>
        </p:txBody>
      </p:sp>
      <p:sp>
        <p:nvSpPr>
          <p:cNvPr id="10" name="Text 7"/>
          <p:cNvSpPr txBox="1"/>
          <p:nvPr/>
        </p:nvSpPr>
        <p:spPr>
          <a:xfrm>
            <a:off x="7178040" y="3456432"/>
            <a:ext cx="4114800" cy="201168"/>
          </a:xfrm>
          <a:prstGeom prst="rect">
            <a:avLst/>
          </a:prstGeom>
          <a:noFill/>
          <a:ln/>
        </p:spPr>
        <p:txBody>
          <a:bodyPr wrap="square" lIns="0" tIns="0" rIns="0" bIns="0" rtlCol="0" anchor="ctr"/>
          <a:lstStyle/>
          <a:p>
            <a:pPr indent="0" marL="0">
              <a:buNone/>
            </a:pPr>
            <a:r>
              <a:rPr lang="en-US" sz="1000" b="1" dirty="0">
                <a:solidFill>
                  <a:srgbClr val="2E86AB"/>
                </a:solidFill>
                <a:latin typeface="Calibri" pitchFamily="34" charset="0"/>
                <a:ea typeface="Calibri" pitchFamily="34" charset="-122"/>
                <a:cs typeface="Calibri" pitchFamily="34" charset="-120"/>
              </a:rPr>
              <a:t>Gd₂Fe₁₄B</a:t>
            </a:r>
            <a:endParaRPr lang="en-US" sz="1000" dirty="0"/>
          </a:p>
        </p:txBody>
      </p:sp>
      <p:sp>
        <p:nvSpPr>
          <p:cNvPr id="11" name="Text 8"/>
          <p:cNvSpPr txBox="1"/>
          <p:nvPr/>
        </p:nvSpPr>
        <p:spPr>
          <a:xfrm>
            <a:off x="7178040" y="3648456"/>
            <a:ext cx="4160520" cy="512064"/>
          </a:xfrm>
          <a:prstGeom prst="rect">
            <a:avLst/>
          </a:prstGeom>
          <a:noFill/>
          <a:ln/>
        </p:spPr>
        <p:txBody>
          <a:bodyPr wrap="square" lIns="0" tIns="0" rIns="0" bIns="0" rtlCol="0" anchor="ctr"/>
          <a:lstStyle/>
          <a:p>
            <a:pPr indent="0" marL="0">
              <a:buNone/>
            </a:pPr>
            <a:r>
              <a:rPr lang="en-US" sz="860" dirty="0">
                <a:solidFill>
                  <a:srgbClr val="5A6478"/>
                </a:solidFill>
                <a:latin typeface="Calibri" pitchFamily="34" charset="0"/>
                <a:ea typeface="Calibri" pitchFamily="34" charset="-122"/>
                <a:cs typeface="Calibri" pitchFamily="34" charset="-120"/>
              </a:rPr>
              <a:t>1.84 vs 1.46 from inelastic neutron scattering - 26 % high; LHF's own LMTO value is 1.46, so the gap is in our Z_RT bookkeeping for the two inequivalent Gd sites.</a:t>
            </a:r>
            <a:endParaRPr lang="en-US" sz="860" dirty="0"/>
          </a:p>
        </p:txBody>
      </p:sp>
      <p:sp>
        <p:nvSpPr>
          <p:cNvPr id="12" name="Text 9"/>
          <p:cNvSpPr txBox="1"/>
          <p:nvPr/>
        </p:nvSpPr>
        <p:spPr>
          <a:xfrm>
            <a:off x="7178040" y="4169664"/>
            <a:ext cx="4114800" cy="201168"/>
          </a:xfrm>
          <a:prstGeom prst="rect">
            <a:avLst/>
          </a:prstGeom>
          <a:noFill/>
          <a:ln/>
        </p:spPr>
        <p:txBody>
          <a:bodyPr wrap="square" lIns="0" tIns="0" rIns="0" bIns="0" rtlCol="0" anchor="ctr"/>
          <a:lstStyle/>
          <a:p>
            <a:pPr indent="0" marL="0">
              <a:buNone/>
            </a:pPr>
            <a:r>
              <a:rPr lang="en-US" sz="1000" b="1" dirty="0">
                <a:solidFill>
                  <a:srgbClr val="2E86AB"/>
                </a:solidFill>
                <a:latin typeface="Calibri" pitchFamily="34" charset="0"/>
                <a:ea typeface="Calibri" pitchFamily="34" charset="-122"/>
                <a:cs typeface="Calibri" pitchFamily="34" charset="-120"/>
              </a:rPr>
              <a:t>GdFe₁₀V₂</a:t>
            </a:r>
            <a:endParaRPr lang="en-US" sz="1000" dirty="0"/>
          </a:p>
        </p:txBody>
      </p:sp>
      <p:sp>
        <p:nvSpPr>
          <p:cNvPr id="13" name="Text 10"/>
          <p:cNvSpPr txBox="1"/>
          <p:nvPr/>
        </p:nvSpPr>
        <p:spPr>
          <a:xfrm>
            <a:off x="7178040" y="4361688"/>
            <a:ext cx="4160520" cy="512064"/>
          </a:xfrm>
          <a:prstGeom prst="rect">
            <a:avLst/>
          </a:prstGeom>
          <a:noFill/>
          <a:ln/>
        </p:spPr>
        <p:txBody>
          <a:bodyPr wrap="square" lIns="0" tIns="0" rIns="0" bIns="0" rtlCol="0" anchor="ctr"/>
          <a:lstStyle/>
          <a:p>
            <a:pPr indent="0" marL="0">
              <a:buNone/>
            </a:pPr>
            <a:r>
              <a:rPr lang="en-US" sz="860" dirty="0">
                <a:solidFill>
                  <a:srgbClr val="5A6478"/>
                </a:solidFill>
                <a:latin typeface="Calibri" pitchFamily="34" charset="0"/>
                <a:ea typeface="Calibri" pitchFamily="34" charset="-122"/>
                <a:cs typeface="Calibri" pitchFamily="34" charset="-120"/>
              </a:rPr>
              <a:t>1.52 vs Duc's A_GdFe 1.30 at x = 2 - 17 % high, and inside the spread of Duc's own series (1.13-2.25).</a:t>
            </a:r>
            <a:endParaRPr lang="en-US" sz="860" dirty="0"/>
          </a:p>
        </p:txBody>
      </p:sp>
      <p:sp>
        <p:nvSpPr>
          <p:cNvPr id="14" name="Text 11"/>
          <p:cNvSpPr txBox="1"/>
          <p:nvPr/>
        </p:nvSpPr>
        <p:spPr>
          <a:xfrm>
            <a:off x="7178040" y="4882896"/>
            <a:ext cx="4114800" cy="201168"/>
          </a:xfrm>
          <a:prstGeom prst="rect">
            <a:avLst/>
          </a:prstGeom>
          <a:noFill/>
          <a:ln/>
        </p:spPr>
        <p:txBody>
          <a:bodyPr wrap="square" lIns="0" tIns="0" rIns="0" bIns="0" rtlCol="0" anchor="ctr"/>
          <a:lstStyle/>
          <a:p>
            <a:pPr indent="0" marL="0">
              <a:buNone/>
            </a:pPr>
            <a:r>
              <a:rPr lang="en-US" sz="1000" b="1" dirty="0">
                <a:solidFill>
                  <a:srgbClr val="2E86AB"/>
                </a:solidFill>
                <a:latin typeface="Calibri" pitchFamily="34" charset="0"/>
                <a:ea typeface="Calibri" pitchFamily="34" charset="-122"/>
                <a:cs typeface="Calibri" pitchFamily="34" charset="-120"/>
              </a:rPr>
              <a:t>Gd₂Fe₁₇N₂ ↔ Ho₂Fe₁₇</a:t>
            </a:r>
            <a:endParaRPr lang="en-US" sz="1000" dirty="0"/>
          </a:p>
        </p:txBody>
      </p:sp>
      <p:sp>
        <p:nvSpPr>
          <p:cNvPr id="15" name="Text 12"/>
          <p:cNvSpPr txBox="1"/>
          <p:nvPr/>
        </p:nvSpPr>
        <p:spPr>
          <a:xfrm>
            <a:off x="7178040" y="5074920"/>
            <a:ext cx="4160520" cy="512064"/>
          </a:xfrm>
          <a:prstGeom prst="rect">
            <a:avLst/>
          </a:prstGeom>
          <a:noFill/>
          <a:ln/>
        </p:spPr>
        <p:txBody>
          <a:bodyPr wrap="square" lIns="0" tIns="0" rIns="0" bIns="0" rtlCol="0" anchor="ctr"/>
          <a:lstStyle/>
          <a:p>
            <a:pPr indent="0" marL="0">
              <a:buNone/>
            </a:pPr>
            <a:r>
              <a:rPr lang="en-US" sz="860" dirty="0">
                <a:solidFill>
                  <a:srgbClr val="5A6478"/>
                </a:solidFill>
                <a:latin typeface="Calibri" pitchFamily="34" charset="0"/>
                <a:ea typeface="Calibri" pitchFamily="34" charset="-122"/>
                <a:cs typeface="Calibri" pitchFamily="34" charset="-120"/>
              </a:rPr>
              <a:t>1.21 vs 1.2-1.4 (Ho₂Fe₁₇, INS). Open marker: a nitride compared to a binary, because no Gd₂Fe₁₇ pair survived the validity rules.</a:t>
            </a:r>
            <a:endParaRPr lang="en-US" sz="860" dirty="0"/>
          </a:p>
        </p:txBody>
      </p:sp>
      <p:sp>
        <p:nvSpPr>
          <p:cNvPr id="16" name="Text 13"/>
          <p:cNvSpPr txBox="1"/>
          <p:nvPr/>
        </p:nvSpPr>
        <p:spPr>
          <a:xfrm>
            <a:off x="640080" y="6126480"/>
            <a:ext cx="10881360" cy="457200"/>
          </a:xfrm>
          <a:prstGeom prst="rect">
            <a:avLst/>
          </a:prstGeom>
          <a:noFill/>
          <a:ln/>
        </p:spPr>
        <p:txBody>
          <a:bodyPr wrap="square" lIns="0" tIns="0" rIns="0" bIns="0" rtlCol="0" anchor="ctr"/>
          <a:lstStyle/>
          <a:p>
            <a:pPr indent="0" marL="0">
              <a:buNone/>
            </a:pPr>
            <a:r>
              <a:rPr lang="en-US" sz="1000" i="1" dirty="0">
                <a:solidFill>
                  <a:srgbClr val="1A2233"/>
                </a:solidFill>
                <a:latin typeface="Calibri" pitchFamily="34" charset="0"/>
                <a:ea typeface="Calibri" pitchFamily="34" charset="-122"/>
                <a:cs typeface="Calibri" pitchFamily="34" charset="-120"/>
              </a:rPr>
              <a:t>Learnt: the campaign's exchange energies are on the experimental scale, biased ≤ 25 % high where the RE sites are inequivalent. Good enough to rank hosts; not yet good enough to resolve Duc's 15-20 % early-TM effect, which needs a concentration series on one lattice.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DESIGN PRINCIPLES, AUDITED</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Every rule used to build permanent magnets, checked against the same 180 labels</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2834640"/>
                <a:gridCol w="2651760"/>
                <a:gridCol w="4023360"/>
                <a:gridCol w="1371600"/>
              </a:tblGrid>
              <a:tr h="365760">
                <a:tc>
                  <a:txBody>
                    <a:bodyPr/>
                    <a:lstStyle/>
                    <a:p>
                      <a:pPr indent="0" marL="0">
                        <a:buNone/>
                      </a:pPr>
                      <a:r>
                        <a:rPr lang="en-US" sz="880" b="1" dirty="0">
                          <a:solidFill>
                            <a:srgbClr val="1A2233"/>
                          </a:solidFill>
                          <a:latin typeface="Calibri" pitchFamily="34" charset="0"/>
                          <a:ea typeface="Calibri" pitchFamily="34" charset="-122"/>
                          <a:cs typeface="Calibri" pitchFamily="34" charset="-120"/>
                        </a:rPr>
                        <a:t>Principle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b="1" dirty="0">
                          <a:solidFill>
                            <a:srgbClr val="1A2233"/>
                          </a:solidFill>
                          <a:latin typeface="Calibri" pitchFamily="34" charset="0"/>
                          <a:ea typeface="Calibri" pitchFamily="34" charset="-122"/>
                          <a:cs typeface="Calibri" pitchFamily="34" charset="-120"/>
                        </a:rPr>
                        <a:t>What it predicts</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b="1" dirty="0">
                          <a:solidFill>
                            <a:srgbClr val="1A2233"/>
                          </a:solidFill>
                          <a:latin typeface="Calibri" pitchFamily="34" charset="0"/>
                          <a:ea typeface="Calibri" pitchFamily="34" charset="-122"/>
                          <a:cs typeface="Calibri" pitchFamily="34" charset="-120"/>
                        </a:rPr>
                        <a:t>What the dataset shows</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b="1" dirty="0">
                          <a:solidFill>
                            <a:srgbClr val="1A2233"/>
                          </a:solidFill>
                          <a:latin typeface="Calibri" pitchFamily="34" charset="0"/>
                          <a:ea typeface="Calibri" pitchFamily="34" charset="-122"/>
                          <a:cs typeface="Calibri" pitchFamily="34" charset="-120"/>
                        </a:rPr>
                        <a:t>Verdict</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65760">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Heavy RE couples antiparallel (Campbell)</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no FM Fe/Co-heavy-RE compound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180/180 ferrimagnetic</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confirmed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65760">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Gap scales with RE 5d spin (Liebs-Fähnle)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ΔE ∝ S₅d, host-independent I₄f₋₅d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r = 0.89 on h; d-band centre adds nothing</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confirmed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65760">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de Gennes scaling across the RE series</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ΔE_RE = ΔE_Gd · (g−1)J / 3.5</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assumed to project Tb-Tm and Nd/Sm; explicit-4f Tb-Tm runs under way</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in test</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65760">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Fe-rich, dense lattices for Ms</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Ms ceiling set by Fe density</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best Gd hosts 0.9-1.06 T; light-RE projection ceiling ≈ 1.75 T (0 K, no SOC)</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confirmed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65760">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Light RE (J = L − S) adds to Ms</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Nd/Sm moment parallel to Fe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projected +0.6-0.9 T over Gd; 20 f-in-core runs queued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in test</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65760">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Interstitial N / C raise Ms and Tc</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lattice expansion, stronger Fe-Fe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Gd₂Fe₁₇N₂ is the top Ms host; C analogues close behind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confirmed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65760">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Interstitial H is harmless</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mild expansion only</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Gd₂Fe₁₇H₃ gap 28 meV (×0.10): H in the RE shell nearly switches off RE-TM coupling - one compound, re-running</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rejected if it survives release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65760">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Early-TM stabilisers (Ti, V, Zr, Nb) help</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stabilise 1:12-type cells, stronger coupling (Duc)</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coupling ×0.97 of baseline, no effect resolved; hull: Fe₅GdV on hull, Ti variants 12-19 meV above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stability yes, coupling unresolved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65760">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Partial Co for Tc and coupling</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Co raises Tc and RE-TM field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Fe+Co hosts strongest J_eff (0.75); Ms cost small at low Co</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confirmed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65760">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Mn as a sign-flipping mediator</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Mn ∥ RE breaks the antiparallel rule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Mn ∥ Co in every released state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rejected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65760">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Metalloid-rich cages (B, Si, Ga, Al in RE shell)</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stabilise structures cheaply</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systematically lower gaps - anisotropy decouples first</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use with care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6053328"/>
            <a:ext cx="10881360" cy="457200"/>
          </a:xfrm>
          <a:prstGeom prst="rect">
            <a:avLst/>
          </a:prstGeom>
          <a:noFill/>
          <a:ln/>
        </p:spPr>
        <p:txBody>
          <a:bodyPr wrap="square" lIns="0" tIns="0" rIns="0" bIns="0" rtlCol="0" anchor="ctr"/>
          <a:lstStyle/>
          <a:p>
            <a:pPr indent="0" marL="0">
              <a:buNone/>
            </a:pPr>
            <a:r>
              <a:rPr lang="en-US" sz="1050" i="1" dirty="0">
                <a:solidFill>
                  <a:srgbClr val="1A2233"/>
                </a:solidFill>
                <a:latin typeface="Calibri" pitchFamily="34" charset="0"/>
                <a:ea typeface="Calibri" pitchFamily="34" charset="-122"/>
                <a:cs typeface="Calibri" pitchFamily="34" charset="-120"/>
              </a:rPr>
              <a:t>Learnt: most principles hold in direction but their magnitudes differ by an order of magnitude, one (early TM) is not resolved by cross-host data, and only the 5d-spin rule is quantitative enough to rank candidates.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DESIGN PRINCIPLES, AUDITED  ·  EFFECT SIZES</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The same rules as numbers: how far each lever moves the RE-TM coupling from the Fe baseline</a:t>
            </a:r>
            <a:endParaRPr lang="en-US" sz="3200" dirty="0"/>
          </a:p>
        </p:txBody>
      </p:sp>
      <p:pic>
        <p:nvPicPr>
          <p:cNvPr id="4" name="Image 0" descr="/Users/g5q/Documents/GitHub/gnome-fe-hree-magnets/assets/principles_effects.png">    </p:cNvPr>
          <p:cNvPicPr>
            <a:picLocks noChangeAspect="1"/>
          </p:cNvPicPr>
          <p:nvPr/>
        </p:nvPicPr>
        <p:blipFill>
          <a:blip r:embed="rId1"/>
          <a:stretch>
            <a:fillRect/>
          </a:stretch>
        </p:blipFill>
        <p:spPr>
          <a:xfrm>
            <a:off x="640080" y="1417320"/>
            <a:ext cx="6858000" cy="4206240"/>
          </a:xfrm>
          <a:prstGeom prst="rect">
            <a:avLst/>
          </a:prstGeom>
        </p:spPr>
      </p:pic>
      <p:sp>
        <p:nvSpPr>
          <p:cNvPr id="5" name="Shape 2"/>
          <p:cNvSpPr/>
          <p:nvPr/>
        </p:nvSpPr>
        <p:spPr>
          <a:xfrm>
            <a:off x="7726680" y="1417320"/>
            <a:ext cx="3794760" cy="4206240"/>
          </a:xfrm>
          <a:prstGeom prst="roundRect">
            <a:avLst>
              <a:gd name="adj" fmla="val 1928"/>
            </a:avLst>
          </a:prstGeom>
          <a:solidFill>
            <a:srgbClr val="EEF2F7"/>
          </a:solidFill>
          <a:ln/>
        </p:spPr>
      </p:sp>
      <p:sp>
        <p:nvSpPr>
          <p:cNvPr id="6" name="Text 3"/>
          <p:cNvSpPr txBox="1"/>
          <p:nvPr/>
        </p:nvSpPr>
        <p:spPr>
          <a:xfrm>
            <a:off x="7955280" y="1554480"/>
            <a:ext cx="3383280" cy="237744"/>
          </a:xfrm>
          <a:prstGeom prst="rect">
            <a:avLst/>
          </a:prstGeom>
          <a:noFill/>
          <a:ln/>
        </p:spPr>
        <p:txBody>
          <a:bodyPr wrap="square" lIns="0" tIns="0" rIns="0" bIns="0" rtlCol="0" anchor="ctr"/>
          <a:lstStyle/>
          <a:p>
            <a:pPr indent="0" marL="0">
              <a:buNone/>
            </a:pPr>
            <a:r>
              <a:rPr lang="en-US" sz="1250" b="1" dirty="0">
                <a:solidFill>
                  <a:srgbClr val="1A2233"/>
                </a:solidFill>
                <a:latin typeface="Calibri" pitchFamily="34" charset="0"/>
                <a:ea typeface="Calibri" pitchFamily="34" charset="-122"/>
                <a:cs typeface="Calibri" pitchFamily="34" charset="-120"/>
              </a:rPr>
              <a:t>Reading the chart</a:t>
            </a:r>
            <a:endParaRPr lang="en-US" sz="1250" dirty="0"/>
          </a:p>
        </p:txBody>
      </p:sp>
      <p:sp>
        <p:nvSpPr>
          <p:cNvPr id="7" name="Text 4"/>
          <p:cNvSpPr txBox="1"/>
          <p:nvPr/>
        </p:nvSpPr>
        <p:spPr>
          <a:xfrm>
            <a:off x="7955280" y="1828800"/>
            <a:ext cx="3383280" cy="868680"/>
          </a:xfrm>
          <a:prstGeom prst="rect">
            <a:avLst/>
          </a:prstGeom>
          <a:noFill/>
          <a:ln/>
        </p:spPr>
        <p:txBody>
          <a:bodyPr wrap="square" lIns="0" tIns="0" rIns="0" bIns="0" rtlCol="0" anchor="ctr"/>
          <a:lstStyle/>
          <a:p>
            <a:pPr indent="0" marL="0">
              <a:buNone/>
            </a:pPr>
            <a:r>
              <a:rPr lang="en-US" sz="930" dirty="0">
                <a:solidFill>
                  <a:srgbClr val="5A6478"/>
                </a:solidFill>
                <a:latin typeface="Calibri" pitchFamily="34" charset="0"/>
                <a:ea typeface="Calibri" pitchFamily="34" charset="-122"/>
                <a:cs typeface="Calibri" pitchFamily="34" charset="-120"/>
              </a:rPr>
              <a:t>Median J_eff of the compounds carrying a lever, divided by the median of all 123 Fe-only hosts; bars are bootstrap 95 % intervals. Blue = strengthens coupling, red = weakens, grey = not resolved.</a:t>
            </a:r>
            <a:endParaRPr lang="en-US" sz="930" dirty="0"/>
          </a:p>
        </p:txBody>
      </p:sp>
      <p:sp>
        <p:nvSpPr>
          <p:cNvPr id="8" name="Text 5"/>
          <p:cNvSpPr txBox="1"/>
          <p:nvPr/>
        </p:nvSpPr>
        <p:spPr>
          <a:xfrm>
            <a:off x="7955280" y="2788920"/>
            <a:ext cx="3383280" cy="201168"/>
          </a:xfrm>
          <a:prstGeom prst="rect">
            <a:avLst/>
          </a:prstGeom>
          <a:noFill/>
          <a:ln/>
        </p:spPr>
        <p:txBody>
          <a:bodyPr wrap="square" lIns="0" tIns="0" rIns="0" bIns="0" rtlCol="0" anchor="ctr"/>
          <a:lstStyle/>
          <a:p>
            <a:pPr indent="0" marL="0">
              <a:buNone/>
            </a:pPr>
            <a:r>
              <a:rPr lang="en-US" sz="980" b="1" dirty="0">
                <a:solidFill>
                  <a:srgbClr val="2E86AB"/>
                </a:solidFill>
                <a:latin typeface="Calibri" pitchFamily="34" charset="0"/>
                <a:ea typeface="Calibri" pitchFamily="34" charset="-122"/>
                <a:cs typeface="Calibri" pitchFamily="34" charset="-120"/>
              </a:rPr>
              <a:t>×1.48  partial Co</a:t>
            </a:r>
            <a:endParaRPr lang="en-US" sz="980" dirty="0"/>
          </a:p>
        </p:txBody>
      </p:sp>
      <p:sp>
        <p:nvSpPr>
          <p:cNvPr id="9" name="Text 6"/>
          <p:cNvSpPr txBox="1"/>
          <p:nvPr/>
        </p:nvSpPr>
        <p:spPr>
          <a:xfrm>
            <a:off x="7955280" y="2980944"/>
            <a:ext cx="3429000" cy="365760"/>
          </a:xfrm>
          <a:prstGeom prst="rect">
            <a:avLst/>
          </a:prstGeom>
          <a:noFill/>
          <a:ln/>
        </p:spPr>
        <p:txBody>
          <a:bodyPr wrap="square" lIns="0" tIns="0" rIns="0" bIns="0" rtlCol="0" anchor="ctr"/>
          <a:lstStyle/>
          <a:p>
            <a:pPr indent="0" marL="0">
              <a:buNone/>
            </a:pPr>
            <a:r>
              <a:rPr lang="en-US" sz="840" dirty="0">
                <a:solidFill>
                  <a:srgbClr val="5A6478"/>
                </a:solidFill>
                <a:latin typeface="Calibri" pitchFamily="34" charset="0"/>
                <a:ea typeface="Calibri" pitchFamily="34" charset="-122"/>
                <a:cs typeface="Calibri" pitchFamily="34" charset="-120"/>
              </a:rPr>
              <a:t>the only lever with a large, resolved positive effect</a:t>
            </a:r>
            <a:endParaRPr lang="en-US" sz="840" dirty="0"/>
          </a:p>
        </p:txBody>
      </p:sp>
      <p:sp>
        <p:nvSpPr>
          <p:cNvPr id="10" name="Text 7"/>
          <p:cNvSpPr txBox="1"/>
          <p:nvPr/>
        </p:nvSpPr>
        <p:spPr>
          <a:xfrm>
            <a:off x="7955280" y="3337560"/>
            <a:ext cx="3383280" cy="201168"/>
          </a:xfrm>
          <a:prstGeom prst="rect">
            <a:avLst/>
          </a:prstGeom>
          <a:noFill/>
          <a:ln/>
        </p:spPr>
        <p:txBody>
          <a:bodyPr wrap="square" lIns="0" tIns="0" rIns="0" bIns="0" rtlCol="0" anchor="ctr"/>
          <a:lstStyle/>
          <a:p>
            <a:pPr indent="0" marL="0">
              <a:buNone/>
            </a:pPr>
            <a:r>
              <a:rPr lang="en-US" sz="980" b="1" dirty="0">
                <a:solidFill>
                  <a:srgbClr val="2E86AB"/>
                </a:solidFill>
                <a:latin typeface="Calibri" pitchFamily="34" charset="0"/>
                <a:ea typeface="Calibri" pitchFamily="34" charset="-122"/>
                <a:cs typeface="Calibri" pitchFamily="34" charset="-120"/>
              </a:rPr>
              <a:t>×1.12  all-Co</a:t>
            </a:r>
            <a:endParaRPr lang="en-US" sz="980" dirty="0"/>
          </a:p>
        </p:txBody>
      </p:sp>
      <p:sp>
        <p:nvSpPr>
          <p:cNvPr id="11" name="Text 8"/>
          <p:cNvSpPr txBox="1"/>
          <p:nvPr/>
        </p:nvSpPr>
        <p:spPr>
          <a:xfrm>
            <a:off x="7955280" y="3529584"/>
            <a:ext cx="3429000" cy="365760"/>
          </a:xfrm>
          <a:prstGeom prst="rect">
            <a:avLst/>
          </a:prstGeom>
          <a:noFill/>
          <a:ln/>
        </p:spPr>
        <p:txBody>
          <a:bodyPr wrap="square" lIns="0" tIns="0" rIns="0" bIns="0" rtlCol="0" anchor="ctr"/>
          <a:lstStyle/>
          <a:p>
            <a:pPr indent="0" marL="0">
              <a:buNone/>
            </a:pPr>
            <a:r>
              <a:rPr lang="en-US" sz="840" dirty="0">
                <a:solidFill>
                  <a:srgbClr val="5A6478"/>
                </a:solidFill>
                <a:latin typeface="Calibri" pitchFamily="34" charset="0"/>
                <a:ea typeface="Calibri" pitchFamily="34" charset="-122"/>
                <a:cs typeface="Calibri" pitchFamily="34" charset="-120"/>
              </a:rPr>
              <a:t>modest; Co also lowers Ms, so partial Co is the useful form</a:t>
            </a:r>
            <a:endParaRPr lang="en-US" sz="840" dirty="0"/>
          </a:p>
        </p:txBody>
      </p:sp>
      <p:sp>
        <p:nvSpPr>
          <p:cNvPr id="12" name="Text 9"/>
          <p:cNvSpPr txBox="1"/>
          <p:nvPr/>
        </p:nvSpPr>
        <p:spPr>
          <a:xfrm>
            <a:off x="7955280" y="3886200"/>
            <a:ext cx="3383280" cy="201168"/>
          </a:xfrm>
          <a:prstGeom prst="rect">
            <a:avLst/>
          </a:prstGeom>
          <a:noFill/>
          <a:ln/>
        </p:spPr>
        <p:txBody>
          <a:bodyPr wrap="square" lIns="0" tIns="0" rIns="0" bIns="0" rtlCol="0" anchor="ctr"/>
          <a:lstStyle/>
          <a:p>
            <a:pPr indent="0" marL="0">
              <a:buNone/>
            </a:pPr>
            <a:r>
              <a:rPr lang="en-US" sz="980" b="1" dirty="0">
                <a:solidFill>
                  <a:srgbClr val="5A6478"/>
                </a:solidFill>
                <a:latin typeface="Calibri" pitchFamily="34" charset="0"/>
                <a:ea typeface="Calibri" pitchFamily="34" charset="-122"/>
                <a:cs typeface="Calibri" pitchFamily="34" charset="-120"/>
              </a:rPr>
              <a:t>×0.97  early TM</a:t>
            </a:r>
            <a:endParaRPr lang="en-US" sz="980" dirty="0"/>
          </a:p>
        </p:txBody>
      </p:sp>
      <p:sp>
        <p:nvSpPr>
          <p:cNvPr id="13" name="Text 10"/>
          <p:cNvSpPr txBox="1"/>
          <p:nvPr/>
        </p:nvSpPr>
        <p:spPr>
          <a:xfrm>
            <a:off x="7955280" y="4078224"/>
            <a:ext cx="3429000" cy="365760"/>
          </a:xfrm>
          <a:prstGeom prst="rect">
            <a:avLst/>
          </a:prstGeom>
          <a:noFill/>
          <a:ln/>
        </p:spPr>
        <p:txBody>
          <a:bodyPr wrap="square" lIns="0" tIns="0" rIns="0" bIns="0" rtlCol="0" anchor="ctr"/>
          <a:lstStyle/>
          <a:p>
            <a:pPr indent="0" marL="0">
              <a:buNone/>
            </a:pPr>
            <a:r>
              <a:rPr lang="en-US" sz="840" dirty="0">
                <a:solidFill>
                  <a:srgbClr val="5A6478"/>
                </a:solidFill>
                <a:latin typeface="Calibri" pitchFamily="34" charset="0"/>
                <a:ea typeface="Calibri" pitchFamily="34" charset="-122"/>
                <a:cs typeface="Calibri" pitchFamily="34" charset="-120"/>
              </a:rPr>
              <a:t>Duc's effect is not visible across different hosts; it needs a series on one lattice</a:t>
            </a:r>
            <a:endParaRPr lang="en-US" sz="840" dirty="0"/>
          </a:p>
        </p:txBody>
      </p:sp>
      <p:sp>
        <p:nvSpPr>
          <p:cNvPr id="14" name="Text 11"/>
          <p:cNvSpPr txBox="1"/>
          <p:nvPr/>
        </p:nvSpPr>
        <p:spPr>
          <a:xfrm>
            <a:off x="7955280" y="4434840"/>
            <a:ext cx="3383280" cy="201168"/>
          </a:xfrm>
          <a:prstGeom prst="rect">
            <a:avLst/>
          </a:prstGeom>
          <a:noFill/>
          <a:ln/>
        </p:spPr>
        <p:txBody>
          <a:bodyPr wrap="square" lIns="0" tIns="0" rIns="0" bIns="0" rtlCol="0" anchor="ctr"/>
          <a:lstStyle/>
          <a:p>
            <a:pPr indent="0" marL="0">
              <a:buNone/>
            </a:pPr>
            <a:r>
              <a:rPr lang="en-US" sz="980" b="1" dirty="0">
                <a:solidFill>
                  <a:srgbClr val="E4572E"/>
                </a:solidFill>
                <a:latin typeface="Calibri" pitchFamily="34" charset="0"/>
                <a:ea typeface="Calibri" pitchFamily="34" charset="-122"/>
                <a:cs typeface="Calibri" pitchFamily="34" charset="-120"/>
              </a:rPr>
              <a:t>×0.86  distance &gt; 3.15 Å</a:t>
            </a:r>
            <a:endParaRPr lang="en-US" sz="980" dirty="0"/>
          </a:p>
        </p:txBody>
      </p:sp>
      <p:sp>
        <p:nvSpPr>
          <p:cNvPr id="15" name="Text 12"/>
          <p:cNvSpPr txBox="1"/>
          <p:nvPr/>
        </p:nvSpPr>
        <p:spPr>
          <a:xfrm>
            <a:off x="7955280" y="4626864"/>
            <a:ext cx="3429000" cy="365760"/>
          </a:xfrm>
          <a:prstGeom prst="rect">
            <a:avLst/>
          </a:prstGeom>
          <a:noFill/>
          <a:ln/>
        </p:spPr>
        <p:txBody>
          <a:bodyPr wrap="square" lIns="0" tIns="0" rIns="0" bIns="0" rtlCol="0" anchor="ctr"/>
          <a:lstStyle/>
          <a:p>
            <a:pPr indent="0" marL="0">
              <a:buNone/>
            </a:pPr>
            <a:r>
              <a:rPr lang="en-US" sz="840" dirty="0">
                <a:solidFill>
                  <a:srgbClr val="5A6478"/>
                </a:solidFill>
                <a:latin typeface="Calibri" pitchFamily="34" charset="0"/>
                <a:ea typeface="Calibri" pitchFamily="34" charset="-122"/>
                <a:cs typeface="Calibri" pitchFamily="34" charset="-120"/>
              </a:rPr>
              <a:t>open cages weaken coupling, consistent with the 5d picture</a:t>
            </a:r>
            <a:endParaRPr lang="en-US" sz="840" dirty="0"/>
          </a:p>
        </p:txBody>
      </p:sp>
      <p:sp>
        <p:nvSpPr>
          <p:cNvPr id="16" name="Text 13"/>
          <p:cNvSpPr txBox="1"/>
          <p:nvPr/>
        </p:nvSpPr>
        <p:spPr>
          <a:xfrm>
            <a:off x="7955280" y="4983480"/>
            <a:ext cx="3383280" cy="201168"/>
          </a:xfrm>
          <a:prstGeom prst="rect">
            <a:avLst/>
          </a:prstGeom>
          <a:noFill/>
          <a:ln/>
        </p:spPr>
        <p:txBody>
          <a:bodyPr wrap="square" lIns="0" tIns="0" rIns="0" bIns="0" rtlCol="0" anchor="ctr"/>
          <a:lstStyle/>
          <a:p>
            <a:pPr indent="0" marL="0">
              <a:buNone/>
            </a:pPr>
            <a:r>
              <a:rPr lang="en-US" sz="980" b="1" dirty="0">
                <a:solidFill>
                  <a:srgbClr val="E4572E"/>
                </a:solidFill>
                <a:latin typeface="Calibri" pitchFamily="34" charset="0"/>
                <a:ea typeface="Calibri" pitchFamily="34" charset="-122"/>
                <a:cs typeface="Calibri" pitchFamily="34" charset="-120"/>
              </a:rPr>
              <a:t>×0.10  H interstitial</a:t>
            </a:r>
            <a:endParaRPr lang="en-US" sz="980" dirty="0"/>
          </a:p>
        </p:txBody>
      </p:sp>
      <p:sp>
        <p:nvSpPr>
          <p:cNvPr id="17" name="Text 14"/>
          <p:cNvSpPr txBox="1"/>
          <p:nvPr/>
        </p:nvSpPr>
        <p:spPr>
          <a:xfrm>
            <a:off x="7955280" y="5175504"/>
            <a:ext cx="3429000" cy="365760"/>
          </a:xfrm>
          <a:prstGeom prst="rect">
            <a:avLst/>
          </a:prstGeom>
          <a:noFill/>
          <a:ln/>
        </p:spPr>
        <p:txBody>
          <a:bodyPr wrap="square" lIns="0" tIns="0" rIns="0" bIns="0" rtlCol="0" anchor="ctr"/>
          <a:lstStyle/>
          <a:p>
            <a:pPr indent="0" marL="0">
              <a:buNone/>
            </a:pPr>
            <a:r>
              <a:rPr lang="en-US" sz="840" dirty="0">
                <a:solidFill>
                  <a:srgbClr val="5A6478"/>
                </a:solidFill>
                <a:latin typeface="Calibri" pitchFamily="34" charset="0"/>
                <a:ea typeface="Calibri" pitchFamily="34" charset="-122"/>
                <a:cs typeface="Calibri" pitchFamily="34" charset="-120"/>
              </a:rPr>
              <a:t>one compound, under re-check; if real, the strongest lever of all - in the wrong direction</a:t>
            </a:r>
            <a:endParaRPr lang="en-US" sz="840" dirty="0"/>
          </a:p>
        </p:txBody>
      </p:sp>
      <p:sp>
        <p:nvSpPr>
          <p:cNvPr id="18" name="Text 15"/>
          <p:cNvSpPr txBox="1"/>
          <p:nvPr/>
        </p:nvSpPr>
        <p:spPr>
          <a:xfrm>
            <a:off x="640080" y="5760720"/>
            <a:ext cx="10881360" cy="685800"/>
          </a:xfrm>
          <a:prstGeom prst="rect">
            <a:avLst/>
          </a:prstGeom>
          <a:noFill/>
          <a:ln/>
        </p:spPr>
        <p:txBody>
          <a:bodyPr wrap="square" lIns="0" tIns="0" rIns="0" bIns="0" rtlCol="0" anchor="ctr"/>
          <a:lstStyle/>
          <a:p>
            <a:pPr indent="0" marL="0">
              <a:buNone/>
            </a:pPr>
            <a:r>
              <a:rPr lang="en-US" sz="1000" i="1" dirty="0">
                <a:solidFill>
                  <a:srgbClr val="1A2233"/>
                </a:solidFill>
                <a:latin typeface="Calibri" pitchFamily="34" charset="0"/>
                <a:ea typeface="Calibri" pitchFamily="34" charset="-122"/>
                <a:cs typeface="Calibri" pitchFamily="34" charset="-120"/>
              </a:rPr>
              <a:t>Learnt: of the levers the field uses, only partial Co and short RE-TM bonds measurably raise the RE-TM coupling in this dataset. Metalloids are neutral on average; their harm is specific to sitting in the RE shell. The early-TM rule is a stability lever until a concentration series says otherwise.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HYPOTHESIS: THE LEVERS COMPOSE</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Hypothesis: a strongly coupled Gd host plus a light rare earth is a hard-magnet candidate</a:t>
            </a:r>
            <a:endParaRPr lang="en-US" sz="3200" dirty="0"/>
          </a:p>
        </p:txBody>
      </p:sp>
      <p:sp>
        <p:nvSpPr>
          <p:cNvPr id="4" name="Shape 2"/>
          <p:cNvSpPr/>
          <p:nvPr/>
        </p:nvSpPr>
        <p:spPr>
          <a:xfrm>
            <a:off x="640080" y="1463040"/>
            <a:ext cx="4846320" cy="786384"/>
          </a:xfrm>
          <a:prstGeom prst="roundRect">
            <a:avLst>
              <a:gd name="adj" fmla="val 9302"/>
            </a:avLst>
          </a:prstGeom>
          <a:solidFill>
            <a:srgbClr val="FFFFFF"/>
          </a:solidFill>
          <a:ln/>
        </p:spPr>
      </p:sp>
      <p:sp>
        <p:nvSpPr>
          <p:cNvPr id="5" name="Text 3"/>
          <p:cNvSpPr txBox="1"/>
          <p:nvPr/>
        </p:nvSpPr>
        <p:spPr>
          <a:xfrm>
            <a:off x="804672" y="1536192"/>
            <a:ext cx="914400" cy="640080"/>
          </a:xfrm>
          <a:prstGeom prst="rect">
            <a:avLst/>
          </a:prstGeom>
          <a:noFill/>
          <a:ln/>
        </p:spPr>
        <p:txBody>
          <a:bodyPr wrap="square" lIns="0" tIns="0" rIns="0" bIns="0" rtlCol="0" anchor="ctr"/>
          <a:lstStyle/>
          <a:p>
            <a:pPr indent="0" marL="0">
              <a:buNone/>
            </a:pPr>
            <a:r>
              <a:rPr lang="en-US" sz="2600" b="1" dirty="0">
                <a:solidFill>
                  <a:srgbClr val="1A2233"/>
                </a:solidFill>
                <a:latin typeface="Cambria" pitchFamily="34" charset="0"/>
                <a:ea typeface="Cambria" pitchFamily="34" charset="-122"/>
                <a:cs typeface="Cambria" pitchFamily="34" charset="-120"/>
              </a:rPr>
              <a:t>180</a:t>
            </a:r>
            <a:endParaRPr lang="en-US" sz="2600" dirty="0"/>
          </a:p>
        </p:txBody>
      </p:sp>
      <p:sp>
        <p:nvSpPr>
          <p:cNvPr id="6" name="Text 4"/>
          <p:cNvSpPr txBox="1"/>
          <p:nvPr/>
        </p:nvSpPr>
        <p:spPr>
          <a:xfrm>
            <a:off x="1783080" y="1554480"/>
            <a:ext cx="3611880" cy="237744"/>
          </a:xfrm>
          <a:prstGeom prst="rect">
            <a:avLst/>
          </a:prstGeom>
          <a:noFill/>
          <a:ln/>
        </p:spPr>
        <p:txBody>
          <a:bodyPr wrap="square" lIns="0" tIns="0" rIns="0" bIns="0" rtlCol="0" anchor="ctr"/>
          <a:lstStyle/>
          <a:p>
            <a:pPr indent="0" marL="0">
              <a:buNone/>
            </a:pPr>
            <a:r>
              <a:rPr lang="en-US" sz="1150" b="1" dirty="0">
                <a:solidFill>
                  <a:srgbClr val="1A2233"/>
                </a:solidFill>
                <a:latin typeface="Calibri" pitchFamily="34" charset="0"/>
                <a:ea typeface="Calibri" pitchFamily="34" charset="-122"/>
                <a:cs typeface="Calibri" pitchFamily="34" charset="-120"/>
              </a:rPr>
              <a:t>credible Gd hosts</a:t>
            </a:r>
            <a:endParaRPr lang="en-US" sz="1150" dirty="0"/>
          </a:p>
        </p:txBody>
      </p:sp>
      <p:sp>
        <p:nvSpPr>
          <p:cNvPr id="7" name="Text 5"/>
          <p:cNvSpPr txBox="1"/>
          <p:nvPr/>
        </p:nvSpPr>
        <p:spPr>
          <a:xfrm>
            <a:off x="1783080" y="1801368"/>
            <a:ext cx="3611880" cy="420624"/>
          </a:xfrm>
          <a:prstGeom prst="rect">
            <a:avLst/>
          </a:prstGeom>
          <a:noFill/>
          <a:ln/>
        </p:spPr>
        <p:txBody>
          <a:bodyPr wrap="square" lIns="0" tIns="0" rIns="0" bIns="0" rtlCol="0" anchor="ctr"/>
          <a:lstStyle/>
          <a:p>
            <a:pPr indent="0" marL="0">
              <a:buNone/>
            </a:pPr>
            <a:r>
              <a:rPr lang="en-US" sz="860" dirty="0">
                <a:solidFill>
                  <a:srgbClr val="1A2233"/>
                </a:solidFill>
                <a:latin typeface="Calibri" pitchFamily="34" charset="0"/>
                <a:ea typeface="Calibri" pitchFamily="34" charset="-122"/>
                <a:cs typeface="Calibri" pitchFamily="34" charset="-120"/>
              </a:rPr>
              <a:t>the labelled dataset</a:t>
            </a:r>
            <a:endParaRPr lang="en-US" sz="860" dirty="0"/>
          </a:p>
        </p:txBody>
      </p:sp>
      <p:sp>
        <p:nvSpPr>
          <p:cNvPr id="8" name="Shape 6"/>
          <p:cNvSpPr/>
          <p:nvPr/>
        </p:nvSpPr>
        <p:spPr>
          <a:xfrm>
            <a:off x="640080" y="2359152"/>
            <a:ext cx="4846320" cy="786384"/>
          </a:xfrm>
          <a:prstGeom prst="roundRect">
            <a:avLst>
              <a:gd name="adj" fmla="val 9302"/>
            </a:avLst>
          </a:prstGeom>
          <a:solidFill>
            <a:srgbClr val="FFF3D6"/>
          </a:solidFill>
          <a:ln/>
        </p:spPr>
      </p:sp>
      <p:sp>
        <p:nvSpPr>
          <p:cNvPr id="9" name="Text 7"/>
          <p:cNvSpPr txBox="1"/>
          <p:nvPr/>
        </p:nvSpPr>
        <p:spPr>
          <a:xfrm>
            <a:off x="804672" y="2432304"/>
            <a:ext cx="914400" cy="640080"/>
          </a:xfrm>
          <a:prstGeom prst="rect">
            <a:avLst/>
          </a:prstGeom>
          <a:noFill/>
          <a:ln/>
        </p:spPr>
        <p:txBody>
          <a:bodyPr wrap="square" lIns="0" tIns="0" rIns="0" bIns="0" rtlCol="0" anchor="ctr"/>
          <a:lstStyle/>
          <a:p>
            <a:pPr indent="0" marL="0">
              <a:buNone/>
            </a:pPr>
            <a:r>
              <a:rPr lang="en-US" sz="2600" b="1" dirty="0">
                <a:solidFill>
                  <a:srgbClr val="8A6A1E"/>
                </a:solidFill>
                <a:latin typeface="Cambria" pitchFamily="34" charset="0"/>
                <a:ea typeface="Cambria" pitchFamily="34" charset="-122"/>
                <a:cs typeface="Cambria" pitchFamily="34" charset="-120"/>
              </a:rPr>
              <a:t>96</a:t>
            </a:r>
            <a:endParaRPr lang="en-US" sz="2600" dirty="0"/>
          </a:p>
        </p:txBody>
      </p:sp>
      <p:sp>
        <p:nvSpPr>
          <p:cNvPr id="10" name="Text 8"/>
          <p:cNvSpPr txBox="1"/>
          <p:nvPr/>
        </p:nvSpPr>
        <p:spPr>
          <a:xfrm>
            <a:off x="1783080" y="2450592"/>
            <a:ext cx="3611880" cy="237744"/>
          </a:xfrm>
          <a:prstGeom prst="rect">
            <a:avLst/>
          </a:prstGeom>
          <a:noFill/>
          <a:ln/>
        </p:spPr>
        <p:txBody>
          <a:bodyPr wrap="square" lIns="0" tIns="0" rIns="0" bIns="0" rtlCol="0" anchor="ctr"/>
          <a:lstStyle/>
          <a:p>
            <a:pPr indent="0" marL="0">
              <a:buNone/>
            </a:pPr>
            <a:r>
              <a:rPr lang="en-US" sz="1150" b="1" dirty="0">
                <a:solidFill>
                  <a:srgbClr val="8A6A1E"/>
                </a:solidFill>
                <a:latin typeface="Calibri" pitchFamily="34" charset="0"/>
                <a:ea typeface="Calibri" pitchFamily="34" charset="-122"/>
                <a:cs typeface="Calibri" pitchFamily="34" charset="-120"/>
              </a:rPr>
              <a:t>project ≥ 1.4 T with Nd</a:t>
            </a:r>
            <a:endParaRPr lang="en-US" sz="1150" dirty="0"/>
          </a:p>
        </p:txBody>
      </p:sp>
      <p:sp>
        <p:nvSpPr>
          <p:cNvPr id="11" name="Text 9"/>
          <p:cNvSpPr txBox="1"/>
          <p:nvPr/>
        </p:nvSpPr>
        <p:spPr>
          <a:xfrm>
            <a:off x="1783080" y="2697480"/>
            <a:ext cx="3611880" cy="420624"/>
          </a:xfrm>
          <a:prstGeom prst="rect">
            <a:avLst/>
          </a:prstGeom>
          <a:noFill/>
          <a:ln/>
        </p:spPr>
        <p:txBody>
          <a:bodyPr wrap="square" lIns="0" tIns="0" rIns="0" bIns="0" rtlCol="0" anchor="ctr"/>
          <a:lstStyle/>
          <a:p>
            <a:pPr indent="0" marL="0">
              <a:buNone/>
            </a:pPr>
            <a:r>
              <a:rPr lang="en-US" sz="860" dirty="0">
                <a:solidFill>
                  <a:srgbClr val="8A6A1E"/>
                </a:solidFill>
                <a:latin typeface="Calibri" pitchFamily="34" charset="0"/>
                <a:ea typeface="Calibri" pitchFamily="34" charset="-122"/>
                <a:cs typeface="Calibri" pitchFamily="34" charset="-120"/>
              </a:rPr>
              <a:t>Fe sublattice moment + free-ion Nd, same cell</a:t>
            </a:r>
            <a:endParaRPr lang="en-US" sz="860" dirty="0"/>
          </a:p>
        </p:txBody>
      </p:sp>
      <p:sp>
        <p:nvSpPr>
          <p:cNvPr id="12" name="Shape 10"/>
          <p:cNvSpPr/>
          <p:nvPr/>
        </p:nvSpPr>
        <p:spPr>
          <a:xfrm>
            <a:off x="640080" y="3255264"/>
            <a:ext cx="4846320" cy="786384"/>
          </a:xfrm>
          <a:prstGeom prst="roundRect">
            <a:avLst>
              <a:gd name="adj" fmla="val 9302"/>
            </a:avLst>
          </a:prstGeom>
          <a:solidFill>
            <a:srgbClr val="FFF3D6"/>
          </a:solidFill>
          <a:ln/>
        </p:spPr>
      </p:sp>
      <p:sp>
        <p:nvSpPr>
          <p:cNvPr id="13" name="Text 11"/>
          <p:cNvSpPr txBox="1"/>
          <p:nvPr/>
        </p:nvSpPr>
        <p:spPr>
          <a:xfrm>
            <a:off x="804672" y="3328416"/>
            <a:ext cx="914400" cy="640080"/>
          </a:xfrm>
          <a:prstGeom prst="rect">
            <a:avLst/>
          </a:prstGeom>
          <a:noFill/>
          <a:ln/>
        </p:spPr>
        <p:txBody>
          <a:bodyPr wrap="square" lIns="0" tIns="0" rIns="0" bIns="0" rtlCol="0" anchor="ctr"/>
          <a:lstStyle/>
          <a:p>
            <a:pPr indent="0" marL="0">
              <a:buNone/>
            </a:pPr>
            <a:r>
              <a:rPr lang="en-US" sz="2600" b="1" dirty="0">
                <a:solidFill>
                  <a:srgbClr val="8A6A1E"/>
                </a:solidFill>
                <a:latin typeface="Cambria" pitchFamily="34" charset="0"/>
                <a:ea typeface="Cambria" pitchFamily="34" charset="-122"/>
                <a:cs typeface="Cambria" pitchFamily="34" charset="-120"/>
              </a:rPr>
              <a:t>70</a:t>
            </a:r>
            <a:endParaRPr lang="en-US" sz="2600" dirty="0"/>
          </a:p>
        </p:txBody>
      </p:sp>
      <p:sp>
        <p:nvSpPr>
          <p:cNvPr id="14" name="Text 12"/>
          <p:cNvSpPr txBox="1"/>
          <p:nvPr/>
        </p:nvSpPr>
        <p:spPr>
          <a:xfrm>
            <a:off x="1783080" y="3346704"/>
            <a:ext cx="3611880" cy="237744"/>
          </a:xfrm>
          <a:prstGeom prst="rect">
            <a:avLst/>
          </a:prstGeom>
          <a:noFill/>
          <a:ln/>
        </p:spPr>
        <p:txBody>
          <a:bodyPr wrap="square" lIns="0" tIns="0" rIns="0" bIns="0" rtlCol="0" anchor="ctr"/>
          <a:lstStyle/>
          <a:p>
            <a:pPr indent="0" marL="0">
              <a:buNone/>
            </a:pPr>
            <a:r>
              <a:rPr lang="en-US" sz="1150" b="1" dirty="0">
                <a:solidFill>
                  <a:srgbClr val="8A6A1E"/>
                </a:solidFill>
                <a:latin typeface="Calibri" pitchFamily="34" charset="0"/>
                <a:ea typeface="Calibri" pitchFamily="34" charset="-122"/>
                <a:cs typeface="Calibri" pitchFamily="34" charset="-120"/>
              </a:rPr>
              <a:t>not a known prototype</a:t>
            </a:r>
            <a:endParaRPr lang="en-US" sz="1150" dirty="0"/>
          </a:p>
        </p:txBody>
      </p:sp>
      <p:sp>
        <p:nvSpPr>
          <p:cNvPr id="15" name="Text 13"/>
          <p:cNvSpPr txBox="1"/>
          <p:nvPr/>
        </p:nvSpPr>
        <p:spPr>
          <a:xfrm>
            <a:off x="1783080" y="3593592"/>
            <a:ext cx="3611880" cy="420624"/>
          </a:xfrm>
          <a:prstGeom prst="rect">
            <a:avLst/>
          </a:prstGeom>
          <a:noFill/>
          <a:ln/>
        </p:spPr>
        <p:txBody>
          <a:bodyPr wrap="square" lIns="0" tIns="0" rIns="0" bIns="0" rtlCol="0" anchor="ctr"/>
          <a:lstStyle/>
          <a:p>
            <a:pPr indent="0" marL="0">
              <a:buNone/>
            </a:pPr>
            <a:r>
              <a:rPr lang="en-US" sz="860" dirty="0">
                <a:solidFill>
                  <a:srgbClr val="8A6A1E"/>
                </a:solidFill>
                <a:latin typeface="Calibri" pitchFamily="34" charset="0"/>
                <a:ea typeface="Calibri" pitchFamily="34" charset="-122"/>
                <a:cs typeface="Calibri" pitchFamily="34" charset="-120"/>
              </a:rPr>
              <a:t>drop Nd₂Fe₁₄B, 2-17(N,C,H), Laves, Th₂Zn₁₇, the Mn family</a:t>
            </a:r>
            <a:endParaRPr lang="en-US" sz="860" dirty="0"/>
          </a:p>
        </p:txBody>
      </p:sp>
      <p:sp>
        <p:nvSpPr>
          <p:cNvPr id="16" name="Shape 14"/>
          <p:cNvSpPr/>
          <p:nvPr/>
        </p:nvSpPr>
        <p:spPr>
          <a:xfrm>
            <a:off x="640080" y="4151376"/>
            <a:ext cx="4846320" cy="786384"/>
          </a:xfrm>
          <a:prstGeom prst="roundRect">
            <a:avLst>
              <a:gd name="adj" fmla="val 9302"/>
            </a:avLst>
          </a:prstGeom>
          <a:solidFill>
            <a:srgbClr val="E3F0F6"/>
          </a:solidFill>
          <a:ln/>
        </p:spPr>
      </p:sp>
      <p:sp>
        <p:nvSpPr>
          <p:cNvPr id="17" name="Text 15"/>
          <p:cNvSpPr txBox="1"/>
          <p:nvPr/>
        </p:nvSpPr>
        <p:spPr>
          <a:xfrm>
            <a:off x="804672" y="4224528"/>
            <a:ext cx="914400" cy="640080"/>
          </a:xfrm>
          <a:prstGeom prst="rect">
            <a:avLst/>
          </a:prstGeom>
          <a:noFill/>
          <a:ln/>
        </p:spPr>
        <p:txBody>
          <a:bodyPr wrap="square" lIns="0" tIns="0" rIns="0" bIns="0" rtlCol="0" anchor="ctr"/>
          <a:lstStyle/>
          <a:p>
            <a:pPr indent="0" marL="0">
              <a:buNone/>
            </a:pPr>
            <a:r>
              <a:rPr lang="en-US" sz="2600" b="1" dirty="0">
                <a:solidFill>
                  <a:srgbClr val="1F5F7A"/>
                </a:solidFill>
                <a:latin typeface="Cambria" pitchFamily="34" charset="0"/>
                <a:ea typeface="Cambria" pitchFamily="34" charset="-122"/>
                <a:cs typeface="Cambria" pitchFamily="34" charset="-120"/>
              </a:rPr>
              <a:t>29</a:t>
            </a:r>
            <a:endParaRPr lang="en-US" sz="2600" dirty="0"/>
          </a:p>
        </p:txBody>
      </p:sp>
      <p:sp>
        <p:nvSpPr>
          <p:cNvPr id="18" name="Text 16"/>
          <p:cNvSpPr txBox="1"/>
          <p:nvPr/>
        </p:nvSpPr>
        <p:spPr>
          <a:xfrm>
            <a:off x="1783080" y="4242816"/>
            <a:ext cx="3611880" cy="237744"/>
          </a:xfrm>
          <a:prstGeom prst="rect">
            <a:avLst/>
          </a:prstGeom>
          <a:noFill/>
          <a:ln/>
        </p:spPr>
        <p:txBody>
          <a:bodyPr wrap="square" lIns="0" tIns="0" rIns="0" bIns="0" rtlCol="0" anchor="ctr"/>
          <a:lstStyle/>
          <a:p>
            <a:pPr indent="0" marL="0">
              <a:buNone/>
            </a:pPr>
            <a:r>
              <a:rPr lang="en-US" sz="1150" b="1" dirty="0">
                <a:solidFill>
                  <a:srgbClr val="1F5F7A"/>
                </a:solidFill>
                <a:latin typeface="Calibri" pitchFamily="34" charset="0"/>
                <a:ea typeface="Calibri" pitchFamily="34" charset="-122"/>
                <a:cs typeface="Calibri" pitchFamily="34" charset="-120"/>
              </a:rPr>
              <a:t>strongest coupling, Fe-rich</a:t>
            </a:r>
            <a:endParaRPr lang="en-US" sz="1150" dirty="0"/>
          </a:p>
        </p:txBody>
      </p:sp>
      <p:sp>
        <p:nvSpPr>
          <p:cNvPr id="19" name="Text 17"/>
          <p:cNvSpPr txBox="1"/>
          <p:nvPr/>
        </p:nvSpPr>
        <p:spPr>
          <a:xfrm>
            <a:off x="1783080" y="4489704"/>
            <a:ext cx="3611880" cy="420624"/>
          </a:xfrm>
          <a:prstGeom prst="rect">
            <a:avLst/>
          </a:prstGeom>
          <a:noFill/>
          <a:ln/>
        </p:spPr>
        <p:txBody>
          <a:bodyPr wrap="square" lIns="0" tIns="0" rIns="0" bIns="0" rtlCol="0" anchor="ctr"/>
          <a:lstStyle/>
          <a:p>
            <a:pPr indent="0" marL="0">
              <a:buNone/>
            </a:pPr>
            <a:r>
              <a:rPr lang="en-US" sz="860" dirty="0">
                <a:solidFill>
                  <a:srgbClr val="1F5F7A"/>
                </a:solidFill>
                <a:latin typeface="Calibri" pitchFamily="34" charset="0"/>
                <a:ea typeface="Calibri" pitchFamily="34" charset="-122"/>
                <a:cs typeface="Calibri" pitchFamily="34" charset="-120"/>
              </a:rPr>
              <a:t>J_eff ≥ 0.5 or gap ≥ 300 meV; 1:9 family by 3 representatives</a:t>
            </a:r>
            <a:endParaRPr lang="en-US" sz="860" dirty="0"/>
          </a:p>
        </p:txBody>
      </p:sp>
      <p:sp>
        <p:nvSpPr>
          <p:cNvPr id="20" name="Shape 18"/>
          <p:cNvSpPr/>
          <p:nvPr/>
        </p:nvSpPr>
        <p:spPr>
          <a:xfrm>
            <a:off x="640080" y="5047488"/>
            <a:ext cx="4846320" cy="786384"/>
          </a:xfrm>
          <a:prstGeom prst="roundRect">
            <a:avLst>
              <a:gd name="adj" fmla="val 9302"/>
            </a:avLst>
          </a:prstGeom>
          <a:solidFill>
            <a:srgbClr val="1B2A4A"/>
          </a:solidFill>
          <a:ln/>
        </p:spPr>
      </p:sp>
      <p:sp>
        <p:nvSpPr>
          <p:cNvPr id="21" name="Text 19"/>
          <p:cNvSpPr txBox="1"/>
          <p:nvPr/>
        </p:nvSpPr>
        <p:spPr>
          <a:xfrm>
            <a:off x="804672" y="5120640"/>
            <a:ext cx="914400"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20</a:t>
            </a:r>
            <a:endParaRPr lang="en-US" sz="2600" dirty="0"/>
          </a:p>
        </p:txBody>
      </p:sp>
      <p:sp>
        <p:nvSpPr>
          <p:cNvPr id="22" name="Text 20"/>
          <p:cNvSpPr txBox="1"/>
          <p:nvPr/>
        </p:nvSpPr>
        <p:spPr>
          <a:xfrm>
            <a:off x="1783080" y="5138928"/>
            <a:ext cx="361188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survive the hull, Nd + Sm</a:t>
            </a:r>
            <a:endParaRPr lang="en-US" sz="1150" dirty="0"/>
          </a:p>
        </p:txBody>
      </p:sp>
      <p:sp>
        <p:nvSpPr>
          <p:cNvPr id="23" name="Text 21"/>
          <p:cNvSpPr txBox="1"/>
          <p:nvPr/>
        </p:nvSpPr>
        <p:spPr>
          <a:xfrm>
            <a:off x="1783080" y="5385816"/>
            <a:ext cx="3611880" cy="420624"/>
          </a:xfrm>
          <a:prstGeom prst="rect">
            <a:avLst/>
          </a:prstGeom>
          <a:noFill/>
          <a:ln/>
        </p:spPr>
        <p:txBody>
          <a:bodyPr wrap="square" lIns="0" tIns="0" rIns="0" bIns="0" rtlCol="0" anchor="ctr"/>
          <a:lstStyle/>
          <a:p>
            <a:pPr indent="0" marL="0">
              <a:buNone/>
            </a:pPr>
            <a:r>
              <a:rPr lang="en-US" sz="860" dirty="0">
                <a:solidFill>
                  <a:srgbClr val="FFFFFF"/>
                </a:solidFill>
                <a:latin typeface="Calibri" pitchFamily="34" charset="0"/>
                <a:ea typeface="Calibri" pitchFamily="34" charset="-122"/>
                <a:cs typeface="Calibri" pitchFamily="34" charset="-120"/>
              </a:rPr>
              <a:t>MACE-MP-0 vs 394 MP competitors, same model; Nd within 12 meV/atom</a:t>
            </a:r>
            <a:endParaRPr lang="en-US" sz="860" dirty="0"/>
          </a:p>
        </p:txBody>
      </p:sp>
      <p:pic>
        <p:nvPicPr>
          <p:cNvPr id="24" name="Image 0" descr="/Users/g5q/Documents/GitHub/gnome-fe-hree-magnets/assets/light_re_hull.png">    </p:cNvPr>
          <p:cNvPicPr>
            <a:picLocks noChangeAspect="1"/>
          </p:cNvPicPr>
          <p:nvPr/>
        </p:nvPicPr>
        <p:blipFill>
          <a:blip r:embed="rId1"/>
          <a:stretch>
            <a:fillRect/>
          </a:stretch>
        </p:blipFill>
        <p:spPr>
          <a:xfrm>
            <a:off x="5760720" y="1417320"/>
            <a:ext cx="5760720" cy="4023360"/>
          </a:xfrm>
          <a:prstGeom prst="rect">
            <a:avLst/>
          </a:prstGeom>
        </p:spPr>
      </p:pic>
      <p:sp>
        <p:nvSpPr>
          <p:cNvPr id="25" name="Shape 22"/>
          <p:cNvSpPr/>
          <p:nvPr/>
        </p:nvSpPr>
        <p:spPr>
          <a:xfrm>
            <a:off x="5760720" y="5486400"/>
            <a:ext cx="5760720" cy="566928"/>
          </a:xfrm>
          <a:prstGeom prst="roundRect">
            <a:avLst>
              <a:gd name="adj" fmla="val 12903"/>
            </a:avLst>
          </a:prstGeom>
          <a:solidFill>
            <a:srgbClr val="1B2A4A"/>
          </a:solidFill>
          <a:ln/>
        </p:spPr>
      </p:sp>
      <p:sp>
        <p:nvSpPr>
          <p:cNvPr id="26" name="Text 23"/>
          <p:cNvSpPr txBox="1"/>
          <p:nvPr/>
        </p:nvSpPr>
        <p:spPr>
          <a:xfrm>
            <a:off x="5943600" y="5486400"/>
            <a:ext cx="5440680" cy="566928"/>
          </a:xfrm>
          <a:prstGeom prst="rect">
            <a:avLst/>
          </a:prstGeom>
          <a:noFill/>
          <a:ln/>
        </p:spPr>
        <p:txBody>
          <a:bodyPr wrap="square" lIns="0" tIns="0" rIns="0" bIns="0" rtlCol="0" anchor="ctr"/>
          <a:lstStyle/>
          <a:p>
            <a:pPr indent="0" marL="0">
              <a:buNone/>
            </a:pPr>
            <a:r>
              <a:rPr lang="en-US" sz="830" dirty="0">
                <a:solidFill>
                  <a:srgbClr val="C6D2E4"/>
                </a:solidFill>
                <a:latin typeface="Calibri" pitchFamily="34" charset="0"/>
                <a:ea typeface="Calibri" pitchFamily="34" charset="-122"/>
                <a:cs typeface="Calibri" pitchFamily="34" charset="-120"/>
              </a:rPr>
              <a:t>Generation rule: host with gap ≥ 250 meV or J_eff ≥ 0.5  ×  Gd → {Nd, Sm}  ×  keep Co/early-TM variants  ×  no H, no metalloid in the RE shell  →  MACE/MP hull  →  one f-in-core VASP run. 29 hosts → 58 structures → 20 survivors; the rule extends to Pr, partial Co and N interstitials once this batch confirms it.</a:t>
            </a:r>
            <a:endParaRPr lang="en-US" sz="830" dirty="0"/>
          </a:p>
        </p:txBody>
      </p:sp>
      <p:sp>
        <p:nvSpPr>
          <p:cNvPr id="27" name="Text 24"/>
          <p:cNvSpPr txBox="1"/>
          <p:nvPr/>
        </p:nvSpPr>
        <p:spPr>
          <a:xfrm>
            <a:off x="640080" y="6053328"/>
            <a:ext cx="10881360" cy="411480"/>
          </a:xfrm>
          <a:prstGeom prst="rect">
            <a:avLst/>
          </a:prstGeom>
          <a:noFill/>
          <a:ln/>
        </p:spPr>
        <p:txBody>
          <a:bodyPr wrap="square" lIns="0" tIns="0" rIns="0" bIns="0" rtlCol="0" anchor="ctr"/>
          <a:lstStyle/>
          <a:p>
            <a:pPr indent="0" marL="0">
              <a:buNone/>
            </a:pPr>
            <a:r>
              <a:rPr lang="en-US" sz="1050" i="1" dirty="0">
                <a:solidFill>
                  <a:srgbClr val="1A2233"/>
                </a:solidFill>
                <a:latin typeface="Calibri" pitchFamily="34" charset="0"/>
                <a:ea typeface="Calibri" pitchFamily="34" charset="-122"/>
                <a:cs typeface="Calibri" pitchFamily="34" charset="-120"/>
              </a:rPr>
              <a:t>First test of the hypothesis: the Nd cost is systematic (20-35 meV/atom for the larger ion), so only the densest Fe hosts stay on the hull; Sm is nearly free. Whether coupling and Ms carry over is what the 20 queued runs decide.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THE Nd / Sm BATCH - 20 RUNS QUEUED</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Each host carries a reason from the data, a stability check, and a prediction to be tested</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1417320"/>
                <a:gridCol w="1188720"/>
                <a:gridCol w="640080"/>
                <a:gridCol w="1417320"/>
                <a:gridCol w="1600200"/>
                <a:gridCol w="868680"/>
                <a:gridCol w="3749040"/>
              </a:tblGrid>
              <a:tr h="329184">
                <a:tc>
                  <a:txBody>
                    <a:bodyPr/>
                    <a:lstStyle/>
                    <a:p>
                      <a:pPr indent="0" marL="0">
                        <a:buNone/>
                      </a:pPr>
                      <a:r>
                        <a:rPr lang="en-US" sz="880" b="1" dirty="0">
                          <a:solidFill>
                            <a:srgbClr val="1A2233"/>
                          </a:solidFill>
                          <a:latin typeface="Calibri" pitchFamily="34" charset="0"/>
                          <a:ea typeface="Calibri" pitchFamily="34" charset="-122"/>
                          <a:cs typeface="Calibri" pitchFamily="34" charset="-120"/>
                        </a:rPr>
                        <a:t>Host (Gd parent)</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b="1" dirty="0">
                          <a:solidFill>
                            <a:srgbClr val="1A2233"/>
                          </a:solidFill>
                          <a:latin typeface="Calibri" pitchFamily="34" charset="0"/>
                          <a:ea typeface="Calibri" pitchFamily="34" charset="-122"/>
                          <a:cs typeface="Calibri" pitchFamily="34" charset="-120"/>
                        </a:rPr>
                        <a:t>Prototype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b="1" dirty="0">
                          <a:solidFill>
                            <a:srgbClr val="1A2233"/>
                          </a:solidFill>
                          <a:latin typeface="Calibri" pitchFamily="34" charset="0"/>
                          <a:ea typeface="Calibri" pitchFamily="34" charset="-122"/>
                          <a:cs typeface="Calibri" pitchFamily="34" charset="-120"/>
                        </a:rPr>
                        <a:t>J_eff</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b="1" dirty="0">
                          <a:solidFill>
                            <a:srgbClr val="1A2233"/>
                          </a:solidFill>
                          <a:latin typeface="Calibri" pitchFamily="34" charset="0"/>
                          <a:ea typeface="Calibri" pitchFamily="34" charset="-122"/>
                          <a:cs typeface="Calibri" pitchFamily="34" charset="-120"/>
                        </a:rPr>
                        <a:t>Ms → Nd / Sm (T)</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b="1" dirty="0">
                          <a:solidFill>
                            <a:srgbClr val="1A2233"/>
                          </a:solidFill>
                          <a:latin typeface="Calibri" pitchFamily="34" charset="0"/>
                          <a:ea typeface="Calibri" pitchFamily="34" charset="-122"/>
                          <a:cs typeface="Calibri" pitchFamily="34" charset="-120"/>
                        </a:rPr>
                        <a:t>E_hull Nd / Sm (meV/at)</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b="1" dirty="0">
                          <a:solidFill>
                            <a:srgbClr val="1A2233"/>
                          </a:solidFill>
                          <a:latin typeface="Calibri" pitchFamily="34" charset="0"/>
                          <a:ea typeface="Calibri" pitchFamily="34" charset="-122"/>
                          <a:cs typeface="Calibri" pitchFamily="34" charset="-120"/>
                        </a:rPr>
                        <a:t>T* Sm (K)</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b="1" dirty="0">
                          <a:solidFill>
                            <a:srgbClr val="1A2233"/>
                          </a:solidFill>
                          <a:latin typeface="Calibri" pitchFamily="34" charset="0"/>
                          <a:ea typeface="Calibri" pitchFamily="34" charset="-122"/>
                          <a:cs typeface="Calibri" pitchFamily="34" charset="-120"/>
                        </a:rPr>
                        <a:t>Why it is in the batch</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29184">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Fe₅GdSi</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Immm (new)</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0.50</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1.74 / 1.56</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 / −6</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700</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highest Ms of any stable new host; Si outside the RE shell</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29184">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Al₂Fe₁₀Gd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Immm (new)</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0.54</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1.68 / 1.51</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+3 / −3</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745</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same Fe framework, Al variant; tests the metalloid-shell rule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29184">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Fe₅GdV</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Immm (new)</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0.48</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1.62 / 1.44</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+7 / +2</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715</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early-TM lever built in (Duc); 1:12-like chemistry</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29184">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Fe₁₀GdY</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Pmmm (new)</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0.52</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1.64 / 1.47</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+11 / +3</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825</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dense Fe, Y dilutes RE cost</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29184">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CoFe₆GdY</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Cm (new)</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0.97</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1.59 / 1.37</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+10 / −5</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955</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strongest coupling at Ms &gt; 1.5 T; partial Co</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29184">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Co₂Fe₁₂GdY₃</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Cm (new)</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1.04</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1.44 / 1.33</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 / −8</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1005</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anisotropy-locking host; on the hull</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29184">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CoFe₁₃GdY₃</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R3m (new)</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1.03</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1.42 / 1.31</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+7 / −3</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1030</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Fe/Y family, 12-fold RE coordination at 2.97 Å</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29184">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Fe₁₄GdY₃</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R3m (new)</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1.06</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1.40 / 1.29</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+11 / −1</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1070</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Co-free control for the two above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29184">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Fe₉GdLuZr</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R3m (new)</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0.51</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1.48 / 1.27</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+9 / −3</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810</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1:9 family representative with Zr stabiliser</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329184">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Co₉Fe₅Gd₄</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R-3m (new)</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0.69</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1.69 / 1.23</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+3 / −16</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725</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RE-rich control: high Nd moment count, lowest Tc expected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5257800"/>
            <a:ext cx="5303520" cy="1005840"/>
          </a:xfrm>
          <a:prstGeom prst="roundRect">
            <a:avLst>
              <a:gd name="adj" fmla="val 7273"/>
            </a:avLst>
          </a:prstGeom>
          <a:solidFill>
            <a:srgbClr val="1B2A4A"/>
          </a:solidFill>
          <a:ln/>
        </p:spPr>
      </p:sp>
      <p:sp>
        <p:nvSpPr>
          <p:cNvPr id="6" name="Text 3"/>
          <p:cNvSpPr txBox="1"/>
          <p:nvPr/>
        </p:nvSpPr>
        <p:spPr>
          <a:xfrm>
            <a:off x="868680" y="5349240"/>
            <a:ext cx="4846320" cy="228600"/>
          </a:xfrm>
          <a:prstGeom prst="rect">
            <a:avLst/>
          </a:prstGeom>
          <a:noFill/>
          <a:ln/>
        </p:spPr>
        <p:txBody>
          <a:bodyPr wrap="square" lIns="0" tIns="0" rIns="0" bIns="0" rtlCol="0" anchor="ctr"/>
          <a:lstStyle/>
          <a:p>
            <a:pPr indent="0" marL="0">
              <a:buNone/>
            </a:pPr>
            <a:r>
              <a:rPr lang="en-US" sz="1150" b="1" dirty="0">
                <a:solidFill>
                  <a:srgbClr val="F2B134"/>
                </a:solidFill>
                <a:latin typeface="Calibri" pitchFamily="34" charset="0"/>
                <a:ea typeface="Calibri" pitchFamily="34" charset="-122"/>
                <a:cs typeface="Calibri" pitchFamily="34" charset="-120"/>
              </a:rPr>
              <a:t>What each run returns</a:t>
            </a:r>
            <a:endParaRPr lang="en-US" sz="1150" dirty="0"/>
          </a:p>
        </p:txBody>
      </p:sp>
      <p:sp>
        <p:nvSpPr>
          <p:cNvPr id="7" name="Text 4"/>
          <p:cNvSpPr txBox="1"/>
          <p:nvPr/>
        </p:nvSpPr>
        <p:spPr>
          <a:xfrm>
            <a:off x="868680" y="5577840"/>
            <a:ext cx="4846320" cy="658368"/>
          </a:xfrm>
          <a:prstGeom prst="rect">
            <a:avLst/>
          </a:prstGeom>
          <a:noFill/>
          <a:ln/>
        </p:spPr>
        <p:txBody>
          <a:bodyPr wrap="square" lIns="0" tIns="0" rIns="0" bIns="0" rtlCol="0" anchor="ctr"/>
          <a:lstStyle/>
          <a:p>
            <a:pPr indent="0" marL="0">
              <a:buNone/>
            </a:pPr>
            <a:r>
              <a:rPr lang="en-US" sz="880" dirty="0">
                <a:solidFill>
                  <a:srgbClr val="C6D2E4"/>
                </a:solidFill>
                <a:latin typeface="Calibri" pitchFamily="34" charset="0"/>
                <a:ea typeface="Calibri" pitchFamily="34" charset="-122"/>
                <a:cs typeface="Calibri" pitchFamily="34" charset="-120"/>
              </a:rPr>
              <a:t>One ISIF=3 relaxation per compound with f-in-core Nd_3 / Sm_3 (no 4f to flip, no +U): relaxed volume, Fe/Co moments → Ms, and h → predicted gap, T*, B_RT. Prediction on record before the run: h from each Gd parent's pair.</a:t>
            </a:r>
            <a:endParaRPr lang="en-US" sz="880" dirty="0"/>
          </a:p>
        </p:txBody>
      </p:sp>
      <p:sp>
        <p:nvSpPr>
          <p:cNvPr id="8" name="Shape 5"/>
          <p:cNvSpPr/>
          <p:nvPr/>
        </p:nvSpPr>
        <p:spPr>
          <a:xfrm>
            <a:off x="6217920" y="5257800"/>
            <a:ext cx="5303520" cy="1005840"/>
          </a:xfrm>
          <a:prstGeom prst="roundRect">
            <a:avLst>
              <a:gd name="adj" fmla="val 7273"/>
            </a:avLst>
          </a:prstGeom>
          <a:solidFill>
            <a:srgbClr val="FCEDE8"/>
          </a:solidFill>
          <a:ln/>
        </p:spPr>
      </p:sp>
      <p:sp>
        <p:nvSpPr>
          <p:cNvPr id="9" name="Text 6"/>
          <p:cNvSpPr txBox="1"/>
          <p:nvPr/>
        </p:nvSpPr>
        <p:spPr>
          <a:xfrm>
            <a:off x="6446520" y="5349240"/>
            <a:ext cx="4846320" cy="228600"/>
          </a:xfrm>
          <a:prstGeom prst="rect">
            <a:avLst/>
          </a:prstGeom>
          <a:noFill/>
          <a:ln/>
        </p:spPr>
        <p:txBody>
          <a:bodyPr wrap="square" lIns="0" tIns="0" rIns="0" bIns="0" rtlCol="0" anchor="ctr"/>
          <a:lstStyle/>
          <a:p>
            <a:pPr indent="0" marL="0">
              <a:buNone/>
            </a:pPr>
            <a:r>
              <a:rPr lang="en-US" sz="1150" b="1" dirty="0">
                <a:solidFill>
                  <a:srgbClr val="E4572E"/>
                </a:solidFill>
                <a:latin typeface="Calibri" pitchFamily="34" charset="0"/>
                <a:ea typeface="Calibri" pitchFamily="34" charset="-122"/>
                <a:cs typeface="Calibri" pitchFamily="34" charset="-120"/>
              </a:rPr>
              <a:t>Honest ceiling</a:t>
            </a:r>
            <a:endParaRPr lang="en-US" sz="1150" dirty="0"/>
          </a:p>
        </p:txBody>
      </p:sp>
      <p:sp>
        <p:nvSpPr>
          <p:cNvPr id="10" name="Text 7"/>
          <p:cNvSpPr txBox="1"/>
          <p:nvPr/>
        </p:nvSpPr>
        <p:spPr>
          <a:xfrm>
            <a:off x="6446520" y="5577840"/>
            <a:ext cx="4846320" cy="658368"/>
          </a:xfrm>
          <a:prstGeom prst="rect">
            <a:avLst/>
          </a:prstGeom>
          <a:noFill/>
          <a:ln/>
        </p:spPr>
        <p:txBody>
          <a:bodyPr wrap="square" lIns="0" tIns="0" rIns="0" bIns="0" rtlCol="0" anchor="ctr"/>
          <a:lstStyle/>
          <a:p>
            <a:pPr indent="0" marL="0">
              <a:buNone/>
            </a:pPr>
            <a:r>
              <a:rPr lang="en-US" sz="860" dirty="0">
                <a:solidFill>
                  <a:srgbClr val="7A4034"/>
                </a:solidFill>
                <a:latin typeface="Calibri" pitchFamily="34" charset="0"/>
                <a:ea typeface="Calibri" pitchFamily="34" charset="-122"/>
                <a:cs typeface="Calibri" pitchFamily="34" charset="-120"/>
              </a:rPr>
              <a:t>Projections are 0 K PBE without SOC and run ≈ 0.3 T high against experiment (Nd₂Fe₁₇Nₓ: 2.04 projected vs ~1.5 T). None of the 20 beats NdFe₁₂N (1.66 T, Tc 823 K) or Sm(Fe,Co)₁₂ (1.78 T). Their value is as new, hull-stable Fe-rich hosts with coupling strong enough to carry RE anisotropy - the ingredient the 2 T target has lacked.</a:t>
            </a:r>
            <a:endParaRPr lang="en-US" sz="86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NEW HYPOTHESES</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What prior studies plus 180 labels let us state - each falsifiable with runs already queued or cheap to add</a:t>
            </a:r>
            <a:endParaRPr lang="en-US" sz="3200" dirty="0"/>
          </a:p>
        </p:txBody>
      </p:sp>
      <p:sp>
        <p:nvSpPr>
          <p:cNvPr id="4" name="Shape 2"/>
          <p:cNvSpPr/>
          <p:nvPr/>
        </p:nvSpPr>
        <p:spPr>
          <a:xfrm>
            <a:off x="640080" y="1417320"/>
            <a:ext cx="10881360" cy="841248"/>
          </a:xfrm>
          <a:prstGeom prst="roundRect">
            <a:avLst>
              <a:gd name="adj" fmla="val 8696"/>
            </a:avLst>
          </a:prstGeom>
          <a:solidFill>
            <a:srgbClr val="EEF2F7"/>
          </a:solidFill>
          <a:ln/>
        </p:spPr>
      </p:sp>
      <p:sp>
        <p:nvSpPr>
          <p:cNvPr id="5" name="Shape 3"/>
          <p:cNvSpPr/>
          <p:nvPr/>
        </p:nvSpPr>
        <p:spPr>
          <a:xfrm>
            <a:off x="777240" y="1563624"/>
            <a:ext cx="640080" cy="548640"/>
          </a:xfrm>
          <a:prstGeom prst="roundRect">
            <a:avLst>
              <a:gd name="adj" fmla="val 13333"/>
            </a:avLst>
          </a:prstGeom>
          <a:solidFill>
            <a:srgbClr val="2E86AB"/>
          </a:solidFill>
          <a:ln/>
        </p:spPr>
      </p:sp>
      <p:sp>
        <p:nvSpPr>
          <p:cNvPr id="6" name="Text 4"/>
          <p:cNvSpPr txBox="1"/>
          <p:nvPr/>
        </p:nvSpPr>
        <p:spPr>
          <a:xfrm>
            <a:off x="777240" y="1563624"/>
            <a:ext cx="64008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H1</a:t>
            </a:r>
            <a:endParaRPr lang="en-US" sz="1600" dirty="0"/>
          </a:p>
        </p:txBody>
      </p:sp>
      <p:sp>
        <p:nvSpPr>
          <p:cNvPr id="7" name="Text 5"/>
          <p:cNvSpPr txBox="1"/>
          <p:nvPr/>
        </p:nvSpPr>
        <p:spPr>
          <a:xfrm>
            <a:off x="1600200" y="1508760"/>
            <a:ext cx="9692640" cy="256032"/>
          </a:xfrm>
          <a:prstGeom prst="rect">
            <a:avLst/>
          </a:prstGeom>
          <a:noFill/>
          <a:ln/>
        </p:spPr>
        <p:txBody>
          <a:bodyPr wrap="square" lIns="0" tIns="0" rIns="0" bIns="0" rtlCol="0" anchor="ctr"/>
          <a:lstStyle/>
          <a:p>
            <a:pPr indent="0" marL="0">
              <a:buNone/>
            </a:pPr>
            <a:r>
              <a:rPr lang="en-US" sz="1150" b="1" dirty="0">
                <a:solidFill>
                  <a:srgbClr val="1A2233"/>
                </a:solidFill>
                <a:latin typeface="Calibri" pitchFamily="34" charset="0"/>
                <a:ea typeface="Calibri" pitchFamily="34" charset="-122"/>
                <a:cs typeface="Calibri" pitchFamily="34" charset="-120"/>
              </a:rPr>
              <a:t>The RE-TM gap of any host is predictable from a 4f-free calculation</a:t>
            </a:r>
            <a:endParaRPr lang="en-US" sz="1150" dirty="0"/>
          </a:p>
        </p:txBody>
      </p:sp>
      <p:sp>
        <p:nvSpPr>
          <p:cNvPr id="8" name="Text 6"/>
          <p:cNvSpPr txBox="1"/>
          <p:nvPr/>
        </p:nvSpPr>
        <p:spPr>
          <a:xfrm>
            <a:off x="1600200" y="1783080"/>
            <a:ext cx="9692640" cy="4572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h measured in the f-in-core Nd/Sm run equals h extracted from the Gd pair of the same host, and 1574·h reproduces the Gd gap within 20 %. Falsified if the 20 queued runs scatter off the line.</a:t>
            </a:r>
            <a:endParaRPr lang="en-US" sz="900" dirty="0"/>
          </a:p>
        </p:txBody>
      </p:sp>
      <p:sp>
        <p:nvSpPr>
          <p:cNvPr id="9" name="Shape 7"/>
          <p:cNvSpPr/>
          <p:nvPr/>
        </p:nvSpPr>
        <p:spPr>
          <a:xfrm>
            <a:off x="640080" y="2359152"/>
            <a:ext cx="10881360" cy="841248"/>
          </a:xfrm>
          <a:prstGeom prst="roundRect">
            <a:avLst>
              <a:gd name="adj" fmla="val 8696"/>
            </a:avLst>
          </a:prstGeom>
          <a:solidFill>
            <a:srgbClr val="EEF2F7"/>
          </a:solidFill>
          <a:ln/>
        </p:spPr>
      </p:sp>
      <p:sp>
        <p:nvSpPr>
          <p:cNvPr id="10" name="Shape 8"/>
          <p:cNvSpPr/>
          <p:nvPr/>
        </p:nvSpPr>
        <p:spPr>
          <a:xfrm>
            <a:off x="777240" y="2505456"/>
            <a:ext cx="640080" cy="548640"/>
          </a:xfrm>
          <a:prstGeom prst="roundRect">
            <a:avLst>
              <a:gd name="adj" fmla="val 13333"/>
            </a:avLst>
          </a:prstGeom>
          <a:solidFill>
            <a:srgbClr val="E4572E"/>
          </a:solidFill>
          <a:ln/>
        </p:spPr>
      </p:sp>
      <p:sp>
        <p:nvSpPr>
          <p:cNvPr id="11" name="Text 9"/>
          <p:cNvSpPr txBox="1"/>
          <p:nvPr/>
        </p:nvSpPr>
        <p:spPr>
          <a:xfrm>
            <a:off x="777240" y="2505456"/>
            <a:ext cx="64008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H2</a:t>
            </a:r>
            <a:endParaRPr lang="en-US" sz="1600" dirty="0"/>
          </a:p>
        </p:txBody>
      </p:sp>
      <p:sp>
        <p:nvSpPr>
          <p:cNvPr id="12" name="Text 10"/>
          <p:cNvSpPr txBox="1"/>
          <p:nvPr/>
        </p:nvSpPr>
        <p:spPr>
          <a:xfrm>
            <a:off x="1600200" y="2450592"/>
            <a:ext cx="9692640" cy="256032"/>
          </a:xfrm>
          <a:prstGeom prst="rect">
            <a:avLst/>
          </a:prstGeom>
          <a:noFill/>
          <a:ln/>
        </p:spPr>
        <p:txBody>
          <a:bodyPr wrap="square" lIns="0" tIns="0" rIns="0" bIns="0" rtlCol="0" anchor="ctr"/>
          <a:lstStyle/>
          <a:p>
            <a:pPr indent="0" marL="0">
              <a:buNone/>
            </a:pPr>
            <a:r>
              <a:rPr lang="en-US" sz="1150" b="1" dirty="0">
                <a:solidFill>
                  <a:srgbClr val="1A2233"/>
                </a:solidFill>
                <a:latin typeface="Calibri" pitchFamily="34" charset="0"/>
                <a:ea typeface="Calibri" pitchFamily="34" charset="-122"/>
                <a:cs typeface="Calibri" pitchFamily="34" charset="-120"/>
              </a:rPr>
              <a:t>Usable anisotropy needs T* above Tc, and T* is a host property</a:t>
            </a:r>
            <a:endParaRPr lang="en-US" sz="1150" dirty="0"/>
          </a:p>
        </p:txBody>
      </p:sp>
      <p:sp>
        <p:nvSpPr>
          <p:cNvPr id="13" name="Text 11"/>
          <p:cNvSpPr txBox="1"/>
          <p:nvPr/>
        </p:nvSpPr>
        <p:spPr>
          <a:xfrm>
            <a:off x="1600200" y="2724912"/>
            <a:ext cx="9692640" cy="4572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Hosts with gap &lt; ~150 meV per Gd (H-loaded, metalloid-shell, open cages) lose RE anisotropy below Tc regardless of RE choice. Testable on the suspects batch and by SOC runs on two low-gap vs two high-gap hosts.</a:t>
            </a:r>
            <a:endParaRPr lang="en-US" sz="900" dirty="0"/>
          </a:p>
        </p:txBody>
      </p:sp>
      <p:sp>
        <p:nvSpPr>
          <p:cNvPr id="14" name="Shape 12"/>
          <p:cNvSpPr/>
          <p:nvPr/>
        </p:nvSpPr>
        <p:spPr>
          <a:xfrm>
            <a:off x="640080" y="3300984"/>
            <a:ext cx="10881360" cy="841248"/>
          </a:xfrm>
          <a:prstGeom prst="roundRect">
            <a:avLst>
              <a:gd name="adj" fmla="val 8696"/>
            </a:avLst>
          </a:prstGeom>
          <a:solidFill>
            <a:srgbClr val="EEF2F7"/>
          </a:solidFill>
          <a:ln/>
        </p:spPr>
      </p:sp>
      <p:sp>
        <p:nvSpPr>
          <p:cNvPr id="15" name="Shape 13"/>
          <p:cNvSpPr/>
          <p:nvPr/>
        </p:nvSpPr>
        <p:spPr>
          <a:xfrm>
            <a:off x="777240" y="3447288"/>
            <a:ext cx="640080" cy="548640"/>
          </a:xfrm>
          <a:prstGeom prst="roundRect">
            <a:avLst>
              <a:gd name="adj" fmla="val 13333"/>
            </a:avLst>
          </a:prstGeom>
          <a:solidFill>
            <a:srgbClr val="7B4FA3"/>
          </a:solidFill>
          <a:ln/>
        </p:spPr>
      </p:sp>
      <p:sp>
        <p:nvSpPr>
          <p:cNvPr id="16" name="Text 14"/>
          <p:cNvSpPr txBox="1"/>
          <p:nvPr/>
        </p:nvSpPr>
        <p:spPr>
          <a:xfrm>
            <a:off x="777240" y="3447288"/>
            <a:ext cx="64008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H3</a:t>
            </a:r>
            <a:endParaRPr lang="en-US" sz="1600" dirty="0"/>
          </a:p>
        </p:txBody>
      </p:sp>
      <p:sp>
        <p:nvSpPr>
          <p:cNvPr id="17" name="Text 15"/>
          <p:cNvSpPr txBox="1"/>
          <p:nvPr/>
        </p:nvSpPr>
        <p:spPr>
          <a:xfrm>
            <a:off x="1600200" y="3392424"/>
            <a:ext cx="9692640" cy="256032"/>
          </a:xfrm>
          <a:prstGeom prst="rect">
            <a:avLst/>
          </a:prstGeom>
          <a:noFill/>
          <a:ln/>
        </p:spPr>
        <p:txBody>
          <a:bodyPr wrap="square" lIns="0" tIns="0" rIns="0" bIns="0" rtlCol="0" anchor="ctr"/>
          <a:lstStyle/>
          <a:p>
            <a:pPr indent="0" marL="0">
              <a:buNone/>
            </a:pPr>
            <a:r>
              <a:rPr lang="en-US" sz="1150" b="1" dirty="0">
                <a:solidFill>
                  <a:srgbClr val="1A2233"/>
                </a:solidFill>
                <a:latin typeface="Calibri" pitchFamily="34" charset="0"/>
                <a:ea typeface="Calibri" pitchFamily="34" charset="-122"/>
                <a:cs typeface="Calibri" pitchFamily="34" charset="-120"/>
              </a:rPr>
              <a:t>Partial Co in Fe/Y hosts buys coupling at almost no Ms cost</a:t>
            </a:r>
            <a:endParaRPr lang="en-US" sz="1150" dirty="0"/>
          </a:p>
        </p:txBody>
      </p:sp>
      <p:sp>
        <p:nvSpPr>
          <p:cNvPr id="18" name="Text 16"/>
          <p:cNvSpPr txBox="1"/>
          <p:nvPr/>
        </p:nvSpPr>
        <p:spPr>
          <a:xfrm>
            <a:off x="1600200" y="3666744"/>
            <a:ext cx="9692640" cy="4572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Fe+Co hosts have 50 % higher J_eff; at ≤ 15 % Co the Fe moment barely drops. Prediction: CoFe₆NdY and Co₂Fe₁₂NdY₃ show higher h than Fe₁₄NdY₃ at similar Ms. Direct comparison inside the batch.</a:t>
            </a:r>
            <a:endParaRPr lang="en-US" sz="900" dirty="0"/>
          </a:p>
        </p:txBody>
      </p:sp>
      <p:sp>
        <p:nvSpPr>
          <p:cNvPr id="19" name="Shape 17"/>
          <p:cNvSpPr/>
          <p:nvPr/>
        </p:nvSpPr>
        <p:spPr>
          <a:xfrm>
            <a:off x="640080" y="4242816"/>
            <a:ext cx="10881360" cy="841248"/>
          </a:xfrm>
          <a:prstGeom prst="roundRect">
            <a:avLst>
              <a:gd name="adj" fmla="val 8696"/>
            </a:avLst>
          </a:prstGeom>
          <a:solidFill>
            <a:srgbClr val="EEF2F7"/>
          </a:solidFill>
          <a:ln/>
        </p:spPr>
      </p:sp>
      <p:sp>
        <p:nvSpPr>
          <p:cNvPr id="20" name="Shape 18"/>
          <p:cNvSpPr/>
          <p:nvPr/>
        </p:nvSpPr>
        <p:spPr>
          <a:xfrm>
            <a:off x="777240" y="4389120"/>
            <a:ext cx="640080" cy="548640"/>
          </a:xfrm>
          <a:prstGeom prst="roundRect">
            <a:avLst>
              <a:gd name="adj" fmla="val 13333"/>
            </a:avLst>
          </a:prstGeom>
          <a:solidFill>
            <a:srgbClr val="F2B134"/>
          </a:solidFill>
          <a:ln/>
        </p:spPr>
      </p:sp>
      <p:sp>
        <p:nvSpPr>
          <p:cNvPr id="21" name="Text 19"/>
          <p:cNvSpPr txBox="1"/>
          <p:nvPr/>
        </p:nvSpPr>
        <p:spPr>
          <a:xfrm>
            <a:off x="777240" y="4389120"/>
            <a:ext cx="64008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H4</a:t>
            </a:r>
            <a:endParaRPr lang="en-US" sz="1600" dirty="0"/>
          </a:p>
        </p:txBody>
      </p:sp>
      <p:sp>
        <p:nvSpPr>
          <p:cNvPr id="22" name="Text 20"/>
          <p:cNvSpPr txBox="1"/>
          <p:nvPr/>
        </p:nvSpPr>
        <p:spPr>
          <a:xfrm>
            <a:off x="1600200" y="4334256"/>
            <a:ext cx="9692640" cy="256032"/>
          </a:xfrm>
          <a:prstGeom prst="rect">
            <a:avLst/>
          </a:prstGeom>
          <a:noFill/>
          <a:ln/>
        </p:spPr>
        <p:txBody>
          <a:bodyPr wrap="square" lIns="0" tIns="0" rIns="0" bIns="0" rtlCol="0" anchor="ctr"/>
          <a:lstStyle/>
          <a:p>
            <a:pPr indent="0" marL="0">
              <a:buNone/>
            </a:pPr>
            <a:r>
              <a:rPr lang="en-US" sz="1150" b="1" dirty="0">
                <a:solidFill>
                  <a:srgbClr val="1A2233"/>
                </a:solidFill>
                <a:latin typeface="Calibri" pitchFamily="34" charset="0"/>
                <a:ea typeface="Calibri" pitchFamily="34" charset="-122"/>
                <a:cs typeface="Calibri" pitchFamily="34" charset="-120"/>
              </a:rPr>
              <a:t>The compound lever is light RE + early TM + N interstitial on a dense new host</a:t>
            </a:r>
            <a:endParaRPr lang="en-US" sz="1150" dirty="0"/>
          </a:p>
        </p:txBody>
      </p:sp>
      <p:sp>
        <p:nvSpPr>
          <p:cNvPr id="23" name="Text 21"/>
          <p:cNvSpPr txBox="1"/>
          <p:nvPr/>
        </p:nvSpPr>
        <p:spPr>
          <a:xfrm>
            <a:off x="1600200" y="4608576"/>
            <a:ext cx="9692640" cy="4572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Light RE, partial Co and N are each supported by the data; early TM is a stability lever whose coupling effect is unresolved. None has been combined on a hull-stable new prototype. Fe₅(Nd,Sm)(Si,V) Immm with N on the largest void is the first test - MACE hull, then one run.</a:t>
            </a:r>
            <a:endParaRPr lang="en-US" sz="900" dirty="0"/>
          </a:p>
        </p:txBody>
      </p:sp>
      <p:sp>
        <p:nvSpPr>
          <p:cNvPr id="24" name="Shape 22"/>
          <p:cNvSpPr/>
          <p:nvPr/>
        </p:nvSpPr>
        <p:spPr>
          <a:xfrm>
            <a:off x="640080" y="5184648"/>
            <a:ext cx="10881360" cy="841248"/>
          </a:xfrm>
          <a:prstGeom prst="roundRect">
            <a:avLst>
              <a:gd name="adj" fmla="val 8696"/>
            </a:avLst>
          </a:prstGeom>
          <a:solidFill>
            <a:srgbClr val="EEF2F7"/>
          </a:solidFill>
          <a:ln/>
        </p:spPr>
      </p:sp>
      <p:sp>
        <p:nvSpPr>
          <p:cNvPr id="25" name="Shape 23"/>
          <p:cNvSpPr/>
          <p:nvPr/>
        </p:nvSpPr>
        <p:spPr>
          <a:xfrm>
            <a:off x="777240" y="5330952"/>
            <a:ext cx="640080" cy="548640"/>
          </a:xfrm>
          <a:prstGeom prst="roundRect">
            <a:avLst>
              <a:gd name="adj" fmla="val 13333"/>
            </a:avLst>
          </a:prstGeom>
          <a:solidFill>
            <a:srgbClr val="3E7FA6"/>
          </a:solidFill>
          <a:ln/>
        </p:spPr>
      </p:sp>
      <p:sp>
        <p:nvSpPr>
          <p:cNvPr id="26" name="Text 24"/>
          <p:cNvSpPr txBox="1"/>
          <p:nvPr/>
        </p:nvSpPr>
        <p:spPr>
          <a:xfrm>
            <a:off x="777240" y="5330952"/>
            <a:ext cx="64008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H5</a:t>
            </a:r>
            <a:endParaRPr lang="en-US" sz="1600" dirty="0"/>
          </a:p>
        </p:txBody>
      </p:sp>
      <p:sp>
        <p:nvSpPr>
          <p:cNvPr id="27" name="Text 25"/>
          <p:cNvSpPr txBox="1"/>
          <p:nvPr/>
        </p:nvSpPr>
        <p:spPr>
          <a:xfrm>
            <a:off x="1600200" y="5276088"/>
            <a:ext cx="9692640" cy="256032"/>
          </a:xfrm>
          <a:prstGeom prst="rect">
            <a:avLst/>
          </a:prstGeom>
          <a:noFill/>
          <a:ln/>
        </p:spPr>
        <p:txBody>
          <a:bodyPr wrap="square" lIns="0" tIns="0" rIns="0" bIns="0" rtlCol="0" anchor="ctr"/>
          <a:lstStyle/>
          <a:p>
            <a:pPr indent="0" marL="0">
              <a:buNone/>
            </a:pPr>
            <a:r>
              <a:rPr lang="en-US" sz="1150" b="1" dirty="0">
                <a:solidFill>
                  <a:srgbClr val="1A2233"/>
                </a:solidFill>
                <a:latin typeface="Calibri" pitchFamily="34" charset="0"/>
                <a:ea typeface="Calibri" pitchFamily="34" charset="-122"/>
                <a:cs typeface="Calibri" pitchFamily="34" charset="-120"/>
              </a:rPr>
              <a:t>Interstitial choice is a coupling decision, not just a volume decision</a:t>
            </a:r>
            <a:endParaRPr lang="en-US" sz="1150" dirty="0"/>
          </a:p>
        </p:txBody>
      </p:sp>
      <p:sp>
        <p:nvSpPr>
          <p:cNvPr id="28" name="Text 26"/>
          <p:cNvSpPr txBox="1"/>
          <p:nvPr/>
        </p:nvSpPr>
        <p:spPr>
          <a:xfrm>
            <a:off x="1600200" y="5550408"/>
            <a:ext cx="9692640" cy="4572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N and C expand the lattice and keep the gap; H in the RE shell collapses it. Hypothesis: the interstitial's site relative to the RE, not its size, decides. Test: H vs N on the same 2-17 cell, same site.</a:t>
            </a:r>
            <a:endParaRPr lang="en-US" sz="900" dirty="0"/>
          </a:p>
        </p:txBody>
      </p:sp>
      <p:sp>
        <p:nvSpPr>
          <p:cNvPr id="29" name="Text 27"/>
          <p:cNvSpPr txBox="1"/>
          <p:nvPr/>
        </p:nvSpPr>
        <p:spPr>
          <a:xfrm>
            <a:off x="640080" y="6144768"/>
            <a:ext cx="10881360" cy="320040"/>
          </a:xfrm>
          <a:prstGeom prst="rect">
            <a:avLst/>
          </a:prstGeom>
          <a:noFill/>
          <a:ln/>
        </p:spPr>
        <p:txBody>
          <a:bodyPr wrap="square" lIns="0" tIns="0" rIns="0" bIns="0" rtlCol="0" anchor="ctr"/>
          <a:lstStyle/>
          <a:p>
            <a:pPr indent="0" marL="0">
              <a:buNone/>
            </a:pPr>
            <a:r>
              <a:rPr lang="en-US" sz="1050" i="1" dirty="0">
                <a:solidFill>
                  <a:srgbClr val="1A2233"/>
                </a:solidFill>
                <a:latin typeface="Calibri" pitchFamily="34" charset="0"/>
                <a:ea typeface="Calibri" pitchFamily="34" charset="-122"/>
                <a:cs typeface="Calibri" pitchFamily="34" charset="-120"/>
              </a:rPr>
              <a:t>Each hypothesis names its own disproof. H1 and H3 are decided by the batch now in the queue.</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EXTENDING THE GD DATASET</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Using Campbell's rule to predict the rest of the series</a:t>
            </a:r>
            <a:endParaRPr lang="en-US" sz="3200" dirty="0"/>
          </a:p>
        </p:txBody>
      </p:sp>
      <p:sp>
        <p:nvSpPr>
          <p:cNvPr id="4" name="Shape 2"/>
          <p:cNvSpPr/>
          <p:nvPr/>
        </p:nvSpPr>
        <p:spPr>
          <a:xfrm>
            <a:off x="640080" y="1517904"/>
            <a:ext cx="4892040" cy="4206240"/>
          </a:xfrm>
          <a:prstGeom prst="roundRect">
            <a:avLst>
              <a:gd name="adj" fmla="val 1739"/>
            </a:avLst>
          </a:prstGeom>
          <a:solidFill>
            <a:srgbClr val="1B2A4A"/>
          </a:solidFill>
          <a:ln/>
        </p:spPr>
      </p:sp>
      <p:sp>
        <p:nvSpPr>
          <p:cNvPr id="5" name="Text 3"/>
          <p:cNvSpPr txBox="1"/>
          <p:nvPr/>
        </p:nvSpPr>
        <p:spPr>
          <a:xfrm>
            <a:off x="932688" y="1719072"/>
            <a:ext cx="4297680" cy="274320"/>
          </a:xfrm>
          <a:prstGeom prst="rect">
            <a:avLst/>
          </a:prstGeom>
          <a:noFill/>
          <a:ln/>
        </p:spPr>
        <p:txBody>
          <a:bodyPr wrap="square" lIns="0" tIns="0" rIns="0" bIns="0" rtlCol="0" anchor="ctr"/>
          <a:lstStyle/>
          <a:p>
            <a:pPr indent="0" marL="0">
              <a:buNone/>
            </a:pPr>
            <a:r>
              <a:rPr lang="en-US" sz="1400" b="1" dirty="0">
                <a:solidFill>
                  <a:srgbClr val="F2B134"/>
                </a:solidFill>
                <a:latin typeface="Calibri" pitchFamily="34" charset="0"/>
                <a:ea typeface="Calibri" pitchFamily="34" charset="-122"/>
                <a:cs typeface="Calibri" pitchFamily="34" charset="-120"/>
              </a:rPr>
              <a:t>What the Gd calculation gives you</a:t>
            </a:r>
            <a:endParaRPr lang="en-US" sz="1400" dirty="0"/>
          </a:p>
        </p:txBody>
      </p:sp>
      <p:sp>
        <p:nvSpPr>
          <p:cNvPr id="6" name="Text 4"/>
          <p:cNvSpPr txBox="1"/>
          <p:nvPr/>
        </p:nvSpPr>
        <p:spPr>
          <a:xfrm>
            <a:off x="932688" y="2066544"/>
            <a:ext cx="4297680" cy="914400"/>
          </a:xfrm>
          <a:prstGeom prst="rect">
            <a:avLst/>
          </a:prstGeom>
          <a:noFill/>
          <a:ln/>
        </p:spPr>
        <p:txBody>
          <a:bodyPr wrap="square" lIns="0" tIns="0" rIns="0" bIns="0" rtlCol="0" anchor="ctr"/>
          <a:lstStyle/>
          <a:p>
            <a:pPr indent="0" marL="0">
              <a:buNone/>
            </a:pPr>
            <a:r>
              <a:rPr lang="en-US" sz="1200" dirty="0">
                <a:solidFill>
                  <a:srgbClr val="C6D2E4"/>
                </a:solidFill>
                <a:latin typeface="Calibri" pitchFamily="34" charset="0"/>
                <a:ea typeface="Calibri" pitchFamily="34" charset="-122"/>
                <a:cs typeface="Calibri" pitchFamily="34" charset="-120"/>
              </a:rPr>
              <a:t>ΔE from the fm/ferri pair is the RE-TM exchange energy itself. Because the sign is fixed by the 4f-5d-3d chain and only the 4f spin magnitude changes down the series, one Gd pair predicts all six heavy rare earths.</a:t>
            </a:r>
            <a:endParaRPr lang="en-US" sz="1200" dirty="0"/>
          </a:p>
        </p:txBody>
      </p:sp>
      <p:sp>
        <p:nvSpPr>
          <p:cNvPr id="7" name="Text 5"/>
          <p:cNvSpPr txBox="1"/>
          <p:nvPr/>
        </p:nvSpPr>
        <p:spPr>
          <a:xfrm>
            <a:off x="932688" y="2999232"/>
            <a:ext cx="4297680" cy="182880"/>
          </a:xfrm>
          <a:prstGeom prst="rect">
            <a:avLst/>
          </a:prstGeom>
          <a:noFill/>
          <a:ln/>
        </p:spPr>
        <p:txBody>
          <a:bodyPr wrap="square" lIns="0" tIns="0" rIns="0" bIns="0" rtlCol="0" anchor="ctr"/>
          <a:lstStyle/>
          <a:p>
            <a:pPr indent="0" marL="0">
              <a:buNone/>
            </a:pPr>
            <a:r>
              <a:rPr lang="en-US" sz="950" spc="100" kern="0" dirty="0">
                <a:solidFill>
                  <a:srgbClr val="7A8DA8"/>
                </a:solidFill>
                <a:latin typeface="Calibri" pitchFamily="34" charset="0"/>
                <a:ea typeface="Calibri" pitchFamily="34" charset="-122"/>
                <a:cs typeface="Calibri" pitchFamily="34" charset="-120"/>
              </a:rPr>
              <a:t>coupling strength</a:t>
            </a:r>
            <a:endParaRPr lang="en-US" sz="950" dirty="0"/>
          </a:p>
        </p:txBody>
      </p:sp>
      <p:sp>
        <p:nvSpPr>
          <p:cNvPr id="8" name="Text 6"/>
          <p:cNvSpPr txBox="1"/>
          <p:nvPr/>
        </p:nvSpPr>
        <p:spPr>
          <a:xfrm>
            <a:off x="932688" y="3163824"/>
            <a:ext cx="4297680" cy="347472"/>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J(RE–TM)   ∝   (g_J − 1) J</a:t>
            </a:r>
            <a:endParaRPr lang="en-US" sz="1800" dirty="0"/>
          </a:p>
        </p:txBody>
      </p:sp>
      <p:sp>
        <p:nvSpPr>
          <p:cNvPr id="9" name="Text 7"/>
          <p:cNvSpPr txBox="1"/>
          <p:nvPr/>
        </p:nvSpPr>
        <p:spPr>
          <a:xfrm>
            <a:off x="932688" y="3529584"/>
            <a:ext cx="4297680" cy="182880"/>
          </a:xfrm>
          <a:prstGeom prst="rect">
            <a:avLst/>
          </a:prstGeom>
          <a:noFill/>
          <a:ln/>
        </p:spPr>
        <p:txBody>
          <a:bodyPr wrap="square" lIns="0" tIns="0" rIns="0" bIns="0" rtlCol="0" anchor="ctr"/>
          <a:lstStyle/>
          <a:p>
            <a:pPr indent="0" marL="0">
              <a:buNone/>
            </a:pPr>
            <a:r>
              <a:rPr lang="en-US" sz="950" spc="100" kern="0" dirty="0">
                <a:solidFill>
                  <a:srgbClr val="7A8DA8"/>
                </a:solidFill>
                <a:latin typeface="Calibri" pitchFamily="34" charset="0"/>
                <a:ea typeface="Calibri" pitchFamily="34" charset="-122"/>
                <a:cs typeface="Calibri" pitchFamily="34" charset="-120"/>
              </a:rPr>
              <a:t>Tc contribution  —  de Gennes factor</a:t>
            </a:r>
            <a:endParaRPr lang="en-US" sz="950" dirty="0"/>
          </a:p>
        </p:txBody>
      </p:sp>
      <p:sp>
        <p:nvSpPr>
          <p:cNvPr id="10" name="Text 8"/>
          <p:cNvSpPr txBox="1"/>
          <p:nvPr/>
        </p:nvSpPr>
        <p:spPr>
          <a:xfrm>
            <a:off x="932688" y="3694176"/>
            <a:ext cx="4297680" cy="329184"/>
          </a:xfrm>
          <a:prstGeom prst="rect">
            <a:avLst/>
          </a:prstGeom>
          <a:noFill/>
          <a:ln/>
        </p:spPr>
        <p:txBody>
          <a:bodyPr wrap="square" lIns="0" tIns="0" rIns="0" bIns="0" rtlCol="0" anchor="ctr"/>
          <a:lstStyle/>
          <a:p>
            <a:pPr indent="0" marL="0">
              <a:buNone/>
            </a:pPr>
            <a:r>
              <a:rPr lang="en-US" sz="1700" b="1" dirty="0">
                <a:solidFill>
                  <a:srgbClr val="F2B134"/>
                </a:solidFill>
                <a:latin typeface="Cambria" pitchFamily="34" charset="0"/>
                <a:ea typeface="Cambria" pitchFamily="34" charset="-122"/>
                <a:cs typeface="Cambria" pitchFamily="34" charset="-120"/>
              </a:rPr>
              <a:t>G  =  (g_J − 1)² J(J + 1)</a:t>
            </a:r>
            <a:endParaRPr lang="en-US" sz="1700" dirty="0"/>
          </a:p>
        </p:txBody>
      </p:sp>
      <p:sp>
        <p:nvSpPr>
          <p:cNvPr id="11" name="Text 9"/>
          <p:cNvSpPr txBox="1"/>
          <p:nvPr/>
        </p:nvSpPr>
        <p:spPr>
          <a:xfrm>
            <a:off x="932688" y="4041648"/>
            <a:ext cx="4297680" cy="237744"/>
          </a:xfrm>
          <a:prstGeom prst="rect">
            <a:avLst/>
          </a:prstGeom>
          <a:noFill/>
          <a:ln/>
        </p:spPr>
        <p:txBody>
          <a:bodyPr wrap="square" lIns="0" tIns="0" rIns="0" bIns="0" rtlCol="0" anchor="ctr"/>
          <a:lstStyle/>
          <a:p>
            <a:pPr indent="0" marL="0">
              <a:buNone/>
            </a:pPr>
            <a:r>
              <a:rPr lang="en-US" sz="1100" dirty="0">
                <a:solidFill>
                  <a:srgbClr val="8FA3C0"/>
                </a:solidFill>
                <a:latin typeface="Calibri" pitchFamily="34" charset="0"/>
                <a:ea typeface="Calibri" pitchFamily="34" charset="-122"/>
                <a:cs typeface="Calibri" pitchFamily="34" charset="-120"/>
              </a:rPr>
              <a:t>Gd 15.75 · Tb 10.5 · Dy 7.08 · Ho 4.5 · Er 2.55 · Tm 1.17</a:t>
            </a:r>
            <a:endParaRPr lang="en-US" sz="1100" dirty="0"/>
          </a:p>
        </p:txBody>
      </p:sp>
      <p:sp>
        <p:nvSpPr>
          <p:cNvPr id="12" name="Text 10"/>
          <p:cNvSpPr txBox="1"/>
          <p:nvPr/>
        </p:nvSpPr>
        <p:spPr>
          <a:xfrm>
            <a:off x="932688" y="4334256"/>
            <a:ext cx="4297680" cy="182880"/>
          </a:xfrm>
          <a:prstGeom prst="rect">
            <a:avLst/>
          </a:prstGeom>
          <a:noFill/>
          <a:ln/>
        </p:spPr>
        <p:txBody>
          <a:bodyPr wrap="square" lIns="0" tIns="0" rIns="0" bIns="0" rtlCol="0" anchor="ctr"/>
          <a:lstStyle/>
          <a:p>
            <a:pPr indent="0" marL="0">
              <a:buNone/>
            </a:pPr>
            <a:r>
              <a:rPr lang="en-US" sz="950" spc="100" kern="0" dirty="0">
                <a:solidFill>
                  <a:srgbClr val="7A8DA8"/>
                </a:solidFill>
                <a:latin typeface="Calibri" pitchFamily="34" charset="0"/>
                <a:ea typeface="Calibri" pitchFamily="34" charset="-122"/>
                <a:cs typeface="Calibri" pitchFamily="34" charset="-120"/>
              </a:rPr>
              <a:t>net moment</a:t>
            </a:r>
            <a:endParaRPr lang="en-US" sz="950" dirty="0"/>
          </a:p>
        </p:txBody>
      </p:sp>
      <p:sp>
        <p:nvSpPr>
          <p:cNvPr id="13" name="Text 11"/>
          <p:cNvSpPr txBox="1"/>
          <p:nvPr/>
        </p:nvSpPr>
        <p:spPr>
          <a:xfrm>
            <a:off x="932688" y="4498848"/>
            <a:ext cx="4297680"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M_net  =  M_TM  −  n_RE × g_J·J</a:t>
            </a:r>
            <a:endParaRPr lang="en-US" sz="1700" dirty="0"/>
          </a:p>
        </p:txBody>
      </p:sp>
      <p:sp>
        <p:nvSpPr>
          <p:cNvPr id="14" name="Text 12"/>
          <p:cNvSpPr txBox="1"/>
          <p:nvPr/>
        </p:nvSpPr>
        <p:spPr>
          <a:xfrm>
            <a:off x="932688" y="4882896"/>
            <a:ext cx="4297680" cy="731520"/>
          </a:xfrm>
          <a:prstGeom prst="rect">
            <a:avLst/>
          </a:prstGeom>
          <a:noFill/>
          <a:ln/>
        </p:spPr>
        <p:txBody>
          <a:bodyPr wrap="square" lIns="0" tIns="0" rIns="0" bIns="0" rtlCol="0" anchor="ctr"/>
          <a:lstStyle/>
          <a:p>
            <a:pPr indent="0" marL="0">
              <a:buNone/>
            </a:pPr>
            <a:r>
              <a:rPr lang="en-US" sz="1150" dirty="0">
                <a:solidFill>
                  <a:srgbClr val="C6D2E4"/>
                </a:solidFill>
                <a:latin typeface="Calibri" pitchFamily="34" charset="0"/>
                <a:ea typeface="Calibri" pitchFamily="34" charset="-122"/>
                <a:cs typeface="Calibri" pitchFamily="34" charset="-120"/>
              </a:rPr>
              <a:t>The Fe sublattice moment carries over unchanged; only the RE terms rescale — so both Tc and net moment are predictable for Tb–Tm without new calculations.</a:t>
            </a:r>
            <a:endParaRPr lang="en-US" sz="1150" dirty="0"/>
          </a:p>
        </p:txBody>
      </p:sp>
      <p:sp>
        <p:nvSpPr>
          <p:cNvPr id="15" name="Shape 13"/>
          <p:cNvSpPr/>
          <p:nvPr/>
        </p:nvSpPr>
        <p:spPr>
          <a:xfrm>
            <a:off x="5852160" y="1517904"/>
            <a:ext cx="5669280" cy="960120"/>
          </a:xfrm>
          <a:prstGeom prst="roundRect">
            <a:avLst>
              <a:gd name="adj" fmla="val 7619"/>
            </a:avLst>
          </a:prstGeom>
          <a:solidFill>
            <a:srgbClr val="EEF2F7"/>
          </a:solidFill>
          <a:ln/>
        </p:spPr>
      </p:sp>
      <p:sp>
        <p:nvSpPr>
          <p:cNvPr id="16" name="Shape 14"/>
          <p:cNvSpPr/>
          <p:nvPr/>
        </p:nvSpPr>
        <p:spPr>
          <a:xfrm>
            <a:off x="6108192" y="1682496"/>
            <a:ext cx="384048" cy="384048"/>
          </a:xfrm>
          <a:prstGeom prst="ellipse">
            <a:avLst/>
          </a:prstGeom>
          <a:solidFill>
            <a:srgbClr val="2E86AB"/>
          </a:solidFill>
          <a:ln/>
        </p:spPr>
      </p:sp>
      <p:sp>
        <p:nvSpPr>
          <p:cNvPr id="17" name="Text 15"/>
          <p:cNvSpPr txBox="1"/>
          <p:nvPr/>
        </p:nvSpPr>
        <p:spPr>
          <a:xfrm>
            <a:off x="6108192" y="16824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6"/>
          <p:cNvSpPr txBox="1"/>
          <p:nvPr/>
        </p:nvSpPr>
        <p:spPr>
          <a:xfrm>
            <a:off x="6656832" y="1636776"/>
            <a:ext cx="4663440" cy="256032"/>
          </a:xfrm>
          <a:prstGeom prst="rect">
            <a:avLst/>
          </a:prstGeom>
          <a:noFill/>
          <a:ln/>
        </p:spPr>
        <p:txBody>
          <a:bodyPr wrap="square" lIns="0" tIns="0" rIns="0" bIns="0" rtlCol="0" anchor="ctr"/>
          <a:lstStyle/>
          <a:p>
            <a:pPr indent="0" marL="0">
              <a:buNone/>
            </a:pPr>
            <a:r>
              <a:rPr lang="en-US" sz="1250" b="1" dirty="0">
                <a:solidFill>
                  <a:srgbClr val="1A2233"/>
                </a:solidFill>
                <a:latin typeface="Calibri" pitchFamily="34" charset="0"/>
                <a:ea typeface="Calibri" pitchFamily="34" charset="-122"/>
                <a:cs typeface="Calibri" pitchFamily="34" charset="-120"/>
              </a:rPr>
              <a:t>Rank by uncompensated moment, not by FM</a:t>
            </a:r>
            <a:endParaRPr lang="en-US" sz="1250" dirty="0"/>
          </a:p>
        </p:txBody>
      </p:sp>
      <p:sp>
        <p:nvSpPr>
          <p:cNvPr id="19" name="Text 17"/>
          <p:cNvSpPr txBox="1"/>
          <p:nvPr/>
        </p:nvSpPr>
        <p:spPr>
          <a:xfrm>
            <a:off x="6656832" y="1901952"/>
            <a:ext cx="4709160" cy="53035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For every Gd result, evaluate M_TM − n_RE·g_J·J across the series. High Fe:RE ratios (2-17, 1-12) leave a large residual; RT₄X compensates to ≈ 0. This reprioritises the whole candidate list at zero DFT cost.</a:t>
            </a:r>
            <a:endParaRPr lang="en-US" sz="1000" dirty="0"/>
          </a:p>
        </p:txBody>
      </p:sp>
      <p:sp>
        <p:nvSpPr>
          <p:cNvPr id="20" name="Shape 18"/>
          <p:cNvSpPr/>
          <p:nvPr/>
        </p:nvSpPr>
        <p:spPr>
          <a:xfrm>
            <a:off x="5852160" y="2587752"/>
            <a:ext cx="5669280" cy="960120"/>
          </a:xfrm>
          <a:prstGeom prst="roundRect">
            <a:avLst>
              <a:gd name="adj" fmla="val 7619"/>
            </a:avLst>
          </a:prstGeom>
          <a:solidFill>
            <a:srgbClr val="EEF2F7"/>
          </a:solidFill>
          <a:ln/>
        </p:spPr>
      </p:sp>
      <p:sp>
        <p:nvSpPr>
          <p:cNvPr id="21" name="Shape 19"/>
          <p:cNvSpPr/>
          <p:nvPr/>
        </p:nvSpPr>
        <p:spPr>
          <a:xfrm>
            <a:off x="6108192" y="2752344"/>
            <a:ext cx="384048" cy="384048"/>
          </a:xfrm>
          <a:prstGeom prst="ellipse">
            <a:avLst/>
          </a:prstGeom>
          <a:solidFill>
            <a:srgbClr val="E4572E"/>
          </a:solidFill>
          <a:ln/>
        </p:spPr>
      </p:sp>
      <p:sp>
        <p:nvSpPr>
          <p:cNvPr id="22" name="Text 20"/>
          <p:cNvSpPr txBox="1"/>
          <p:nvPr/>
        </p:nvSpPr>
        <p:spPr>
          <a:xfrm>
            <a:off x="6108192" y="27523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3" name="Text 21"/>
          <p:cNvSpPr txBox="1"/>
          <p:nvPr/>
        </p:nvSpPr>
        <p:spPr>
          <a:xfrm>
            <a:off x="6656832" y="2706624"/>
            <a:ext cx="4663440" cy="256032"/>
          </a:xfrm>
          <a:prstGeom prst="rect">
            <a:avLst/>
          </a:prstGeom>
          <a:noFill/>
          <a:ln/>
        </p:spPr>
        <p:txBody>
          <a:bodyPr wrap="square" lIns="0" tIns="0" rIns="0" bIns="0" rtlCol="0" anchor="ctr"/>
          <a:lstStyle/>
          <a:p>
            <a:pPr indent="0" marL="0">
              <a:buNone/>
            </a:pPr>
            <a:r>
              <a:rPr lang="en-US" sz="1250" b="1" dirty="0">
                <a:solidFill>
                  <a:srgbClr val="1A2233"/>
                </a:solidFill>
                <a:latin typeface="Calibri" pitchFamily="34" charset="0"/>
                <a:ea typeface="Calibri" pitchFamily="34" charset="-122"/>
                <a:cs typeface="Calibri" pitchFamily="34" charset="-120"/>
              </a:rPr>
              <a:t>Hunt where the 5d-3d chain breaks</a:t>
            </a:r>
            <a:endParaRPr lang="en-US" sz="1250" dirty="0"/>
          </a:p>
        </p:txBody>
      </p:sp>
      <p:sp>
        <p:nvSpPr>
          <p:cNvPr id="24" name="Text 22"/>
          <p:cNvSpPr txBox="1"/>
          <p:nvPr/>
        </p:nvSpPr>
        <p:spPr>
          <a:xfrm>
            <a:off x="6656832" y="2971800"/>
            <a:ext cx="4709160" cy="53035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The antiparallel sign is mediated by RE 5d. Screen for phases where that channel weakens: semiconducting or semimetallic X, long RE-Fe distances, RE coordinated only by anions, dilute RE. These are the only plausible FM exceptions.</a:t>
            </a:r>
            <a:endParaRPr lang="en-US" sz="1000" dirty="0"/>
          </a:p>
        </p:txBody>
      </p:sp>
      <p:sp>
        <p:nvSpPr>
          <p:cNvPr id="25" name="Shape 23"/>
          <p:cNvSpPr/>
          <p:nvPr/>
        </p:nvSpPr>
        <p:spPr>
          <a:xfrm>
            <a:off x="5852160" y="3657600"/>
            <a:ext cx="5669280" cy="960120"/>
          </a:xfrm>
          <a:prstGeom prst="roundRect">
            <a:avLst>
              <a:gd name="adj" fmla="val 7619"/>
            </a:avLst>
          </a:prstGeom>
          <a:solidFill>
            <a:srgbClr val="EEF2F7"/>
          </a:solidFill>
          <a:ln/>
        </p:spPr>
      </p:sp>
      <p:sp>
        <p:nvSpPr>
          <p:cNvPr id="26" name="Shape 24"/>
          <p:cNvSpPr/>
          <p:nvPr/>
        </p:nvSpPr>
        <p:spPr>
          <a:xfrm>
            <a:off x="6108192" y="3822192"/>
            <a:ext cx="384048" cy="384048"/>
          </a:xfrm>
          <a:prstGeom prst="ellipse">
            <a:avLst/>
          </a:prstGeom>
          <a:solidFill>
            <a:srgbClr val="2E86AB"/>
          </a:solidFill>
          <a:ln/>
        </p:spPr>
      </p:sp>
      <p:sp>
        <p:nvSpPr>
          <p:cNvPr id="27" name="Text 25"/>
          <p:cNvSpPr txBox="1"/>
          <p:nvPr/>
        </p:nvSpPr>
        <p:spPr>
          <a:xfrm>
            <a:off x="6108192" y="38221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Text 26"/>
          <p:cNvSpPr txBox="1"/>
          <p:nvPr/>
        </p:nvSpPr>
        <p:spPr>
          <a:xfrm>
            <a:off x="6656832" y="3776472"/>
            <a:ext cx="4663440" cy="256032"/>
          </a:xfrm>
          <a:prstGeom prst="rect">
            <a:avLst/>
          </a:prstGeom>
          <a:noFill/>
          <a:ln/>
        </p:spPr>
        <p:txBody>
          <a:bodyPr wrap="square" lIns="0" tIns="0" rIns="0" bIns="0" rtlCol="0" anchor="ctr"/>
          <a:lstStyle/>
          <a:p>
            <a:pPr indent="0" marL="0">
              <a:buNone/>
            </a:pPr>
            <a:r>
              <a:rPr lang="en-US" sz="1250" b="1" dirty="0">
                <a:solidFill>
                  <a:srgbClr val="1A2233"/>
                </a:solidFill>
                <a:latin typeface="Calibri" pitchFamily="34" charset="0"/>
                <a:ea typeface="Calibri" pitchFamily="34" charset="-122"/>
                <a:cs typeface="Calibri" pitchFamily="34" charset="-120"/>
              </a:rPr>
              <a:t>Use the induced 5d moment as a free diagnostic</a:t>
            </a:r>
            <a:endParaRPr lang="en-US" sz="1250" dirty="0"/>
          </a:p>
        </p:txBody>
      </p:sp>
      <p:sp>
        <p:nvSpPr>
          <p:cNvPr id="29" name="Text 27"/>
          <p:cNvSpPr txBox="1"/>
          <p:nvPr/>
        </p:nvSpPr>
        <p:spPr>
          <a:xfrm>
            <a:off x="6656832" y="4041648"/>
            <a:ext cx="4709160" cy="53035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Every Gd run already reports the RE 5d moment. Where its sign or magnitude deviates from the usual antiparallel pattern, the mechanism is weakening — a cheap flag for which compounds deserve explicit Tb–Tm treatment.</a:t>
            </a:r>
            <a:endParaRPr lang="en-US" sz="1000" dirty="0"/>
          </a:p>
        </p:txBody>
      </p:sp>
      <p:sp>
        <p:nvSpPr>
          <p:cNvPr id="30" name="Shape 28"/>
          <p:cNvSpPr/>
          <p:nvPr/>
        </p:nvSpPr>
        <p:spPr>
          <a:xfrm>
            <a:off x="5852160" y="4727448"/>
            <a:ext cx="5669280" cy="960120"/>
          </a:xfrm>
          <a:prstGeom prst="roundRect">
            <a:avLst>
              <a:gd name="adj" fmla="val 7619"/>
            </a:avLst>
          </a:prstGeom>
          <a:solidFill>
            <a:srgbClr val="EEF2F7"/>
          </a:solidFill>
          <a:ln/>
        </p:spPr>
      </p:sp>
      <p:sp>
        <p:nvSpPr>
          <p:cNvPr id="31" name="Shape 29"/>
          <p:cNvSpPr/>
          <p:nvPr/>
        </p:nvSpPr>
        <p:spPr>
          <a:xfrm>
            <a:off x="6108192" y="4892040"/>
            <a:ext cx="384048" cy="384048"/>
          </a:xfrm>
          <a:prstGeom prst="ellipse">
            <a:avLst/>
          </a:prstGeom>
          <a:solidFill>
            <a:srgbClr val="2E86AB"/>
          </a:solidFill>
          <a:ln/>
        </p:spPr>
      </p:sp>
      <p:sp>
        <p:nvSpPr>
          <p:cNvPr id="32" name="Text 30"/>
          <p:cNvSpPr txBox="1"/>
          <p:nvPr/>
        </p:nvSpPr>
        <p:spPr>
          <a:xfrm>
            <a:off x="6108192" y="4892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3" name="Text 31"/>
          <p:cNvSpPr txBox="1"/>
          <p:nvPr/>
        </p:nvSpPr>
        <p:spPr>
          <a:xfrm>
            <a:off x="6656832" y="4846320"/>
            <a:ext cx="4663440" cy="256032"/>
          </a:xfrm>
          <a:prstGeom prst="rect">
            <a:avLst/>
          </a:prstGeom>
          <a:noFill/>
          <a:ln/>
        </p:spPr>
        <p:txBody>
          <a:bodyPr wrap="square" lIns="0" tIns="0" rIns="0" bIns="0" rtlCol="0" anchor="ctr"/>
          <a:lstStyle/>
          <a:p>
            <a:pPr indent="0" marL="0">
              <a:buNone/>
            </a:pPr>
            <a:r>
              <a:rPr lang="en-US" sz="1250" b="1" dirty="0">
                <a:solidFill>
                  <a:srgbClr val="1A2233"/>
                </a:solidFill>
                <a:latin typeface="Calibri" pitchFamily="34" charset="0"/>
                <a:ea typeface="Calibri" pitchFamily="34" charset="-122"/>
                <a:cs typeface="Calibri" pitchFamily="34" charset="-120"/>
              </a:rPr>
              <a:t>Escalate only the outliers</a:t>
            </a:r>
            <a:endParaRPr lang="en-US" sz="1250" dirty="0"/>
          </a:p>
        </p:txBody>
      </p:sp>
      <p:sp>
        <p:nvSpPr>
          <p:cNvPr id="34" name="Text 32"/>
          <p:cNvSpPr txBox="1"/>
          <p:nvPr/>
        </p:nvSpPr>
        <p:spPr>
          <a:xfrm>
            <a:off x="6656832" y="5111496"/>
            <a:ext cx="4709160" cy="53035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Explicit 4f Tb–Tm with occupation-matrix control is expensive and fragile. Reserve it for de Gennes outliers and predicted FM exceptions, then add Tᴄ via exchange constants for survivors.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CAMPBELL'S RULE, APPLIED</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Which results reach the target with which rare earth, against magnets on the market</a:t>
            </a:r>
            <a:endParaRPr lang="en-US" sz="3200" dirty="0"/>
          </a:p>
        </p:txBody>
      </p:sp>
      <p:pic>
        <p:nvPicPr>
          <p:cNvPr id="4" name="Image 0" descr="/Users/g5q/Documents/GitHub/gnome-fe-hree-magnets/assets/campbell_ms.png">    </p:cNvPr>
          <p:cNvPicPr>
            <a:picLocks noChangeAspect="1"/>
          </p:cNvPicPr>
          <p:nvPr/>
        </p:nvPicPr>
        <p:blipFill>
          <a:blip r:embed="rId1"/>
          <a:stretch>
            <a:fillRect/>
          </a:stretch>
        </p:blipFill>
        <p:spPr>
          <a:xfrm>
            <a:off x="640080" y="1371600"/>
            <a:ext cx="7589520" cy="4754880"/>
          </a:xfrm>
          <a:prstGeom prst="rect">
            <a:avLst/>
          </a:prstGeom>
        </p:spPr>
      </p:pic>
      <p:sp>
        <p:nvSpPr>
          <p:cNvPr id="5" name="Shape 2"/>
          <p:cNvSpPr/>
          <p:nvPr/>
        </p:nvSpPr>
        <p:spPr>
          <a:xfrm>
            <a:off x="8458200" y="1371600"/>
            <a:ext cx="3063240" cy="4754880"/>
          </a:xfrm>
          <a:prstGeom prst="roundRect">
            <a:avLst>
              <a:gd name="adj" fmla="val 2388"/>
            </a:avLst>
          </a:prstGeom>
          <a:solidFill>
            <a:srgbClr val="EEF2F7"/>
          </a:solidFill>
          <a:ln/>
        </p:spPr>
      </p:sp>
      <p:sp>
        <p:nvSpPr>
          <p:cNvPr id="6" name="Text 3"/>
          <p:cNvSpPr txBox="1"/>
          <p:nvPr/>
        </p:nvSpPr>
        <p:spPr>
          <a:xfrm>
            <a:off x="8659368" y="1508760"/>
            <a:ext cx="2743200" cy="237744"/>
          </a:xfrm>
          <a:prstGeom prst="rect">
            <a:avLst/>
          </a:prstGeom>
          <a:noFill/>
          <a:ln/>
        </p:spPr>
        <p:txBody>
          <a:bodyPr wrap="square" lIns="0" tIns="0" rIns="0" bIns="0" rtlCol="0" anchor="ctr"/>
          <a:lstStyle/>
          <a:p>
            <a:pPr indent="0" marL="0">
              <a:buNone/>
            </a:pPr>
            <a:r>
              <a:rPr lang="en-US" sz="1200" b="1" dirty="0">
                <a:solidFill>
                  <a:srgbClr val="1A2233"/>
                </a:solidFill>
                <a:latin typeface="Calibri" pitchFamily="34" charset="0"/>
                <a:ea typeface="Calibri" pitchFamily="34" charset="-122"/>
                <a:cs typeface="Calibri" pitchFamily="34" charset="-120"/>
              </a:rPr>
              <a:t>How to read it</a:t>
            </a:r>
            <a:endParaRPr lang="en-US" sz="1200" dirty="0"/>
          </a:p>
        </p:txBody>
      </p:sp>
      <p:sp>
        <p:nvSpPr>
          <p:cNvPr id="7" name="Text 4"/>
          <p:cNvSpPr txBox="1"/>
          <p:nvPr/>
        </p:nvSpPr>
        <p:spPr>
          <a:xfrm>
            <a:off x="8659368" y="1783080"/>
            <a:ext cx="2788920" cy="1325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One row per host, ranked by its Nd projection. The Fe/Co sublattice moment is the computed one; each marker swaps the RE: Gd as computed (ferri), heavy Tb/Dy antiparallel, light Nd/Sm parallel. Dotted lines: measured Ms of commercial and benchmark magnets.</a:t>
            </a:r>
            <a:endParaRPr lang="en-US" sz="900" dirty="0"/>
          </a:p>
        </p:txBody>
      </p:sp>
      <p:sp>
        <p:nvSpPr>
          <p:cNvPr id="8" name="Text 5"/>
          <p:cNvSpPr txBox="1"/>
          <p:nvPr/>
        </p:nvSpPr>
        <p:spPr>
          <a:xfrm>
            <a:off x="8659368" y="3200400"/>
            <a:ext cx="2743200" cy="201168"/>
          </a:xfrm>
          <a:prstGeom prst="rect">
            <a:avLst/>
          </a:prstGeom>
          <a:noFill/>
          <a:ln/>
        </p:spPr>
        <p:txBody>
          <a:bodyPr wrap="square" lIns="0" tIns="0" rIns="0" bIns="0" rtlCol="0" anchor="ctr"/>
          <a:lstStyle/>
          <a:p>
            <a:pPr indent="0" marL="0">
              <a:buNone/>
            </a:pPr>
            <a:r>
              <a:rPr lang="en-US" sz="980" b="1" dirty="0">
                <a:solidFill>
                  <a:srgbClr val="E4572E"/>
                </a:solidFill>
                <a:latin typeface="Calibri" pitchFamily="34" charset="0"/>
                <a:ea typeface="Calibri" pitchFamily="34" charset="-122"/>
                <a:cs typeface="Calibri" pitchFamily="34" charset="-120"/>
              </a:rPr>
              <a:t>Heavy RE never works</a:t>
            </a:r>
            <a:endParaRPr lang="en-US" sz="980" dirty="0"/>
          </a:p>
        </p:txBody>
      </p:sp>
      <p:sp>
        <p:nvSpPr>
          <p:cNvPr id="9" name="Text 6"/>
          <p:cNvSpPr txBox="1"/>
          <p:nvPr/>
        </p:nvSpPr>
        <p:spPr>
          <a:xfrm>
            <a:off x="8659368" y="3392424"/>
            <a:ext cx="2788920" cy="457200"/>
          </a:xfrm>
          <a:prstGeom prst="rect">
            <a:avLst/>
          </a:prstGeom>
          <a:noFill/>
          <a:ln/>
        </p:spPr>
        <p:txBody>
          <a:bodyPr wrap="square" lIns="0" tIns="0" rIns="0" bIns="0" rtlCol="0" anchor="ctr"/>
          <a:lstStyle/>
          <a:p>
            <a:pPr indent="0" marL="0">
              <a:buNone/>
            </a:pPr>
            <a:r>
              <a:rPr lang="en-US" sz="830" dirty="0">
                <a:solidFill>
                  <a:srgbClr val="5A6478"/>
                </a:solidFill>
                <a:latin typeface="Calibri" pitchFamily="34" charset="0"/>
                <a:ea typeface="Calibri" pitchFamily="34" charset="-122"/>
                <a:cs typeface="Calibri" pitchFamily="34" charset="-120"/>
              </a:rPr>
              <a:t>Tb/Dy pull every host below 1 T; most go negative (RE-dominated).</a:t>
            </a:r>
            <a:endParaRPr lang="en-US" sz="830" dirty="0"/>
          </a:p>
        </p:txBody>
      </p:sp>
      <p:sp>
        <p:nvSpPr>
          <p:cNvPr id="10" name="Text 7"/>
          <p:cNvSpPr txBox="1"/>
          <p:nvPr/>
        </p:nvSpPr>
        <p:spPr>
          <a:xfrm>
            <a:off x="8659368" y="3858768"/>
            <a:ext cx="2743200" cy="201168"/>
          </a:xfrm>
          <a:prstGeom prst="rect">
            <a:avLst/>
          </a:prstGeom>
          <a:noFill/>
          <a:ln/>
        </p:spPr>
        <p:txBody>
          <a:bodyPr wrap="square" lIns="0" tIns="0" rIns="0" bIns="0" rtlCol="0" anchor="ctr"/>
          <a:lstStyle/>
          <a:p>
            <a:pPr indent="0" marL="0">
              <a:buNone/>
            </a:pPr>
            <a:r>
              <a:rPr lang="en-US" sz="980" b="1" dirty="0">
                <a:solidFill>
                  <a:srgbClr val="2E86AB"/>
                </a:solidFill>
                <a:latin typeface="Calibri" pitchFamily="34" charset="0"/>
                <a:ea typeface="Calibri" pitchFamily="34" charset="-122"/>
                <a:cs typeface="Calibri" pitchFamily="34" charset="-120"/>
              </a:rPr>
              <a:t>Light RE recovers 1.4-2.0 T</a:t>
            </a:r>
            <a:endParaRPr lang="en-US" sz="980" dirty="0"/>
          </a:p>
        </p:txBody>
      </p:sp>
      <p:sp>
        <p:nvSpPr>
          <p:cNvPr id="11" name="Text 8"/>
          <p:cNvSpPr txBox="1"/>
          <p:nvPr/>
        </p:nvSpPr>
        <p:spPr>
          <a:xfrm>
            <a:off x="8659368" y="4050792"/>
            <a:ext cx="2788920" cy="457200"/>
          </a:xfrm>
          <a:prstGeom prst="rect">
            <a:avLst/>
          </a:prstGeom>
          <a:noFill/>
          <a:ln/>
        </p:spPr>
        <p:txBody>
          <a:bodyPr wrap="square" lIns="0" tIns="0" rIns="0" bIns="0" rtlCol="0" anchor="ctr"/>
          <a:lstStyle/>
          <a:p>
            <a:pPr indent="0" marL="0">
              <a:buNone/>
            </a:pPr>
            <a:r>
              <a:rPr lang="en-US" sz="830" dirty="0">
                <a:solidFill>
                  <a:srgbClr val="5A6478"/>
                </a:solidFill>
                <a:latin typeface="Calibri" pitchFamily="34" charset="0"/>
                <a:ea typeface="Calibri" pitchFamily="34" charset="-122"/>
                <a:cs typeface="Calibri" pitchFamily="34" charset="-120"/>
              </a:rPr>
              <a:t>the known 2-14-1 and 2-17-N hosts top out at 2.0 T projected ≈ 1.6-1.7 T real; Nd₂Fe₁₄B and NdFe₁₂N are exactly that.</a:t>
            </a:r>
            <a:endParaRPr lang="en-US" sz="830" dirty="0"/>
          </a:p>
        </p:txBody>
      </p:sp>
      <p:sp>
        <p:nvSpPr>
          <p:cNvPr id="12" name="Text 9"/>
          <p:cNvSpPr txBox="1"/>
          <p:nvPr/>
        </p:nvSpPr>
        <p:spPr>
          <a:xfrm>
            <a:off x="8659368" y="4517136"/>
            <a:ext cx="2743200" cy="201168"/>
          </a:xfrm>
          <a:prstGeom prst="rect">
            <a:avLst/>
          </a:prstGeom>
          <a:noFill/>
          <a:ln/>
        </p:spPr>
        <p:txBody>
          <a:bodyPr wrap="square" lIns="0" tIns="0" rIns="0" bIns="0" rtlCol="0" anchor="ctr"/>
          <a:lstStyle/>
          <a:p>
            <a:pPr indent="0" marL="0">
              <a:buNone/>
            </a:pPr>
            <a:r>
              <a:rPr lang="en-US" sz="980" b="1" dirty="0">
                <a:solidFill>
                  <a:srgbClr val="2E86AB"/>
                </a:solidFill>
                <a:latin typeface="Calibri" pitchFamily="34" charset="0"/>
                <a:ea typeface="Calibri" pitchFamily="34" charset="-122"/>
                <a:cs typeface="Calibri" pitchFamily="34" charset="-120"/>
              </a:rPr>
              <a:t>New hosts land at 1.7-1.9 T</a:t>
            </a:r>
            <a:endParaRPr lang="en-US" sz="980" dirty="0"/>
          </a:p>
        </p:txBody>
      </p:sp>
      <p:sp>
        <p:nvSpPr>
          <p:cNvPr id="13" name="Text 10"/>
          <p:cNvSpPr txBox="1"/>
          <p:nvPr/>
        </p:nvSpPr>
        <p:spPr>
          <a:xfrm>
            <a:off x="8659368" y="4709160"/>
            <a:ext cx="2788920" cy="457200"/>
          </a:xfrm>
          <a:prstGeom prst="rect">
            <a:avLst/>
          </a:prstGeom>
          <a:noFill/>
          <a:ln/>
        </p:spPr>
        <p:txBody>
          <a:bodyPr wrap="square" lIns="0" tIns="0" rIns="0" bIns="0" rtlCol="0" anchor="ctr"/>
          <a:lstStyle/>
          <a:p>
            <a:pPr indent="0" marL="0">
              <a:buNone/>
            </a:pPr>
            <a:r>
              <a:rPr lang="en-US" sz="830" dirty="0">
                <a:solidFill>
                  <a:srgbClr val="5A6478"/>
                </a:solidFill>
                <a:latin typeface="Calibri" pitchFamily="34" charset="0"/>
                <a:ea typeface="Calibri" pitchFamily="34" charset="-122"/>
                <a:cs typeface="Calibri" pitchFamily="34" charset="-120"/>
              </a:rPr>
              <a:t>CoFe₁₃NdY₃, Co₇Fe₁₆Nd₆, Fe₅NdSi, Fe₁₁NdW - the first two are RE-rich, the last two are the queued batch.</a:t>
            </a:r>
            <a:endParaRPr lang="en-US" sz="830" dirty="0"/>
          </a:p>
        </p:txBody>
      </p:sp>
      <p:sp>
        <p:nvSpPr>
          <p:cNvPr id="14" name="Text 11"/>
          <p:cNvSpPr txBox="1"/>
          <p:nvPr/>
        </p:nvSpPr>
        <p:spPr>
          <a:xfrm>
            <a:off x="8659368" y="5175504"/>
            <a:ext cx="2743200" cy="201168"/>
          </a:xfrm>
          <a:prstGeom prst="rect">
            <a:avLst/>
          </a:prstGeom>
          <a:noFill/>
          <a:ln/>
        </p:spPr>
        <p:txBody>
          <a:bodyPr wrap="square" lIns="0" tIns="0" rIns="0" bIns="0" rtlCol="0" anchor="ctr"/>
          <a:lstStyle/>
          <a:p>
            <a:pPr indent="0" marL="0">
              <a:buNone/>
            </a:pPr>
            <a:r>
              <a:rPr lang="en-US" sz="980" b="1" dirty="0">
                <a:solidFill>
                  <a:srgbClr val="2E86AB"/>
                </a:solidFill>
                <a:latin typeface="Calibri" pitchFamily="34" charset="0"/>
                <a:ea typeface="Calibri" pitchFamily="34" charset="-122"/>
                <a:cs typeface="Calibri" pitchFamily="34" charset="-120"/>
              </a:rPr>
              <a:t>Sm costs 0.2-0.4 T</a:t>
            </a:r>
            <a:endParaRPr lang="en-US" sz="980" dirty="0"/>
          </a:p>
        </p:txBody>
      </p:sp>
      <p:sp>
        <p:nvSpPr>
          <p:cNvPr id="15" name="Text 12"/>
          <p:cNvSpPr txBox="1"/>
          <p:nvPr/>
        </p:nvSpPr>
        <p:spPr>
          <a:xfrm>
            <a:off x="8659368" y="5367528"/>
            <a:ext cx="2788920" cy="457200"/>
          </a:xfrm>
          <a:prstGeom prst="rect">
            <a:avLst/>
          </a:prstGeom>
          <a:noFill/>
          <a:ln/>
        </p:spPr>
        <p:txBody>
          <a:bodyPr wrap="square" lIns="0" tIns="0" rIns="0" bIns="0" rtlCol="0" anchor="ctr"/>
          <a:lstStyle/>
          <a:p>
            <a:pPr indent="0" marL="0">
              <a:buNone/>
            </a:pPr>
            <a:r>
              <a:rPr lang="en-US" sz="830" dirty="0">
                <a:solidFill>
                  <a:srgbClr val="5A6478"/>
                </a:solidFill>
                <a:latin typeface="Calibri" pitchFamily="34" charset="0"/>
                <a:ea typeface="Calibri" pitchFamily="34" charset="-122"/>
                <a:cs typeface="Calibri" pitchFamily="34" charset="-120"/>
              </a:rPr>
              <a:t>but carries the strongest anisotropy and sits on the hull more often.</a:t>
            </a:r>
            <a:endParaRPr lang="en-US" sz="830" dirty="0"/>
          </a:p>
        </p:txBody>
      </p:sp>
      <p:sp>
        <p:nvSpPr>
          <p:cNvPr id="16" name="Text 13"/>
          <p:cNvSpPr txBox="1"/>
          <p:nvPr/>
        </p:nvSpPr>
        <p:spPr>
          <a:xfrm>
            <a:off x="640080" y="6199632"/>
            <a:ext cx="10881360" cy="411480"/>
          </a:xfrm>
          <a:prstGeom prst="rect">
            <a:avLst/>
          </a:prstGeom>
          <a:noFill/>
          <a:ln/>
        </p:spPr>
        <p:txBody>
          <a:bodyPr wrap="square" lIns="0" tIns="0" rIns="0" bIns="0" rtlCol="0" anchor="ctr"/>
          <a:lstStyle/>
          <a:p>
            <a:pPr indent="0" marL="0">
              <a:buNone/>
            </a:pPr>
            <a:r>
              <a:rPr lang="en-US" sz="1000" i="1" dirty="0">
                <a:solidFill>
                  <a:srgbClr val="1A2233"/>
                </a:solidFill>
                <a:latin typeface="Calibri" pitchFamily="34" charset="0"/>
                <a:ea typeface="Calibri" pitchFamily="34" charset="-122"/>
                <a:cs typeface="Calibri" pitchFamily="34" charset="-120"/>
              </a:rPr>
              <a:t>Learnt: within this chemistry the rare earth sets Ms far more than the host does; the host's job is coupling strength and stability, which is why the batch was chosen on those two and not on Ms alone.</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AFTER THE COUPLING QUESTION</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How much Gd must be replaced to make a magnet</a:t>
            </a:r>
            <a:endParaRPr lang="en-US" sz="3200" dirty="0"/>
          </a:p>
        </p:txBody>
      </p:sp>
      <p:sp>
        <p:nvSpPr>
          <p:cNvPr id="4" name="Shape 2"/>
          <p:cNvSpPr/>
          <p:nvPr/>
        </p:nvSpPr>
        <p:spPr>
          <a:xfrm>
            <a:off x="640080" y="1481328"/>
            <a:ext cx="5029200" cy="2148840"/>
          </a:xfrm>
          <a:prstGeom prst="roundRect">
            <a:avLst>
              <a:gd name="adj" fmla="val 3404"/>
            </a:avLst>
          </a:prstGeom>
          <a:solidFill>
            <a:srgbClr val="1B2A4A"/>
          </a:solidFill>
          <a:ln/>
        </p:spPr>
      </p:sp>
      <p:sp>
        <p:nvSpPr>
          <p:cNvPr id="5" name="Text 3"/>
          <p:cNvSpPr txBox="1"/>
          <p:nvPr/>
        </p:nvSpPr>
        <p:spPr>
          <a:xfrm>
            <a:off x="914400" y="1645920"/>
            <a:ext cx="4480560" cy="274320"/>
          </a:xfrm>
          <a:prstGeom prst="rect">
            <a:avLst/>
          </a:prstGeom>
          <a:noFill/>
          <a:ln/>
        </p:spPr>
        <p:txBody>
          <a:bodyPr wrap="square" lIns="0" tIns="0" rIns="0" bIns="0" rtlCol="0" anchor="ctr"/>
          <a:lstStyle/>
          <a:p>
            <a:pPr indent="0" marL="0">
              <a:buNone/>
            </a:pPr>
            <a:r>
              <a:rPr lang="en-US" sz="1400" b="1" dirty="0">
                <a:solidFill>
                  <a:srgbClr val="F2B134"/>
                </a:solidFill>
                <a:latin typeface="Calibri" pitchFamily="34" charset="0"/>
                <a:ea typeface="Calibri" pitchFamily="34" charset="-122"/>
                <a:cs typeface="Calibri" pitchFamily="34" charset="-120"/>
              </a:rPr>
              <a:t>The gap the campaign leaves</a:t>
            </a:r>
            <a:endParaRPr lang="en-US" sz="1400" dirty="0"/>
          </a:p>
        </p:txBody>
      </p:sp>
      <p:sp>
        <p:nvSpPr>
          <p:cNvPr id="6" name="Text 4"/>
          <p:cNvSpPr txBox="1"/>
          <p:nvPr/>
        </p:nvSpPr>
        <p:spPr>
          <a:xfrm>
            <a:off x="914400" y="1975104"/>
            <a:ext cx="4480560" cy="914400"/>
          </a:xfrm>
          <a:prstGeom prst="rect">
            <a:avLst/>
          </a:prstGeom>
          <a:noFill/>
          <a:ln/>
        </p:spPr>
        <p:txBody>
          <a:bodyPr wrap="square" lIns="0" tIns="0" rIns="0" bIns="0" rtlCol="0" anchor="ctr"/>
          <a:lstStyle/>
          <a:p>
            <a:pPr indent="0" marL="0">
              <a:buNone/>
            </a:pPr>
            <a:r>
              <a:rPr lang="en-US" sz="1200" dirty="0">
                <a:solidFill>
                  <a:srgbClr val="C6D2E4"/>
                </a:solidFill>
                <a:latin typeface="Calibri" pitchFamily="34" charset="0"/>
                <a:ea typeface="Calibri" pitchFamily="34" charset="-122"/>
                <a:cs typeface="Calibri" pitchFamily="34" charset="-120"/>
              </a:rPr>
              <a:t>Gd is a 4f⁷ S-state ion: L = 0, spherical charge cloud, no single-ion anisotropy by construction. That is exactly why it is a clean surrogate for exchange — and exactly why it can never be the final composition.</a:t>
            </a:r>
            <a:endParaRPr lang="en-US" sz="1200" dirty="0"/>
          </a:p>
        </p:txBody>
      </p:sp>
      <p:sp>
        <p:nvSpPr>
          <p:cNvPr id="7" name="Text 5"/>
          <p:cNvSpPr txBox="1"/>
          <p:nvPr/>
        </p:nvSpPr>
        <p:spPr>
          <a:xfrm>
            <a:off x="914400" y="2926080"/>
            <a:ext cx="4480560"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κ  =  √( K₁ / μ₀Ms² )  ≥  1</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3794760"/>
          <a:ext cx="5029200" cy="914400"/>
        </p:xfrm>
        <a:graphic>
          <a:graphicData uri="http://schemas.openxmlformats.org/drawingml/2006/table">
            <a:tbl>
              <a:tblPr/>
              <a:tblGrid>
                <a:gridCol w="1463040"/>
                <a:gridCol w="1783080"/>
                <a:gridCol w="1783080"/>
              </a:tblGrid>
              <a:tr h="310896">
                <a:tc>
                  <a:txBody>
                    <a:bodyPr/>
                    <a:lstStyle/>
                    <a:p>
                      <a:pPr indent="0" marL="0">
                        <a:buNone/>
                      </a:pPr>
                      <a:r>
                        <a:rPr lang="en-US" sz="1150" b="1" dirty="0">
                          <a:solidFill>
                            <a:srgbClr val="1A2233"/>
                          </a:solidFill>
                          <a:latin typeface="Calibri" pitchFamily="34" charset="0"/>
                          <a:ea typeface="Calibri" pitchFamily="34" charset="-122"/>
                          <a:cs typeface="Calibri" pitchFamily="34" charset="-120"/>
                        </a:rPr>
                        <a:t>μ₀Ms</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b="1" dirty="0">
                          <a:solidFill>
                            <a:srgbClr val="1A2233"/>
                          </a:solidFill>
                          <a:latin typeface="Calibri" pitchFamily="34" charset="0"/>
                          <a:ea typeface="Calibri" pitchFamily="34" charset="-122"/>
                          <a:cs typeface="Calibri" pitchFamily="34" charset="-120"/>
                        </a:rPr>
                        <a:t>K₁ for κ = 1</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b="1" dirty="0">
                          <a:solidFill>
                            <a:srgbClr val="1A2233"/>
                          </a:solidFill>
                          <a:latin typeface="Calibri" pitchFamily="34" charset="0"/>
                          <a:ea typeface="Calibri" pitchFamily="34" charset="-122"/>
                          <a:cs typeface="Calibri" pitchFamily="34" charset="-120"/>
                        </a:rPr>
                        <a:t>K₁ for κ = 1.54</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1.5 T</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1.8 MJ/m³</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4.2 MJ/m³</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2.0 T</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3.2 MJ/m³</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7.5 MJ/m³</a:t>
                      </a:r>
                      <a:endParaRPr lang="en-US" sz="1150" dirty="0">
                        <a:latin typeface="Calibri" charset="0"/>
                        <a:ea typeface="Calibri" charset="0"/>
                        <a:cs typeface="Calibri" charset="0"/>
                      </a:endParaRPr>
                    </a:p>
                  </a:txBody>
                  <a:tcPr marL="91440" marR="91440" marT="45720" marB="45720"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640080" y="4864608"/>
            <a:ext cx="5029200" cy="548640"/>
          </a:xfrm>
          <a:prstGeom prst="rect">
            <a:avLst/>
          </a:prstGeom>
          <a:noFill/>
          <a:ln/>
        </p:spPr>
        <p:txBody>
          <a:bodyPr wrap="square" lIns="0" tIns="0" rIns="0" bIns="0"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Higher Ms demands MORE anisotropy, not less — which is why a 2 T target forces a non-spherical 4f ion. (κ = 1.54 is Nd₂Fe₁₄B.)</a:t>
            </a:r>
            <a:endParaRPr lang="en-US" sz="1100" dirty="0"/>
          </a:p>
        </p:txBody>
      </p:sp>
      <p:sp>
        <p:nvSpPr>
          <p:cNvPr id="10" name="Shape 7"/>
          <p:cNvSpPr/>
          <p:nvPr/>
        </p:nvSpPr>
        <p:spPr>
          <a:xfrm>
            <a:off x="5989320" y="1481328"/>
            <a:ext cx="5532120" cy="1060704"/>
          </a:xfrm>
          <a:prstGeom prst="roundRect">
            <a:avLst>
              <a:gd name="adj" fmla="val 6897"/>
            </a:avLst>
          </a:prstGeom>
          <a:solidFill>
            <a:srgbClr val="EEF2F7"/>
          </a:solidFill>
          <a:ln/>
        </p:spPr>
      </p:sp>
      <p:sp>
        <p:nvSpPr>
          <p:cNvPr id="11" name="Shape 8"/>
          <p:cNvSpPr/>
          <p:nvPr/>
        </p:nvSpPr>
        <p:spPr>
          <a:xfrm>
            <a:off x="6245352" y="1664208"/>
            <a:ext cx="384048" cy="384048"/>
          </a:xfrm>
          <a:prstGeom prst="ellipse">
            <a:avLst/>
          </a:prstGeom>
          <a:solidFill>
            <a:srgbClr val="E4572E"/>
          </a:solidFill>
          <a:ln/>
        </p:spPr>
      </p:sp>
      <p:sp>
        <p:nvSpPr>
          <p:cNvPr id="12" name="Text 9"/>
          <p:cNvSpPr txBox="1"/>
          <p:nvPr/>
        </p:nvSpPr>
        <p:spPr>
          <a:xfrm>
            <a:off x="6245352" y="16642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6793992" y="1618488"/>
            <a:ext cx="4480560" cy="256032"/>
          </a:xfrm>
          <a:prstGeom prst="rect">
            <a:avLst/>
          </a:prstGeom>
          <a:noFill/>
          <a:ln/>
        </p:spPr>
        <p:txBody>
          <a:bodyPr wrap="square" lIns="0" tIns="0" rIns="0" bIns="0" rtlCol="0" anchor="ctr"/>
          <a:lstStyle/>
          <a:p>
            <a:pPr indent="0" marL="0">
              <a:buNone/>
            </a:pPr>
            <a:r>
              <a:rPr lang="en-US" sz="1250" b="1" dirty="0">
                <a:solidFill>
                  <a:srgbClr val="1A2233"/>
                </a:solidFill>
                <a:latin typeface="Calibri" pitchFamily="34" charset="0"/>
                <a:ea typeface="Calibri" pitchFamily="34" charset="-122"/>
                <a:cs typeface="Calibri" pitchFamily="34" charset="-120"/>
              </a:rPr>
              <a:t>Inputs</a:t>
            </a:r>
            <a:endParaRPr lang="en-US" sz="1250" dirty="0"/>
          </a:p>
        </p:txBody>
      </p:sp>
      <p:sp>
        <p:nvSpPr>
          <p:cNvPr id="14" name="Text 11"/>
          <p:cNvSpPr txBox="1"/>
          <p:nvPr/>
        </p:nvSpPr>
        <p:spPr>
          <a:xfrm>
            <a:off x="6793992" y="1883664"/>
            <a:ext cx="4526280" cy="62179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|ΔE| per Gd from the campaign sets the exchange field; Stevens α_J and ⟨r²⟩ are tabulated. Only A₂⁰, the crystal-field parameter at the RE site, must be computed separately.</a:t>
            </a:r>
            <a:endParaRPr lang="en-US" sz="1000" dirty="0"/>
          </a:p>
        </p:txBody>
      </p:sp>
      <p:sp>
        <p:nvSpPr>
          <p:cNvPr id="15" name="Shape 12"/>
          <p:cNvSpPr/>
          <p:nvPr/>
        </p:nvSpPr>
        <p:spPr>
          <a:xfrm>
            <a:off x="5989320" y="2651760"/>
            <a:ext cx="5532120" cy="1060704"/>
          </a:xfrm>
          <a:prstGeom prst="roundRect">
            <a:avLst>
              <a:gd name="adj" fmla="val 6897"/>
            </a:avLst>
          </a:prstGeom>
          <a:solidFill>
            <a:srgbClr val="EEF2F7"/>
          </a:solidFill>
          <a:ln/>
        </p:spPr>
      </p:sp>
      <p:sp>
        <p:nvSpPr>
          <p:cNvPr id="16" name="Shape 13"/>
          <p:cNvSpPr/>
          <p:nvPr/>
        </p:nvSpPr>
        <p:spPr>
          <a:xfrm>
            <a:off x="6245352" y="2834640"/>
            <a:ext cx="384048" cy="384048"/>
          </a:xfrm>
          <a:prstGeom prst="ellipse">
            <a:avLst/>
          </a:prstGeom>
          <a:solidFill>
            <a:srgbClr val="E4572E"/>
          </a:solidFill>
          <a:ln/>
        </p:spPr>
      </p:sp>
      <p:sp>
        <p:nvSpPr>
          <p:cNvPr id="17" name="Text 14"/>
          <p:cNvSpPr txBox="1"/>
          <p:nvPr/>
        </p:nvSpPr>
        <p:spPr>
          <a:xfrm>
            <a:off x="6245352" y="2834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5"/>
          <p:cNvSpPr txBox="1"/>
          <p:nvPr/>
        </p:nvSpPr>
        <p:spPr>
          <a:xfrm>
            <a:off x="6793992" y="2788920"/>
            <a:ext cx="4480560" cy="256032"/>
          </a:xfrm>
          <a:prstGeom prst="rect">
            <a:avLst/>
          </a:prstGeom>
          <a:noFill/>
          <a:ln/>
        </p:spPr>
        <p:txBody>
          <a:bodyPr wrap="square" lIns="0" tIns="0" rIns="0" bIns="0" rtlCol="0" anchor="ctr"/>
          <a:lstStyle/>
          <a:p>
            <a:pPr indent="0" marL="0">
              <a:buNone/>
            </a:pPr>
            <a:r>
              <a:rPr lang="en-US" sz="1250" b="1" dirty="0">
                <a:solidFill>
                  <a:srgbClr val="1A2233"/>
                </a:solidFill>
                <a:latin typeface="Calibri" pitchFamily="34" charset="0"/>
                <a:ea typeface="Calibri" pitchFamily="34" charset="-122"/>
                <a:cs typeface="Calibri" pitchFamily="34" charset="-120"/>
              </a:rPr>
              <a:t>Model</a:t>
            </a:r>
            <a:endParaRPr lang="en-US" sz="1250" dirty="0"/>
          </a:p>
        </p:txBody>
      </p:sp>
      <p:sp>
        <p:nvSpPr>
          <p:cNvPr id="19" name="Text 16"/>
          <p:cNvSpPr txBox="1"/>
          <p:nvPr/>
        </p:nvSpPr>
        <p:spPr>
          <a:xfrm>
            <a:off x="6793992" y="3054096"/>
            <a:ext cx="4526280" cy="62179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K₁(x,T) from the 2nd-order crystal field with the Callen–Callen l = 2 law (K₁ ∝ m_RE³); Ms(x) from the TM sublattice and the RE moments, signed by the coupling.</a:t>
            </a:r>
            <a:endParaRPr lang="en-US" sz="1000" dirty="0"/>
          </a:p>
        </p:txBody>
      </p:sp>
      <p:sp>
        <p:nvSpPr>
          <p:cNvPr id="20" name="Shape 17"/>
          <p:cNvSpPr/>
          <p:nvPr/>
        </p:nvSpPr>
        <p:spPr>
          <a:xfrm>
            <a:off x="5989320" y="3822192"/>
            <a:ext cx="5532120" cy="1060704"/>
          </a:xfrm>
          <a:prstGeom prst="roundRect">
            <a:avLst>
              <a:gd name="adj" fmla="val 6897"/>
            </a:avLst>
          </a:prstGeom>
          <a:solidFill>
            <a:srgbClr val="EEF2F7"/>
          </a:solidFill>
          <a:ln/>
        </p:spPr>
      </p:sp>
      <p:sp>
        <p:nvSpPr>
          <p:cNvPr id="21" name="Shape 18"/>
          <p:cNvSpPr/>
          <p:nvPr/>
        </p:nvSpPr>
        <p:spPr>
          <a:xfrm>
            <a:off x="6245352" y="4005072"/>
            <a:ext cx="384048" cy="384048"/>
          </a:xfrm>
          <a:prstGeom prst="ellipse">
            <a:avLst/>
          </a:prstGeom>
          <a:solidFill>
            <a:srgbClr val="E4572E"/>
          </a:solidFill>
          <a:ln/>
        </p:spPr>
      </p:sp>
      <p:sp>
        <p:nvSpPr>
          <p:cNvPr id="22" name="Text 19"/>
          <p:cNvSpPr txBox="1"/>
          <p:nvPr/>
        </p:nvSpPr>
        <p:spPr>
          <a:xfrm>
            <a:off x="6245352" y="4005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0"/>
          <p:cNvSpPr txBox="1"/>
          <p:nvPr/>
        </p:nvSpPr>
        <p:spPr>
          <a:xfrm>
            <a:off x="6793992" y="3959352"/>
            <a:ext cx="4480560" cy="256032"/>
          </a:xfrm>
          <a:prstGeom prst="rect">
            <a:avLst/>
          </a:prstGeom>
          <a:noFill/>
          <a:ln/>
        </p:spPr>
        <p:txBody>
          <a:bodyPr wrap="square" lIns="0" tIns="0" rIns="0" bIns="0" rtlCol="0" anchor="ctr"/>
          <a:lstStyle/>
          <a:p>
            <a:pPr indent="0" marL="0">
              <a:buNone/>
            </a:pPr>
            <a:r>
              <a:rPr lang="en-US" sz="1250" b="1" dirty="0">
                <a:solidFill>
                  <a:srgbClr val="1A2233"/>
                </a:solidFill>
                <a:latin typeface="Calibri" pitchFamily="34" charset="0"/>
                <a:ea typeface="Calibri" pitchFamily="34" charset="-122"/>
                <a:cs typeface="Calibri" pitchFamily="34" charset="-120"/>
              </a:rPr>
              <a:t>Solve</a:t>
            </a:r>
            <a:endParaRPr lang="en-US" sz="1250" dirty="0"/>
          </a:p>
        </p:txBody>
      </p:sp>
      <p:sp>
        <p:nvSpPr>
          <p:cNvPr id="24" name="Text 21"/>
          <p:cNvSpPr txBox="1"/>
          <p:nvPr/>
        </p:nvSpPr>
        <p:spPr>
          <a:xfrm>
            <a:off x="6793992" y="4224528"/>
            <a:ext cx="4526280" cy="62179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smallest x clearing κ ≥ 1 at operating temperature. Example: A₂⁰ = +300 K/a₀², 450 K → Tb at x = 0.77 gives K₁ = 5.7 MJ/m³, μ₀Ms = 2.67 T, κ = 1.0.</a:t>
            </a:r>
            <a:endParaRPr lang="en-US" sz="1000" dirty="0"/>
          </a:p>
        </p:txBody>
      </p:sp>
      <p:sp>
        <p:nvSpPr>
          <p:cNvPr id="25" name="Shape 22"/>
          <p:cNvSpPr/>
          <p:nvPr/>
        </p:nvSpPr>
        <p:spPr>
          <a:xfrm>
            <a:off x="5989320" y="4992624"/>
            <a:ext cx="5532120" cy="1060704"/>
          </a:xfrm>
          <a:prstGeom prst="roundRect">
            <a:avLst>
              <a:gd name="adj" fmla="val 6897"/>
            </a:avLst>
          </a:prstGeom>
          <a:solidFill>
            <a:srgbClr val="EEF2F7"/>
          </a:solidFill>
          <a:ln/>
        </p:spPr>
      </p:sp>
      <p:sp>
        <p:nvSpPr>
          <p:cNvPr id="26" name="Shape 23"/>
          <p:cNvSpPr/>
          <p:nvPr/>
        </p:nvSpPr>
        <p:spPr>
          <a:xfrm>
            <a:off x="6245352" y="5175504"/>
            <a:ext cx="384048" cy="384048"/>
          </a:xfrm>
          <a:prstGeom prst="ellipse">
            <a:avLst/>
          </a:prstGeom>
          <a:solidFill>
            <a:srgbClr val="2E86AB"/>
          </a:solidFill>
          <a:ln/>
        </p:spPr>
      </p:sp>
      <p:sp>
        <p:nvSpPr>
          <p:cNvPr id="27" name="Text 24"/>
          <p:cNvSpPr txBox="1"/>
          <p:nvPr/>
        </p:nvSpPr>
        <p:spPr>
          <a:xfrm>
            <a:off x="6245352" y="51755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5"/>
          <p:cNvSpPr txBox="1"/>
          <p:nvPr/>
        </p:nvSpPr>
        <p:spPr>
          <a:xfrm>
            <a:off x="6793992" y="5129784"/>
            <a:ext cx="4480560" cy="256032"/>
          </a:xfrm>
          <a:prstGeom prst="rect">
            <a:avLst/>
          </a:prstGeom>
          <a:noFill/>
          <a:ln/>
        </p:spPr>
        <p:txBody>
          <a:bodyPr wrap="square" lIns="0" tIns="0" rIns="0" bIns="0" rtlCol="0" anchor="ctr"/>
          <a:lstStyle/>
          <a:p>
            <a:pPr indent="0" marL="0">
              <a:buNone/>
            </a:pPr>
            <a:r>
              <a:rPr lang="en-US" sz="1250" b="1" dirty="0">
                <a:solidFill>
                  <a:srgbClr val="1A2233"/>
                </a:solidFill>
                <a:latin typeface="Calibri" pitchFamily="34" charset="0"/>
                <a:ea typeface="Calibri" pitchFamily="34" charset="-122"/>
                <a:cs typeface="Calibri" pitchFamily="34" charset="-120"/>
              </a:rPr>
              <a:t>Keep Gd for Tc</a:t>
            </a:r>
            <a:endParaRPr lang="en-US" sz="1250" dirty="0"/>
          </a:p>
        </p:txBody>
      </p:sp>
      <p:sp>
        <p:nvSpPr>
          <p:cNvPr id="29" name="Text 26"/>
          <p:cNvSpPr txBox="1"/>
          <p:nvPr/>
        </p:nvSpPr>
        <p:spPr>
          <a:xfrm>
            <a:off x="6793992" y="5394960"/>
            <a:ext cx="4526280" cy="621792"/>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Gd has the largest de Gennes factor of the series (15.75 vs Tb 10.5, Dy 7.08), so it contributes most to Tc. Target the MINIMUM x that clears the bar.</a:t>
            </a:r>
            <a:endParaRPr lang="en-US" sz="1000" dirty="0"/>
          </a:p>
        </p:txBody>
      </p:sp>
      <p:sp>
        <p:nvSpPr>
          <p:cNvPr id="30" name="Text 27"/>
          <p:cNvSpPr txBox="1"/>
          <p:nvPr/>
        </p:nvSpPr>
        <p:spPr>
          <a:xfrm>
            <a:off x="640080" y="5870448"/>
            <a:ext cx="10881360" cy="411480"/>
          </a:xfrm>
          <a:prstGeom prst="rect">
            <a:avLst/>
          </a:prstGeom>
          <a:noFill/>
          <a:ln/>
        </p:spPr>
        <p:txBody>
          <a:bodyPr wrap="square" lIns="0" tIns="0" rIns="0" bIns="0" rtlCol="0" anchor="ctr"/>
          <a:lstStyle/>
          <a:p>
            <a:pPr indent="0" marL="0">
              <a:buNone/>
            </a:pPr>
            <a:r>
              <a:rPr lang="en-US" sz="1150" i="1" dirty="0">
                <a:solidFill>
                  <a:srgbClr val="E4572E"/>
                </a:solidFill>
                <a:latin typeface="Calibri" pitchFamily="34" charset="0"/>
                <a:ea typeface="Calibri" pitchFamily="34" charset="-122"/>
                <a:cs typeface="Calibri" pitchFamily="34" charset="-120"/>
              </a:rPr>
              <a:t>Two traps the solver enforces: only ONE Stevens sign family is easy-axis for a given A₂⁰ (Tb/Dy/Ho have α_J &lt; 0, Er/Tm α_J &gt; 0 — mixing them cancels), and K₁ &lt; 0 is easy-plane, which is not a magnet at any magnitude.</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THE PHYSICS BEHIND THE DESCRIPTORS</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Each descriptor and threshold in the workflow stands for a known principle; here is which, and what we measured</a:t>
            </a:r>
            <a:endParaRPr 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2651760"/>
                <a:gridCol w="3291840"/>
                <a:gridCol w="2926080"/>
                <a:gridCol w="2011680"/>
              </a:tblGrid>
              <a:tr h="457200">
                <a:tc>
                  <a:txBody>
                    <a:bodyPr/>
                    <a:lstStyle/>
                    <a:p>
                      <a:pPr indent="0" marL="0">
                        <a:buNone/>
                      </a:pPr>
                      <a:r>
                        <a:rPr lang="en-US" sz="860" b="1" dirty="0">
                          <a:solidFill>
                            <a:srgbClr val="1A2233"/>
                          </a:solidFill>
                          <a:latin typeface="Calibri" pitchFamily="34" charset="0"/>
                          <a:ea typeface="Calibri" pitchFamily="34" charset="-122"/>
                          <a:cs typeface="Calibri" pitchFamily="34" charset="-120"/>
                        </a:rPr>
                        <a:t>Principle (source)</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b="1" dirty="0">
                          <a:solidFill>
                            <a:srgbClr val="1A2233"/>
                          </a:solidFill>
                          <a:latin typeface="Calibri" pitchFamily="34" charset="0"/>
                          <a:ea typeface="Calibri" pitchFamily="34" charset="-122"/>
                          <a:cs typeface="Calibri" pitchFamily="34" charset="-120"/>
                        </a:rPr>
                        <a:t>What it says</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b="1" dirty="0">
                          <a:solidFill>
                            <a:srgbClr val="1A2233"/>
                          </a:solidFill>
                          <a:latin typeface="Calibri" pitchFamily="34" charset="0"/>
                          <a:ea typeface="Calibri" pitchFamily="34" charset="-122"/>
                          <a:cs typeface="Calibri" pitchFamily="34" charset="-120"/>
                        </a:rPr>
                        <a:t>Descriptor / rule in the workflow</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b="1" dirty="0">
                          <a:solidFill>
                            <a:srgbClr val="1A2233"/>
                          </a:solidFill>
                          <a:latin typeface="Calibri" pitchFamily="34" charset="0"/>
                          <a:ea typeface="Calibri" pitchFamily="34" charset="-122"/>
                          <a:cs typeface="Calibri" pitchFamily="34" charset="-120"/>
                        </a:rPr>
                        <a:t>Our evidence</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57200">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Campbell 4f–5d–3d chain (Campbell 1972)</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RE 4f polarises its own 5d; 5d–3d coupling is antiparallel → heavy RE ferri, light RE parallel</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RE one-hot; light RE (Nd, Sm, Pr) only in the waves; sign never fitted</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180/180 Gd pairs ferrimagnetic</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57200">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Two-sublattice exchange, ΔE = 2 I₄f₋₅d S₄f S₅d (Liebs, Hummler, Fähnle 1992; Liebs &amp; Fähnle 1993)</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the RE–TM gap is set by the 5d spin the host induces on the RE</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label h = TM-tied 5d polarisation; gap = 1574·h (the GP target)</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r = 0.89 on 180 compounds; GdFe₂ J_RT 2.97 vs 2.99 × 10⁻²² J</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57200">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5d–3d hybridisation (Brooks &amp; Johansson)</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shorter RE–TM bonds and more 3d states at the RE raise the 5d polarisation; Co &gt; Fe</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d_RE-TM mean/min, N_TM_nn, f_Co, 3d count</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distance r = −0.61; Fe+Co J_eff ×1.48</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57200">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de Gennes scaling (de Gennes 1962)</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RE–TM coupling ∝ (gJ−1)J; Tc contribution ∝ (gJ−1)²J(J+1)</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gap_RE = gap_Gd·(gJ−1)J/3.5 → T* threshold per RE</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Tb–Tm projected from Gd; explicit-4f check running</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57200">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Early-TM enhancement (Duc 1998)</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Ti, V on the TM site raise the RE–TM exchange and stabilise 1:12</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f_early; early-TM substitution on the far Fe site</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stability yes; coupling ×0.97, needs a series</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57200">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Slater–Pauling / magnetic valence (Williams, Malozemoff, Moruzzi 1983)</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Ms is set by Fe density and the 3d count; Co, early TM and p-elements lower the moment</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tm_density, f_Fe, d_count, x_dil → analytic Ms; Ms ≥ 1.5 T filter</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Ms ceiling 1.75 T projected; kagome capped at 1.0 T</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57200">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Interstitial modification (Coey &amp; Sun 1990)</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N, C in the RE-adjacent void expand the lattice, raise Ms and Tc, keep the RE coupling; H does not</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n_N/C/H in the RE shell; interstitial generator on the 2b / 9e voids</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H: gap ×0.10; C passes the hull, N does not</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57200">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Metastability scale (Sun, Ceder et al. 2016)</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synthesisable phases sit within tens of meV/atom of the hull; MLIP error ≈ 30 meV</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same-model MACE/MP hull; E_hull ≤ 30 meV filter</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Nd costs 20–35 meV vs Gd; Sm ≈ free</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57200">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RE anisotropy needs a locked RE sublattice (Kuz'min; Coey)</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the 4f crystal-field anisotropy only works below the RE–TM decoupling temperature</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T* = gap_RE/2k_B ≥ Tc target → gap_RE ≥ 100 meV (Nd₂Fe₁₄B level)</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60" dirty="0">
                          <a:solidFill>
                            <a:srgbClr val="1A2233"/>
                          </a:solidFill>
                          <a:latin typeface="Calibri" pitchFamily="34" charset="0"/>
                          <a:ea typeface="Calibri" pitchFamily="34" charset="-122"/>
                          <a:cs typeface="Calibri" pitchFamily="34" charset="-120"/>
                        </a:rPr>
                        <a:t>Tao hosts: T* 1100–1260 K for Sm</a:t>
                      </a:r>
                      <a:endParaRPr lang="en-US" sz="86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6172200"/>
            <a:ext cx="10881360" cy="365760"/>
          </a:xfrm>
          <a:prstGeom prst="rect">
            <a:avLst/>
          </a:prstGeom>
          <a:noFill/>
          <a:ln/>
        </p:spPr>
        <p:txBody>
          <a:bodyPr wrap="square" lIns="0" tIns="0" rIns="0" bIns="0" rtlCol="0" anchor="ctr"/>
          <a:lstStyle/>
          <a:p>
            <a:pPr indent="0" marL="0">
              <a:buNone/>
            </a:pPr>
            <a:r>
              <a:rPr lang="en-US" sz="1050" i="1" dirty="0">
                <a:solidFill>
                  <a:srgbClr val="1A2233"/>
                </a:solidFill>
                <a:latin typeface="Calibri" pitchFamily="34" charset="0"/>
                <a:ea typeface="Calibri" pitchFamily="34" charset="-122"/>
                <a:cs typeface="Calibri" pitchFamily="34" charset="-120"/>
              </a:rPr>
              <a:t>None of these is new; what is new is that one dataset tests all of them at once and turns them into numbers a surrogate can use.</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THE PRINCIPLES AT WORK</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Five compounds from the pool, and which principle decided their fate</a:t>
            </a:r>
            <a:endParaRPr lang="en-US" sz="3200" dirty="0"/>
          </a:p>
        </p:txBody>
      </p:sp>
      <p:pic>
        <p:nvPicPr>
          <p:cNvPr id="4" name="Image 0" descr="/Users/g5q/Documents/GitHub/gnome-fe-hree-magnets/assets/trends_geometry.png">    </p:cNvPr>
          <p:cNvPicPr>
            <a:picLocks noChangeAspect="1"/>
          </p:cNvPicPr>
          <p:nvPr/>
        </p:nvPicPr>
        <p:blipFill>
          <a:blip r:embed="rId1"/>
          <a:stretch>
            <a:fillRect/>
          </a:stretch>
        </p:blipFill>
        <p:spPr>
          <a:xfrm>
            <a:off x="640080" y="1417320"/>
            <a:ext cx="5486400" cy="2633472"/>
          </a:xfrm>
          <a:prstGeom prst="rect">
            <a:avLst/>
          </a:prstGeom>
        </p:spPr>
      </p:pic>
      <p:sp>
        <p:nvSpPr>
          <p:cNvPr id="5" name="Text 2"/>
          <p:cNvSpPr txBox="1"/>
          <p:nvPr/>
        </p:nvSpPr>
        <p:spPr>
          <a:xfrm>
            <a:off x="640080" y="4069080"/>
            <a:ext cx="5486400" cy="274320"/>
          </a:xfrm>
          <a:prstGeom prst="rect">
            <a:avLst/>
          </a:prstGeom>
          <a:noFill/>
          <a:ln/>
        </p:spPr>
        <p:txBody>
          <a:bodyPr wrap="square" lIns="0" tIns="0" rIns="0" bIns="0" rtlCol="0" anchor="ctr"/>
          <a:lstStyle/>
          <a:p>
            <a:pPr indent="0" marL="0">
              <a:buNone/>
            </a:pPr>
            <a:r>
              <a:rPr lang="en-US" sz="900" i="1" dirty="0">
                <a:solidFill>
                  <a:srgbClr val="5A6478"/>
                </a:solidFill>
                <a:latin typeface="Calibri" pitchFamily="34" charset="0"/>
                <a:ea typeface="Calibri" pitchFamily="34" charset="-122"/>
                <a:cs typeface="Calibri" pitchFamily="34" charset="-120"/>
              </a:rPr>
              <a:t>Brooks–Johansson in the data: coupling vs RE–TM distance and vs host class, 180 labels</a:t>
            </a:r>
            <a:endParaRPr lang="en-US" sz="900" dirty="0"/>
          </a:p>
        </p:txBody>
      </p:sp>
      <p:sp>
        <p:nvSpPr>
          <p:cNvPr id="6" name="Shape 3"/>
          <p:cNvSpPr/>
          <p:nvPr/>
        </p:nvSpPr>
        <p:spPr>
          <a:xfrm>
            <a:off x="6400800" y="1417320"/>
            <a:ext cx="5120640" cy="868680"/>
          </a:xfrm>
          <a:prstGeom prst="roundRect">
            <a:avLst>
              <a:gd name="adj" fmla="val 8421"/>
            </a:avLst>
          </a:prstGeom>
          <a:solidFill>
            <a:srgbClr val="EEF2F7"/>
          </a:solidFill>
          <a:ln/>
        </p:spPr>
      </p:sp>
      <p:sp>
        <p:nvSpPr>
          <p:cNvPr id="7" name="Shape 4"/>
          <p:cNvSpPr/>
          <p:nvPr/>
        </p:nvSpPr>
        <p:spPr>
          <a:xfrm>
            <a:off x="6510528" y="1527048"/>
            <a:ext cx="109728" cy="640080"/>
          </a:xfrm>
          <a:prstGeom prst="roundRect">
            <a:avLst>
              <a:gd name="adj" fmla="val 25000"/>
            </a:avLst>
          </a:prstGeom>
          <a:solidFill>
            <a:srgbClr val="2E86AB"/>
          </a:solidFill>
          <a:ln/>
        </p:spPr>
      </p:sp>
      <p:sp>
        <p:nvSpPr>
          <p:cNvPr id="8" name="Text 5"/>
          <p:cNvSpPr txBox="1"/>
          <p:nvPr/>
        </p:nvSpPr>
        <p:spPr>
          <a:xfrm>
            <a:off x="6720840" y="1490472"/>
            <a:ext cx="3108960" cy="219456"/>
          </a:xfrm>
          <a:prstGeom prst="rect">
            <a:avLst/>
          </a:prstGeom>
          <a:noFill/>
          <a:ln/>
        </p:spPr>
        <p:txBody>
          <a:bodyPr wrap="square" lIns="0" tIns="0" rIns="0" bIns="0" rtlCol="0" anchor="ctr"/>
          <a:lstStyle/>
          <a:p>
            <a:pPr indent="0" marL="0">
              <a:buNone/>
            </a:pPr>
            <a:r>
              <a:rPr lang="en-US" sz="1100" b="1" dirty="0">
                <a:solidFill>
                  <a:srgbClr val="1A2233"/>
                </a:solidFill>
                <a:latin typeface="Calibri" pitchFamily="34" charset="0"/>
                <a:ea typeface="Calibri" pitchFamily="34" charset="-122"/>
                <a:cs typeface="Calibri" pitchFamily="34" charset="-120"/>
              </a:rPr>
              <a:t>Fe₅NdSi · Immm</a:t>
            </a:r>
            <a:endParaRPr lang="en-US" sz="1100" dirty="0"/>
          </a:p>
        </p:txBody>
      </p:sp>
      <p:sp>
        <p:nvSpPr>
          <p:cNvPr id="9" name="Text 6"/>
          <p:cNvSpPr txBox="1"/>
          <p:nvPr/>
        </p:nvSpPr>
        <p:spPr>
          <a:xfrm>
            <a:off x="9829800" y="1490472"/>
            <a:ext cx="1600200" cy="219456"/>
          </a:xfrm>
          <a:prstGeom prst="rect">
            <a:avLst/>
          </a:prstGeom>
          <a:noFill/>
          <a:ln/>
        </p:spPr>
        <p:txBody>
          <a:bodyPr wrap="square" lIns="0" tIns="0" rIns="0" bIns="0" rtlCol="0" anchor="ctr"/>
          <a:lstStyle/>
          <a:p>
            <a:pPr algn="r" indent="0" marL="0">
              <a:buNone/>
            </a:pPr>
            <a:r>
              <a:rPr lang="en-US" sz="900" b="1" dirty="0">
                <a:solidFill>
                  <a:srgbClr val="2E86AB"/>
                </a:solidFill>
                <a:latin typeface="Calibri" pitchFamily="34" charset="0"/>
                <a:ea typeface="Calibri" pitchFamily="34" charset="-122"/>
                <a:cs typeface="Calibri" pitchFamily="34" charset="-120"/>
              </a:rPr>
              <a:t>in wave 1</a:t>
            </a:r>
            <a:endParaRPr lang="en-US" sz="900" dirty="0"/>
          </a:p>
        </p:txBody>
      </p:sp>
      <p:sp>
        <p:nvSpPr>
          <p:cNvPr id="10" name="Text 7"/>
          <p:cNvSpPr txBox="1"/>
          <p:nvPr/>
        </p:nvSpPr>
        <p:spPr>
          <a:xfrm>
            <a:off x="6720840" y="1719072"/>
            <a:ext cx="4709160" cy="365760"/>
          </a:xfrm>
          <a:prstGeom prst="rect">
            <a:avLst/>
          </a:prstGeom>
          <a:noFill/>
          <a:ln/>
        </p:spPr>
        <p:txBody>
          <a:bodyPr wrap="square" lIns="0" tIns="0" rIns="0" bIns="0" rtlCol="0" anchor="ctr"/>
          <a:lstStyle/>
          <a:p>
            <a:pPr indent="0" marL="0">
              <a:buNone/>
            </a:pPr>
            <a:r>
              <a:rPr lang="en-US" sz="880" dirty="0">
                <a:solidFill>
                  <a:srgbClr val="5A6478"/>
                </a:solidFill>
                <a:latin typeface="Calibri" pitchFamily="34" charset="0"/>
                <a:ea typeface="Calibri" pitchFamily="34" charset="-122"/>
                <a:cs typeface="Calibri" pitchFamily="34" charset="-120"/>
              </a:rPr>
              <a:t>short RE–TM bonds (2.97 Å, 12 TM) → GP predicts h 0.15, gap 82 meV; Fe density → 1.74 T; on the hull</a:t>
            </a:r>
            <a:endParaRPr lang="en-US" sz="880" dirty="0"/>
          </a:p>
        </p:txBody>
      </p:sp>
      <p:sp>
        <p:nvSpPr>
          <p:cNvPr id="11" name="Text 8"/>
          <p:cNvSpPr txBox="1"/>
          <p:nvPr/>
        </p:nvSpPr>
        <p:spPr>
          <a:xfrm>
            <a:off x="6720840" y="2075688"/>
            <a:ext cx="4709160" cy="182880"/>
          </a:xfrm>
          <a:prstGeom prst="rect">
            <a:avLst/>
          </a:prstGeom>
          <a:noFill/>
          <a:ln/>
        </p:spPr>
        <p:txBody>
          <a:bodyPr wrap="square" lIns="0" tIns="0" rIns="0" bIns="0" rtlCol="0" anchor="ctr"/>
          <a:lstStyle/>
          <a:p>
            <a:pPr indent="0" marL="0">
              <a:buNone/>
            </a:pPr>
            <a:r>
              <a:rPr lang="en-US" sz="840" i="1" dirty="0">
                <a:solidFill>
                  <a:srgbClr val="1A2233"/>
                </a:solidFill>
                <a:latin typeface="Calibri" pitchFamily="34" charset="0"/>
                <a:ea typeface="Calibri" pitchFamily="34" charset="-122"/>
                <a:cs typeface="Calibri" pitchFamily="34" charset="-120"/>
              </a:rPr>
              <a:t>Brooks–Johansson · Slater–Pauling · hull</a:t>
            </a:r>
            <a:endParaRPr lang="en-US" sz="840" dirty="0"/>
          </a:p>
        </p:txBody>
      </p:sp>
      <p:sp>
        <p:nvSpPr>
          <p:cNvPr id="12" name="Shape 9"/>
          <p:cNvSpPr/>
          <p:nvPr/>
        </p:nvSpPr>
        <p:spPr>
          <a:xfrm>
            <a:off x="6400800" y="2377440"/>
            <a:ext cx="5120640" cy="868680"/>
          </a:xfrm>
          <a:prstGeom prst="roundRect">
            <a:avLst>
              <a:gd name="adj" fmla="val 8421"/>
            </a:avLst>
          </a:prstGeom>
          <a:solidFill>
            <a:srgbClr val="EEF2F7"/>
          </a:solidFill>
          <a:ln/>
        </p:spPr>
      </p:sp>
      <p:sp>
        <p:nvSpPr>
          <p:cNvPr id="13" name="Shape 10"/>
          <p:cNvSpPr/>
          <p:nvPr/>
        </p:nvSpPr>
        <p:spPr>
          <a:xfrm>
            <a:off x="6510528" y="2487168"/>
            <a:ext cx="109728" cy="640080"/>
          </a:xfrm>
          <a:prstGeom prst="roundRect">
            <a:avLst>
              <a:gd name="adj" fmla="val 25000"/>
            </a:avLst>
          </a:prstGeom>
          <a:solidFill>
            <a:srgbClr val="E4572E"/>
          </a:solidFill>
          <a:ln/>
        </p:spPr>
      </p:sp>
      <p:sp>
        <p:nvSpPr>
          <p:cNvPr id="14" name="Text 11"/>
          <p:cNvSpPr txBox="1"/>
          <p:nvPr/>
        </p:nvSpPr>
        <p:spPr>
          <a:xfrm>
            <a:off x="6720840" y="2450592"/>
            <a:ext cx="3108960" cy="219456"/>
          </a:xfrm>
          <a:prstGeom prst="rect">
            <a:avLst/>
          </a:prstGeom>
          <a:noFill/>
          <a:ln/>
        </p:spPr>
        <p:txBody>
          <a:bodyPr wrap="square" lIns="0" tIns="0" rIns="0" bIns="0" rtlCol="0" anchor="ctr"/>
          <a:lstStyle/>
          <a:p>
            <a:pPr indent="0" marL="0">
              <a:buNone/>
            </a:pPr>
            <a:r>
              <a:rPr lang="en-US" sz="1100" b="1" dirty="0">
                <a:solidFill>
                  <a:srgbClr val="1A2233"/>
                </a:solidFill>
                <a:latin typeface="Calibri" pitchFamily="34" charset="0"/>
                <a:ea typeface="Calibri" pitchFamily="34" charset="-122"/>
                <a:cs typeface="Calibri" pitchFamily="34" charset="-120"/>
              </a:rPr>
              <a:t>Gd₂Fe₁₇H₃</a:t>
            </a:r>
            <a:endParaRPr lang="en-US" sz="1100" dirty="0"/>
          </a:p>
        </p:txBody>
      </p:sp>
      <p:sp>
        <p:nvSpPr>
          <p:cNvPr id="15" name="Text 12"/>
          <p:cNvSpPr txBox="1"/>
          <p:nvPr/>
        </p:nvSpPr>
        <p:spPr>
          <a:xfrm>
            <a:off x="9829800" y="2450592"/>
            <a:ext cx="1600200" cy="219456"/>
          </a:xfrm>
          <a:prstGeom prst="rect">
            <a:avLst/>
          </a:prstGeom>
          <a:noFill/>
          <a:ln/>
        </p:spPr>
        <p:txBody>
          <a:bodyPr wrap="square" lIns="0" tIns="0" rIns="0" bIns="0" rtlCol="0" anchor="ctr"/>
          <a:lstStyle/>
          <a:p>
            <a:pPr algn="r" indent="0" marL="0">
              <a:buNone/>
            </a:pPr>
            <a:r>
              <a:rPr lang="en-US" sz="900" b="1" dirty="0">
                <a:solidFill>
                  <a:srgbClr val="E4572E"/>
                </a:solidFill>
                <a:latin typeface="Calibri" pitchFamily="34" charset="0"/>
                <a:ea typeface="Calibri" pitchFamily="34" charset="-122"/>
                <a:cs typeface="Calibri" pitchFamily="34" charset="-120"/>
              </a:rPr>
              <a:t>excluded by design</a:t>
            </a:r>
            <a:endParaRPr lang="en-US" sz="900" dirty="0"/>
          </a:p>
        </p:txBody>
      </p:sp>
      <p:sp>
        <p:nvSpPr>
          <p:cNvPr id="16" name="Text 13"/>
          <p:cNvSpPr txBox="1"/>
          <p:nvPr/>
        </p:nvSpPr>
        <p:spPr>
          <a:xfrm>
            <a:off x="6720840" y="2679192"/>
            <a:ext cx="4709160" cy="365760"/>
          </a:xfrm>
          <a:prstGeom prst="rect">
            <a:avLst/>
          </a:prstGeom>
          <a:noFill/>
          <a:ln/>
        </p:spPr>
        <p:txBody>
          <a:bodyPr wrap="square" lIns="0" tIns="0" rIns="0" bIns="0" rtlCol="0" anchor="ctr"/>
          <a:lstStyle/>
          <a:p>
            <a:pPr indent="0" marL="0">
              <a:buNone/>
            </a:pPr>
            <a:r>
              <a:rPr lang="en-US" sz="880" dirty="0">
                <a:solidFill>
                  <a:srgbClr val="5A6478"/>
                </a:solidFill>
                <a:latin typeface="Calibri" pitchFamily="34" charset="0"/>
                <a:ea typeface="Calibri" pitchFamily="34" charset="-122"/>
                <a:cs typeface="Calibri" pitchFamily="34" charset="-120"/>
              </a:rPr>
              <a:t>H in the RE first shell → measured gap 28 meV; descriptor n_H_shell flags it; no H variants are generated</a:t>
            </a:r>
            <a:endParaRPr lang="en-US" sz="880" dirty="0"/>
          </a:p>
        </p:txBody>
      </p:sp>
      <p:sp>
        <p:nvSpPr>
          <p:cNvPr id="17" name="Text 14"/>
          <p:cNvSpPr txBox="1"/>
          <p:nvPr/>
        </p:nvSpPr>
        <p:spPr>
          <a:xfrm>
            <a:off x="6720840" y="3035808"/>
            <a:ext cx="4709160" cy="182880"/>
          </a:xfrm>
          <a:prstGeom prst="rect">
            <a:avLst/>
          </a:prstGeom>
          <a:noFill/>
          <a:ln/>
        </p:spPr>
        <p:txBody>
          <a:bodyPr wrap="square" lIns="0" tIns="0" rIns="0" bIns="0" rtlCol="0" anchor="ctr"/>
          <a:lstStyle/>
          <a:p>
            <a:pPr indent="0" marL="0">
              <a:buNone/>
            </a:pPr>
            <a:r>
              <a:rPr lang="en-US" sz="840" i="1" dirty="0">
                <a:solidFill>
                  <a:srgbClr val="1A2233"/>
                </a:solidFill>
                <a:latin typeface="Calibri" pitchFamily="34" charset="0"/>
                <a:ea typeface="Calibri" pitchFamily="34" charset="-122"/>
                <a:cs typeface="Calibri" pitchFamily="34" charset="-120"/>
              </a:rPr>
              <a:t>Coey interstitial rule, inverted</a:t>
            </a:r>
            <a:endParaRPr lang="en-US" sz="840" dirty="0"/>
          </a:p>
        </p:txBody>
      </p:sp>
      <p:sp>
        <p:nvSpPr>
          <p:cNvPr id="18" name="Shape 15"/>
          <p:cNvSpPr/>
          <p:nvPr/>
        </p:nvSpPr>
        <p:spPr>
          <a:xfrm>
            <a:off x="6400800" y="3337560"/>
            <a:ext cx="5120640" cy="868680"/>
          </a:xfrm>
          <a:prstGeom prst="roundRect">
            <a:avLst>
              <a:gd name="adj" fmla="val 8421"/>
            </a:avLst>
          </a:prstGeom>
          <a:solidFill>
            <a:srgbClr val="EEF2F7"/>
          </a:solidFill>
          <a:ln/>
        </p:spPr>
      </p:sp>
      <p:sp>
        <p:nvSpPr>
          <p:cNvPr id="19" name="Shape 16"/>
          <p:cNvSpPr/>
          <p:nvPr/>
        </p:nvSpPr>
        <p:spPr>
          <a:xfrm>
            <a:off x="6510528" y="3447288"/>
            <a:ext cx="109728" cy="640080"/>
          </a:xfrm>
          <a:prstGeom prst="roundRect">
            <a:avLst>
              <a:gd name="adj" fmla="val 25000"/>
            </a:avLst>
          </a:prstGeom>
          <a:solidFill>
            <a:srgbClr val="2E86AB"/>
          </a:solidFill>
          <a:ln/>
        </p:spPr>
      </p:sp>
      <p:sp>
        <p:nvSpPr>
          <p:cNvPr id="20" name="Text 17"/>
          <p:cNvSpPr txBox="1"/>
          <p:nvPr/>
        </p:nvSpPr>
        <p:spPr>
          <a:xfrm>
            <a:off x="6720840" y="3410712"/>
            <a:ext cx="3108960" cy="219456"/>
          </a:xfrm>
          <a:prstGeom prst="rect">
            <a:avLst/>
          </a:prstGeom>
          <a:noFill/>
          <a:ln/>
        </p:spPr>
        <p:txBody>
          <a:bodyPr wrap="square" lIns="0" tIns="0" rIns="0" bIns="0" rtlCol="0" anchor="ctr"/>
          <a:lstStyle/>
          <a:p>
            <a:pPr indent="0" marL="0">
              <a:buNone/>
            </a:pPr>
            <a:r>
              <a:rPr lang="en-US" sz="1100" b="1" dirty="0">
                <a:solidFill>
                  <a:srgbClr val="1A2233"/>
                </a:solidFill>
                <a:latin typeface="Calibri" pitchFamily="34" charset="0"/>
                <a:ea typeface="Calibri" pitchFamily="34" charset="-122"/>
                <a:cs typeface="Calibri" pitchFamily="34" charset="-120"/>
              </a:rPr>
              <a:t>Co₁₉Fe₄Gd₆</a:t>
            </a:r>
            <a:endParaRPr lang="en-US" sz="1100" dirty="0"/>
          </a:p>
        </p:txBody>
      </p:sp>
      <p:sp>
        <p:nvSpPr>
          <p:cNvPr id="21" name="Text 18"/>
          <p:cNvSpPr txBox="1"/>
          <p:nvPr/>
        </p:nvSpPr>
        <p:spPr>
          <a:xfrm>
            <a:off x="9829800" y="3410712"/>
            <a:ext cx="1600200" cy="219456"/>
          </a:xfrm>
          <a:prstGeom prst="rect">
            <a:avLst/>
          </a:prstGeom>
          <a:noFill/>
          <a:ln/>
        </p:spPr>
        <p:txBody>
          <a:bodyPr wrap="square" lIns="0" tIns="0" rIns="0" bIns="0" rtlCol="0" anchor="ctr"/>
          <a:lstStyle/>
          <a:p>
            <a:pPr algn="r" indent="0" marL="0">
              <a:buNone/>
            </a:pPr>
            <a:r>
              <a:rPr lang="en-US" sz="900" b="1" dirty="0">
                <a:solidFill>
                  <a:srgbClr val="2E86AB"/>
                </a:solidFill>
                <a:latin typeface="Calibri" pitchFamily="34" charset="0"/>
                <a:ea typeface="Calibri" pitchFamily="34" charset="-122"/>
                <a:cs typeface="Calibri" pitchFamily="34" charset="-120"/>
              </a:rPr>
              <a:t>Co variants generated for every host</a:t>
            </a:r>
            <a:endParaRPr lang="en-US" sz="900" dirty="0"/>
          </a:p>
        </p:txBody>
      </p:sp>
      <p:sp>
        <p:nvSpPr>
          <p:cNvPr id="22" name="Text 19"/>
          <p:cNvSpPr txBox="1"/>
          <p:nvPr/>
        </p:nvSpPr>
        <p:spPr>
          <a:xfrm>
            <a:off x="6720840" y="3639312"/>
            <a:ext cx="4709160" cy="365760"/>
          </a:xfrm>
          <a:prstGeom prst="rect">
            <a:avLst/>
          </a:prstGeom>
          <a:noFill/>
          <a:ln/>
        </p:spPr>
        <p:txBody>
          <a:bodyPr wrap="square" lIns="0" tIns="0" rIns="0" bIns="0" rtlCol="0" anchor="ctr"/>
          <a:lstStyle/>
          <a:p>
            <a:pPr indent="0" marL="0">
              <a:buNone/>
            </a:pPr>
            <a:r>
              <a:rPr lang="en-US" sz="880" dirty="0">
                <a:solidFill>
                  <a:srgbClr val="5A6478"/>
                </a:solidFill>
                <a:latin typeface="Calibri" pitchFamily="34" charset="0"/>
                <a:ea typeface="Calibri" pitchFamily="34" charset="-122"/>
                <a:cs typeface="Calibri" pitchFamily="34" charset="-120"/>
              </a:rPr>
              <a:t>mixed Fe+Co host → strongest coupling in the set, J_eff 1.41; on the Pareto front</a:t>
            </a:r>
            <a:endParaRPr lang="en-US" sz="880" dirty="0"/>
          </a:p>
        </p:txBody>
      </p:sp>
      <p:sp>
        <p:nvSpPr>
          <p:cNvPr id="23" name="Text 20"/>
          <p:cNvSpPr txBox="1"/>
          <p:nvPr/>
        </p:nvSpPr>
        <p:spPr>
          <a:xfrm>
            <a:off x="6720840" y="3995928"/>
            <a:ext cx="4709160" cy="182880"/>
          </a:xfrm>
          <a:prstGeom prst="rect">
            <a:avLst/>
          </a:prstGeom>
          <a:noFill/>
          <a:ln/>
        </p:spPr>
        <p:txBody>
          <a:bodyPr wrap="square" lIns="0" tIns="0" rIns="0" bIns="0" rtlCol="0" anchor="ctr"/>
          <a:lstStyle/>
          <a:p>
            <a:pPr indent="0" marL="0">
              <a:buNone/>
            </a:pPr>
            <a:r>
              <a:rPr lang="en-US" sz="840" i="1" dirty="0">
                <a:solidFill>
                  <a:srgbClr val="1A2233"/>
                </a:solidFill>
                <a:latin typeface="Calibri" pitchFamily="34" charset="0"/>
                <a:ea typeface="Calibri" pitchFamily="34" charset="-122"/>
                <a:cs typeface="Calibri" pitchFamily="34" charset="-120"/>
              </a:rPr>
              <a:t>Brooks: Co strengthens 5d–3d</a:t>
            </a:r>
            <a:endParaRPr lang="en-US" sz="840" dirty="0"/>
          </a:p>
        </p:txBody>
      </p:sp>
      <p:sp>
        <p:nvSpPr>
          <p:cNvPr id="24" name="Shape 21"/>
          <p:cNvSpPr/>
          <p:nvPr/>
        </p:nvSpPr>
        <p:spPr>
          <a:xfrm>
            <a:off x="6400800" y="4297680"/>
            <a:ext cx="5120640" cy="868680"/>
          </a:xfrm>
          <a:prstGeom prst="roundRect">
            <a:avLst>
              <a:gd name="adj" fmla="val 8421"/>
            </a:avLst>
          </a:prstGeom>
          <a:solidFill>
            <a:srgbClr val="EEF2F7"/>
          </a:solidFill>
          <a:ln/>
        </p:spPr>
      </p:sp>
      <p:sp>
        <p:nvSpPr>
          <p:cNvPr id="25" name="Shape 22"/>
          <p:cNvSpPr/>
          <p:nvPr/>
        </p:nvSpPr>
        <p:spPr>
          <a:xfrm>
            <a:off x="6510528" y="4407408"/>
            <a:ext cx="109728" cy="640080"/>
          </a:xfrm>
          <a:prstGeom prst="roundRect">
            <a:avLst>
              <a:gd name="adj" fmla="val 25000"/>
            </a:avLst>
          </a:prstGeom>
          <a:solidFill>
            <a:srgbClr val="E4572E"/>
          </a:solidFill>
          <a:ln/>
        </p:spPr>
      </p:sp>
      <p:sp>
        <p:nvSpPr>
          <p:cNvPr id="26" name="Text 23"/>
          <p:cNvSpPr txBox="1"/>
          <p:nvPr/>
        </p:nvSpPr>
        <p:spPr>
          <a:xfrm>
            <a:off x="6720840" y="4370832"/>
            <a:ext cx="3108960" cy="219456"/>
          </a:xfrm>
          <a:prstGeom prst="rect">
            <a:avLst/>
          </a:prstGeom>
          <a:noFill/>
          <a:ln/>
        </p:spPr>
        <p:txBody>
          <a:bodyPr wrap="square" lIns="0" tIns="0" rIns="0" bIns="0" rtlCol="0" anchor="ctr"/>
          <a:lstStyle/>
          <a:p>
            <a:pPr indent="0" marL="0">
              <a:buNone/>
            </a:pPr>
            <a:r>
              <a:rPr lang="en-US" sz="1100" b="1" dirty="0">
                <a:solidFill>
                  <a:srgbClr val="1A2233"/>
                </a:solidFill>
                <a:latin typeface="Calibri" pitchFamily="34" charset="0"/>
                <a:ea typeface="Calibri" pitchFamily="34" charset="-122"/>
                <a:cs typeface="Calibri" pitchFamily="34" charset="-120"/>
              </a:rPr>
              <a:t>Nd(FeGe)₆ kagome</a:t>
            </a:r>
            <a:endParaRPr lang="en-US" sz="1100" dirty="0"/>
          </a:p>
        </p:txBody>
      </p:sp>
      <p:sp>
        <p:nvSpPr>
          <p:cNvPr id="27" name="Text 24"/>
          <p:cNvSpPr txBox="1"/>
          <p:nvPr/>
        </p:nvSpPr>
        <p:spPr>
          <a:xfrm>
            <a:off x="9829800" y="4370832"/>
            <a:ext cx="1600200" cy="219456"/>
          </a:xfrm>
          <a:prstGeom prst="rect">
            <a:avLst/>
          </a:prstGeom>
          <a:noFill/>
          <a:ln/>
        </p:spPr>
        <p:txBody>
          <a:bodyPr wrap="square" lIns="0" tIns="0" rIns="0" bIns="0" rtlCol="0" anchor="ctr"/>
          <a:lstStyle/>
          <a:p>
            <a:pPr algn="r" indent="0" marL="0">
              <a:buNone/>
            </a:pPr>
            <a:r>
              <a:rPr lang="en-US" sz="900" b="1" dirty="0">
                <a:solidFill>
                  <a:srgbClr val="E4572E"/>
                </a:solidFill>
                <a:latin typeface="Calibri" pitchFamily="34" charset="0"/>
                <a:ea typeface="Calibri" pitchFamily="34" charset="-122"/>
                <a:cs typeface="Calibri" pitchFamily="34" charset="-120"/>
              </a:rPr>
              <a:t>fails Ms floor; none drawn</a:t>
            </a:r>
            <a:endParaRPr lang="en-US" sz="900" dirty="0"/>
          </a:p>
        </p:txBody>
      </p:sp>
      <p:sp>
        <p:nvSpPr>
          <p:cNvPr id="28" name="Text 25"/>
          <p:cNvSpPr txBox="1"/>
          <p:nvPr/>
        </p:nvSpPr>
        <p:spPr>
          <a:xfrm>
            <a:off x="6720840" y="4599432"/>
            <a:ext cx="4709160" cy="365760"/>
          </a:xfrm>
          <a:prstGeom prst="rect">
            <a:avLst/>
          </a:prstGeom>
          <a:noFill/>
          <a:ln/>
        </p:spPr>
        <p:txBody>
          <a:bodyPr wrap="square" lIns="0" tIns="0" rIns="0" bIns="0" rtlCol="0" anchor="ctr"/>
          <a:lstStyle/>
          <a:p>
            <a:pPr indent="0" marL="0">
              <a:buNone/>
            </a:pPr>
            <a:r>
              <a:rPr lang="en-US" sz="880" dirty="0">
                <a:solidFill>
                  <a:srgbClr val="5A6478"/>
                </a:solidFill>
                <a:latin typeface="Calibri" pitchFamily="34" charset="0"/>
                <a:ea typeface="Calibri" pitchFamily="34" charset="-122"/>
                <a:cs typeface="Calibri" pitchFamily="34" charset="-120"/>
              </a:rPr>
              <a:t>stable (−7 meV) but TM density 3.2 per 100 Å³ → Ms 1.0 T; RE in a 3.3 Å channel → weak coupling</a:t>
            </a:r>
            <a:endParaRPr lang="en-US" sz="880" dirty="0"/>
          </a:p>
        </p:txBody>
      </p:sp>
      <p:sp>
        <p:nvSpPr>
          <p:cNvPr id="29" name="Text 26"/>
          <p:cNvSpPr txBox="1"/>
          <p:nvPr/>
        </p:nvSpPr>
        <p:spPr>
          <a:xfrm>
            <a:off x="6720840" y="4956048"/>
            <a:ext cx="4709160" cy="182880"/>
          </a:xfrm>
          <a:prstGeom prst="rect">
            <a:avLst/>
          </a:prstGeom>
          <a:noFill/>
          <a:ln/>
        </p:spPr>
        <p:txBody>
          <a:bodyPr wrap="square" lIns="0" tIns="0" rIns="0" bIns="0" rtlCol="0" anchor="ctr"/>
          <a:lstStyle/>
          <a:p>
            <a:pPr indent="0" marL="0">
              <a:buNone/>
            </a:pPr>
            <a:r>
              <a:rPr lang="en-US" sz="840" i="1" dirty="0">
                <a:solidFill>
                  <a:srgbClr val="1A2233"/>
                </a:solidFill>
                <a:latin typeface="Calibri" pitchFamily="34" charset="0"/>
                <a:ea typeface="Calibri" pitchFamily="34" charset="-122"/>
                <a:cs typeface="Calibri" pitchFamily="34" charset="-120"/>
              </a:rPr>
              <a:t>Slater–Pauling density · Brooks distance</a:t>
            </a:r>
            <a:endParaRPr lang="en-US" sz="840" dirty="0"/>
          </a:p>
        </p:txBody>
      </p:sp>
      <p:sp>
        <p:nvSpPr>
          <p:cNvPr id="30" name="Shape 27"/>
          <p:cNvSpPr/>
          <p:nvPr/>
        </p:nvSpPr>
        <p:spPr>
          <a:xfrm>
            <a:off x="6400800" y="5257800"/>
            <a:ext cx="5120640" cy="868680"/>
          </a:xfrm>
          <a:prstGeom prst="roundRect">
            <a:avLst>
              <a:gd name="adj" fmla="val 8421"/>
            </a:avLst>
          </a:prstGeom>
          <a:solidFill>
            <a:srgbClr val="EEF2F7"/>
          </a:solidFill>
          <a:ln/>
        </p:spPr>
      </p:sp>
      <p:sp>
        <p:nvSpPr>
          <p:cNvPr id="31" name="Shape 28"/>
          <p:cNvSpPr/>
          <p:nvPr/>
        </p:nvSpPr>
        <p:spPr>
          <a:xfrm>
            <a:off x="6510528" y="5367528"/>
            <a:ext cx="109728" cy="640080"/>
          </a:xfrm>
          <a:prstGeom prst="roundRect">
            <a:avLst>
              <a:gd name="adj" fmla="val 25000"/>
            </a:avLst>
          </a:prstGeom>
          <a:solidFill>
            <a:srgbClr val="F2B134"/>
          </a:solidFill>
          <a:ln/>
        </p:spPr>
      </p:sp>
      <p:sp>
        <p:nvSpPr>
          <p:cNvPr id="32" name="Text 29"/>
          <p:cNvSpPr txBox="1"/>
          <p:nvPr/>
        </p:nvSpPr>
        <p:spPr>
          <a:xfrm>
            <a:off x="6720840" y="5330952"/>
            <a:ext cx="3108960" cy="219456"/>
          </a:xfrm>
          <a:prstGeom prst="rect">
            <a:avLst/>
          </a:prstGeom>
          <a:noFill/>
          <a:ln/>
        </p:spPr>
        <p:txBody>
          <a:bodyPr wrap="square" lIns="0" tIns="0" rIns="0" bIns="0" rtlCol="0" anchor="ctr"/>
          <a:lstStyle/>
          <a:p>
            <a:pPr indent="0" marL="0">
              <a:buNone/>
            </a:pPr>
            <a:r>
              <a:rPr lang="en-US" sz="1100" b="1" dirty="0">
                <a:solidFill>
                  <a:srgbClr val="1A2233"/>
                </a:solidFill>
                <a:latin typeface="Calibri" pitchFamily="34" charset="0"/>
                <a:ea typeface="Calibri" pitchFamily="34" charset="-122"/>
                <a:cs typeface="Calibri" pitchFamily="34" charset="-120"/>
              </a:rPr>
              <a:t>(Pr,Nd)Fe₁₀.₅V₁.₅N</a:t>
            </a:r>
            <a:endParaRPr lang="en-US" sz="1100" dirty="0"/>
          </a:p>
        </p:txBody>
      </p:sp>
      <p:sp>
        <p:nvSpPr>
          <p:cNvPr id="33" name="Text 30"/>
          <p:cNvSpPr txBox="1"/>
          <p:nvPr/>
        </p:nvSpPr>
        <p:spPr>
          <a:xfrm>
            <a:off x="9829800" y="5330952"/>
            <a:ext cx="1600200" cy="219456"/>
          </a:xfrm>
          <a:prstGeom prst="rect">
            <a:avLst/>
          </a:prstGeom>
          <a:noFill/>
          <a:ln/>
        </p:spPr>
        <p:txBody>
          <a:bodyPr wrap="square" lIns="0" tIns="0" rIns="0" bIns="0" rtlCol="0" anchor="ctr"/>
          <a:lstStyle/>
          <a:p>
            <a:pPr algn="r" indent="0" marL="0">
              <a:buNone/>
            </a:pPr>
            <a:r>
              <a:rPr lang="en-US" sz="900" b="1" dirty="0">
                <a:solidFill>
                  <a:srgbClr val="8A6A1E"/>
                </a:solidFill>
                <a:latin typeface="Calibri" pitchFamily="34" charset="0"/>
                <a:ea typeface="Calibri" pitchFamily="34" charset="-122"/>
                <a:cs typeface="Calibri" pitchFamily="34" charset="-120"/>
              </a:rPr>
              <a:t>V cells in wave 1; nitride needs an exception</a:t>
            </a:r>
            <a:endParaRPr lang="en-US" sz="900" dirty="0"/>
          </a:p>
        </p:txBody>
      </p:sp>
      <p:sp>
        <p:nvSpPr>
          <p:cNvPr id="34" name="Text 31"/>
          <p:cNvSpPr txBox="1"/>
          <p:nvPr/>
        </p:nvSpPr>
        <p:spPr>
          <a:xfrm>
            <a:off x="6720840" y="5559552"/>
            <a:ext cx="4709160" cy="365760"/>
          </a:xfrm>
          <a:prstGeom prst="rect">
            <a:avLst/>
          </a:prstGeom>
          <a:noFill/>
          <a:ln/>
        </p:spPr>
        <p:txBody>
          <a:bodyPr wrap="square" lIns="0" tIns="0" rIns="0" bIns="0" rtlCol="0" anchor="ctr"/>
          <a:lstStyle/>
          <a:p>
            <a:pPr indent="0" marL="0">
              <a:buNone/>
            </a:pPr>
            <a:r>
              <a:rPr lang="en-US" sz="880" dirty="0">
                <a:solidFill>
                  <a:srgbClr val="5A6478"/>
                </a:solidFill>
                <a:latin typeface="Calibri" pitchFamily="34" charset="0"/>
                <a:ea typeface="Calibri" pitchFamily="34" charset="-122"/>
                <a:cs typeface="Calibri" pitchFamily="34" charset="-120"/>
              </a:rPr>
              <a:t>1:12 with V stabiliser, mixed RE, N in the 2b void - the real magnet composition; N variant above the hull cut</a:t>
            </a:r>
            <a:endParaRPr lang="en-US" sz="880" dirty="0"/>
          </a:p>
        </p:txBody>
      </p:sp>
      <p:sp>
        <p:nvSpPr>
          <p:cNvPr id="35" name="Text 32"/>
          <p:cNvSpPr txBox="1"/>
          <p:nvPr/>
        </p:nvSpPr>
        <p:spPr>
          <a:xfrm>
            <a:off x="6720840" y="5916168"/>
            <a:ext cx="4709160" cy="182880"/>
          </a:xfrm>
          <a:prstGeom prst="rect">
            <a:avLst/>
          </a:prstGeom>
          <a:noFill/>
          <a:ln/>
        </p:spPr>
        <p:txBody>
          <a:bodyPr wrap="square" lIns="0" tIns="0" rIns="0" bIns="0" rtlCol="0" anchor="ctr"/>
          <a:lstStyle/>
          <a:p>
            <a:pPr indent="0" marL="0">
              <a:buNone/>
            </a:pPr>
            <a:r>
              <a:rPr lang="en-US" sz="840" i="1" dirty="0">
                <a:solidFill>
                  <a:srgbClr val="1A2233"/>
                </a:solidFill>
                <a:latin typeface="Calibri" pitchFamily="34" charset="0"/>
                <a:ea typeface="Calibri" pitchFamily="34" charset="-122"/>
                <a:cs typeface="Calibri" pitchFamily="34" charset="-120"/>
              </a:rPr>
              <a:t>Duc · de Gennes · Coey · Sun metastability</a:t>
            </a:r>
            <a:endParaRPr lang="en-US" sz="840" dirty="0"/>
          </a:p>
        </p:txBody>
      </p:sp>
      <p:sp>
        <p:nvSpPr>
          <p:cNvPr id="36" name="Shape 33"/>
          <p:cNvSpPr/>
          <p:nvPr/>
        </p:nvSpPr>
        <p:spPr>
          <a:xfrm>
            <a:off x="640080" y="4526280"/>
            <a:ext cx="5486400" cy="1737360"/>
          </a:xfrm>
          <a:prstGeom prst="roundRect">
            <a:avLst>
              <a:gd name="adj" fmla="val 4211"/>
            </a:avLst>
          </a:prstGeom>
          <a:solidFill>
            <a:srgbClr val="1B2A4A"/>
          </a:solidFill>
          <a:ln/>
        </p:spPr>
      </p:sp>
      <p:sp>
        <p:nvSpPr>
          <p:cNvPr id="37" name="Text 34"/>
          <p:cNvSpPr txBox="1"/>
          <p:nvPr/>
        </p:nvSpPr>
        <p:spPr>
          <a:xfrm>
            <a:off x="868680" y="4645152"/>
            <a:ext cx="5029200" cy="256032"/>
          </a:xfrm>
          <a:prstGeom prst="rect">
            <a:avLst/>
          </a:prstGeom>
          <a:noFill/>
          <a:ln/>
        </p:spPr>
        <p:txBody>
          <a:bodyPr wrap="square" lIns="0" tIns="0" rIns="0" bIns="0" rtlCol="0" anchor="ctr"/>
          <a:lstStyle/>
          <a:p>
            <a:pPr indent="0" marL="0">
              <a:buNone/>
            </a:pPr>
            <a:r>
              <a:rPr lang="en-US" sz="1200" b="1" dirty="0">
                <a:solidFill>
                  <a:srgbClr val="F2B134"/>
                </a:solidFill>
                <a:latin typeface="Calibri" pitchFamily="34" charset="0"/>
                <a:ea typeface="Calibri" pitchFamily="34" charset="-122"/>
                <a:cs typeface="Calibri" pitchFamily="34" charset="-120"/>
              </a:rPr>
              <a:t>What the principles cannot do, and the loop does</a:t>
            </a:r>
            <a:endParaRPr lang="en-US" sz="1200" dirty="0"/>
          </a:p>
        </p:txBody>
      </p:sp>
      <p:sp>
        <p:nvSpPr>
          <p:cNvPr id="38" name="Text 35"/>
          <p:cNvSpPr txBox="1"/>
          <p:nvPr/>
        </p:nvSpPr>
        <p:spPr>
          <a:xfrm>
            <a:off x="868680" y="4937760"/>
            <a:ext cx="5029200" cy="1280160"/>
          </a:xfrm>
          <a:prstGeom prst="rect">
            <a:avLst/>
          </a:prstGeom>
          <a:noFill/>
          <a:ln/>
        </p:spPr>
        <p:txBody>
          <a:bodyPr wrap="square" lIns="0" tIns="0" rIns="0" bIns="0" rtlCol="0" anchor="ctr"/>
          <a:lstStyle/>
          <a:p>
            <a:pPr indent="0" marL="0">
              <a:buNone/>
            </a:pPr>
            <a:r>
              <a:rPr lang="en-US" sz="1000" dirty="0">
                <a:solidFill>
                  <a:srgbClr val="C6D2E4"/>
                </a:solidFill>
                <a:latin typeface="Calibri" pitchFamily="34" charset="0"/>
                <a:ea typeface="Calibri" pitchFamily="34" charset="-122"/>
                <a:cs typeface="Calibri" pitchFamily="34" charset="-120"/>
              </a:rPr>
              <a:t>Each rule gives a direction, not a magnitude, and they conflict: Co raises coupling but lowers Ms; early TM stabilises 1:12 but dilutes Fe; N raises Ms but leaves the hull. The GP learns the magnitudes from the 180 labels, Thompson sampling resolves the conflicts under the thresholds, and every wave returns the measurements that correct the rules themselves.</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THE WHOLE LOOP ON ONE PAGE</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Standard flowchart: data in cylinders and parallelograms, decisions in diamonds, the HPC step in red</a:t>
            </a:r>
            <a:endParaRPr lang="en-US" sz="3200" dirty="0"/>
          </a:p>
        </p:txBody>
      </p:sp>
      <p:sp>
        <p:nvSpPr>
          <p:cNvPr id="4" name="Shape 2"/>
          <p:cNvSpPr/>
          <p:nvPr/>
        </p:nvSpPr>
        <p:spPr>
          <a:xfrm>
            <a:off x="640080" y="1600200"/>
            <a:ext cx="1371600" cy="868680"/>
          </a:xfrm>
          <a:prstGeom prst="flowChartTerminator">
            <a:avLst/>
          </a:prstGeom>
          <a:solidFill>
            <a:srgbClr val="EEF2F7"/>
          </a:solidFill>
          <a:ln w="9525">
            <a:solidFill>
              <a:srgbClr val="1A2233"/>
            </a:solidFill>
            <a:prstDash val="solid"/>
          </a:ln>
        </p:spPr>
      </p:sp>
      <p:sp>
        <p:nvSpPr>
          <p:cNvPr id="5" name="Text 3"/>
          <p:cNvSpPr txBox="1"/>
          <p:nvPr/>
        </p:nvSpPr>
        <p:spPr>
          <a:xfrm>
            <a:off x="731520" y="1600200"/>
            <a:ext cx="1188720" cy="868680"/>
          </a:xfrm>
          <a:prstGeom prst="rect">
            <a:avLst/>
          </a:prstGeom>
          <a:noFill/>
          <a:ln/>
        </p:spPr>
        <p:txBody>
          <a:bodyPr wrap="square" lIns="0" tIns="0" rIns="0" bIns="0" rtlCol="0" anchor="ctr"/>
          <a:lstStyle/>
          <a:p>
            <a:pPr algn="ctr" indent="0" marL="0">
              <a:buNone/>
            </a:pPr>
            <a:r>
              <a:rPr lang="en-US" sz="1000" dirty="0">
                <a:solidFill>
                  <a:srgbClr val="1A2233"/>
                </a:solidFill>
                <a:latin typeface="Calibri" pitchFamily="34" charset="0"/>
                <a:ea typeface="Calibri" pitchFamily="34" charset="-122"/>
                <a:cs typeface="Calibri" pitchFamily="34" charset="-120"/>
              </a:rPr>
              <a:t>START</a:t>
            </a:r>
            <a:endParaRPr lang="en-US" sz="1000" dirty="0"/>
          </a:p>
          <a:p>
            <a:pPr algn="ctr" indent="0" marL="0">
              <a:buNone/>
            </a:pPr>
            <a:r>
              <a:rPr lang="en-US" sz="1000" dirty="0">
                <a:solidFill>
                  <a:srgbClr val="1A2233"/>
                </a:solidFill>
                <a:latin typeface="Calibri" pitchFamily="34" charset="0"/>
                <a:ea typeface="Calibri" pitchFamily="34" charset="-122"/>
                <a:cs typeface="Calibri" pitchFamily="34" charset="-120"/>
              </a:rPr>
              <a:t>prototypes +</a:t>
            </a:r>
            <a:endParaRPr lang="en-US" sz="1000" dirty="0"/>
          </a:p>
          <a:p>
            <a:pPr algn="ctr" indent="0" marL="0">
              <a:buNone/>
            </a:pPr>
            <a:r>
              <a:rPr lang="en-US" sz="1000" dirty="0">
                <a:solidFill>
                  <a:srgbClr val="1A2233"/>
                </a:solidFill>
                <a:latin typeface="Calibri" pitchFamily="34" charset="0"/>
                <a:ea typeface="Calibri" pitchFamily="34" charset="-122"/>
                <a:cs typeface="Calibri" pitchFamily="34" charset="-120"/>
              </a:rPr>
              <a:t>databases</a:t>
            </a:r>
            <a:endParaRPr lang="en-US" sz="1000" dirty="0"/>
          </a:p>
        </p:txBody>
      </p:sp>
      <p:sp>
        <p:nvSpPr>
          <p:cNvPr id="6" name="Shape 4"/>
          <p:cNvSpPr/>
          <p:nvPr/>
        </p:nvSpPr>
        <p:spPr>
          <a:xfrm>
            <a:off x="2240280" y="1554480"/>
            <a:ext cx="1417320" cy="960120"/>
          </a:xfrm>
          <a:prstGeom prst="flowChartMagneticDisk">
            <a:avLst/>
          </a:prstGeom>
          <a:solidFill>
            <a:srgbClr val="E3F0F6"/>
          </a:solidFill>
          <a:ln w="9525">
            <a:solidFill>
              <a:srgbClr val="1F5F7A"/>
            </a:solidFill>
            <a:prstDash val="solid"/>
          </a:ln>
        </p:spPr>
      </p:sp>
      <p:sp>
        <p:nvSpPr>
          <p:cNvPr id="7" name="Text 5"/>
          <p:cNvSpPr txBox="1"/>
          <p:nvPr/>
        </p:nvSpPr>
        <p:spPr>
          <a:xfrm>
            <a:off x="2331720" y="1554480"/>
            <a:ext cx="1234440" cy="960120"/>
          </a:xfrm>
          <a:prstGeom prst="rect">
            <a:avLst/>
          </a:prstGeom>
          <a:noFill/>
          <a:ln/>
        </p:spPr>
        <p:txBody>
          <a:bodyPr wrap="square" lIns="0" tIns="0" rIns="0" bIns="0" rtlCol="0" anchor="ctr"/>
          <a:lstStyle/>
          <a:p>
            <a:pPr algn="ctr" indent="0" marL="0">
              <a:buNone/>
            </a:pPr>
            <a:r>
              <a:rPr lang="en-US" sz="950" dirty="0">
                <a:solidFill>
                  <a:srgbClr val="1F5F7A"/>
                </a:solidFill>
                <a:latin typeface="Calibri" pitchFamily="34" charset="0"/>
                <a:ea typeface="Calibri" pitchFamily="34" charset="-122"/>
                <a:cs typeface="Calibri" pitchFamily="34" charset="-120"/>
              </a:rPr>
              <a:t>structure store</a:t>
            </a:r>
            <a:endParaRPr lang="en-US" sz="950" dirty="0"/>
          </a:p>
          <a:p>
            <a:pPr algn="ctr" indent="0" marL="0">
              <a:buNone/>
            </a:pPr>
            <a:r>
              <a:rPr lang="en-US" sz="950" dirty="0">
                <a:solidFill>
                  <a:srgbClr val="1F5F7A"/>
                </a:solidFill>
                <a:latin typeface="Calibri" pitchFamily="34" charset="0"/>
                <a:ea typeface="Calibri" pitchFamily="34" charset="-122"/>
                <a:cs typeface="Calibri" pitchFamily="34" charset="-120"/>
              </a:rPr>
              <a:t>GNoME · MP · OQMD</a:t>
            </a:r>
            <a:endParaRPr lang="en-US" sz="950" dirty="0"/>
          </a:p>
          <a:p>
            <a:pPr algn="ctr" indent="0" marL="0">
              <a:buNone/>
            </a:pPr>
            <a:r>
              <a:rPr lang="en-US" sz="950" dirty="0">
                <a:solidFill>
                  <a:srgbClr val="1F5F7A"/>
                </a:solidFill>
                <a:latin typeface="Calibri" pitchFamily="34" charset="0"/>
                <a:ea typeface="Calibri" pitchFamily="34" charset="-122"/>
                <a:cs typeface="Calibri" pitchFamily="34" charset="-120"/>
              </a:rPr>
              <a:t>+ generated cells</a:t>
            </a:r>
            <a:endParaRPr lang="en-US" sz="950" dirty="0"/>
          </a:p>
        </p:txBody>
      </p:sp>
      <p:sp>
        <p:nvSpPr>
          <p:cNvPr id="8" name="Shape 6"/>
          <p:cNvSpPr/>
          <p:nvPr/>
        </p:nvSpPr>
        <p:spPr>
          <a:xfrm>
            <a:off x="3886200" y="1600200"/>
            <a:ext cx="1600200" cy="868680"/>
          </a:xfrm>
          <a:prstGeom prst="flowChartProcess">
            <a:avLst/>
          </a:prstGeom>
          <a:solidFill>
            <a:srgbClr val="EEF2F7"/>
          </a:solidFill>
          <a:ln w="9525">
            <a:solidFill>
              <a:srgbClr val="1A2233"/>
            </a:solidFill>
            <a:prstDash val="solid"/>
          </a:ln>
        </p:spPr>
      </p:sp>
      <p:sp>
        <p:nvSpPr>
          <p:cNvPr id="9" name="Text 7"/>
          <p:cNvSpPr txBox="1"/>
          <p:nvPr/>
        </p:nvSpPr>
        <p:spPr>
          <a:xfrm>
            <a:off x="3977640" y="1600200"/>
            <a:ext cx="1417320" cy="868680"/>
          </a:xfrm>
          <a:prstGeom prst="rect">
            <a:avLst/>
          </a:prstGeom>
          <a:noFill/>
          <a:ln/>
        </p:spPr>
        <p:txBody>
          <a:bodyPr wrap="square" lIns="0" tIns="0" rIns="0" bIns="0" rtlCol="0" anchor="ctr"/>
          <a:lstStyle/>
          <a:p>
            <a:pPr algn="ctr" indent="0" marL="0">
              <a:buNone/>
            </a:pPr>
            <a:r>
              <a:rPr lang="en-US" sz="1000" dirty="0">
                <a:solidFill>
                  <a:srgbClr val="1A2233"/>
                </a:solidFill>
                <a:latin typeface="Calibri" pitchFamily="34" charset="0"/>
                <a:ea typeface="Calibri" pitchFamily="34" charset="-122"/>
                <a:cs typeface="Calibri" pitchFamily="34" charset="-120"/>
              </a:rPr>
              <a:t>substitute</a:t>
            </a:r>
            <a:endParaRPr lang="en-US" sz="1000" dirty="0"/>
          </a:p>
          <a:p>
            <a:pPr algn="ctr" indent="0" marL="0">
              <a:buNone/>
            </a:pPr>
            <a:r>
              <a:rPr lang="en-US" sz="1000" dirty="0">
                <a:solidFill>
                  <a:srgbClr val="1A2233"/>
                </a:solidFill>
                <a:latin typeface="Calibri" pitchFamily="34" charset="0"/>
                <a:ea typeface="Calibri" pitchFamily="34" charset="-122"/>
                <a:cs typeface="Calibri" pitchFamily="34" charset="-120"/>
              </a:rPr>
              <a:t>Nd/Sm · Co · early TM</a:t>
            </a:r>
            <a:endParaRPr lang="en-US" sz="1000" dirty="0"/>
          </a:p>
          <a:p>
            <a:pPr algn="ctr" indent="0" marL="0">
              <a:buNone/>
            </a:pPr>
            <a:r>
              <a:rPr lang="en-US" sz="1000" dirty="0">
                <a:solidFill>
                  <a:srgbClr val="1A2233"/>
                </a:solidFill>
                <a:latin typeface="Calibri" pitchFamily="34" charset="0"/>
                <a:ea typeface="Calibri" pitchFamily="34" charset="-122"/>
                <a:cs typeface="Calibri" pitchFamily="34" charset="-120"/>
              </a:rPr>
              <a:t>N/C interstitials</a:t>
            </a:r>
            <a:endParaRPr lang="en-US" sz="1000" dirty="0"/>
          </a:p>
        </p:txBody>
      </p:sp>
      <p:sp>
        <p:nvSpPr>
          <p:cNvPr id="10" name="Shape 8"/>
          <p:cNvSpPr/>
          <p:nvPr/>
        </p:nvSpPr>
        <p:spPr>
          <a:xfrm>
            <a:off x="5715000" y="1600200"/>
            <a:ext cx="1417320" cy="868680"/>
          </a:xfrm>
          <a:prstGeom prst="flowChartProcess">
            <a:avLst/>
          </a:prstGeom>
          <a:solidFill>
            <a:srgbClr val="EEEDFE"/>
          </a:solidFill>
          <a:ln w="9525">
            <a:solidFill>
              <a:srgbClr val="3C3489"/>
            </a:solidFill>
            <a:prstDash val="solid"/>
          </a:ln>
        </p:spPr>
      </p:sp>
      <p:sp>
        <p:nvSpPr>
          <p:cNvPr id="11" name="Text 9"/>
          <p:cNvSpPr txBox="1"/>
          <p:nvPr/>
        </p:nvSpPr>
        <p:spPr>
          <a:xfrm>
            <a:off x="5806440" y="1600200"/>
            <a:ext cx="1234440" cy="868680"/>
          </a:xfrm>
          <a:prstGeom prst="rect">
            <a:avLst/>
          </a:prstGeom>
          <a:noFill/>
          <a:ln/>
        </p:spPr>
        <p:txBody>
          <a:bodyPr wrap="square" lIns="0" tIns="0" rIns="0" bIns="0" rtlCol="0" anchor="ctr"/>
          <a:lstStyle/>
          <a:p>
            <a:pPr algn="ctr" indent="0" marL="0">
              <a:buNone/>
            </a:pPr>
            <a:r>
              <a:rPr lang="en-US" sz="1000" dirty="0">
                <a:solidFill>
                  <a:srgbClr val="3C3489"/>
                </a:solidFill>
                <a:latin typeface="Calibri" pitchFamily="34" charset="0"/>
                <a:ea typeface="Calibri" pitchFamily="34" charset="-122"/>
                <a:cs typeface="Calibri" pitchFamily="34" charset="-120"/>
              </a:rPr>
              <a:t>MACE-MP-0</a:t>
            </a:r>
            <a:endParaRPr lang="en-US" sz="1000" dirty="0"/>
          </a:p>
          <a:p>
            <a:pPr algn="ctr" indent="0" marL="0">
              <a:buNone/>
            </a:pPr>
            <a:r>
              <a:rPr lang="en-US" sz="1000" dirty="0">
                <a:solidFill>
                  <a:srgbClr val="3C3489"/>
                </a:solidFill>
                <a:latin typeface="Calibri" pitchFamily="34" charset="0"/>
                <a:ea typeface="Calibri" pitchFamily="34" charset="-122"/>
                <a:cs typeface="Calibri" pitchFamily="34" charset="-120"/>
              </a:rPr>
              <a:t>relax cell</a:t>
            </a:r>
            <a:endParaRPr lang="en-US" sz="1000" dirty="0"/>
          </a:p>
          <a:p>
            <a:pPr algn="ctr" indent="0" marL="0">
              <a:buNone/>
            </a:pPr>
            <a:r>
              <a:rPr lang="en-US" sz="1000" dirty="0">
                <a:solidFill>
                  <a:srgbClr val="3C3489"/>
                </a:solidFill>
                <a:latin typeface="Calibri" pitchFamily="34" charset="0"/>
                <a:ea typeface="Calibri" pitchFamily="34" charset="-122"/>
                <a:cs typeface="Calibri" pitchFamily="34" charset="-120"/>
              </a:rPr>
              <a:t>(30 s)</a:t>
            </a:r>
            <a:endParaRPr lang="en-US" sz="1000" dirty="0"/>
          </a:p>
        </p:txBody>
      </p:sp>
      <p:sp>
        <p:nvSpPr>
          <p:cNvPr id="12" name="Shape 10"/>
          <p:cNvSpPr/>
          <p:nvPr/>
        </p:nvSpPr>
        <p:spPr>
          <a:xfrm>
            <a:off x="7360920" y="1371600"/>
            <a:ext cx="1828800" cy="1325880"/>
          </a:xfrm>
          <a:prstGeom prst="flowChartDecision">
            <a:avLst/>
          </a:prstGeom>
          <a:solidFill>
            <a:srgbClr val="FCEDE8"/>
          </a:solidFill>
          <a:ln w="9525">
            <a:solidFill>
              <a:srgbClr val="8A3B2E"/>
            </a:solidFill>
            <a:prstDash val="solid"/>
          </a:ln>
        </p:spPr>
      </p:sp>
      <p:sp>
        <p:nvSpPr>
          <p:cNvPr id="13" name="Text 11"/>
          <p:cNvSpPr txBox="1"/>
          <p:nvPr/>
        </p:nvSpPr>
        <p:spPr>
          <a:xfrm>
            <a:off x="7452360" y="1371600"/>
            <a:ext cx="1645920" cy="1325880"/>
          </a:xfrm>
          <a:prstGeom prst="rect">
            <a:avLst/>
          </a:prstGeom>
          <a:noFill/>
          <a:ln/>
        </p:spPr>
        <p:txBody>
          <a:bodyPr wrap="square" lIns="0" tIns="0" rIns="0" bIns="0" rtlCol="0" anchor="ctr"/>
          <a:lstStyle/>
          <a:p>
            <a:pPr algn="ctr" indent="0" marL="0">
              <a:buNone/>
            </a:pPr>
            <a:r>
              <a:rPr lang="en-US" sz="1000" dirty="0">
                <a:solidFill>
                  <a:srgbClr val="8A3B2E"/>
                </a:solidFill>
                <a:latin typeface="Calibri" pitchFamily="34" charset="0"/>
                <a:ea typeface="Calibri" pitchFamily="34" charset="-122"/>
                <a:cs typeface="Calibri" pitchFamily="34" charset="-120"/>
              </a:rPr>
              <a:t>E_hull ≤ 30 meV</a:t>
            </a:r>
            <a:endParaRPr lang="en-US" sz="1000" dirty="0"/>
          </a:p>
          <a:p>
            <a:pPr algn="ctr" indent="0" marL="0">
              <a:buNone/>
            </a:pPr>
            <a:r>
              <a:rPr lang="en-US" sz="1000" dirty="0">
                <a:solidFill>
                  <a:srgbClr val="8A3B2E"/>
                </a:solidFill>
                <a:latin typeface="Calibri" pitchFamily="34" charset="0"/>
                <a:ea typeface="Calibri" pitchFamily="34" charset="-122"/>
                <a:cs typeface="Calibri" pitchFamily="34" charset="-120"/>
              </a:rPr>
              <a:t>and Ms ≥ 1.5 T ?</a:t>
            </a:r>
            <a:endParaRPr lang="en-US" sz="1000" dirty="0"/>
          </a:p>
        </p:txBody>
      </p:sp>
      <p:sp>
        <p:nvSpPr>
          <p:cNvPr id="14" name="Shape 12"/>
          <p:cNvSpPr/>
          <p:nvPr/>
        </p:nvSpPr>
        <p:spPr>
          <a:xfrm>
            <a:off x="9555480" y="1600200"/>
            <a:ext cx="1371600" cy="868680"/>
          </a:xfrm>
          <a:prstGeom prst="flowChartTerminator">
            <a:avLst/>
          </a:prstGeom>
          <a:solidFill>
            <a:srgbClr val="EEF2F7"/>
          </a:solidFill>
          <a:ln w="9525">
            <a:solidFill>
              <a:srgbClr val="B4B2A9"/>
            </a:solidFill>
            <a:prstDash val="solid"/>
          </a:ln>
        </p:spPr>
      </p:sp>
      <p:sp>
        <p:nvSpPr>
          <p:cNvPr id="15" name="Text 13"/>
          <p:cNvSpPr txBox="1"/>
          <p:nvPr/>
        </p:nvSpPr>
        <p:spPr>
          <a:xfrm>
            <a:off x="9646920" y="1600200"/>
            <a:ext cx="1188720" cy="868680"/>
          </a:xfrm>
          <a:prstGeom prst="rect">
            <a:avLst/>
          </a:prstGeom>
          <a:noFill/>
          <a:ln/>
        </p:spPr>
        <p:txBody>
          <a:bodyPr wrap="square" lIns="0" tIns="0" rIns="0" bIns="0" rtlCol="0" anchor="ctr"/>
          <a:lstStyle/>
          <a:p>
            <a:pPr algn="ctr" indent="0" marL="0">
              <a:buNone/>
            </a:pPr>
            <a:r>
              <a:rPr lang="en-US" sz="950" dirty="0">
                <a:solidFill>
                  <a:srgbClr val="5A6478"/>
                </a:solidFill>
                <a:latin typeface="Calibri" pitchFamily="34" charset="0"/>
                <a:ea typeface="Calibri" pitchFamily="34" charset="-122"/>
                <a:cs typeface="Calibri" pitchFamily="34" charset="-120"/>
              </a:rPr>
              <a:t>archive</a:t>
            </a:r>
            <a:endParaRPr lang="en-US" sz="950" dirty="0"/>
          </a:p>
          <a:p>
            <a:pPr algn="ctr" indent="0" marL="0">
              <a:buNone/>
            </a:pPr>
            <a:r>
              <a:rPr lang="en-US" sz="950" dirty="0">
                <a:solidFill>
                  <a:srgbClr val="5A6478"/>
                </a:solidFill>
                <a:latin typeface="Calibri" pitchFamily="34" charset="0"/>
                <a:ea typeface="Calibri" pitchFamily="34" charset="-122"/>
                <a:cs typeface="Calibri" pitchFamily="34" charset="-120"/>
              </a:rPr>
              <a:t>(training only)</a:t>
            </a:r>
            <a:endParaRPr lang="en-US" sz="950" dirty="0"/>
          </a:p>
        </p:txBody>
      </p:sp>
      <p:sp>
        <p:nvSpPr>
          <p:cNvPr id="16" name="Shape 14"/>
          <p:cNvSpPr/>
          <p:nvPr/>
        </p:nvSpPr>
        <p:spPr>
          <a:xfrm>
            <a:off x="2011680" y="2034540"/>
            <a:ext cx="228600" cy="0"/>
          </a:xfrm>
          <a:prstGeom prst="line">
            <a:avLst/>
          </a:prstGeom>
          <a:noFill/>
          <a:ln w="17780">
            <a:solidFill>
              <a:srgbClr val="7A8DA8"/>
            </a:solidFill>
            <a:prstDash val="solid"/>
            <a:tailEnd type="triangle"/>
          </a:ln>
        </p:spPr>
      </p:sp>
      <p:sp>
        <p:nvSpPr>
          <p:cNvPr id="17" name="Shape 15"/>
          <p:cNvSpPr/>
          <p:nvPr/>
        </p:nvSpPr>
        <p:spPr>
          <a:xfrm>
            <a:off x="3657600" y="2034540"/>
            <a:ext cx="228600" cy="0"/>
          </a:xfrm>
          <a:prstGeom prst="line">
            <a:avLst/>
          </a:prstGeom>
          <a:noFill/>
          <a:ln w="17780">
            <a:solidFill>
              <a:srgbClr val="7A8DA8"/>
            </a:solidFill>
            <a:prstDash val="solid"/>
            <a:tailEnd type="triangle"/>
          </a:ln>
        </p:spPr>
      </p:sp>
      <p:sp>
        <p:nvSpPr>
          <p:cNvPr id="18" name="Shape 16"/>
          <p:cNvSpPr/>
          <p:nvPr/>
        </p:nvSpPr>
        <p:spPr>
          <a:xfrm>
            <a:off x="5486400" y="2034540"/>
            <a:ext cx="228600" cy="0"/>
          </a:xfrm>
          <a:prstGeom prst="line">
            <a:avLst/>
          </a:prstGeom>
          <a:noFill/>
          <a:ln w="17780">
            <a:solidFill>
              <a:srgbClr val="7A8DA8"/>
            </a:solidFill>
            <a:prstDash val="solid"/>
            <a:tailEnd type="triangle"/>
          </a:ln>
        </p:spPr>
      </p:sp>
      <p:sp>
        <p:nvSpPr>
          <p:cNvPr id="19" name="Shape 17"/>
          <p:cNvSpPr/>
          <p:nvPr/>
        </p:nvSpPr>
        <p:spPr>
          <a:xfrm>
            <a:off x="7132320" y="2034540"/>
            <a:ext cx="228600" cy="0"/>
          </a:xfrm>
          <a:prstGeom prst="line">
            <a:avLst/>
          </a:prstGeom>
          <a:noFill/>
          <a:ln w="17780">
            <a:solidFill>
              <a:srgbClr val="7A8DA8"/>
            </a:solidFill>
            <a:prstDash val="solid"/>
            <a:tailEnd type="triangle"/>
          </a:ln>
        </p:spPr>
      </p:sp>
      <p:sp>
        <p:nvSpPr>
          <p:cNvPr id="20" name="Shape 18"/>
          <p:cNvSpPr/>
          <p:nvPr/>
        </p:nvSpPr>
        <p:spPr>
          <a:xfrm>
            <a:off x="9189720" y="2034540"/>
            <a:ext cx="365760" cy="0"/>
          </a:xfrm>
          <a:prstGeom prst="line">
            <a:avLst/>
          </a:prstGeom>
          <a:noFill/>
          <a:ln w="17780">
            <a:solidFill>
              <a:srgbClr val="7A8DA8"/>
            </a:solidFill>
            <a:prstDash val="solid"/>
            <a:tailEnd type="triangle"/>
          </a:ln>
        </p:spPr>
      </p:sp>
      <p:sp>
        <p:nvSpPr>
          <p:cNvPr id="21" name="Text 19"/>
          <p:cNvSpPr txBox="1"/>
          <p:nvPr/>
        </p:nvSpPr>
        <p:spPr>
          <a:xfrm>
            <a:off x="9144000" y="1645920"/>
            <a:ext cx="457200" cy="201168"/>
          </a:xfrm>
          <a:prstGeom prst="rect">
            <a:avLst/>
          </a:prstGeom>
          <a:noFill/>
          <a:ln/>
        </p:spPr>
        <p:txBody>
          <a:bodyPr wrap="square" lIns="0" tIns="0" rIns="0" bIns="0" rtlCol="0" anchor="ctr"/>
          <a:lstStyle/>
          <a:p>
            <a:pPr algn="ctr" indent="0" marL="0">
              <a:buNone/>
            </a:pPr>
            <a:r>
              <a:rPr lang="en-US" sz="900" b="1" dirty="0">
                <a:solidFill>
                  <a:srgbClr val="5A6478"/>
                </a:solidFill>
                <a:latin typeface="Calibri" pitchFamily="34" charset="0"/>
                <a:ea typeface="Calibri" pitchFamily="34" charset="-122"/>
                <a:cs typeface="Calibri" pitchFamily="34" charset="-120"/>
              </a:rPr>
              <a:t>no</a:t>
            </a:r>
            <a:endParaRPr lang="en-US" sz="900" dirty="0"/>
          </a:p>
        </p:txBody>
      </p:sp>
      <p:sp>
        <p:nvSpPr>
          <p:cNvPr id="22" name="Shape 20"/>
          <p:cNvSpPr/>
          <p:nvPr/>
        </p:nvSpPr>
        <p:spPr>
          <a:xfrm>
            <a:off x="8275320" y="2697480"/>
            <a:ext cx="0" cy="548640"/>
          </a:xfrm>
          <a:prstGeom prst="line">
            <a:avLst/>
          </a:prstGeom>
          <a:noFill/>
          <a:ln w="17780">
            <a:solidFill>
              <a:srgbClr val="7A8DA8"/>
            </a:solidFill>
            <a:prstDash val="solid"/>
            <a:tailEnd type="triangle"/>
          </a:ln>
        </p:spPr>
      </p:sp>
      <p:sp>
        <p:nvSpPr>
          <p:cNvPr id="23" name="Text 21"/>
          <p:cNvSpPr txBox="1"/>
          <p:nvPr/>
        </p:nvSpPr>
        <p:spPr>
          <a:xfrm>
            <a:off x="8321040" y="2788920"/>
            <a:ext cx="457200" cy="201168"/>
          </a:xfrm>
          <a:prstGeom prst="rect">
            <a:avLst/>
          </a:prstGeom>
          <a:noFill/>
          <a:ln/>
        </p:spPr>
        <p:txBody>
          <a:bodyPr wrap="square" lIns="0" tIns="0" rIns="0" bIns="0" rtlCol="0" anchor="ctr"/>
          <a:lstStyle/>
          <a:p>
            <a:pPr algn="ctr" indent="0" marL="0">
              <a:buNone/>
            </a:pPr>
            <a:r>
              <a:rPr lang="en-US" sz="900" b="1" dirty="0">
                <a:solidFill>
                  <a:srgbClr val="5A6478"/>
                </a:solidFill>
                <a:latin typeface="Calibri" pitchFamily="34" charset="0"/>
                <a:ea typeface="Calibri" pitchFamily="34" charset="-122"/>
                <a:cs typeface="Calibri" pitchFamily="34" charset="-120"/>
              </a:rPr>
              <a:t>yes</a:t>
            </a:r>
            <a:endParaRPr lang="en-US" sz="900" dirty="0"/>
          </a:p>
        </p:txBody>
      </p:sp>
      <p:sp>
        <p:nvSpPr>
          <p:cNvPr id="24" name="Shape 22"/>
          <p:cNvSpPr/>
          <p:nvPr/>
        </p:nvSpPr>
        <p:spPr>
          <a:xfrm>
            <a:off x="7360920" y="3246120"/>
            <a:ext cx="1828800" cy="868680"/>
          </a:xfrm>
          <a:prstGeom prst="flowChartInputOutput">
            <a:avLst/>
          </a:prstGeom>
          <a:solidFill>
            <a:srgbClr val="E3F0F6"/>
          </a:solidFill>
          <a:ln w="9525">
            <a:solidFill>
              <a:srgbClr val="1F5F7A"/>
            </a:solidFill>
            <a:prstDash val="solid"/>
          </a:ln>
        </p:spPr>
      </p:sp>
      <p:sp>
        <p:nvSpPr>
          <p:cNvPr id="25" name="Text 23"/>
          <p:cNvSpPr txBox="1"/>
          <p:nvPr/>
        </p:nvSpPr>
        <p:spPr>
          <a:xfrm>
            <a:off x="7452360" y="3246120"/>
            <a:ext cx="1645920" cy="868680"/>
          </a:xfrm>
          <a:prstGeom prst="rect">
            <a:avLst/>
          </a:prstGeom>
          <a:noFill/>
          <a:ln/>
        </p:spPr>
        <p:txBody>
          <a:bodyPr wrap="square" lIns="0" tIns="0" rIns="0" bIns="0" rtlCol="0" anchor="ctr"/>
          <a:lstStyle/>
          <a:p>
            <a:pPr algn="ctr" indent="0" marL="0">
              <a:buNone/>
            </a:pPr>
            <a:r>
              <a:rPr lang="en-US" sz="1000" dirty="0">
                <a:solidFill>
                  <a:srgbClr val="1F5F7A"/>
                </a:solidFill>
                <a:latin typeface="Calibri" pitchFamily="34" charset="0"/>
                <a:ea typeface="Calibri" pitchFamily="34" charset="-122"/>
                <a:cs typeface="Calibri" pitchFamily="34" charset="-120"/>
              </a:rPr>
              <a:t>pool row</a:t>
            </a:r>
            <a:endParaRPr lang="en-US" sz="1000" dirty="0"/>
          </a:p>
          <a:p>
            <a:pPr algn="ctr" indent="0" marL="0">
              <a:buNone/>
            </a:pPr>
            <a:r>
              <a:rPr lang="en-US" sz="1000" dirty="0">
                <a:solidFill>
                  <a:srgbClr val="1F5F7A"/>
                </a:solidFill>
                <a:latin typeface="Calibri" pitchFamily="34" charset="0"/>
                <a:ea typeface="Calibri" pitchFamily="34" charset="-122"/>
                <a:cs typeface="Calibri" pitchFamily="34" charset="-120"/>
              </a:rPr>
              <a:t>15 geometry descriptors</a:t>
            </a:r>
            <a:endParaRPr lang="en-US" sz="1000" dirty="0"/>
          </a:p>
          <a:p>
            <a:pPr algn="ctr" indent="0" marL="0">
              <a:buNone/>
            </a:pPr>
            <a:r>
              <a:rPr lang="en-US" sz="1000" dirty="0">
                <a:solidFill>
                  <a:srgbClr val="1F5F7A"/>
                </a:solidFill>
                <a:latin typeface="Calibri" pitchFamily="34" charset="0"/>
                <a:ea typeface="Calibri" pitchFamily="34" charset="-122"/>
                <a:cs typeface="Calibri" pitchFamily="34" charset="-120"/>
              </a:rPr>
              <a:t>+ RE one-hot</a:t>
            </a:r>
            <a:endParaRPr lang="en-US" sz="1000" dirty="0"/>
          </a:p>
        </p:txBody>
      </p:sp>
      <p:sp>
        <p:nvSpPr>
          <p:cNvPr id="26" name="Shape 24"/>
          <p:cNvSpPr/>
          <p:nvPr/>
        </p:nvSpPr>
        <p:spPr>
          <a:xfrm>
            <a:off x="5303520" y="3246120"/>
            <a:ext cx="1783080" cy="868680"/>
          </a:xfrm>
          <a:prstGeom prst="flowChartProcess">
            <a:avLst/>
          </a:prstGeom>
          <a:solidFill>
            <a:srgbClr val="EEEDFE"/>
          </a:solidFill>
          <a:ln w="9525">
            <a:solidFill>
              <a:srgbClr val="3C3489"/>
            </a:solidFill>
            <a:prstDash val="solid"/>
          </a:ln>
        </p:spPr>
      </p:sp>
      <p:sp>
        <p:nvSpPr>
          <p:cNvPr id="27" name="Text 25"/>
          <p:cNvSpPr txBox="1"/>
          <p:nvPr/>
        </p:nvSpPr>
        <p:spPr>
          <a:xfrm>
            <a:off x="5394960" y="3246120"/>
            <a:ext cx="1600200" cy="868680"/>
          </a:xfrm>
          <a:prstGeom prst="rect">
            <a:avLst/>
          </a:prstGeom>
          <a:noFill/>
          <a:ln/>
        </p:spPr>
        <p:txBody>
          <a:bodyPr wrap="square" lIns="0" tIns="0" rIns="0" bIns="0" rtlCol="0" anchor="ctr"/>
          <a:lstStyle/>
          <a:p>
            <a:pPr algn="ctr" indent="0" marL="0">
              <a:buNone/>
            </a:pPr>
            <a:r>
              <a:rPr lang="en-US" sz="1000" dirty="0">
                <a:solidFill>
                  <a:srgbClr val="3C3489"/>
                </a:solidFill>
                <a:latin typeface="Calibri" pitchFamily="34" charset="0"/>
                <a:ea typeface="Calibri" pitchFamily="34" charset="-122"/>
                <a:cs typeface="Calibri" pitchFamily="34" charset="-120"/>
              </a:rPr>
              <a:t>GP predicts h</a:t>
            </a:r>
            <a:endParaRPr lang="en-US" sz="1000" dirty="0"/>
          </a:p>
          <a:p>
            <a:pPr algn="ctr" indent="0" marL="0">
              <a:buNone/>
            </a:pPr>
            <a:r>
              <a:rPr lang="en-US" sz="1000" dirty="0">
                <a:solidFill>
                  <a:srgbClr val="3C3489"/>
                </a:solidFill>
                <a:latin typeface="Calibri" pitchFamily="34" charset="0"/>
                <a:ea typeface="Calibri" pitchFamily="34" charset="-122"/>
                <a:cs typeface="Calibri" pitchFamily="34" charset="-120"/>
              </a:rPr>
              <a:t>(5d polarisation):</a:t>
            </a:r>
            <a:endParaRPr lang="en-US" sz="1000" dirty="0"/>
          </a:p>
          <a:p>
            <a:pPr algn="ctr" indent="0" marL="0">
              <a:buNone/>
            </a:pPr>
            <a:r>
              <a:rPr lang="en-US" sz="1000" dirty="0">
                <a:solidFill>
                  <a:srgbClr val="3C3489"/>
                </a:solidFill>
                <a:latin typeface="Calibri" pitchFamily="34" charset="0"/>
                <a:ea typeface="Calibri" pitchFamily="34" charset="-122"/>
                <a:cs typeface="Calibri" pitchFamily="34" charset="-120"/>
              </a:rPr>
              <a:t>linear trend + GP correction</a:t>
            </a:r>
            <a:endParaRPr lang="en-US" sz="1000" dirty="0"/>
          </a:p>
        </p:txBody>
      </p:sp>
      <p:sp>
        <p:nvSpPr>
          <p:cNvPr id="28" name="Shape 26"/>
          <p:cNvSpPr/>
          <p:nvPr/>
        </p:nvSpPr>
        <p:spPr>
          <a:xfrm>
            <a:off x="3246120" y="3246120"/>
            <a:ext cx="1783080" cy="868680"/>
          </a:xfrm>
          <a:prstGeom prst="flowChartProcess">
            <a:avLst/>
          </a:prstGeom>
          <a:solidFill>
            <a:srgbClr val="EEEDFE"/>
          </a:solidFill>
          <a:ln w="9525">
            <a:solidFill>
              <a:srgbClr val="3C3489"/>
            </a:solidFill>
            <a:prstDash val="solid"/>
          </a:ln>
        </p:spPr>
      </p:sp>
      <p:sp>
        <p:nvSpPr>
          <p:cNvPr id="29" name="Text 27"/>
          <p:cNvSpPr txBox="1"/>
          <p:nvPr/>
        </p:nvSpPr>
        <p:spPr>
          <a:xfrm>
            <a:off x="3337560" y="3246120"/>
            <a:ext cx="1600200" cy="868680"/>
          </a:xfrm>
          <a:prstGeom prst="rect">
            <a:avLst/>
          </a:prstGeom>
          <a:noFill/>
          <a:ln/>
        </p:spPr>
        <p:txBody>
          <a:bodyPr wrap="square" lIns="0" tIns="0" rIns="0" bIns="0" rtlCol="0" anchor="ctr"/>
          <a:lstStyle/>
          <a:p>
            <a:pPr algn="ctr" indent="0" marL="0">
              <a:buNone/>
            </a:pPr>
            <a:r>
              <a:rPr lang="en-US" sz="1000" dirty="0">
                <a:solidFill>
                  <a:srgbClr val="3C3489"/>
                </a:solidFill>
                <a:latin typeface="Calibri" pitchFamily="34" charset="0"/>
                <a:ea typeface="Calibri" pitchFamily="34" charset="-122"/>
                <a:cs typeface="Calibri" pitchFamily="34" charset="-120"/>
              </a:rPr>
              <a:t>Thompson sampling</a:t>
            </a:r>
            <a:endParaRPr lang="en-US" sz="1000" dirty="0"/>
          </a:p>
          <a:p>
            <a:pPr algn="ctr" indent="0" marL="0">
              <a:buNone/>
            </a:pPr>
            <a:r>
              <a:rPr lang="en-US" sz="1000" dirty="0">
                <a:solidFill>
                  <a:srgbClr val="3C3489"/>
                </a:solidFill>
                <a:latin typeface="Calibri" pitchFamily="34" charset="0"/>
                <a:ea typeface="Calibri" pitchFamily="34" charset="-122"/>
                <a:cs typeface="Calibri" pitchFamily="34" charset="-120"/>
              </a:rPr>
              <a:t>→ wave of 120</a:t>
            </a:r>
            <a:endParaRPr lang="en-US" sz="1000" dirty="0"/>
          </a:p>
          <a:p>
            <a:pPr algn="ctr" indent="0" marL="0">
              <a:buNone/>
            </a:pPr>
            <a:r>
              <a:rPr lang="en-US" sz="1000" dirty="0">
                <a:solidFill>
                  <a:srgbClr val="3C3489"/>
                </a:solidFill>
                <a:latin typeface="Calibri" pitchFamily="34" charset="0"/>
                <a:ea typeface="Calibri" pitchFamily="34" charset="-122"/>
                <a:cs typeface="Calibri" pitchFamily="34" charset="-120"/>
              </a:rPr>
              <a:t>(constraints + cap)</a:t>
            </a:r>
            <a:endParaRPr lang="en-US" sz="1000" dirty="0"/>
          </a:p>
        </p:txBody>
      </p:sp>
      <p:sp>
        <p:nvSpPr>
          <p:cNvPr id="30" name="Shape 28"/>
          <p:cNvSpPr/>
          <p:nvPr/>
        </p:nvSpPr>
        <p:spPr>
          <a:xfrm>
            <a:off x="640080" y="3246120"/>
            <a:ext cx="2331720" cy="868680"/>
          </a:xfrm>
          <a:prstGeom prst="flowChartProcess">
            <a:avLst/>
          </a:prstGeom>
          <a:solidFill>
            <a:srgbClr val="F5C4B3"/>
          </a:solidFill>
          <a:ln w="9525">
            <a:solidFill>
              <a:srgbClr val="D85A30"/>
            </a:solidFill>
            <a:prstDash val="solid"/>
          </a:ln>
        </p:spPr>
      </p:sp>
      <p:sp>
        <p:nvSpPr>
          <p:cNvPr id="31" name="Text 29"/>
          <p:cNvSpPr txBox="1"/>
          <p:nvPr/>
        </p:nvSpPr>
        <p:spPr>
          <a:xfrm>
            <a:off x="731520" y="3246120"/>
            <a:ext cx="2148840" cy="868680"/>
          </a:xfrm>
          <a:prstGeom prst="rect">
            <a:avLst/>
          </a:prstGeom>
          <a:noFill/>
          <a:ln/>
        </p:spPr>
        <p:txBody>
          <a:bodyPr wrap="square" lIns="0" tIns="0" rIns="0" bIns="0" rtlCol="0" anchor="ctr"/>
          <a:lstStyle/>
          <a:p>
            <a:pPr algn="ctr" indent="0" marL="0">
              <a:buNone/>
            </a:pPr>
            <a:r>
              <a:rPr lang="en-US" sz="950" dirty="0">
                <a:solidFill>
                  <a:srgbClr val="712B13"/>
                </a:solidFill>
                <a:latin typeface="Calibri" pitchFamily="34" charset="0"/>
                <a:ea typeface="Calibri" pitchFamily="34" charset="-122"/>
                <a:cs typeface="Calibri" pitchFamily="34" charset="-120"/>
              </a:rPr>
              <a:t>VASP on Perlmutter</a:t>
            </a:r>
            <a:endParaRPr lang="en-US" sz="950" dirty="0"/>
          </a:p>
          <a:p>
            <a:pPr algn="ctr" indent="0" marL="0">
              <a:buNone/>
            </a:pPr>
            <a:r>
              <a:rPr lang="en-US" sz="950" dirty="0">
                <a:solidFill>
                  <a:srgbClr val="712B13"/>
                </a:solidFill>
                <a:latin typeface="Calibri" pitchFamily="34" charset="0"/>
                <a:ea typeface="Calibri" pitchFamily="34" charset="-122"/>
                <a:cs typeface="Calibri" pitchFamily="34" charset="-120"/>
              </a:rPr>
              <a:t>120 f-in-core relaxations</a:t>
            </a:r>
            <a:endParaRPr lang="en-US" sz="950" dirty="0"/>
          </a:p>
          <a:p>
            <a:pPr algn="ctr" indent="0" marL="0">
              <a:buNone/>
            </a:pPr>
            <a:r>
              <a:rPr lang="en-US" sz="950" dirty="0">
                <a:solidFill>
                  <a:srgbClr val="712B13"/>
                </a:solidFill>
                <a:latin typeface="Calibri" pitchFamily="34" charset="0"/>
                <a:ea typeface="Calibri" pitchFamily="34" charset="-122"/>
                <a:cs typeface="Calibri" pitchFamily="34" charset="-120"/>
              </a:rPr>
              <a:t>one packed 4 h job</a:t>
            </a:r>
            <a:endParaRPr lang="en-US" sz="950" dirty="0"/>
          </a:p>
        </p:txBody>
      </p:sp>
      <p:sp>
        <p:nvSpPr>
          <p:cNvPr id="32" name="Shape 30"/>
          <p:cNvSpPr/>
          <p:nvPr/>
        </p:nvSpPr>
        <p:spPr>
          <a:xfrm flipH="1">
            <a:off x="7086600" y="3680460"/>
            <a:ext cx="274320" cy="0"/>
          </a:xfrm>
          <a:prstGeom prst="line">
            <a:avLst/>
          </a:prstGeom>
          <a:noFill/>
          <a:ln w="17780">
            <a:solidFill>
              <a:srgbClr val="7A8DA8"/>
            </a:solidFill>
            <a:prstDash val="solid"/>
            <a:tailEnd type="triangle"/>
          </a:ln>
        </p:spPr>
      </p:sp>
      <p:sp>
        <p:nvSpPr>
          <p:cNvPr id="33" name="Shape 31"/>
          <p:cNvSpPr/>
          <p:nvPr/>
        </p:nvSpPr>
        <p:spPr>
          <a:xfrm flipH="1">
            <a:off x="5029200" y="3680460"/>
            <a:ext cx="274320" cy="0"/>
          </a:xfrm>
          <a:prstGeom prst="line">
            <a:avLst/>
          </a:prstGeom>
          <a:noFill/>
          <a:ln w="17780">
            <a:solidFill>
              <a:srgbClr val="7A8DA8"/>
            </a:solidFill>
            <a:prstDash val="solid"/>
            <a:tailEnd type="triangle"/>
          </a:ln>
        </p:spPr>
      </p:sp>
      <p:sp>
        <p:nvSpPr>
          <p:cNvPr id="34" name="Shape 32"/>
          <p:cNvSpPr/>
          <p:nvPr/>
        </p:nvSpPr>
        <p:spPr>
          <a:xfrm flipH="1">
            <a:off x="2971800" y="3680460"/>
            <a:ext cx="274320" cy="0"/>
          </a:xfrm>
          <a:prstGeom prst="line">
            <a:avLst/>
          </a:prstGeom>
          <a:noFill/>
          <a:ln w="17780">
            <a:solidFill>
              <a:srgbClr val="7A8DA8"/>
            </a:solidFill>
            <a:prstDash val="solid"/>
            <a:tailEnd type="triangle"/>
          </a:ln>
        </p:spPr>
      </p:sp>
      <p:sp>
        <p:nvSpPr>
          <p:cNvPr id="35" name="Shape 33"/>
          <p:cNvSpPr/>
          <p:nvPr/>
        </p:nvSpPr>
        <p:spPr>
          <a:xfrm>
            <a:off x="1801368" y="4114800"/>
            <a:ext cx="0" cy="777240"/>
          </a:xfrm>
          <a:prstGeom prst="line">
            <a:avLst/>
          </a:prstGeom>
          <a:noFill/>
          <a:ln w="17780">
            <a:solidFill>
              <a:srgbClr val="7A8DA8"/>
            </a:solidFill>
            <a:prstDash val="solid"/>
            <a:tailEnd type="triangle"/>
          </a:ln>
        </p:spPr>
      </p:sp>
      <p:sp>
        <p:nvSpPr>
          <p:cNvPr id="36" name="Shape 34"/>
          <p:cNvSpPr/>
          <p:nvPr/>
        </p:nvSpPr>
        <p:spPr>
          <a:xfrm>
            <a:off x="640080" y="4892040"/>
            <a:ext cx="2331720" cy="868680"/>
          </a:xfrm>
          <a:prstGeom prst="flowChartInputOutput">
            <a:avLst/>
          </a:prstGeom>
          <a:solidFill>
            <a:srgbClr val="E3F0F6"/>
          </a:solidFill>
          <a:ln w="9525">
            <a:solidFill>
              <a:srgbClr val="1F5F7A"/>
            </a:solidFill>
            <a:prstDash val="solid"/>
          </a:ln>
        </p:spPr>
      </p:sp>
      <p:sp>
        <p:nvSpPr>
          <p:cNvPr id="37" name="Text 35"/>
          <p:cNvSpPr txBox="1"/>
          <p:nvPr/>
        </p:nvSpPr>
        <p:spPr>
          <a:xfrm>
            <a:off x="731520" y="4892040"/>
            <a:ext cx="2148840" cy="868680"/>
          </a:xfrm>
          <a:prstGeom prst="rect">
            <a:avLst/>
          </a:prstGeom>
          <a:noFill/>
          <a:ln/>
        </p:spPr>
        <p:txBody>
          <a:bodyPr wrap="square" lIns="0" tIns="0" rIns="0" bIns="0" rtlCol="0" anchor="ctr"/>
          <a:lstStyle/>
          <a:p>
            <a:pPr algn="ctr" indent="0" marL="0">
              <a:buNone/>
            </a:pPr>
            <a:r>
              <a:rPr lang="en-US" sz="1000" dirty="0">
                <a:solidFill>
                  <a:srgbClr val="1F5F7A"/>
                </a:solidFill>
                <a:latin typeface="Calibri" pitchFamily="34" charset="0"/>
                <a:ea typeface="Calibri" pitchFamily="34" charset="-122"/>
                <a:cs typeface="Calibri" pitchFamily="34" charset="-120"/>
              </a:rPr>
              <a:t>per run: h, Fe/Co moments, V</a:t>
            </a:r>
            <a:endParaRPr lang="en-US" sz="1000" dirty="0"/>
          </a:p>
          <a:p>
            <a:pPr algn="ctr" indent="0" marL="0">
              <a:buNone/>
            </a:pPr>
            <a:r>
              <a:rPr lang="en-US" sz="1000" dirty="0">
                <a:solidFill>
                  <a:srgbClr val="1F5F7A"/>
                </a:solidFill>
                <a:latin typeface="Calibri" pitchFamily="34" charset="0"/>
                <a:ea typeface="Calibri" pitchFamily="34" charset="-122"/>
                <a:cs typeface="Calibri" pitchFamily="34" charset="-120"/>
              </a:rPr>
              <a:t>→ gap_RE = 1574·h·(gJ−1)J/3.5</a:t>
            </a:r>
            <a:endParaRPr lang="en-US" sz="1000" dirty="0"/>
          </a:p>
          <a:p>
            <a:pPr algn="ctr" indent="0" marL="0">
              <a:buNone/>
            </a:pPr>
            <a:r>
              <a:rPr lang="en-US" sz="1000" dirty="0">
                <a:solidFill>
                  <a:srgbClr val="1F5F7A"/>
                </a:solidFill>
                <a:latin typeface="Calibri" pitchFamily="34" charset="0"/>
                <a:ea typeface="Calibri" pitchFamily="34" charset="-122"/>
                <a:cs typeface="Calibri" pitchFamily="34" charset="-120"/>
              </a:rPr>
              <a:t>T* = gap_RE/2k_B, Ms = Σm/V</a:t>
            </a:r>
            <a:endParaRPr lang="en-US" sz="1000" dirty="0"/>
          </a:p>
        </p:txBody>
      </p:sp>
      <p:sp>
        <p:nvSpPr>
          <p:cNvPr id="38" name="Shape 36"/>
          <p:cNvSpPr/>
          <p:nvPr/>
        </p:nvSpPr>
        <p:spPr>
          <a:xfrm>
            <a:off x="3246120" y="4892040"/>
            <a:ext cx="1783080" cy="868680"/>
          </a:xfrm>
          <a:prstGeom prst="flowChartProcess">
            <a:avLst/>
          </a:prstGeom>
          <a:solidFill>
            <a:srgbClr val="EEEDFE"/>
          </a:solidFill>
          <a:ln w="9525">
            <a:solidFill>
              <a:srgbClr val="3C3489"/>
            </a:solidFill>
            <a:prstDash val="solid"/>
          </a:ln>
        </p:spPr>
      </p:sp>
      <p:sp>
        <p:nvSpPr>
          <p:cNvPr id="39" name="Text 37"/>
          <p:cNvSpPr txBox="1"/>
          <p:nvPr/>
        </p:nvSpPr>
        <p:spPr>
          <a:xfrm>
            <a:off x="3337560" y="4892040"/>
            <a:ext cx="1600200" cy="868680"/>
          </a:xfrm>
          <a:prstGeom prst="rect">
            <a:avLst/>
          </a:prstGeom>
          <a:noFill/>
          <a:ln/>
        </p:spPr>
        <p:txBody>
          <a:bodyPr wrap="square" lIns="0" tIns="0" rIns="0" bIns="0" rtlCol="0" anchor="ctr"/>
          <a:lstStyle/>
          <a:p>
            <a:pPr algn="ctr" indent="0" marL="0">
              <a:buNone/>
            </a:pPr>
            <a:r>
              <a:rPr lang="en-US" sz="1000" dirty="0">
                <a:solidFill>
                  <a:srgbClr val="3C3489"/>
                </a:solidFill>
                <a:latin typeface="Calibri" pitchFamily="34" charset="0"/>
                <a:ea typeface="Calibri" pitchFamily="34" charset="-122"/>
                <a:cs typeface="Calibri" pitchFamily="34" charset="-120"/>
              </a:rPr>
              <a:t>ingest: parse OUTCARs →</a:t>
            </a:r>
            <a:endParaRPr lang="en-US" sz="1000" dirty="0"/>
          </a:p>
          <a:p>
            <a:pPr algn="ctr" indent="0" marL="0">
              <a:buNone/>
            </a:pPr>
            <a:r>
              <a:rPr lang="en-US" sz="1000" dirty="0">
                <a:solidFill>
                  <a:srgbClr val="3C3489"/>
                </a:solidFill>
                <a:latin typeface="Calibri" pitchFamily="34" charset="0"/>
                <a:ea typeface="Calibri" pitchFamily="34" charset="-122"/>
                <a:cs typeface="Calibri" pitchFamily="34" charset="-120"/>
              </a:rPr>
              <a:t>labels.csv; compare measured h</a:t>
            </a:r>
            <a:endParaRPr lang="en-US" sz="1000" dirty="0"/>
          </a:p>
          <a:p>
            <a:pPr algn="ctr" indent="0" marL="0">
              <a:buNone/>
            </a:pPr>
            <a:r>
              <a:rPr lang="en-US" sz="1000" dirty="0">
                <a:solidFill>
                  <a:srgbClr val="3C3489"/>
                </a:solidFill>
                <a:latin typeface="Calibri" pitchFamily="34" charset="0"/>
                <a:ea typeface="Calibri" pitchFamily="34" charset="-122"/>
                <a:cs typeface="Calibri" pitchFamily="34" charset="-120"/>
              </a:rPr>
              <a:t>to predicted (H1); re-fit GP</a:t>
            </a:r>
            <a:endParaRPr lang="en-US" sz="1000" dirty="0"/>
          </a:p>
        </p:txBody>
      </p:sp>
      <p:sp>
        <p:nvSpPr>
          <p:cNvPr id="40" name="Shape 38"/>
          <p:cNvSpPr/>
          <p:nvPr/>
        </p:nvSpPr>
        <p:spPr>
          <a:xfrm>
            <a:off x="5303520" y="4663440"/>
            <a:ext cx="1828800" cy="1325880"/>
          </a:xfrm>
          <a:prstGeom prst="flowChartDecision">
            <a:avLst/>
          </a:prstGeom>
          <a:solidFill>
            <a:srgbClr val="FCEDE8"/>
          </a:solidFill>
          <a:ln w="9525">
            <a:solidFill>
              <a:srgbClr val="8A3B2E"/>
            </a:solidFill>
            <a:prstDash val="solid"/>
          </a:ln>
        </p:spPr>
      </p:sp>
      <p:sp>
        <p:nvSpPr>
          <p:cNvPr id="41" name="Text 39"/>
          <p:cNvSpPr txBox="1"/>
          <p:nvPr/>
        </p:nvSpPr>
        <p:spPr>
          <a:xfrm>
            <a:off x="5394960" y="4663440"/>
            <a:ext cx="1645920" cy="1325880"/>
          </a:xfrm>
          <a:prstGeom prst="rect">
            <a:avLst/>
          </a:prstGeom>
          <a:noFill/>
          <a:ln/>
        </p:spPr>
        <p:txBody>
          <a:bodyPr wrap="square" lIns="0" tIns="0" rIns="0" bIns="0" rtlCol="0" anchor="ctr"/>
          <a:lstStyle/>
          <a:p>
            <a:pPr algn="ctr" indent="0" marL="0">
              <a:buNone/>
            </a:pPr>
            <a:r>
              <a:rPr lang="en-US" sz="1000" dirty="0">
                <a:solidFill>
                  <a:srgbClr val="8A3B2E"/>
                </a:solidFill>
                <a:latin typeface="Calibri" pitchFamily="34" charset="0"/>
                <a:ea typeface="Calibri" pitchFamily="34" charset="-122"/>
                <a:cs typeface="Calibri" pitchFamily="34" charset="-120"/>
              </a:rPr>
              <a:t>Pareto front</a:t>
            </a:r>
            <a:endParaRPr lang="en-US" sz="1000" dirty="0"/>
          </a:p>
          <a:p>
            <a:pPr algn="ctr" indent="0" marL="0">
              <a:buNone/>
            </a:pPr>
            <a:r>
              <a:rPr lang="en-US" sz="1000" dirty="0">
                <a:solidFill>
                  <a:srgbClr val="8A3B2E"/>
                </a:solidFill>
                <a:latin typeface="Calibri" pitchFamily="34" charset="0"/>
                <a:ea typeface="Calibri" pitchFamily="34" charset="-122"/>
                <a:cs typeface="Calibri" pitchFamily="34" charset="-120"/>
              </a:rPr>
              <a:t>moved? feasible</a:t>
            </a:r>
            <a:endParaRPr lang="en-US" sz="1000" dirty="0"/>
          </a:p>
          <a:p>
            <a:pPr algn="ctr" indent="0" marL="0">
              <a:buNone/>
            </a:pPr>
            <a:r>
              <a:rPr lang="en-US" sz="1000" dirty="0">
                <a:solidFill>
                  <a:srgbClr val="8A3B2E"/>
                </a:solidFill>
                <a:latin typeface="Calibri" pitchFamily="34" charset="0"/>
                <a:ea typeface="Calibri" pitchFamily="34" charset="-122"/>
                <a:cs typeface="Calibri" pitchFamily="34" charset="-120"/>
              </a:rPr>
              <a:t>candidates left?</a:t>
            </a:r>
            <a:endParaRPr lang="en-US" sz="1000" dirty="0"/>
          </a:p>
        </p:txBody>
      </p:sp>
      <p:sp>
        <p:nvSpPr>
          <p:cNvPr id="42" name="Shape 40"/>
          <p:cNvSpPr/>
          <p:nvPr/>
        </p:nvSpPr>
        <p:spPr>
          <a:xfrm>
            <a:off x="7360920" y="4892040"/>
            <a:ext cx="1828800" cy="868680"/>
          </a:xfrm>
          <a:prstGeom prst="flowChartTerminator">
            <a:avLst/>
          </a:prstGeom>
          <a:solidFill>
            <a:srgbClr val="EEF2F7"/>
          </a:solidFill>
          <a:ln w="9525">
            <a:solidFill>
              <a:srgbClr val="1A2233"/>
            </a:solidFill>
            <a:prstDash val="solid"/>
          </a:ln>
        </p:spPr>
      </p:sp>
      <p:sp>
        <p:nvSpPr>
          <p:cNvPr id="43" name="Text 41"/>
          <p:cNvSpPr txBox="1"/>
          <p:nvPr/>
        </p:nvSpPr>
        <p:spPr>
          <a:xfrm>
            <a:off x="7452360" y="4892040"/>
            <a:ext cx="1645920" cy="868680"/>
          </a:xfrm>
          <a:prstGeom prst="rect">
            <a:avLst/>
          </a:prstGeom>
          <a:noFill/>
          <a:ln/>
        </p:spPr>
        <p:txBody>
          <a:bodyPr wrap="square" lIns="0" tIns="0" rIns="0" bIns="0" rtlCol="0" anchor="ctr"/>
          <a:lstStyle/>
          <a:p>
            <a:pPr algn="ctr" indent="0" marL="0">
              <a:buNone/>
            </a:pPr>
            <a:r>
              <a:rPr lang="en-US" sz="1000" dirty="0">
                <a:solidFill>
                  <a:srgbClr val="1A2233"/>
                </a:solidFill>
                <a:latin typeface="Calibri" pitchFamily="34" charset="0"/>
                <a:ea typeface="Calibri" pitchFamily="34" charset="-122"/>
                <a:cs typeface="Calibri" pitchFamily="34" charset="-120"/>
              </a:rPr>
              <a:t>END → candidate list</a:t>
            </a:r>
            <a:endParaRPr lang="en-US" sz="1000" dirty="0"/>
          </a:p>
          <a:p>
            <a:pPr algn="ctr" indent="0" marL="0">
              <a:buNone/>
            </a:pPr>
            <a:r>
              <a:rPr lang="en-US" sz="1000" dirty="0">
                <a:solidFill>
                  <a:srgbClr val="1A2233"/>
                </a:solidFill>
                <a:latin typeface="Calibri" pitchFamily="34" charset="0"/>
                <a:ea typeface="Calibri" pitchFamily="34" charset="-122"/>
                <a:cs typeface="Calibri" pitchFamily="34" charset="-120"/>
              </a:rPr>
              <a:t>SOC anisotropy → Tc</a:t>
            </a:r>
            <a:endParaRPr lang="en-US" sz="1000" dirty="0"/>
          </a:p>
          <a:p>
            <a:pPr algn="ctr" indent="0" marL="0">
              <a:buNone/>
            </a:pPr>
            <a:r>
              <a:rPr lang="en-US" sz="1000" dirty="0">
                <a:solidFill>
                  <a:srgbClr val="1A2233"/>
                </a:solidFill>
                <a:latin typeface="Calibri" pitchFamily="34" charset="0"/>
                <a:ea typeface="Calibri" pitchFamily="34" charset="-122"/>
                <a:cs typeface="Calibri" pitchFamily="34" charset="-120"/>
              </a:rPr>
              <a:t>→ synthesis</a:t>
            </a:r>
            <a:endParaRPr lang="en-US" sz="1000" dirty="0"/>
          </a:p>
        </p:txBody>
      </p:sp>
      <p:sp>
        <p:nvSpPr>
          <p:cNvPr id="44" name="Shape 42"/>
          <p:cNvSpPr/>
          <p:nvPr/>
        </p:nvSpPr>
        <p:spPr>
          <a:xfrm>
            <a:off x="2971800" y="5326380"/>
            <a:ext cx="274320" cy="0"/>
          </a:xfrm>
          <a:prstGeom prst="line">
            <a:avLst/>
          </a:prstGeom>
          <a:noFill/>
          <a:ln w="17780">
            <a:solidFill>
              <a:srgbClr val="7A8DA8"/>
            </a:solidFill>
            <a:prstDash val="solid"/>
            <a:tailEnd type="triangle"/>
          </a:ln>
        </p:spPr>
      </p:sp>
      <p:sp>
        <p:nvSpPr>
          <p:cNvPr id="45" name="Shape 43"/>
          <p:cNvSpPr/>
          <p:nvPr/>
        </p:nvSpPr>
        <p:spPr>
          <a:xfrm>
            <a:off x="5029200" y="5326380"/>
            <a:ext cx="274320" cy="0"/>
          </a:xfrm>
          <a:prstGeom prst="line">
            <a:avLst/>
          </a:prstGeom>
          <a:noFill/>
          <a:ln w="17780">
            <a:solidFill>
              <a:srgbClr val="7A8DA8"/>
            </a:solidFill>
            <a:prstDash val="solid"/>
            <a:tailEnd type="triangle"/>
          </a:ln>
        </p:spPr>
      </p:sp>
      <p:sp>
        <p:nvSpPr>
          <p:cNvPr id="46" name="Shape 44"/>
          <p:cNvSpPr/>
          <p:nvPr/>
        </p:nvSpPr>
        <p:spPr>
          <a:xfrm>
            <a:off x="7132320" y="5326380"/>
            <a:ext cx="228600" cy="0"/>
          </a:xfrm>
          <a:prstGeom prst="line">
            <a:avLst/>
          </a:prstGeom>
          <a:noFill/>
          <a:ln w="17780">
            <a:solidFill>
              <a:srgbClr val="7A8DA8"/>
            </a:solidFill>
            <a:prstDash val="solid"/>
            <a:tailEnd type="triangle"/>
          </a:ln>
        </p:spPr>
      </p:sp>
      <p:sp>
        <p:nvSpPr>
          <p:cNvPr id="47" name="Text 45"/>
          <p:cNvSpPr txBox="1"/>
          <p:nvPr/>
        </p:nvSpPr>
        <p:spPr>
          <a:xfrm>
            <a:off x="7040880" y="4937760"/>
            <a:ext cx="457200" cy="201168"/>
          </a:xfrm>
          <a:prstGeom prst="rect">
            <a:avLst/>
          </a:prstGeom>
          <a:noFill/>
          <a:ln/>
        </p:spPr>
        <p:txBody>
          <a:bodyPr wrap="square" lIns="0" tIns="0" rIns="0" bIns="0" rtlCol="0" anchor="ctr"/>
          <a:lstStyle/>
          <a:p>
            <a:pPr algn="ctr" indent="0" marL="0">
              <a:buNone/>
            </a:pPr>
            <a:r>
              <a:rPr lang="en-US" sz="900" b="1" dirty="0">
                <a:solidFill>
                  <a:srgbClr val="5A6478"/>
                </a:solidFill>
                <a:latin typeface="Calibri" pitchFamily="34" charset="0"/>
                <a:ea typeface="Calibri" pitchFamily="34" charset="-122"/>
                <a:cs typeface="Calibri" pitchFamily="34" charset="-120"/>
              </a:rPr>
              <a:t>no</a:t>
            </a:r>
            <a:endParaRPr lang="en-US" sz="900" dirty="0"/>
          </a:p>
        </p:txBody>
      </p:sp>
      <p:sp>
        <p:nvSpPr>
          <p:cNvPr id="48" name="Shape 46"/>
          <p:cNvSpPr/>
          <p:nvPr/>
        </p:nvSpPr>
        <p:spPr>
          <a:xfrm flipV="1">
            <a:off x="6217920" y="4114800"/>
            <a:ext cx="0" cy="548640"/>
          </a:xfrm>
          <a:prstGeom prst="line">
            <a:avLst/>
          </a:prstGeom>
          <a:noFill/>
          <a:ln w="17780">
            <a:solidFill>
              <a:srgbClr val="7A8DA8"/>
            </a:solidFill>
            <a:prstDash val="solid"/>
            <a:headEnd type="none"/>
            <a:tailEnd type="triangle"/>
          </a:ln>
        </p:spPr>
      </p:sp>
      <p:sp>
        <p:nvSpPr>
          <p:cNvPr id="49" name="Text 47"/>
          <p:cNvSpPr txBox="1"/>
          <p:nvPr/>
        </p:nvSpPr>
        <p:spPr>
          <a:xfrm>
            <a:off x="6263640" y="4187952"/>
            <a:ext cx="457200" cy="201168"/>
          </a:xfrm>
          <a:prstGeom prst="rect">
            <a:avLst/>
          </a:prstGeom>
          <a:noFill/>
          <a:ln/>
        </p:spPr>
        <p:txBody>
          <a:bodyPr wrap="square" lIns="0" tIns="0" rIns="0" bIns="0" rtlCol="0" anchor="ctr"/>
          <a:lstStyle/>
          <a:p>
            <a:pPr algn="ctr" indent="0" marL="0">
              <a:buNone/>
            </a:pPr>
            <a:r>
              <a:rPr lang="en-US" sz="900" b="1" dirty="0">
                <a:solidFill>
                  <a:srgbClr val="5A6478"/>
                </a:solidFill>
                <a:latin typeface="Calibri" pitchFamily="34" charset="0"/>
                <a:ea typeface="Calibri" pitchFamily="34" charset="-122"/>
                <a:cs typeface="Calibri" pitchFamily="34" charset="-120"/>
              </a:rPr>
              <a:t>yes</a:t>
            </a:r>
            <a:endParaRPr lang="en-US" sz="900" dirty="0"/>
          </a:p>
        </p:txBody>
      </p:sp>
      <p:sp>
        <p:nvSpPr>
          <p:cNvPr id="50" name="Text 48"/>
          <p:cNvSpPr txBox="1"/>
          <p:nvPr/>
        </p:nvSpPr>
        <p:spPr>
          <a:xfrm>
            <a:off x="6309360" y="4407408"/>
            <a:ext cx="1463040" cy="182880"/>
          </a:xfrm>
          <a:prstGeom prst="rect">
            <a:avLst/>
          </a:prstGeom>
          <a:noFill/>
          <a:ln/>
        </p:spPr>
        <p:txBody>
          <a:bodyPr wrap="square" lIns="0" tIns="0" rIns="0" bIns="0" rtlCol="0" anchor="ctr"/>
          <a:lstStyle/>
          <a:p>
            <a:pPr indent="0" marL="0">
              <a:buNone/>
            </a:pPr>
            <a:r>
              <a:rPr lang="en-US" sz="850" i="1" dirty="0">
                <a:solidFill>
                  <a:srgbClr val="5A6478"/>
                </a:solidFill>
                <a:latin typeface="Calibri" pitchFamily="34" charset="0"/>
                <a:ea typeface="Calibri" pitchFamily="34" charset="-122"/>
                <a:cs typeface="Calibri" pitchFamily="34" charset="-120"/>
              </a:rPr>
              <a:t>retrain on new labels</a:t>
            </a:r>
            <a:endParaRPr lang="en-US" sz="850" dirty="0"/>
          </a:p>
        </p:txBody>
      </p:sp>
      <p:sp>
        <p:nvSpPr>
          <p:cNvPr id="51" name="Shape 49"/>
          <p:cNvSpPr/>
          <p:nvPr/>
        </p:nvSpPr>
        <p:spPr>
          <a:xfrm flipV="1">
            <a:off x="2926080" y="2560320"/>
            <a:ext cx="0" cy="2331720"/>
          </a:xfrm>
          <a:prstGeom prst="line">
            <a:avLst/>
          </a:prstGeom>
          <a:noFill/>
          <a:ln w="15240">
            <a:solidFill>
              <a:srgbClr val="3C3489"/>
            </a:solidFill>
            <a:prstDash val="dash"/>
            <a:tailEnd type="triangle"/>
          </a:ln>
        </p:spPr>
      </p:sp>
      <p:sp>
        <p:nvSpPr>
          <p:cNvPr id="52" name="Text 50"/>
          <p:cNvSpPr txBox="1"/>
          <p:nvPr/>
        </p:nvSpPr>
        <p:spPr>
          <a:xfrm>
            <a:off x="3017520" y="2697480"/>
            <a:ext cx="1600200" cy="365760"/>
          </a:xfrm>
          <a:prstGeom prst="rect">
            <a:avLst/>
          </a:prstGeom>
          <a:noFill/>
          <a:ln/>
        </p:spPr>
        <p:txBody>
          <a:bodyPr wrap="square" lIns="0" tIns="0" rIns="0" bIns="0" rtlCol="0" anchor="ctr"/>
          <a:lstStyle/>
          <a:p>
            <a:pPr indent="0" marL="0">
              <a:buNone/>
            </a:pPr>
            <a:r>
              <a:rPr lang="en-US" sz="850" i="1" dirty="0">
                <a:solidFill>
                  <a:srgbClr val="3C3489"/>
                </a:solidFill>
                <a:latin typeface="Calibri" pitchFamily="34" charset="0"/>
                <a:ea typeface="Calibri" pitchFamily="34" charset="-122"/>
                <a:cs typeface="Calibri" pitchFamily="34" charset="-120"/>
              </a:rPr>
              <a:t>expand: winners × levers</a:t>
            </a:r>
            <a:endParaRPr lang="en-US" sz="850" dirty="0"/>
          </a:p>
          <a:p>
            <a:pPr indent="0" marL="0">
              <a:buNone/>
            </a:pPr>
            <a:r>
              <a:rPr lang="en-US" sz="850" i="1" dirty="0">
                <a:solidFill>
                  <a:srgbClr val="3C3489"/>
                </a:solidFill>
                <a:latin typeface="Calibri" pitchFamily="34" charset="0"/>
                <a:ea typeface="Calibri" pitchFamily="34" charset="-122"/>
                <a:cs typeface="Calibri" pitchFamily="34" charset="-120"/>
              </a:rPr>
              <a:t>→ new cells into the store</a:t>
            </a:r>
            <a:endParaRPr lang="en-US" sz="850" dirty="0"/>
          </a:p>
        </p:txBody>
      </p:sp>
      <p:pic>
        <p:nvPicPr>
          <p:cNvPr id="53" name="Image 0" descr="/Users/g5q/Documents/GitHub/gnome-fe-hree-magnets/assets/gap_vs_h.png">    </p:cNvPr>
          <p:cNvPicPr>
            <a:picLocks noChangeAspect="1"/>
          </p:cNvPicPr>
          <p:nvPr/>
        </p:nvPicPr>
        <p:blipFill>
          <a:blip r:embed="rId1"/>
          <a:stretch>
            <a:fillRect/>
          </a:stretch>
        </p:blipFill>
        <p:spPr>
          <a:xfrm>
            <a:off x="9098280" y="2606040"/>
            <a:ext cx="2423160" cy="1682496"/>
          </a:xfrm>
          <a:prstGeom prst="rect">
            <a:avLst/>
          </a:prstGeom>
        </p:spPr>
      </p:pic>
      <p:sp>
        <p:nvSpPr>
          <p:cNvPr id="54" name="Text 51"/>
          <p:cNvSpPr txBox="1"/>
          <p:nvPr/>
        </p:nvSpPr>
        <p:spPr>
          <a:xfrm>
            <a:off x="9098280" y="4297680"/>
            <a:ext cx="2423160" cy="365760"/>
          </a:xfrm>
          <a:prstGeom prst="rect">
            <a:avLst/>
          </a:prstGeom>
          <a:noFill/>
          <a:ln/>
        </p:spPr>
        <p:txBody>
          <a:bodyPr wrap="square" lIns="0" tIns="0" rIns="0" bIns="0" rtlCol="0" anchor="ctr"/>
          <a:lstStyle/>
          <a:p>
            <a:pPr indent="0" marL="0">
              <a:buNone/>
            </a:pPr>
            <a:r>
              <a:rPr lang="en-US" sz="800" dirty="0">
                <a:solidFill>
                  <a:srgbClr val="5A6478"/>
                </a:solidFill>
                <a:latin typeface="Calibri" pitchFamily="34" charset="0"/>
                <a:ea typeface="Calibri" pitchFamily="34" charset="-122"/>
                <a:cs typeface="Calibri" pitchFamily="34" charset="-120"/>
              </a:rPr>
              <a:t>behind the GP label: gap = 1574·h on 180 Gd pairs, r = 0.89 - one f-in-core run per label</a:t>
            </a:r>
            <a:endParaRPr lang="en-US" sz="800" dirty="0"/>
          </a:p>
        </p:txBody>
      </p:sp>
      <p:pic>
        <p:nvPicPr>
          <p:cNvPr id="55" name="Image 1" descr="/Users/g5q/Documents/GitHub/gnome-fe-hree-magnets/assets/light_re_hull.png">    </p:cNvPr>
          <p:cNvPicPr>
            <a:picLocks noChangeAspect="1"/>
          </p:cNvPicPr>
          <p:nvPr/>
        </p:nvPicPr>
        <p:blipFill>
          <a:blip r:embed="rId2"/>
          <a:stretch>
            <a:fillRect/>
          </a:stretch>
        </p:blipFill>
        <p:spPr>
          <a:xfrm>
            <a:off x="9098280" y="4709160"/>
            <a:ext cx="2423160" cy="1600200"/>
          </a:xfrm>
          <a:prstGeom prst="rect">
            <a:avLst/>
          </a:prstGeom>
        </p:spPr>
      </p:pic>
      <p:sp>
        <p:nvSpPr>
          <p:cNvPr id="56" name="Text 52"/>
          <p:cNvSpPr txBox="1"/>
          <p:nvPr/>
        </p:nvSpPr>
        <p:spPr>
          <a:xfrm>
            <a:off x="9098280" y="6309360"/>
            <a:ext cx="2423160" cy="365760"/>
          </a:xfrm>
          <a:prstGeom prst="rect">
            <a:avLst/>
          </a:prstGeom>
          <a:noFill/>
          <a:ln/>
        </p:spPr>
        <p:txBody>
          <a:bodyPr wrap="square" lIns="0" tIns="0" rIns="0" bIns="0" rtlCol="0" anchor="ctr"/>
          <a:lstStyle/>
          <a:p>
            <a:pPr indent="0" marL="0">
              <a:buNone/>
            </a:pPr>
            <a:r>
              <a:rPr lang="en-US" sz="800" dirty="0">
                <a:solidFill>
                  <a:srgbClr val="5A6478"/>
                </a:solidFill>
                <a:latin typeface="Calibri" pitchFamily="34" charset="0"/>
                <a:ea typeface="Calibri" pitchFamily="34" charset="-122"/>
                <a:cs typeface="Calibri" pitchFamily="34" charset="-120"/>
              </a:rPr>
              <a:t>behind the hull decision: MACE vs MP competitors, Ms vs stability for the light-RE hosts</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GENERATING CANDIDATES</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Polytypes we decorate, and the substitutions we apply to them</a:t>
            </a:r>
            <a:endParaRPr lang="en-US" sz="3200" dirty="0"/>
          </a:p>
        </p:txBody>
      </p:sp>
      <p:sp>
        <p:nvSpPr>
          <p:cNvPr id="4" name="Shape 2"/>
          <p:cNvSpPr/>
          <p:nvPr/>
        </p:nvSpPr>
        <p:spPr>
          <a:xfrm>
            <a:off x="640080" y="1463040"/>
            <a:ext cx="5120640" cy="4663440"/>
          </a:xfrm>
          <a:prstGeom prst="roundRect">
            <a:avLst>
              <a:gd name="adj" fmla="val 1569"/>
            </a:avLst>
          </a:prstGeom>
          <a:solidFill>
            <a:srgbClr val="EEF2F7"/>
          </a:solidFill>
          <a:ln/>
        </p:spPr>
      </p:sp>
      <p:sp>
        <p:nvSpPr>
          <p:cNvPr id="5" name="Text 3"/>
          <p:cNvSpPr txBox="1"/>
          <p:nvPr/>
        </p:nvSpPr>
        <p:spPr>
          <a:xfrm>
            <a:off x="914400" y="1600200"/>
            <a:ext cx="4663440" cy="274320"/>
          </a:xfrm>
          <a:prstGeom prst="rect">
            <a:avLst/>
          </a:prstGeom>
          <a:noFill/>
          <a:ln/>
        </p:spPr>
        <p:txBody>
          <a:bodyPr wrap="square" lIns="0" tIns="0" rIns="0" bIns="0" rtlCol="0" anchor="ctr"/>
          <a:lstStyle/>
          <a:p>
            <a:pPr indent="0" marL="0">
              <a:buNone/>
            </a:pPr>
            <a:r>
              <a:rPr lang="en-US" sz="1400" b="1" dirty="0">
                <a:solidFill>
                  <a:srgbClr val="2E86AB"/>
                </a:solidFill>
                <a:latin typeface="Calibri" pitchFamily="34" charset="0"/>
                <a:ea typeface="Calibri" pitchFamily="34" charset="-122"/>
                <a:cs typeface="Calibri" pitchFamily="34" charset="-120"/>
              </a:rPr>
              <a:t>Polytypes  (prototype → generated cells)</a:t>
            </a:r>
            <a:endParaRPr lang="en-US" sz="1400" dirty="0"/>
          </a:p>
        </p:txBody>
      </p:sp>
      <p:sp>
        <p:nvSpPr>
          <p:cNvPr id="6" name="Text 4"/>
          <p:cNvSpPr txBox="1"/>
          <p:nvPr/>
        </p:nvSpPr>
        <p:spPr>
          <a:xfrm>
            <a:off x="914400" y="1965960"/>
            <a:ext cx="3566160" cy="201168"/>
          </a:xfrm>
          <a:prstGeom prst="rect">
            <a:avLst/>
          </a:prstGeom>
          <a:noFill/>
          <a:ln/>
        </p:spPr>
        <p:txBody>
          <a:bodyPr wrap="square" lIns="0" tIns="0" rIns="0" bIns="0" rtlCol="0" anchor="ctr"/>
          <a:lstStyle/>
          <a:p>
            <a:pPr indent="0" marL="0">
              <a:buNone/>
            </a:pPr>
            <a:r>
              <a:rPr lang="en-US" sz="1050" b="1" dirty="0">
                <a:solidFill>
                  <a:srgbClr val="1A2233"/>
                </a:solidFill>
                <a:latin typeface="Calibri" pitchFamily="34" charset="0"/>
                <a:ea typeface="Calibri" pitchFamily="34" charset="-122"/>
                <a:cs typeface="Calibri" pitchFamily="34" charset="-120"/>
              </a:rPr>
              <a:t>CaCu₅ · RT₄X  (SmCo₅ family)</a:t>
            </a:r>
            <a:endParaRPr lang="en-US" sz="1050" dirty="0"/>
          </a:p>
        </p:txBody>
      </p:sp>
      <p:sp>
        <p:nvSpPr>
          <p:cNvPr id="7" name="Text 5"/>
          <p:cNvSpPr txBox="1"/>
          <p:nvPr/>
        </p:nvSpPr>
        <p:spPr>
          <a:xfrm>
            <a:off x="914400" y="2157984"/>
            <a:ext cx="3566160" cy="201168"/>
          </a:xfrm>
          <a:prstGeom prst="rect">
            <a:avLst/>
          </a:prstGeom>
          <a:noFill/>
          <a:ln/>
        </p:spPr>
        <p:txBody>
          <a:bodyPr wrap="square" lIns="0" tIns="0" rIns="0" bIns="0" rtlCol="0" anchor="ctr"/>
          <a:lstStyle/>
          <a:p>
            <a:pPr indent="0" marL="0">
              <a:buNone/>
            </a:pPr>
            <a:r>
              <a:rPr lang="en-US" sz="860" dirty="0">
                <a:solidFill>
                  <a:srgbClr val="5A6478"/>
                </a:solidFill>
                <a:latin typeface="Calibri" pitchFamily="34" charset="0"/>
                <a:ea typeface="Calibri" pitchFamily="34" charset="-122"/>
                <a:cs typeface="Calibri" pitchFamily="34" charset="-120"/>
              </a:rPr>
              <a:t>X site decorated; compensates near 0 T, kept for coupling</a:t>
            </a:r>
            <a:endParaRPr lang="en-US" sz="860" dirty="0"/>
          </a:p>
        </p:txBody>
      </p:sp>
      <p:sp>
        <p:nvSpPr>
          <p:cNvPr id="8" name="Shape 6"/>
          <p:cNvSpPr/>
          <p:nvPr/>
        </p:nvSpPr>
        <p:spPr>
          <a:xfrm>
            <a:off x="4526280" y="2011680"/>
            <a:ext cx="209169" cy="146304"/>
          </a:xfrm>
          <a:prstGeom prst="roundRect">
            <a:avLst>
              <a:gd name="adj" fmla="val 18750"/>
            </a:avLst>
          </a:prstGeom>
          <a:solidFill>
            <a:srgbClr val="2E86AB"/>
          </a:solidFill>
          <a:ln/>
        </p:spPr>
      </p:sp>
      <p:sp>
        <p:nvSpPr>
          <p:cNvPr id="9" name="Text 7"/>
          <p:cNvSpPr txBox="1"/>
          <p:nvPr/>
        </p:nvSpPr>
        <p:spPr>
          <a:xfrm>
            <a:off x="5212080" y="1956816"/>
            <a:ext cx="457200" cy="219456"/>
          </a:xfrm>
          <a:prstGeom prst="rect">
            <a:avLst/>
          </a:prstGeom>
          <a:noFill/>
          <a:ln/>
        </p:spPr>
        <p:txBody>
          <a:bodyPr wrap="square" lIns="0" tIns="0" rIns="0" bIns="0" rtlCol="0" anchor="ctr"/>
          <a:lstStyle/>
          <a:p>
            <a:pPr algn="r" indent="0" marL="0">
              <a:buNone/>
            </a:pPr>
            <a:r>
              <a:rPr lang="en-US" sz="1050" b="1" dirty="0">
                <a:solidFill>
                  <a:srgbClr val="2E86AB"/>
                </a:solidFill>
                <a:latin typeface="Calibri" pitchFamily="34" charset="0"/>
                <a:ea typeface="Calibri" pitchFamily="34" charset="-122"/>
                <a:cs typeface="Calibri" pitchFamily="34" charset="-120"/>
              </a:rPr>
              <a:t>61</a:t>
            </a:r>
            <a:endParaRPr lang="en-US" sz="1050" dirty="0"/>
          </a:p>
        </p:txBody>
      </p:sp>
      <p:sp>
        <p:nvSpPr>
          <p:cNvPr id="10" name="Text 8"/>
          <p:cNvSpPr txBox="1"/>
          <p:nvPr/>
        </p:nvSpPr>
        <p:spPr>
          <a:xfrm>
            <a:off x="914400" y="2404872"/>
            <a:ext cx="3566160" cy="201168"/>
          </a:xfrm>
          <a:prstGeom prst="rect">
            <a:avLst/>
          </a:prstGeom>
          <a:noFill/>
          <a:ln/>
        </p:spPr>
        <p:txBody>
          <a:bodyPr wrap="square" lIns="0" tIns="0" rIns="0" bIns="0" rtlCol="0" anchor="ctr"/>
          <a:lstStyle/>
          <a:p>
            <a:pPr indent="0" marL="0">
              <a:buNone/>
            </a:pPr>
            <a:r>
              <a:rPr lang="en-US" sz="1050" b="1" dirty="0">
                <a:solidFill>
                  <a:srgbClr val="1A2233"/>
                </a:solidFill>
                <a:latin typeface="Calibri" pitchFamily="34" charset="0"/>
                <a:ea typeface="Calibri" pitchFamily="34" charset="-122"/>
                <a:cs typeface="Calibri" pitchFamily="34" charset="-120"/>
              </a:rPr>
              <a:t>ThMn₁₂ · RFe₁₁X, RFe₁₀X₂  (1:12)</a:t>
            </a:r>
            <a:endParaRPr lang="en-US" sz="1050" dirty="0"/>
          </a:p>
        </p:txBody>
      </p:sp>
      <p:sp>
        <p:nvSpPr>
          <p:cNvPr id="11" name="Text 9"/>
          <p:cNvSpPr txBox="1"/>
          <p:nvPr/>
        </p:nvSpPr>
        <p:spPr>
          <a:xfrm>
            <a:off x="914400" y="2596896"/>
            <a:ext cx="3566160" cy="201168"/>
          </a:xfrm>
          <a:prstGeom prst="rect">
            <a:avLst/>
          </a:prstGeom>
          <a:noFill/>
          <a:ln/>
        </p:spPr>
        <p:txBody>
          <a:bodyPr wrap="square" lIns="0" tIns="0" rIns="0" bIns="0" rtlCol="0" anchor="ctr"/>
          <a:lstStyle/>
          <a:p>
            <a:pPr indent="0" marL="0">
              <a:buNone/>
            </a:pPr>
            <a:r>
              <a:rPr lang="en-US" sz="860" dirty="0">
                <a:solidFill>
                  <a:srgbClr val="5A6478"/>
                </a:solidFill>
                <a:latin typeface="Calibri" pitchFamily="34" charset="0"/>
                <a:ea typeface="Calibri" pitchFamily="34" charset="-122"/>
                <a:cs typeface="Calibri" pitchFamily="34" charset="-120"/>
              </a:rPr>
              <a:t>stabiliser X = Ti V Cr Zr Nb Mo W Hf Ta Re</a:t>
            </a:r>
            <a:endParaRPr lang="en-US" sz="860" dirty="0"/>
          </a:p>
        </p:txBody>
      </p:sp>
      <p:sp>
        <p:nvSpPr>
          <p:cNvPr id="12" name="Shape 10"/>
          <p:cNvSpPr/>
          <p:nvPr/>
        </p:nvSpPr>
        <p:spPr>
          <a:xfrm>
            <a:off x="4526280" y="2450592"/>
            <a:ext cx="72009" cy="146304"/>
          </a:xfrm>
          <a:prstGeom prst="roundRect">
            <a:avLst>
              <a:gd name="adj" fmla="val 38095"/>
            </a:avLst>
          </a:prstGeom>
          <a:solidFill>
            <a:srgbClr val="2E86AB"/>
          </a:solidFill>
          <a:ln/>
        </p:spPr>
      </p:sp>
      <p:sp>
        <p:nvSpPr>
          <p:cNvPr id="13" name="Text 11"/>
          <p:cNvSpPr txBox="1"/>
          <p:nvPr/>
        </p:nvSpPr>
        <p:spPr>
          <a:xfrm>
            <a:off x="5212080" y="2395728"/>
            <a:ext cx="457200" cy="219456"/>
          </a:xfrm>
          <a:prstGeom prst="rect">
            <a:avLst/>
          </a:prstGeom>
          <a:noFill/>
          <a:ln/>
        </p:spPr>
        <p:txBody>
          <a:bodyPr wrap="square" lIns="0" tIns="0" rIns="0" bIns="0" rtlCol="0" anchor="ctr"/>
          <a:lstStyle/>
          <a:p>
            <a:pPr algn="r" indent="0" marL="0">
              <a:buNone/>
            </a:pPr>
            <a:r>
              <a:rPr lang="en-US" sz="1050" b="1" dirty="0">
                <a:solidFill>
                  <a:srgbClr val="2E86AB"/>
                </a:solidFill>
                <a:latin typeface="Calibri" pitchFamily="34" charset="0"/>
                <a:ea typeface="Calibri" pitchFamily="34" charset="-122"/>
                <a:cs typeface="Calibri" pitchFamily="34" charset="-120"/>
              </a:rPr>
              <a:t>21</a:t>
            </a:r>
            <a:endParaRPr lang="en-US" sz="1050" dirty="0"/>
          </a:p>
        </p:txBody>
      </p:sp>
      <p:sp>
        <p:nvSpPr>
          <p:cNvPr id="14" name="Text 12"/>
          <p:cNvSpPr txBox="1"/>
          <p:nvPr/>
        </p:nvSpPr>
        <p:spPr>
          <a:xfrm>
            <a:off x="914400" y="2843784"/>
            <a:ext cx="3566160" cy="201168"/>
          </a:xfrm>
          <a:prstGeom prst="rect">
            <a:avLst/>
          </a:prstGeom>
          <a:noFill/>
          <a:ln/>
        </p:spPr>
        <p:txBody>
          <a:bodyPr wrap="square" lIns="0" tIns="0" rIns="0" bIns="0" rtlCol="0" anchor="ctr"/>
          <a:lstStyle/>
          <a:p>
            <a:pPr indent="0" marL="0">
              <a:buNone/>
            </a:pPr>
            <a:r>
              <a:rPr lang="en-US" sz="1050" b="1" dirty="0">
                <a:solidFill>
                  <a:srgbClr val="1A2233"/>
                </a:solidFill>
                <a:latin typeface="Calibri" pitchFamily="34" charset="0"/>
                <a:ea typeface="Calibri" pitchFamily="34" charset="-122"/>
                <a:cs typeface="Calibri" pitchFamily="34" charset="-120"/>
              </a:rPr>
              <a:t>Th₂Zn₁₇ / Th₂Ni₁₇  (2:17) + interstitials</a:t>
            </a:r>
            <a:endParaRPr lang="en-US" sz="1050" dirty="0"/>
          </a:p>
        </p:txBody>
      </p:sp>
      <p:sp>
        <p:nvSpPr>
          <p:cNvPr id="15" name="Text 13"/>
          <p:cNvSpPr txBox="1"/>
          <p:nvPr/>
        </p:nvSpPr>
        <p:spPr>
          <a:xfrm>
            <a:off x="914400" y="3035808"/>
            <a:ext cx="3566160" cy="201168"/>
          </a:xfrm>
          <a:prstGeom prst="rect">
            <a:avLst/>
          </a:prstGeom>
          <a:noFill/>
          <a:ln/>
        </p:spPr>
        <p:txBody>
          <a:bodyPr wrap="square" lIns="0" tIns="0" rIns="0" bIns="0" rtlCol="0" anchor="ctr"/>
          <a:lstStyle/>
          <a:p>
            <a:pPr indent="0" marL="0">
              <a:buNone/>
            </a:pPr>
            <a:r>
              <a:rPr lang="en-US" sz="860" dirty="0">
                <a:solidFill>
                  <a:srgbClr val="5A6478"/>
                </a:solidFill>
                <a:latin typeface="Calibri" pitchFamily="34" charset="0"/>
                <a:ea typeface="Calibri" pitchFamily="34" charset="-122"/>
                <a:cs typeface="Calibri" pitchFamily="34" charset="-120"/>
              </a:rPr>
              <a:t>the Sm₂Fe₁₇N₃ framework</a:t>
            </a:r>
            <a:endParaRPr lang="en-US" sz="860" dirty="0"/>
          </a:p>
        </p:txBody>
      </p:sp>
      <p:sp>
        <p:nvSpPr>
          <p:cNvPr id="16" name="Shape 14"/>
          <p:cNvSpPr/>
          <p:nvPr/>
        </p:nvSpPr>
        <p:spPr>
          <a:xfrm>
            <a:off x="4526280" y="2889504"/>
            <a:ext cx="72009" cy="146304"/>
          </a:xfrm>
          <a:prstGeom prst="roundRect">
            <a:avLst>
              <a:gd name="adj" fmla="val 38095"/>
            </a:avLst>
          </a:prstGeom>
          <a:solidFill>
            <a:srgbClr val="2E86AB"/>
          </a:solidFill>
          <a:ln/>
        </p:spPr>
      </p:sp>
      <p:sp>
        <p:nvSpPr>
          <p:cNvPr id="17" name="Text 15"/>
          <p:cNvSpPr txBox="1"/>
          <p:nvPr/>
        </p:nvSpPr>
        <p:spPr>
          <a:xfrm>
            <a:off x="5212080" y="2834640"/>
            <a:ext cx="457200" cy="219456"/>
          </a:xfrm>
          <a:prstGeom prst="rect">
            <a:avLst/>
          </a:prstGeom>
          <a:noFill/>
          <a:ln/>
        </p:spPr>
        <p:txBody>
          <a:bodyPr wrap="square" lIns="0" tIns="0" rIns="0" bIns="0" rtlCol="0" anchor="ctr"/>
          <a:lstStyle/>
          <a:p>
            <a:pPr algn="r" indent="0" marL="0">
              <a:buNone/>
            </a:pPr>
            <a:r>
              <a:rPr lang="en-US" sz="1050" b="1" dirty="0">
                <a:solidFill>
                  <a:srgbClr val="2E86AB"/>
                </a:solidFill>
                <a:latin typeface="Calibri" pitchFamily="34" charset="0"/>
                <a:ea typeface="Calibri" pitchFamily="34" charset="-122"/>
                <a:cs typeface="Calibri" pitchFamily="34" charset="-120"/>
              </a:rPr>
              <a:t>21</a:t>
            </a:r>
            <a:endParaRPr lang="en-US" sz="1050" dirty="0"/>
          </a:p>
        </p:txBody>
      </p:sp>
      <p:sp>
        <p:nvSpPr>
          <p:cNvPr id="18" name="Text 16"/>
          <p:cNvSpPr txBox="1"/>
          <p:nvPr/>
        </p:nvSpPr>
        <p:spPr>
          <a:xfrm>
            <a:off x="914400" y="3282696"/>
            <a:ext cx="3566160" cy="201168"/>
          </a:xfrm>
          <a:prstGeom prst="rect">
            <a:avLst/>
          </a:prstGeom>
          <a:noFill/>
          <a:ln/>
        </p:spPr>
        <p:txBody>
          <a:bodyPr wrap="square" lIns="0" tIns="0" rIns="0" bIns="0" rtlCol="0" anchor="ctr"/>
          <a:lstStyle/>
          <a:p>
            <a:pPr indent="0" marL="0">
              <a:buNone/>
            </a:pPr>
            <a:r>
              <a:rPr lang="en-US" sz="1050" b="1" dirty="0">
                <a:solidFill>
                  <a:srgbClr val="1A2233"/>
                </a:solidFill>
                <a:latin typeface="Calibri" pitchFamily="34" charset="0"/>
                <a:ea typeface="Calibri" pitchFamily="34" charset="-122"/>
                <a:cs typeface="Calibri" pitchFamily="34" charset="-120"/>
              </a:rPr>
              <a:t>Nd₂Fe₁₄B / Nd₂Fe₁₄C  (2:14:1)</a:t>
            </a:r>
            <a:endParaRPr lang="en-US" sz="1050" dirty="0"/>
          </a:p>
        </p:txBody>
      </p:sp>
      <p:sp>
        <p:nvSpPr>
          <p:cNvPr id="19" name="Text 17"/>
          <p:cNvSpPr txBox="1"/>
          <p:nvPr/>
        </p:nvSpPr>
        <p:spPr>
          <a:xfrm>
            <a:off x="914400" y="3474720"/>
            <a:ext cx="3566160" cy="201168"/>
          </a:xfrm>
          <a:prstGeom prst="rect">
            <a:avLst/>
          </a:prstGeom>
          <a:noFill/>
          <a:ln/>
        </p:spPr>
        <p:txBody>
          <a:bodyPr wrap="square" lIns="0" tIns="0" rIns="0" bIns="0" rtlCol="0" anchor="ctr"/>
          <a:lstStyle/>
          <a:p>
            <a:pPr indent="0" marL="0">
              <a:buNone/>
            </a:pPr>
            <a:r>
              <a:rPr lang="en-US" sz="860" dirty="0">
                <a:solidFill>
                  <a:srgbClr val="5A6478"/>
                </a:solidFill>
                <a:latin typeface="Calibri" pitchFamily="34" charset="0"/>
                <a:ea typeface="Calibri" pitchFamily="34" charset="-122"/>
                <a:cs typeface="Calibri" pitchFamily="34" charset="-120"/>
              </a:rPr>
              <a:t>the reference magnet lattice</a:t>
            </a:r>
            <a:endParaRPr lang="en-US" sz="860" dirty="0"/>
          </a:p>
        </p:txBody>
      </p:sp>
      <p:sp>
        <p:nvSpPr>
          <p:cNvPr id="20" name="Shape 18"/>
          <p:cNvSpPr/>
          <p:nvPr/>
        </p:nvSpPr>
        <p:spPr>
          <a:xfrm>
            <a:off x="4526280" y="3328416"/>
            <a:ext cx="68580" cy="146304"/>
          </a:xfrm>
          <a:prstGeom prst="roundRect">
            <a:avLst>
              <a:gd name="adj" fmla="val 40000"/>
            </a:avLst>
          </a:prstGeom>
          <a:solidFill>
            <a:srgbClr val="2E86AB"/>
          </a:solidFill>
          <a:ln/>
        </p:spPr>
      </p:sp>
      <p:sp>
        <p:nvSpPr>
          <p:cNvPr id="21" name="Text 19"/>
          <p:cNvSpPr txBox="1"/>
          <p:nvPr/>
        </p:nvSpPr>
        <p:spPr>
          <a:xfrm>
            <a:off x="5212080" y="3273552"/>
            <a:ext cx="457200" cy="219456"/>
          </a:xfrm>
          <a:prstGeom prst="rect">
            <a:avLst/>
          </a:prstGeom>
          <a:noFill/>
          <a:ln/>
        </p:spPr>
        <p:txBody>
          <a:bodyPr wrap="square" lIns="0" tIns="0" rIns="0" bIns="0" rtlCol="0" anchor="ctr"/>
          <a:lstStyle/>
          <a:p>
            <a:pPr algn="r" indent="0" marL="0">
              <a:buNone/>
            </a:pPr>
            <a:r>
              <a:rPr lang="en-US" sz="1050" b="1" dirty="0">
                <a:solidFill>
                  <a:srgbClr val="2E86AB"/>
                </a:solidFill>
                <a:latin typeface="Calibri" pitchFamily="34" charset="0"/>
                <a:ea typeface="Calibri" pitchFamily="34" charset="-122"/>
                <a:cs typeface="Calibri" pitchFamily="34" charset="-120"/>
              </a:rPr>
              <a:t>20</a:t>
            </a:r>
            <a:endParaRPr lang="en-US" sz="1050" dirty="0"/>
          </a:p>
        </p:txBody>
      </p:sp>
      <p:sp>
        <p:nvSpPr>
          <p:cNvPr id="22" name="Text 20"/>
          <p:cNvSpPr txBox="1"/>
          <p:nvPr/>
        </p:nvSpPr>
        <p:spPr>
          <a:xfrm>
            <a:off x="914400" y="3721608"/>
            <a:ext cx="3566160" cy="201168"/>
          </a:xfrm>
          <a:prstGeom prst="rect">
            <a:avLst/>
          </a:prstGeom>
          <a:noFill/>
          <a:ln/>
        </p:spPr>
        <p:txBody>
          <a:bodyPr wrap="square" lIns="0" tIns="0" rIns="0" bIns="0" rtlCol="0" anchor="ctr"/>
          <a:lstStyle/>
          <a:p>
            <a:pPr indent="0" marL="0">
              <a:buNone/>
            </a:pPr>
            <a:r>
              <a:rPr lang="en-US" sz="1050" b="1" dirty="0">
                <a:solidFill>
                  <a:srgbClr val="1A2233"/>
                </a:solidFill>
                <a:latin typeface="Calibri" pitchFamily="34" charset="0"/>
                <a:ea typeface="Calibri" pitchFamily="34" charset="-122"/>
                <a:cs typeface="Calibri" pitchFamily="34" charset="-120"/>
              </a:rPr>
              <a:t>LaCo₉Si₄  (1:9)</a:t>
            </a:r>
            <a:endParaRPr lang="en-US" sz="1050" dirty="0"/>
          </a:p>
        </p:txBody>
      </p:sp>
      <p:sp>
        <p:nvSpPr>
          <p:cNvPr id="23" name="Text 21"/>
          <p:cNvSpPr txBox="1"/>
          <p:nvPr/>
        </p:nvSpPr>
        <p:spPr>
          <a:xfrm>
            <a:off x="914400" y="3913632"/>
            <a:ext cx="3566160" cy="201168"/>
          </a:xfrm>
          <a:prstGeom prst="rect">
            <a:avLst/>
          </a:prstGeom>
          <a:noFill/>
          <a:ln/>
        </p:spPr>
        <p:txBody>
          <a:bodyPr wrap="square" lIns="0" tIns="0" rIns="0" bIns="0" rtlCol="0" anchor="ctr"/>
          <a:lstStyle/>
          <a:p>
            <a:pPr indent="0" marL="0">
              <a:buNone/>
            </a:pPr>
            <a:r>
              <a:rPr lang="en-US" sz="860" dirty="0">
                <a:solidFill>
                  <a:srgbClr val="5A6478"/>
                </a:solidFill>
                <a:latin typeface="Calibri" pitchFamily="34" charset="0"/>
                <a:ea typeface="Calibri" pitchFamily="34" charset="-122"/>
                <a:cs typeface="Calibri" pitchFamily="34" charset="-120"/>
              </a:rPr>
              <a:t>dense 1:9 R3m family</a:t>
            </a:r>
            <a:endParaRPr lang="en-US" sz="860" dirty="0"/>
          </a:p>
        </p:txBody>
      </p:sp>
      <p:sp>
        <p:nvSpPr>
          <p:cNvPr id="24" name="Shape 22"/>
          <p:cNvSpPr/>
          <p:nvPr/>
        </p:nvSpPr>
        <p:spPr>
          <a:xfrm>
            <a:off x="4526280" y="3767328"/>
            <a:ext cx="72009" cy="146304"/>
          </a:xfrm>
          <a:prstGeom prst="roundRect">
            <a:avLst>
              <a:gd name="adj" fmla="val 38095"/>
            </a:avLst>
          </a:prstGeom>
          <a:solidFill>
            <a:srgbClr val="2E86AB"/>
          </a:solidFill>
          <a:ln/>
        </p:spPr>
      </p:sp>
      <p:sp>
        <p:nvSpPr>
          <p:cNvPr id="25" name="Text 23"/>
          <p:cNvSpPr txBox="1"/>
          <p:nvPr/>
        </p:nvSpPr>
        <p:spPr>
          <a:xfrm>
            <a:off x="5212080" y="3712464"/>
            <a:ext cx="457200" cy="219456"/>
          </a:xfrm>
          <a:prstGeom prst="rect">
            <a:avLst/>
          </a:prstGeom>
          <a:noFill/>
          <a:ln/>
        </p:spPr>
        <p:txBody>
          <a:bodyPr wrap="square" lIns="0" tIns="0" rIns="0" bIns="0" rtlCol="0" anchor="ctr"/>
          <a:lstStyle/>
          <a:p>
            <a:pPr algn="r" indent="0" marL="0">
              <a:buNone/>
            </a:pPr>
            <a:r>
              <a:rPr lang="en-US" sz="1050" b="1" dirty="0">
                <a:solidFill>
                  <a:srgbClr val="2E86AB"/>
                </a:solidFill>
                <a:latin typeface="Calibri" pitchFamily="34" charset="0"/>
                <a:ea typeface="Calibri" pitchFamily="34" charset="-122"/>
                <a:cs typeface="Calibri" pitchFamily="34" charset="-120"/>
              </a:rPr>
              <a:t>21</a:t>
            </a:r>
            <a:endParaRPr lang="en-US" sz="1050" dirty="0"/>
          </a:p>
        </p:txBody>
      </p:sp>
      <p:sp>
        <p:nvSpPr>
          <p:cNvPr id="26" name="Text 24"/>
          <p:cNvSpPr txBox="1"/>
          <p:nvPr/>
        </p:nvSpPr>
        <p:spPr>
          <a:xfrm>
            <a:off x="914400" y="4160520"/>
            <a:ext cx="3566160" cy="201168"/>
          </a:xfrm>
          <a:prstGeom prst="rect">
            <a:avLst/>
          </a:prstGeom>
          <a:noFill/>
          <a:ln/>
        </p:spPr>
        <p:txBody>
          <a:bodyPr wrap="square" lIns="0" tIns="0" rIns="0" bIns="0" rtlCol="0" anchor="ctr"/>
          <a:lstStyle/>
          <a:p>
            <a:pPr indent="0" marL="0">
              <a:buNone/>
            </a:pPr>
            <a:r>
              <a:rPr lang="en-US" sz="1050" b="1" dirty="0">
                <a:solidFill>
                  <a:srgbClr val="1A2233"/>
                </a:solidFill>
                <a:latin typeface="Calibri" pitchFamily="34" charset="0"/>
                <a:ea typeface="Calibri" pitchFamily="34" charset="-122"/>
                <a:cs typeface="Calibri" pitchFamily="34" charset="-120"/>
              </a:rPr>
              <a:t>Kagome RT₆X₆ · HfFe₆Ge₆-type</a:t>
            </a:r>
            <a:endParaRPr lang="en-US" sz="1050" dirty="0"/>
          </a:p>
        </p:txBody>
      </p:sp>
      <p:sp>
        <p:nvSpPr>
          <p:cNvPr id="27" name="Text 25"/>
          <p:cNvSpPr txBox="1"/>
          <p:nvPr/>
        </p:nvSpPr>
        <p:spPr>
          <a:xfrm>
            <a:off x="914400" y="4352544"/>
            <a:ext cx="3566160" cy="201168"/>
          </a:xfrm>
          <a:prstGeom prst="rect">
            <a:avLst/>
          </a:prstGeom>
          <a:noFill/>
          <a:ln/>
        </p:spPr>
        <p:txBody>
          <a:bodyPr wrap="square" lIns="0" tIns="0" rIns="0" bIns="0" rtlCol="0" anchor="ctr"/>
          <a:lstStyle/>
          <a:p>
            <a:pPr indent="0" marL="0">
              <a:buNone/>
            </a:pPr>
            <a:r>
              <a:rPr lang="en-US" sz="860" dirty="0">
                <a:solidFill>
                  <a:srgbClr val="5A6478"/>
                </a:solidFill>
                <a:latin typeface="Calibri" pitchFamily="34" charset="0"/>
                <a:ea typeface="Calibri" pitchFamily="34" charset="-122"/>
                <a:cs typeface="Calibri" pitchFamily="34" charset="-120"/>
              </a:rPr>
              <a:t>Fe₆, Co₆, Fe₅Co × Sn Ge Si Ga Al; + vacancy</a:t>
            </a:r>
            <a:endParaRPr lang="en-US" sz="860" dirty="0"/>
          </a:p>
        </p:txBody>
      </p:sp>
      <p:sp>
        <p:nvSpPr>
          <p:cNvPr id="28" name="Shape 26"/>
          <p:cNvSpPr/>
          <p:nvPr/>
        </p:nvSpPr>
        <p:spPr>
          <a:xfrm>
            <a:off x="4526280" y="4206240"/>
            <a:ext cx="102870" cy="146304"/>
          </a:xfrm>
          <a:prstGeom prst="roundRect">
            <a:avLst>
              <a:gd name="adj" fmla="val 26667"/>
            </a:avLst>
          </a:prstGeom>
          <a:solidFill>
            <a:srgbClr val="F2B134"/>
          </a:solidFill>
          <a:ln/>
        </p:spPr>
      </p:sp>
      <p:sp>
        <p:nvSpPr>
          <p:cNvPr id="29" name="Text 27"/>
          <p:cNvSpPr txBox="1"/>
          <p:nvPr/>
        </p:nvSpPr>
        <p:spPr>
          <a:xfrm>
            <a:off x="5212080" y="4151376"/>
            <a:ext cx="457200" cy="219456"/>
          </a:xfrm>
          <a:prstGeom prst="rect">
            <a:avLst/>
          </a:prstGeom>
          <a:noFill/>
          <a:ln/>
        </p:spPr>
        <p:txBody>
          <a:bodyPr wrap="square" lIns="0" tIns="0" rIns="0" bIns="0" rtlCol="0" anchor="ctr"/>
          <a:lstStyle/>
          <a:p>
            <a:pPr algn="r" indent="0" marL="0">
              <a:buNone/>
            </a:pPr>
            <a:r>
              <a:rPr lang="en-US" sz="1050" b="1" dirty="0">
                <a:solidFill>
                  <a:srgbClr val="8A6A1E"/>
                </a:solidFill>
                <a:latin typeface="Calibri" pitchFamily="34" charset="0"/>
                <a:ea typeface="Calibri" pitchFamily="34" charset="-122"/>
                <a:cs typeface="Calibri" pitchFamily="34" charset="-120"/>
              </a:rPr>
              <a:t>30</a:t>
            </a:r>
            <a:endParaRPr lang="en-US" sz="1050" dirty="0"/>
          </a:p>
        </p:txBody>
      </p:sp>
      <p:sp>
        <p:nvSpPr>
          <p:cNvPr id="30" name="Text 28"/>
          <p:cNvSpPr txBox="1"/>
          <p:nvPr/>
        </p:nvSpPr>
        <p:spPr>
          <a:xfrm>
            <a:off x="914400" y="4599432"/>
            <a:ext cx="3566160" cy="201168"/>
          </a:xfrm>
          <a:prstGeom prst="rect">
            <a:avLst/>
          </a:prstGeom>
          <a:noFill/>
          <a:ln/>
        </p:spPr>
        <p:txBody>
          <a:bodyPr wrap="square" lIns="0" tIns="0" rIns="0" bIns="0" rtlCol="0" anchor="ctr"/>
          <a:lstStyle/>
          <a:p>
            <a:pPr indent="0" marL="0">
              <a:buNone/>
            </a:pPr>
            <a:r>
              <a:rPr lang="en-US" sz="1050" b="1" dirty="0">
                <a:solidFill>
                  <a:srgbClr val="1A2233"/>
                </a:solidFill>
                <a:latin typeface="Calibri" pitchFamily="34" charset="0"/>
                <a:ea typeface="Calibri" pitchFamily="34" charset="-122"/>
                <a:cs typeface="Calibri" pitchFamily="34" charset="-120"/>
              </a:rPr>
              <a:t>Nitrides / carbides of the passers</a:t>
            </a:r>
            <a:endParaRPr lang="en-US" sz="1050" dirty="0"/>
          </a:p>
        </p:txBody>
      </p:sp>
      <p:sp>
        <p:nvSpPr>
          <p:cNvPr id="31" name="Text 29"/>
          <p:cNvSpPr txBox="1"/>
          <p:nvPr/>
        </p:nvSpPr>
        <p:spPr>
          <a:xfrm>
            <a:off x="914400" y="4791456"/>
            <a:ext cx="3566160" cy="201168"/>
          </a:xfrm>
          <a:prstGeom prst="rect">
            <a:avLst/>
          </a:prstGeom>
          <a:noFill/>
          <a:ln/>
        </p:spPr>
        <p:txBody>
          <a:bodyPr wrap="square" lIns="0" tIns="0" rIns="0" bIns="0" rtlCol="0" anchor="ctr"/>
          <a:lstStyle/>
          <a:p>
            <a:pPr indent="0" marL="0">
              <a:buNone/>
            </a:pPr>
            <a:r>
              <a:rPr lang="en-US" sz="860" dirty="0">
                <a:solidFill>
                  <a:srgbClr val="5A6478"/>
                </a:solidFill>
                <a:latin typeface="Calibri" pitchFamily="34" charset="0"/>
                <a:ea typeface="Calibri" pitchFamily="34" charset="-122"/>
                <a:cs typeface="Calibri" pitchFamily="34" charset="-120"/>
              </a:rPr>
              <a:t>N, C in the RE-adjacent void: 2b, 9e, GNoME channels</a:t>
            </a:r>
            <a:endParaRPr lang="en-US" sz="860" dirty="0"/>
          </a:p>
        </p:txBody>
      </p:sp>
      <p:sp>
        <p:nvSpPr>
          <p:cNvPr id="32" name="Shape 30"/>
          <p:cNvSpPr/>
          <p:nvPr/>
        </p:nvSpPr>
        <p:spPr>
          <a:xfrm>
            <a:off x="4526280" y="4645152"/>
            <a:ext cx="768096" cy="146304"/>
          </a:xfrm>
          <a:prstGeom prst="roundRect">
            <a:avLst>
              <a:gd name="adj" fmla="val 18750"/>
            </a:avLst>
          </a:prstGeom>
          <a:solidFill>
            <a:srgbClr val="F2B134"/>
          </a:solidFill>
          <a:ln/>
        </p:spPr>
      </p:sp>
      <p:sp>
        <p:nvSpPr>
          <p:cNvPr id="33" name="Text 31"/>
          <p:cNvSpPr txBox="1"/>
          <p:nvPr/>
        </p:nvSpPr>
        <p:spPr>
          <a:xfrm>
            <a:off x="5212080" y="4590288"/>
            <a:ext cx="457200" cy="219456"/>
          </a:xfrm>
          <a:prstGeom prst="rect">
            <a:avLst/>
          </a:prstGeom>
          <a:noFill/>
          <a:ln/>
        </p:spPr>
        <p:txBody>
          <a:bodyPr wrap="square" lIns="0" tIns="0" rIns="0" bIns="0" rtlCol="0" anchor="ctr"/>
          <a:lstStyle/>
          <a:p>
            <a:pPr algn="r" indent="0" marL="0">
              <a:buNone/>
            </a:pPr>
            <a:r>
              <a:rPr lang="en-US" sz="1050" b="1" dirty="0">
                <a:solidFill>
                  <a:srgbClr val="8A6A1E"/>
                </a:solidFill>
                <a:latin typeface="Calibri" pitchFamily="34" charset="0"/>
                <a:ea typeface="Calibri" pitchFamily="34" charset="-122"/>
                <a:cs typeface="Calibri" pitchFamily="34" charset="-120"/>
              </a:rPr>
              <a:t>224</a:t>
            </a:r>
            <a:endParaRPr lang="en-US" sz="1050" dirty="0"/>
          </a:p>
        </p:txBody>
      </p:sp>
      <p:sp>
        <p:nvSpPr>
          <p:cNvPr id="34" name="Text 32"/>
          <p:cNvSpPr txBox="1"/>
          <p:nvPr/>
        </p:nvSpPr>
        <p:spPr>
          <a:xfrm>
            <a:off x="914400" y="5038344"/>
            <a:ext cx="3566160" cy="201168"/>
          </a:xfrm>
          <a:prstGeom prst="rect">
            <a:avLst/>
          </a:prstGeom>
          <a:noFill/>
          <a:ln/>
        </p:spPr>
        <p:txBody>
          <a:bodyPr wrap="square" lIns="0" tIns="0" rIns="0" bIns="0" rtlCol="0" anchor="ctr"/>
          <a:lstStyle/>
          <a:p>
            <a:pPr indent="0" marL="0">
              <a:buNone/>
            </a:pPr>
            <a:r>
              <a:rPr lang="en-US" sz="1050" b="1" dirty="0">
                <a:solidFill>
                  <a:srgbClr val="1A2233"/>
                </a:solidFill>
                <a:latin typeface="Calibri" pitchFamily="34" charset="0"/>
                <a:ea typeface="Calibri" pitchFamily="34" charset="-122"/>
                <a:cs typeface="Calibri" pitchFamily="34" charset="-120"/>
              </a:rPr>
              <a:t>Mixed-RE fractional 1:12  (Nd,Pr,Sm)₂Fe₂₁V₃N₀₋₂</a:t>
            </a:r>
            <a:endParaRPr lang="en-US" sz="1050" dirty="0"/>
          </a:p>
        </p:txBody>
      </p:sp>
      <p:sp>
        <p:nvSpPr>
          <p:cNvPr id="35" name="Text 33"/>
          <p:cNvSpPr txBox="1"/>
          <p:nvPr/>
        </p:nvSpPr>
        <p:spPr>
          <a:xfrm>
            <a:off x="914400" y="5230368"/>
            <a:ext cx="3566160" cy="201168"/>
          </a:xfrm>
          <a:prstGeom prst="rect">
            <a:avLst/>
          </a:prstGeom>
          <a:noFill/>
          <a:ln/>
        </p:spPr>
        <p:txBody>
          <a:bodyPr wrap="square" lIns="0" tIns="0" rIns="0" bIns="0" rtlCol="0" anchor="ctr"/>
          <a:lstStyle/>
          <a:p>
            <a:pPr indent="0" marL="0">
              <a:buNone/>
            </a:pPr>
            <a:r>
              <a:rPr lang="en-US" sz="860" dirty="0">
                <a:solidFill>
                  <a:srgbClr val="5A6478"/>
                </a:solidFill>
                <a:latin typeface="Calibri" pitchFamily="34" charset="0"/>
                <a:ea typeface="Calibri" pitchFamily="34" charset="-122"/>
                <a:cs typeface="Calibri" pitchFamily="34" charset="-120"/>
              </a:rPr>
              <a:t>the real NdFe₁₂-based composition class</a:t>
            </a:r>
            <a:endParaRPr lang="en-US" sz="860" dirty="0"/>
          </a:p>
        </p:txBody>
      </p:sp>
      <p:sp>
        <p:nvSpPr>
          <p:cNvPr id="36" name="Shape 34"/>
          <p:cNvSpPr/>
          <p:nvPr/>
        </p:nvSpPr>
        <p:spPr>
          <a:xfrm>
            <a:off x="4526280" y="5084064"/>
            <a:ext cx="45720" cy="146304"/>
          </a:xfrm>
          <a:prstGeom prst="roundRect">
            <a:avLst>
              <a:gd name="adj" fmla="val 60000"/>
            </a:avLst>
          </a:prstGeom>
          <a:solidFill>
            <a:srgbClr val="F2B134"/>
          </a:solidFill>
          <a:ln/>
        </p:spPr>
      </p:sp>
      <p:sp>
        <p:nvSpPr>
          <p:cNvPr id="37" name="Text 35"/>
          <p:cNvSpPr txBox="1"/>
          <p:nvPr/>
        </p:nvSpPr>
        <p:spPr>
          <a:xfrm>
            <a:off x="5212080" y="5029200"/>
            <a:ext cx="457200" cy="219456"/>
          </a:xfrm>
          <a:prstGeom prst="rect">
            <a:avLst/>
          </a:prstGeom>
          <a:noFill/>
          <a:ln/>
        </p:spPr>
        <p:txBody>
          <a:bodyPr wrap="square" lIns="0" tIns="0" rIns="0" bIns="0" rtlCol="0" anchor="ctr"/>
          <a:lstStyle/>
          <a:p>
            <a:pPr algn="r" indent="0" marL="0">
              <a:buNone/>
            </a:pPr>
            <a:r>
              <a:rPr lang="en-US" sz="1050" b="1" dirty="0">
                <a:solidFill>
                  <a:srgbClr val="8A6A1E"/>
                </a:solidFill>
                <a:latin typeface="Calibri" pitchFamily="34" charset="0"/>
                <a:ea typeface="Calibri" pitchFamily="34" charset="-122"/>
                <a:cs typeface="Calibri" pitchFamily="34" charset="-120"/>
              </a:rPr>
              <a:t>9</a:t>
            </a:r>
            <a:endParaRPr lang="en-US" sz="1050" dirty="0"/>
          </a:p>
        </p:txBody>
      </p:sp>
      <p:sp>
        <p:nvSpPr>
          <p:cNvPr id="38" name="Text 36"/>
          <p:cNvSpPr txBox="1"/>
          <p:nvPr/>
        </p:nvSpPr>
        <p:spPr>
          <a:xfrm>
            <a:off x="914400" y="5477256"/>
            <a:ext cx="3566160" cy="201168"/>
          </a:xfrm>
          <a:prstGeom prst="rect">
            <a:avLst/>
          </a:prstGeom>
          <a:noFill/>
          <a:ln/>
        </p:spPr>
        <p:txBody>
          <a:bodyPr wrap="square" lIns="0" tIns="0" rIns="0" bIns="0" rtlCol="0" anchor="ctr"/>
          <a:lstStyle/>
          <a:p>
            <a:pPr indent="0" marL="0">
              <a:buNone/>
            </a:pPr>
            <a:r>
              <a:rPr lang="en-US" sz="1050" b="1" dirty="0">
                <a:solidFill>
                  <a:srgbClr val="1A2233"/>
                </a:solidFill>
                <a:latin typeface="Calibri" pitchFamily="34" charset="0"/>
                <a:ea typeface="Calibri" pitchFamily="34" charset="-122"/>
                <a:cs typeface="Calibri" pitchFamily="34" charset="-120"/>
              </a:rPr>
              <a:t>GNoME frameworks  (new-R3m, R-3m, Cm, Immm …)</a:t>
            </a:r>
            <a:endParaRPr lang="en-US" sz="1050" dirty="0"/>
          </a:p>
        </p:txBody>
      </p:sp>
      <p:sp>
        <p:nvSpPr>
          <p:cNvPr id="39" name="Text 37"/>
          <p:cNvSpPr txBox="1"/>
          <p:nvPr/>
        </p:nvSpPr>
        <p:spPr>
          <a:xfrm>
            <a:off x="914400" y="5669280"/>
            <a:ext cx="3566160" cy="201168"/>
          </a:xfrm>
          <a:prstGeom prst="rect">
            <a:avLst/>
          </a:prstGeom>
          <a:noFill/>
          <a:ln/>
        </p:spPr>
        <p:txBody>
          <a:bodyPr wrap="square" lIns="0" tIns="0" rIns="0" bIns="0" rtlCol="0" anchor="ctr"/>
          <a:lstStyle/>
          <a:p>
            <a:pPr indent="0" marL="0">
              <a:buNone/>
            </a:pPr>
            <a:r>
              <a:rPr lang="en-US" sz="860" dirty="0">
                <a:solidFill>
                  <a:srgbClr val="5A6478"/>
                </a:solidFill>
                <a:latin typeface="Calibri" pitchFamily="34" charset="0"/>
                <a:ea typeface="Calibri" pitchFamily="34" charset="-122"/>
                <a:cs typeface="Calibri" pitchFamily="34" charset="-120"/>
              </a:rPr>
              <a:t>campaign hosts, light-RE substituted</a:t>
            </a:r>
            <a:endParaRPr lang="en-US" sz="860" dirty="0"/>
          </a:p>
        </p:txBody>
      </p:sp>
      <p:sp>
        <p:nvSpPr>
          <p:cNvPr id="40" name="Shape 38"/>
          <p:cNvSpPr/>
          <p:nvPr/>
        </p:nvSpPr>
        <p:spPr>
          <a:xfrm>
            <a:off x="4526280" y="5522976"/>
            <a:ext cx="822960" cy="146304"/>
          </a:xfrm>
          <a:prstGeom prst="roundRect">
            <a:avLst>
              <a:gd name="adj" fmla="val 18750"/>
            </a:avLst>
          </a:prstGeom>
          <a:solidFill>
            <a:srgbClr val="F2B134"/>
          </a:solidFill>
          <a:ln/>
        </p:spPr>
      </p:sp>
      <p:sp>
        <p:nvSpPr>
          <p:cNvPr id="41" name="Text 39"/>
          <p:cNvSpPr txBox="1"/>
          <p:nvPr/>
        </p:nvSpPr>
        <p:spPr>
          <a:xfrm>
            <a:off x="5212080" y="5468112"/>
            <a:ext cx="457200" cy="219456"/>
          </a:xfrm>
          <a:prstGeom prst="rect">
            <a:avLst/>
          </a:prstGeom>
          <a:noFill/>
          <a:ln/>
        </p:spPr>
        <p:txBody>
          <a:bodyPr wrap="square" lIns="0" tIns="0" rIns="0" bIns="0" rtlCol="0" anchor="ctr"/>
          <a:lstStyle/>
          <a:p>
            <a:pPr algn="r" indent="0" marL="0">
              <a:buNone/>
            </a:pPr>
            <a:r>
              <a:rPr lang="en-US" sz="1050" b="1" dirty="0">
                <a:solidFill>
                  <a:srgbClr val="8A6A1E"/>
                </a:solidFill>
                <a:latin typeface="Calibri" pitchFamily="34" charset="0"/>
                <a:ea typeface="Calibri" pitchFamily="34" charset="-122"/>
                <a:cs typeface="Calibri" pitchFamily="34" charset="-120"/>
              </a:rPr>
              <a:t>369</a:t>
            </a:r>
            <a:endParaRPr lang="en-US" sz="1050" dirty="0"/>
          </a:p>
        </p:txBody>
      </p:sp>
      <p:sp>
        <p:nvSpPr>
          <p:cNvPr id="42" name="Text 40"/>
          <p:cNvSpPr txBox="1"/>
          <p:nvPr/>
        </p:nvSpPr>
        <p:spPr>
          <a:xfrm>
            <a:off x="914400" y="5870448"/>
            <a:ext cx="4663440" cy="201168"/>
          </a:xfrm>
          <a:prstGeom prst="rect">
            <a:avLst/>
          </a:prstGeom>
          <a:noFill/>
          <a:ln/>
        </p:spPr>
        <p:txBody>
          <a:bodyPr wrap="square" lIns="0" tIns="0" rIns="0" bIns="0" rtlCol="0" anchor="ctr"/>
          <a:lstStyle/>
          <a:p>
            <a:pPr indent="0" marL="0">
              <a:buNone/>
            </a:pPr>
            <a:r>
              <a:rPr lang="en-US" sz="860" i="1" dirty="0">
                <a:solidFill>
                  <a:srgbClr val="5A6478"/>
                </a:solidFill>
                <a:latin typeface="Calibri" pitchFamily="34" charset="0"/>
                <a:ea typeface="Calibri" pitchFamily="34" charset="-122"/>
                <a:cs typeface="Calibri" pitchFamily="34" charset="-120"/>
              </a:rPr>
              <a:t>gold = added this week from the data-backed levers</a:t>
            </a:r>
            <a:endParaRPr lang="en-US" sz="860" dirty="0"/>
          </a:p>
        </p:txBody>
      </p:sp>
      <p:sp>
        <p:nvSpPr>
          <p:cNvPr id="43" name="Shape 41"/>
          <p:cNvSpPr/>
          <p:nvPr/>
        </p:nvSpPr>
        <p:spPr>
          <a:xfrm>
            <a:off x="6035040" y="1463040"/>
            <a:ext cx="5486400" cy="4663440"/>
          </a:xfrm>
          <a:prstGeom prst="roundRect">
            <a:avLst>
              <a:gd name="adj" fmla="val 1569"/>
            </a:avLst>
          </a:prstGeom>
          <a:solidFill>
            <a:srgbClr val="EEF2F7"/>
          </a:solidFill>
          <a:ln/>
        </p:spPr>
      </p:sp>
      <p:sp>
        <p:nvSpPr>
          <p:cNvPr id="44" name="Text 42"/>
          <p:cNvSpPr txBox="1"/>
          <p:nvPr/>
        </p:nvSpPr>
        <p:spPr>
          <a:xfrm>
            <a:off x="6309360" y="1600200"/>
            <a:ext cx="5029200" cy="274320"/>
          </a:xfrm>
          <a:prstGeom prst="rect">
            <a:avLst/>
          </a:prstGeom>
          <a:noFill/>
          <a:ln/>
        </p:spPr>
        <p:txBody>
          <a:bodyPr wrap="square" lIns="0" tIns="0" rIns="0" bIns="0" rtlCol="0" anchor="ctr"/>
          <a:lstStyle/>
          <a:p>
            <a:pPr indent="0" marL="0">
              <a:buNone/>
            </a:pPr>
            <a:r>
              <a:rPr lang="en-US" sz="1400" b="1" dirty="0">
                <a:solidFill>
                  <a:srgbClr val="1A2233"/>
                </a:solidFill>
                <a:latin typeface="Calibri" pitchFamily="34" charset="0"/>
                <a:ea typeface="Calibri" pitchFamily="34" charset="-122"/>
                <a:cs typeface="Calibri" pitchFamily="34" charset="-120"/>
              </a:rPr>
              <a:t>Substitutions  (site → palette → why)</a:t>
            </a:r>
            <a:endParaRPr lang="en-US" sz="1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309360" y="1965960"/>
          <a:ext cx="4983480" cy="914400"/>
        </p:xfrm>
        <a:graphic>
          <a:graphicData uri="http://schemas.openxmlformats.org/drawingml/2006/table">
            <a:tbl>
              <a:tblPr/>
              <a:tblGrid>
                <a:gridCol w="1234440"/>
                <a:gridCol w="1737360"/>
                <a:gridCol w="2011680"/>
              </a:tblGrid>
              <a:tr h="420624">
                <a:tc>
                  <a:txBody>
                    <a:bodyPr/>
                    <a:lstStyle/>
                    <a:p>
                      <a:pPr indent="0" marL="0">
                        <a:buNone/>
                      </a:pPr>
                      <a:r>
                        <a:rPr lang="en-US" sz="880" b="1" dirty="0">
                          <a:solidFill>
                            <a:srgbClr val="1A2233"/>
                          </a:solidFill>
                          <a:latin typeface="Calibri" pitchFamily="34" charset="0"/>
                          <a:ea typeface="Calibri" pitchFamily="34" charset="-122"/>
                          <a:cs typeface="Calibri" pitchFamily="34" charset="-120"/>
                        </a:rPr>
                        <a:t>Site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b="1" dirty="0">
                          <a:solidFill>
                            <a:srgbClr val="1A2233"/>
                          </a:solidFill>
                          <a:latin typeface="Calibri" pitchFamily="34" charset="0"/>
                          <a:ea typeface="Calibri" pitchFamily="34" charset="-122"/>
                          <a:cs typeface="Calibri" pitchFamily="34" charset="-120"/>
                        </a:rPr>
                        <a:t>Palette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b="1" dirty="0">
                          <a:solidFill>
                            <a:srgbClr val="1A2233"/>
                          </a:solidFill>
                          <a:latin typeface="Calibri" pitchFamily="34" charset="0"/>
                          <a:ea typeface="Calibri" pitchFamily="34" charset="-122"/>
                          <a:cs typeface="Calibri" pitchFamily="34" charset="-120"/>
                        </a:rPr>
                        <a:t>Reason from the data</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20624">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RE site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Gd → Nd, Sm; Pr in expansion; Nd/Pr/Sm pairs</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light RE adds to Ms (J = L − S); Sm couples harder (×1.46 gap)</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20624">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TM site, nearest the RE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Fe → Co at ⅛ and ¼</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partial Co: coupling ×1.48, the only large resolved lever</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20624">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TM site, farthest from RE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Ti V Cr Zr Nb Mo W Hf Ta Re (one atom)</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1:12 stabiliser pattern; coupling effect unresolved (×0.97)</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20624">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Prototype X site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Al Si Ga Ge B C N P Sn Sb Zn Cu</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the classic decoration palette; metalloids neutral on average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20624">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RE-adjacent void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N, C - dilute and fully occupied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Ms and Tc lever of Sm₂Fe₁₇N₃ / NdFe₁₂N; keeps the gap (unlike H)</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20624">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Channel X (kagome)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one X removed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the defective 1:6:6 variant seen experimentally</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420624">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Not applied</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H interstitial · Mn · Dy · U</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880" dirty="0">
                          <a:solidFill>
                            <a:srgbClr val="1A2233"/>
                          </a:solidFill>
                          <a:latin typeface="Calibri" pitchFamily="34" charset="0"/>
                          <a:ea typeface="Calibri" pitchFamily="34" charset="-122"/>
                          <a:cs typeface="Calibri" pitchFamily="34" charset="-120"/>
                        </a:rPr>
                        <a:t>H kills coupling (×0.10); Mn ∥ Co, no gain; Dy via de Gennes only; U out of scope</a:t>
                      </a:r>
                      <a:endParaRPr lang="en-US" sz="880" dirty="0">
                        <a:latin typeface="Calibri" charset="0"/>
                        <a:ea typeface="Calibri" charset="0"/>
                        <a:cs typeface="Calibri" charset="0"/>
                      </a:endParaRPr>
                    </a:p>
                  </a:txBody>
                  <a:tcPr marL="91440" marR="91440" marT="45720" marB="45720"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bl>
          </a:graphicData>
        </a:graphic>
      </p:graphicFrame>
      <p:sp>
        <p:nvSpPr>
          <p:cNvPr id="46" name="Text 43"/>
          <p:cNvSpPr txBox="1"/>
          <p:nvPr/>
        </p:nvSpPr>
        <p:spPr>
          <a:xfrm>
            <a:off x="6309360" y="5532120"/>
            <a:ext cx="4983480" cy="502920"/>
          </a:xfrm>
          <a:prstGeom prst="rect">
            <a:avLst/>
          </a:prstGeom>
          <a:noFill/>
          <a:ln/>
        </p:spPr>
        <p:txBody>
          <a:bodyPr wrap="square" lIns="0" tIns="0" rIns="0" bIns="0" rtlCol="0" anchor="ctr"/>
          <a:lstStyle/>
          <a:p>
            <a:pPr indent="0" marL="0">
              <a:buNone/>
            </a:pPr>
            <a:r>
              <a:rPr lang="en-US" sz="950" i="1" dirty="0">
                <a:solidFill>
                  <a:srgbClr val="1A2233"/>
                </a:solidFill>
                <a:latin typeface="Calibri" pitchFamily="34" charset="0"/>
                <a:ea typeface="Calibri" pitchFamily="34" charset="-122"/>
                <a:cs typeface="Calibri" pitchFamily="34" charset="-120"/>
              </a:rPr>
              <a:t>Every variant → MACE relax → same-model hull → descriptors → pool. Generation is cheap (30 s per cell); the thresholds and the GP do the selecting.</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TWO LOOPS</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An operational loop that proposes and tests; an understanding loop that explains and feeds back</a:t>
            </a:r>
            <a:endParaRPr lang="en-US" sz="3200" dirty="0"/>
          </a:p>
        </p:txBody>
      </p:sp>
      <p:sp>
        <p:nvSpPr>
          <p:cNvPr id="4" name="Shape 2"/>
          <p:cNvSpPr/>
          <p:nvPr/>
        </p:nvSpPr>
        <p:spPr>
          <a:xfrm>
            <a:off x="640080" y="1463040"/>
            <a:ext cx="2011680" cy="1234440"/>
          </a:xfrm>
          <a:prstGeom prst="rect">
            <a:avLst/>
          </a:prstGeom>
          <a:solidFill>
            <a:srgbClr val="1B2A4A"/>
          </a:solidFill>
          <a:ln w="6350">
            <a:solidFill>
              <a:srgbClr val="1B2A4A"/>
            </a:solidFill>
            <a:prstDash val="solid"/>
          </a:ln>
        </p:spPr>
      </p:sp>
      <p:sp>
        <p:nvSpPr>
          <p:cNvPr id="5" name="Text 3"/>
          <p:cNvSpPr txBox="1"/>
          <p:nvPr/>
        </p:nvSpPr>
        <p:spPr>
          <a:xfrm>
            <a:off x="731520" y="1572768"/>
            <a:ext cx="1828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Generators</a:t>
            </a:r>
            <a:endParaRPr lang="en-US" sz="1300" dirty="0"/>
          </a:p>
        </p:txBody>
      </p:sp>
      <p:sp>
        <p:nvSpPr>
          <p:cNvPr id="6" name="Text 4"/>
          <p:cNvSpPr txBox="1"/>
          <p:nvPr/>
        </p:nvSpPr>
        <p:spPr>
          <a:xfrm>
            <a:off x="731520" y="1920240"/>
            <a:ext cx="1828800" cy="685800"/>
          </a:xfrm>
          <a:prstGeom prst="rect">
            <a:avLst/>
          </a:prstGeom>
          <a:noFill/>
          <a:ln/>
        </p:spPr>
        <p:txBody>
          <a:bodyPr wrap="square" lIns="0" tIns="0" rIns="0" bIns="0" rtlCol="0" anchor="t"/>
          <a:lstStyle/>
          <a:p>
            <a:pPr algn="ctr" indent="0" marL="0">
              <a:buNone/>
            </a:pPr>
            <a:r>
              <a:rPr lang="en-US" sz="950" dirty="0">
                <a:solidFill>
                  <a:srgbClr val="C6D2E4"/>
                </a:solidFill>
                <a:latin typeface="Calibri" pitchFamily="34" charset="0"/>
                <a:ea typeface="Calibri" pitchFamily="34" charset="-122"/>
                <a:cs typeface="Calibri" pitchFamily="34" charset="-120"/>
              </a:rPr>
              <a:t>prototypes · levers · neighbourhood of winners</a:t>
            </a:r>
            <a:endParaRPr lang="en-US" sz="950" dirty="0"/>
          </a:p>
          <a:p>
            <a:pPr algn="ctr" indent="0" marL="0">
              <a:buNone/>
            </a:pPr>
            <a:r>
              <a:rPr lang="en-US" sz="950" dirty="0">
                <a:solidFill>
                  <a:srgbClr val="C6D2E4"/>
                </a:solidFill>
                <a:latin typeface="Calibri" pitchFamily="34" charset="0"/>
                <a:ea typeface="Calibri" pitchFamily="34" charset="-122"/>
                <a:cs typeface="Calibri" pitchFamily="34" charset="-120"/>
              </a:rPr>
              <a:t>(pool = 1,427 cells)</a:t>
            </a:r>
            <a:endParaRPr lang="en-US" sz="950" dirty="0"/>
          </a:p>
        </p:txBody>
      </p:sp>
      <p:sp>
        <p:nvSpPr>
          <p:cNvPr id="7" name="Shape 5"/>
          <p:cNvSpPr/>
          <p:nvPr/>
        </p:nvSpPr>
        <p:spPr>
          <a:xfrm>
            <a:off x="2852928" y="1463040"/>
            <a:ext cx="2011680" cy="1234440"/>
          </a:xfrm>
          <a:prstGeom prst="rect">
            <a:avLst/>
          </a:prstGeom>
          <a:solidFill>
            <a:srgbClr val="1B2A4A"/>
          </a:solidFill>
          <a:ln w="6350">
            <a:solidFill>
              <a:srgbClr val="1B2A4A"/>
            </a:solidFill>
            <a:prstDash val="solid"/>
          </a:ln>
        </p:spPr>
      </p:sp>
      <p:sp>
        <p:nvSpPr>
          <p:cNvPr id="8" name="Text 6"/>
          <p:cNvSpPr txBox="1"/>
          <p:nvPr/>
        </p:nvSpPr>
        <p:spPr>
          <a:xfrm>
            <a:off x="2944368" y="1572768"/>
            <a:ext cx="1828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MLIP filter</a:t>
            </a:r>
            <a:endParaRPr lang="en-US" sz="1300" dirty="0"/>
          </a:p>
        </p:txBody>
      </p:sp>
      <p:sp>
        <p:nvSpPr>
          <p:cNvPr id="9" name="Text 7"/>
          <p:cNvSpPr txBox="1"/>
          <p:nvPr/>
        </p:nvSpPr>
        <p:spPr>
          <a:xfrm>
            <a:off x="2944368" y="1920240"/>
            <a:ext cx="1828800" cy="685800"/>
          </a:xfrm>
          <a:prstGeom prst="rect">
            <a:avLst/>
          </a:prstGeom>
          <a:noFill/>
          <a:ln/>
        </p:spPr>
        <p:txBody>
          <a:bodyPr wrap="square" lIns="0" tIns="0" rIns="0" bIns="0" rtlCol="0" anchor="t"/>
          <a:lstStyle/>
          <a:p>
            <a:pPr algn="ctr" indent="0" marL="0">
              <a:buNone/>
            </a:pPr>
            <a:r>
              <a:rPr lang="en-US" sz="950" dirty="0">
                <a:solidFill>
                  <a:srgbClr val="C6D2E4"/>
                </a:solidFill>
                <a:latin typeface="Calibri" pitchFamily="34" charset="0"/>
                <a:ea typeface="Calibri" pitchFamily="34" charset="-122"/>
                <a:cs typeface="Calibri" pitchFamily="34" charset="-120"/>
              </a:rPr>
              <a:t>MACE relax · same-model hull</a:t>
            </a:r>
            <a:endParaRPr lang="en-US" sz="950" dirty="0"/>
          </a:p>
          <a:p>
            <a:pPr algn="ctr" indent="0" marL="0">
              <a:buNone/>
            </a:pPr>
            <a:r>
              <a:rPr lang="en-US" sz="950" dirty="0">
                <a:solidFill>
                  <a:srgbClr val="C6D2E4"/>
                </a:solidFill>
                <a:latin typeface="Calibri" pitchFamily="34" charset="0"/>
                <a:ea typeface="Calibri" pitchFamily="34" charset="-122"/>
                <a:cs typeface="Calibri" pitchFamily="34" charset="-120"/>
              </a:rPr>
              <a:t>E_hull ≤ 30 meV · Ms ≥ 1.5 T</a:t>
            </a:r>
            <a:endParaRPr lang="en-US" sz="950" dirty="0"/>
          </a:p>
        </p:txBody>
      </p:sp>
      <p:sp>
        <p:nvSpPr>
          <p:cNvPr id="10" name="Shape 8"/>
          <p:cNvSpPr/>
          <p:nvPr/>
        </p:nvSpPr>
        <p:spPr>
          <a:xfrm>
            <a:off x="5065776" y="1463040"/>
            <a:ext cx="2011680" cy="1234440"/>
          </a:xfrm>
          <a:prstGeom prst="rect">
            <a:avLst/>
          </a:prstGeom>
          <a:solidFill>
            <a:srgbClr val="1B2A4A"/>
          </a:solidFill>
          <a:ln w="6350">
            <a:solidFill>
              <a:srgbClr val="1B2A4A"/>
            </a:solidFill>
            <a:prstDash val="solid"/>
          </a:ln>
        </p:spPr>
      </p:sp>
      <p:sp>
        <p:nvSpPr>
          <p:cNvPr id="11" name="Text 9"/>
          <p:cNvSpPr txBox="1"/>
          <p:nvPr/>
        </p:nvSpPr>
        <p:spPr>
          <a:xfrm>
            <a:off x="5157216" y="1572768"/>
            <a:ext cx="1828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GP surrogate</a:t>
            </a:r>
            <a:endParaRPr lang="en-US" sz="1300" dirty="0"/>
          </a:p>
        </p:txBody>
      </p:sp>
      <p:sp>
        <p:nvSpPr>
          <p:cNvPr id="12" name="Text 10"/>
          <p:cNvSpPr txBox="1"/>
          <p:nvPr/>
        </p:nvSpPr>
        <p:spPr>
          <a:xfrm>
            <a:off x="5157216" y="1920240"/>
            <a:ext cx="1828800" cy="685800"/>
          </a:xfrm>
          <a:prstGeom prst="rect">
            <a:avLst/>
          </a:prstGeom>
          <a:noFill/>
          <a:ln/>
        </p:spPr>
        <p:txBody>
          <a:bodyPr wrap="square" lIns="0" tIns="0" rIns="0" bIns="0" rtlCol="0" anchor="t"/>
          <a:lstStyle/>
          <a:p>
            <a:pPr algn="ctr" indent="0" marL="0">
              <a:buNone/>
            </a:pPr>
            <a:r>
              <a:rPr lang="en-US" sz="950" dirty="0">
                <a:solidFill>
                  <a:srgbClr val="C6D2E4"/>
                </a:solidFill>
                <a:latin typeface="Calibri" pitchFamily="34" charset="0"/>
                <a:ea typeface="Calibri" pitchFamily="34" charset="-122"/>
                <a:cs typeface="Calibri" pitchFamily="34" charset="-120"/>
              </a:rPr>
              <a:t>mean = physics rules</a:t>
            </a:r>
            <a:endParaRPr lang="en-US" sz="950" dirty="0"/>
          </a:p>
          <a:p>
            <a:pPr algn="ctr" indent="0" marL="0">
              <a:buNone/>
            </a:pPr>
            <a:r>
              <a:rPr lang="en-US" sz="950" dirty="0">
                <a:solidFill>
                  <a:srgbClr val="C6D2E4"/>
                </a:solidFill>
                <a:latin typeface="Calibri" pitchFamily="34" charset="0"/>
                <a:ea typeface="Calibri" pitchFamily="34" charset="-122"/>
                <a:cs typeface="Calibri" pitchFamily="34" charset="-120"/>
              </a:rPr>
              <a:t>+ Matern residual on h</a:t>
            </a:r>
            <a:endParaRPr lang="en-US" sz="950" dirty="0"/>
          </a:p>
        </p:txBody>
      </p:sp>
      <p:sp>
        <p:nvSpPr>
          <p:cNvPr id="13" name="Shape 11"/>
          <p:cNvSpPr/>
          <p:nvPr/>
        </p:nvSpPr>
        <p:spPr>
          <a:xfrm>
            <a:off x="7278624" y="1463040"/>
            <a:ext cx="2011680" cy="1234440"/>
          </a:xfrm>
          <a:prstGeom prst="rect">
            <a:avLst/>
          </a:prstGeom>
          <a:solidFill>
            <a:srgbClr val="1B2A4A"/>
          </a:solidFill>
          <a:ln w="6350">
            <a:solidFill>
              <a:srgbClr val="1B2A4A"/>
            </a:solidFill>
            <a:prstDash val="solid"/>
          </a:ln>
        </p:spPr>
      </p:sp>
      <p:sp>
        <p:nvSpPr>
          <p:cNvPr id="14" name="Text 12"/>
          <p:cNvSpPr txBox="1"/>
          <p:nvPr/>
        </p:nvSpPr>
        <p:spPr>
          <a:xfrm>
            <a:off x="7370064" y="1572768"/>
            <a:ext cx="1828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Acquisition</a:t>
            </a:r>
            <a:endParaRPr lang="en-US" sz="1300" dirty="0"/>
          </a:p>
        </p:txBody>
      </p:sp>
      <p:sp>
        <p:nvSpPr>
          <p:cNvPr id="15" name="Text 13"/>
          <p:cNvSpPr txBox="1"/>
          <p:nvPr/>
        </p:nvSpPr>
        <p:spPr>
          <a:xfrm>
            <a:off x="7370064" y="1920240"/>
            <a:ext cx="1828800" cy="685800"/>
          </a:xfrm>
          <a:prstGeom prst="rect">
            <a:avLst/>
          </a:prstGeom>
          <a:noFill/>
          <a:ln/>
        </p:spPr>
        <p:txBody>
          <a:bodyPr wrap="square" lIns="0" tIns="0" rIns="0" bIns="0" rtlCol="0" anchor="t"/>
          <a:lstStyle/>
          <a:p>
            <a:pPr algn="ctr" indent="0" marL="0">
              <a:buNone/>
            </a:pPr>
            <a:r>
              <a:rPr lang="en-US" sz="950" dirty="0">
                <a:solidFill>
                  <a:srgbClr val="C6D2E4"/>
                </a:solidFill>
                <a:latin typeface="Calibri" pitchFamily="34" charset="0"/>
                <a:ea typeface="Calibri" pitchFamily="34" charset="-122"/>
                <a:cs typeface="Calibri" pitchFamily="34" charset="-120"/>
              </a:rPr>
              <a:t>batch Thompson sampling</a:t>
            </a:r>
            <a:endParaRPr lang="en-US" sz="950" dirty="0"/>
          </a:p>
          <a:p>
            <a:pPr algn="ctr" indent="0" marL="0">
              <a:buNone/>
            </a:pPr>
            <a:r>
              <a:rPr lang="en-US" sz="950" dirty="0">
                <a:solidFill>
                  <a:srgbClr val="C6D2E4"/>
                </a:solidFill>
                <a:latin typeface="Calibri" pitchFamily="34" charset="0"/>
                <a:ea typeface="Calibri" pitchFamily="34" charset="-122"/>
                <a:cs typeface="Calibri" pitchFamily="34" charset="-120"/>
              </a:rPr>
              <a:t>+ contrast slots that resolve</a:t>
            </a:r>
            <a:endParaRPr lang="en-US" sz="950" dirty="0"/>
          </a:p>
          <a:p>
            <a:pPr algn="ctr" indent="0" marL="0">
              <a:buNone/>
            </a:pPr>
            <a:r>
              <a:rPr lang="en-US" sz="950" dirty="0">
                <a:solidFill>
                  <a:srgbClr val="C6D2E4"/>
                </a:solidFill>
                <a:latin typeface="Calibri" pitchFamily="34" charset="0"/>
                <a:ea typeface="Calibri" pitchFamily="34" charset="-122"/>
                <a:cs typeface="Calibri" pitchFamily="34" charset="-120"/>
              </a:rPr>
              <a:t>open causal questions</a:t>
            </a:r>
            <a:endParaRPr lang="en-US" sz="950" dirty="0"/>
          </a:p>
        </p:txBody>
      </p:sp>
      <p:sp>
        <p:nvSpPr>
          <p:cNvPr id="16" name="Shape 14"/>
          <p:cNvSpPr/>
          <p:nvPr/>
        </p:nvSpPr>
        <p:spPr>
          <a:xfrm>
            <a:off x="9491472" y="1463040"/>
            <a:ext cx="2011680" cy="1234440"/>
          </a:xfrm>
          <a:prstGeom prst="rect">
            <a:avLst/>
          </a:prstGeom>
          <a:solidFill>
            <a:srgbClr val="C6472A"/>
          </a:solidFill>
          <a:ln w="6350">
            <a:solidFill>
              <a:srgbClr val="C6472A"/>
            </a:solidFill>
            <a:prstDash val="solid"/>
          </a:ln>
        </p:spPr>
      </p:sp>
      <p:sp>
        <p:nvSpPr>
          <p:cNvPr id="17" name="Text 15"/>
          <p:cNvSpPr txBox="1"/>
          <p:nvPr/>
        </p:nvSpPr>
        <p:spPr>
          <a:xfrm>
            <a:off x="9582912" y="1572768"/>
            <a:ext cx="1828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DFT, then experiment</a:t>
            </a:r>
            <a:endParaRPr lang="en-US" sz="1300" dirty="0"/>
          </a:p>
        </p:txBody>
      </p:sp>
      <p:sp>
        <p:nvSpPr>
          <p:cNvPr id="18" name="Text 16"/>
          <p:cNvSpPr txBox="1"/>
          <p:nvPr/>
        </p:nvSpPr>
        <p:spPr>
          <a:xfrm>
            <a:off x="9582912" y="1920240"/>
            <a:ext cx="1828800" cy="685800"/>
          </a:xfrm>
          <a:prstGeom prst="rect">
            <a:avLst/>
          </a:prstGeom>
          <a:noFill/>
          <a:ln/>
        </p:spPr>
        <p:txBody>
          <a:bodyPr wrap="square" lIns="0" tIns="0" rIns="0" bIns="0" rtlCol="0" anchor="t"/>
          <a:lstStyle/>
          <a:p>
            <a:pPr algn="ctr" indent="0" marL="0">
              <a:buNone/>
            </a:pPr>
            <a:r>
              <a:rPr lang="en-US" sz="950" dirty="0">
                <a:solidFill>
                  <a:srgbClr val="FBE3DC"/>
                </a:solidFill>
                <a:latin typeface="Calibri" pitchFamily="34" charset="0"/>
                <a:ea typeface="Calibri" pitchFamily="34" charset="-122"/>
                <a:cs typeface="Calibri" pitchFamily="34" charset="-120"/>
              </a:rPr>
              <a:t>one f-in-core run per cell</a:t>
            </a:r>
            <a:endParaRPr lang="en-US" sz="950" dirty="0"/>
          </a:p>
          <a:p>
            <a:pPr algn="ctr" indent="0" marL="0">
              <a:buNone/>
            </a:pPr>
            <a:r>
              <a:rPr lang="en-US" sz="950" dirty="0">
                <a:solidFill>
                  <a:srgbClr val="FBE3DC"/>
                </a:solidFill>
                <a:latin typeface="Calibri" pitchFamily="34" charset="0"/>
                <a:ea typeface="Calibri" pitchFamily="34" charset="-122"/>
                <a:cs typeface="Calibri" pitchFamily="34" charset="-120"/>
              </a:rPr>
              <a:t>→ h, Ms, V  (ground truth)</a:t>
            </a:r>
            <a:endParaRPr lang="en-US" sz="950" dirty="0"/>
          </a:p>
        </p:txBody>
      </p:sp>
      <p:sp>
        <p:nvSpPr>
          <p:cNvPr id="19" name="Shape 17"/>
          <p:cNvSpPr/>
          <p:nvPr/>
        </p:nvSpPr>
        <p:spPr>
          <a:xfrm>
            <a:off x="2651760" y="2080260"/>
            <a:ext cx="201168" cy="0"/>
          </a:xfrm>
          <a:prstGeom prst="line">
            <a:avLst/>
          </a:prstGeom>
          <a:noFill/>
          <a:ln w="17780">
            <a:solidFill>
              <a:srgbClr val="1A2233"/>
            </a:solidFill>
            <a:prstDash val="solid"/>
            <a:tailEnd type="triangle"/>
          </a:ln>
        </p:spPr>
      </p:sp>
      <p:sp>
        <p:nvSpPr>
          <p:cNvPr id="20" name="Shape 18"/>
          <p:cNvSpPr/>
          <p:nvPr/>
        </p:nvSpPr>
        <p:spPr>
          <a:xfrm>
            <a:off x="4864608" y="2080260"/>
            <a:ext cx="201168" cy="0"/>
          </a:xfrm>
          <a:prstGeom prst="line">
            <a:avLst/>
          </a:prstGeom>
          <a:noFill/>
          <a:ln w="17780">
            <a:solidFill>
              <a:srgbClr val="1A2233"/>
            </a:solidFill>
            <a:prstDash val="solid"/>
            <a:tailEnd type="triangle"/>
          </a:ln>
        </p:spPr>
      </p:sp>
      <p:sp>
        <p:nvSpPr>
          <p:cNvPr id="21" name="Shape 19"/>
          <p:cNvSpPr/>
          <p:nvPr/>
        </p:nvSpPr>
        <p:spPr>
          <a:xfrm>
            <a:off x="7077456" y="2080260"/>
            <a:ext cx="201168" cy="0"/>
          </a:xfrm>
          <a:prstGeom prst="line">
            <a:avLst/>
          </a:prstGeom>
          <a:noFill/>
          <a:ln w="17780">
            <a:solidFill>
              <a:srgbClr val="1A2233"/>
            </a:solidFill>
            <a:prstDash val="solid"/>
            <a:tailEnd type="triangle"/>
          </a:ln>
        </p:spPr>
      </p:sp>
      <p:sp>
        <p:nvSpPr>
          <p:cNvPr id="22" name="Shape 20"/>
          <p:cNvSpPr/>
          <p:nvPr/>
        </p:nvSpPr>
        <p:spPr>
          <a:xfrm>
            <a:off x="9290304" y="2080260"/>
            <a:ext cx="201168" cy="0"/>
          </a:xfrm>
          <a:prstGeom prst="line">
            <a:avLst/>
          </a:prstGeom>
          <a:noFill/>
          <a:ln w="17780">
            <a:solidFill>
              <a:srgbClr val="1A2233"/>
            </a:solidFill>
            <a:prstDash val="solid"/>
            <a:tailEnd type="triangle"/>
          </a:ln>
        </p:spPr>
      </p:sp>
      <p:sp>
        <p:nvSpPr>
          <p:cNvPr id="23" name="Shape 21"/>
          <p:cNvSpPr/>
          <p:nvPr/>
        </p:nvSpPr>
        <p:spPr>
          <a:xfrm>
            <a:off x="914400" y="3474720"/>
            <a:ext cx="10314432" cy="2057400"/>
          </a:xfrm>
          <a:prstGeom prst="rect">
            <a:avLst/>
          </a:prstGeom>
          <a:solidFill>
            <a:srgbClr val="FFFFFF">
              <a:alpha val="0"/>
            </a:srgbClr>
          </a:solidFill>
          <a:ln w="25400">
            <a:solidFill>
              <a:srgbClr val="E4572E"/>
            </a:solidFill>
            <a:prstDash val="dash"/>
          </a:ln>
        </p:spPr>
      </p:sp>
      <p:sp>
        <p:nvSpPr>
          <p:cNvPr id="24" name="Shape 22"/>
          <p:cNvSpPr/>
          <p:nvPr/>
        </p:nvSpPr>
        <p:spPr>
          <a:xfrm>
            <a:off x="3127248" y="3703320"/>
            <a:ext cx="6089904" cy="1417320"/>
          </a:xfrm>
          <a:prstGeom prst="rect">
            <a:avLst/>
          </a:prstGeom>
          <a:solidFill>
            <a:srgbClr val="3E9AA8"/>
          </a:solidFill>
          <a:ln w="6350">
            <a:solidFill>
              <a:srgbClr val="3E9AA8"/>
            </a:solidFill>
            <a:prstDash val="solid"/>
          </a:ln>
        </p:spPr>
      </p:sp>
      <p:sp>
        <p:nvSpPr>
          <p:cNvPr id="25" name="Text 23"/>
          <p:cNvSpPr txBox="1"/>
          <p:nvPr/>
        </p:nvSpPr>
        <p:spPr>
          <a:xfrm>
            <a:off x="3218688" y="3813048"/>
            <a:ext cx="590702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Understanding loop: interpretable pipeline on every label</a:t>
            </a:r>
            <a:endParaRPr lang="en-US" sz="1250" dirty="0"/>
          </a:p>
        </p:txBody>
      </p:sp>
      <p:sp>
        <p:nvSpPr>
          <p:cNvPr id="26" name="Text 24"/>
          <p:cNvSpPr txBox="1"/>
          <p:nvPr/>
        </p:nvSpPr>
        <p:spPr>
          <a:xfrm>
            <a:off x="3218688" y="4160520"/>
            <a:ext cx="5907024" cy="868680"/>
          </a:xfrm>
          <a:prstGeom prst="rect">
            <a:avLst/>
          </a:prstGeom>
          <a:noFill/>
          <a:ln/>
        </p:spPr>
        <p:txBody>
          <a:bodyPr wrap="square" lIns="0" tIns="0" rIns="0" bIns="0" rtlCol="0" anchor="t"/>
          <a:lstStyle/>
          <a:p>
            <a:pPr algn="ctr" indent="0" marL="0">
              <a:buNone/>
            </a:pPr>
            <a:r>
              <a:rPr lang="en-US" sz="1000" dirty="0">
                <a:solidFill>
                  <a:srgbClr val="F0F7F8"/>
                </a:solidFill>
                <a:latin typeface="Calibri" pitchFamily="34" charset="0"/>
                <a:ea typeface="Calibri" pitchFamily="34" charset="-122"/>
                <a:cs typeface="Calibri" pitchFamily="34" charset="-120"/>
              </a:rPr>
              <a:t>effect sizes (what each lever does)  →  causal graph (host → S₅d → gap; Fe density → Ms)  →  symbolic rule (ΔE = 1574·h, de Gennes scaling)  →  checked against literature constants</a:t>
            </a:r>
            <a:endParaRPr lang="en-US" sz="1000" dirty="0"/>
          </a:p>
        </p:txBody>
      </p:sp>
      <p:sp>
        <p:nvSpPr>
          <p:cNvPr id="27" name="Shape 25"/>
          <p:cNvSpPr/>
          <p:nvPr/>
        </p:nvSpPr>
        <p:spPr>
          <a:xfrm>
            <a:off x="10497312" y="2697480"/>
            <a:ext cx="0" cy="1714500"/>
          </a:xfrm>
          <a:prstGeom prst="line">
            <a:avLst/>
          </a:prstGeom>
          <a:noFill/>
          <a:ln w="17780">
            <a:solidFill>
              <a:srgbClr val="7A8DA8"/>
            </a:solidFill>
            <a:prstDash val="dash"/>
            <a:tailEnd type="triangle"/>
          </a:ln>
        </p:spPr>
      </p:sp>
      <p:sp>
        <p:nvSpPr>
          <p:cNvPr id="28" name="Text 26"/>
          <p:cNvSpPr txBox="1"/>
          <p:nvPr/>
        </p:nvSpPr>
        <p:spPr>
          <a:xfrm>
            <a:off x="10570464" y="2770632"/>
            <a:ext cx="2194560" cy="201168"/>
          </a:xfrm>
          <a:prstGeom prst="rect">
            <a:avLst/>
          </a:prstGeom>
          <a:noFill/>
          <a:ln/>
        </p:spPr>
        <p:txBody>
          <a:bodyPr wrap="square" lIns="0" tIns="0" rIns="0" bIns="0" rtlCol="0" anchor="ctr"/>
          <a:lstStyle/>
          <a:p>
            <a:pPr indent="0" marL="0">
              <a:buNone/>
            </a:pPr>
            <a:r>
              <a:rPr lang="en-US" sz="860" i="1" dirty="0">
                <a:solidFill>
                  <a:srgbClr val="5A6478"/>
                </a:solidFill>
                <a:latin typeface="Calibri" pitchFamily="34" charset="0"/>
                <a:ea typeface="Calibri" pitchFamily="34" charset="-122"/>
                <a:cs typeface="Calibri" pitchFamily="34" charset="-120"/>
              </a:rPr>
              <a:t>DFT results</a:t>
            </a:r>
            <a:endParaRPr lang="en-US" sz="860" dirty="0"/>
          </a:p>
        </p:txBody>
      </p:sp>
      <p:sp>
        <p:nvSpPr>
          <p:cNvPr id="29" name="Shape 27"/>
          <p:cNvSpPr/>
          <p:nvPr/>
        </p:nvSpPr>
        <p:spPr>
          <a:xfrm>
            <a:off x="9217152" y="4411980"/>
            <a:ext cx="1280160" cy="0"/>
          </a:xfrm>
          <a:prstGeom prst="line">
            <a:avLst/>
          </a:prstGeom>
          <a:noFill/>
          <a:ln w="17780">
            <a:solidFill>
              <a:srgbClr val="7A8DA8"/>
            </a:solidFill>
            <a:prstDash val="dash"/>
          </a:ln>
        </p:spPr>
      </p:sp>
      <p:sp>
        <p:nvSpPr>
          <p:cNvPr id="30" name="Shape 28"/>
          <p:cNvSpPr/>
          <p:nvPr/>
        </p:nvSpPr>
        <p:spPr>
          <a:xfrm flipV="1">
            <a:off x="5522976" y="2697480"/>
            <a:ext cx="0" cy="1005840"/>
          </a:xfrm>
          <a:prstGeom prst="line">
            <a:avLst/>
          </a:prstGeom>
          <a:noFill/>
          <a:ln w="17780">
            <a:solidFill>
              <a:srgbClr val="7A8DA8"/>
            </a:solidFill>
            <a:prstDash val="dash"/>
            <a:tailEnd type="triangle"/>
          </a:ln>
        </p:spPr>
      </p:sp>
      <p:sp>
        <p:nvSpPr>
          <p:cNvPr id="31" name="Text 29"/>
          <p:cNvSpPr txBox="1"/>
          <p:nvPr/>
        </p:nvSpPr>
        <p:spPr>
          <a:xfrm>
            <a:off x="5596128" y="2770632"/>
            <a:ext cx="2194560" cy="201168"/>
          </a:xfrm>
          <a:prstGeom prst="rect">
            <a:avLst/>
          </a:prstGeom>
          <a:noFill/>
          <a:ln/>
        </p:spPr>
        <p:txBody>
          <a:bodyPr wrap="square" lIns="0" tIns="0" rIns="0" bIns="0" rtlCol="0" anchor="ctr"/>
          <a:lstStyle/>
          <a:p>
            <a:pPr indent="0" marL="0">
              <a:buNone/>
            </a:pPr>
            <a:r>
              <a:rPr lang="en-US" sz="860" i="1" dirty="0">
                <a:solidFill>
                  <a:srgbClr val="5A6478"/>
                </a:solidFill>
                <a:latin typeface="Calibri" pitchFamily="34" charset="0"/>
                <a:ea typeface="Calibri" pitchFamily="34" charset="-122"/>
                <a:cs typeface="Calibri" pitchFamily="34" charset="-120"/>
              </a:rPr>
              <a:t>sets the mean function</a:t>
            </a:r>
            <a:endParaRPr lang="en-US" sz="860" dirty="0"/>
          </a:p>
        </p:txBody>
      </p:sp>
      <p:sp>
        <p:nvSpPr>
          <p:cNvPr id="32" name="Shape 30"/>
          <p:cNvSpPr/>
          <p:nvPr/>
        </p:nvSpPr>
        <p:spPr>
          <a:xfrm flipV="1">
            <a:off x="8284464" y="2697480"/>
            <a:ext cx="0" cy="1005840"/>
          </a:xfrm>
          <a:prstGeom prst="line">
            <a:avLst/>
          </a:prstGeom>
          <a:noFill/>
          <a:ln w="17780">
            <a:solidFill>
              <a:srgbClr val="7A8DA8"/>
            </a:solidFill>
            <a:prstDash val="dash"/>
            <a:tailEnd type="triangle"/>
          </a:ln>
        </p:spPr>
      </p:sp>
      <p:sp>
        <p:nvSpPr>
          <p:cNvPr id="33" name="Text 31"/>
          <p:cNvSpPr txBox="1"/>
          <p:nvPr/>
        </p:nvSpPr>
        <p:spPr>
          <a:xfrm>
            <a:off x="8357616" y="2971800"/>
            <a:ext cx="2194560" cy="201168"/>
          </a:xfrm>
          <a:prstGeom prst="rect">
            <a:avLst/>
          </a:prstGeom>
          <a:noFill/>
          <a:ln/>
        </p:spPr>
        <p:txBody>
          <a:bodyPr wrap="square" lIns="0" tIns="0" rIns="0" bIns="0" rtlCol="0" anchor="ctr"/>
          <a:lstStyle/>
          <a:p>
            <a:pPr indent="0" marL="0">
              <a:buNone/>
            </a:pPr>
            <a:r>
              <a:rPr lang="en-US" sz="860" i="1" dirty="0">
                <a:solidFill>
                  <a:srgbClr val="5A6478"/>
                </a:solidFill>
                <a:latin typeface="Calibri" pitchFamily="34" charset="0"/>
                <a:ea typeface="Calibri" pitchFamily="34" charset="-122"/>
                <a:cs typeface="Calibri" pitchFamily="34" charset="-120"/>
              </a:rPr>
              <a:t>disambiguation targets</a:t>
            </a:r>
            <a:endParaRPr lang="en-US" sz="860" dirty="0"/>
          </a:p>
        </p:txBody>
      </p:sp>
      <p:sp>
        <p:nvSpPr>
          <p:cNvPr id="34" name="Shape 32"/>
          <p:cNvSpPr/>
          <p:nvPr/>
        </p:nvSpPr>
        <p:spPr>
          <a:xfrm flipH="1">
            <a:off x="1097280" y="4411980"/>
            <a:ext cx="2029968" cy="0"/>
          </a:xfrm>
          <a:prstGeom prst="line">
            <a:avLst/>
          </a:prstGeom>
          <a:noFill/>
          <a:ln w="17780">
            <a:solidFill>
              <a:srgbClr val="7A8DA8"/>
            </a:solidFill>
            <a:prstDash val="dash"/>
          </a:ln>
        </p:spPr>
      </p:sp>
      <p:sp>
        <p:nvSpPr>
          <p:cNvPr id="35" name="Shape 33"/>
          <p:cNvSpPr/>
          <p:nvPr/>
        </p:nvSpPr>
        <p:spPr>
          <a:xfrm flipV="1">
            <a:off x="1097280" y="2697480"/>
            <a:ext cx="0" cy="1714500"/>
          </a:xfrm>
          <a:prstGeom prst="line">
            <a:avLst/>
          </a:prstGeom>
          <a:noFill/>
          <a:ln w="17780">
            <a:solidFill>
              <a:srgbClr val="7A8DA8"/>
            </a:solidFill>
            <a:prstDash val="dash"/>
            <a:tailEnd type="triangle"/>
          </a:ln>
        </p:spPr>
      </p:sp>
      <p:sp>
        <p:nvSpPr>
          <p:cNvPr id="36" name="Text 34"/>
          <p:cNvSpPr txBox="1"/>
          <p:nvPr/>
        </p:nvSpPr>
        <p:spPr>
          <a:xfrm>
            <a:off x="1170432" y="2770632"/>
            <a:ext cx="2194560" cy="201168"/>
          </a:xfrm>
          <a:prstGeom prst="rect">
            <a:avLst/>
          </a:prstGeom>
          <a:noFill/>
          <a:ln/>
        </p:spPr>
        <p:txBody>
          <a:bodyPr wrap="square" lIns="0" tIns="0" rIns="0" bIns="0" rtlCol="0" anchor="ctr"/>
          <a:lstStyle/>
          <a:p>
            <a:pPr indent="0" marL="0">
              <a:buNone/>
            </a:pPr>
            <a:r>
              <a:rPr lang="en-US" sz="860" i="1" dirty="0">
                <a:solidFill>
                  <a:srgbClr val="5A6478"/>
                </a:solidFill>
                <a:latin typeface="Calibri" pitchFamily="34" charset="0"/>
                <a:ea typeface="Calibri" pitchFamily="34" charset="-122"/>
                <a:cs typeface="Calibri" pitchFamily="34" charset="-120"/>
              </a:rPr>
              <a:t>which levers to generate</a:t>
            </a:r>
            <a:endParaRPr lang="en-US" sz="860" dirty="0"/>
          </a:p>
        </p:txBody>
      </p:sp>
      <p:sp>
        <p:nvSpPr>
          <p:cNvPr id="37" name="Shape 35"/>
          <p:cNvSpPr/>
          <p:nvPr/>
        </p:nvSpPr>
        <p:spPr>
          <a:xfrm>
            <a:off x="2103120" y="5715000"/>
            <a:ext cx="8394192" cy="0"/>
          </a:xfrm>
          <a:prstGeom prst="line">
            <a:avLst/>
          </a:prstGeom>
          <a:noFill/>
          <a:ln w="17780">
            <a:solidFill>
              <a:srgbClr val="7A8DA8"/>
            </a:solidFill>
            <a:prstDash val="solid"/>
          </a:ln>
        </p:spPr>
      </p:sp>
      <p:sp>
        <p:nvSpPr>
          <p:cNvPr id="38" name="Shape 36"/>
          <p:cNvSpPr/>
          <p:nvPr/>
        </p:nvSpPr>
        <p:spPr>
          <a:xfrm>
            <a:off x="10497312" y="5532120"/>
            <a:ext cx="0" cy="182880"/>
          </a:xfrm>
          <a:prstGeom prst="line">
            <a:avLst/>
          </a:prstGeom>
          <a:noFill/>
          <a:ln w="17780">
            <a:solidFill>
              <a:srgbClr val="7A8DA8"/>
            </a:solidFill>
            <a:prstDash val="solid"/>
          </a:ln>
        </p:spPr>
      </p:sp>
      <p:sp>
        <p:nvSpPr>
          <p:cNvPr id="39" name="Shape 37"/>
          <p:cNvSpPr/>
          <p:nvPr/>
        </p:nvSpPr>
        <p:spPr>
          <a:xfrm flipV="1">
            <a:off x="2103120" y="2697480"/>
            <a:ext cx="0" cy="3017520"/>
          </a:xfrm>
          <a:prstGeom prst="line">
            <a:avLst/>
          </a:prstGeom>
          <a:noFill/>
          <a:ln w="17780">
            <a:solidFill>
              <a:srgbClr val="7A8DA8"/>
            </a:solidFill>
            <a:prstDash val="solid"/>
            <a:tailEnd type="triangle"/>
          </a:ln>
        </p:spPr>
      </p:sp>
      <p:sp>
        <p:nvSpPr>
          <p:cNvPr id="40" name="Text 38"/>
          <p:cNvSpPr txBox="1"/>
          <p:nvPr/>
        </p:nvSpPr>
        <p:spPr>
          <a:xfrm>
            <a:off x="2852928" y="5760720"/>
            <a:ext cx="4114800" cy="201168"/>
          </a:xfrm>
          <a:prstGeom prst="rect">
            <a:avLst/>
          </a:prstGeom>
          <a:noFill/>
          <a:ln/>
        </p:spPr>
        <p:txBody>
          <a:bodyPr wrap="square" lIns="0" tIns="0" rIns="0" bIns="0" rtlCol="0" anchor="ctr"/>
          <a:lstStyle/>
          <a:p>
            <a:pPr indent="0" marL="0">
              <a:buNone/>
            </a:pPr>
            <a:r>
              <a:rPr lang="en-US" sz="860" i="1" dirty="0">
                <a:solidFill>
                  <a:srgbClr val="5A6478"/>
                </a:solidFill>
                <a:latin typeface="Calibri" pitchFamily="34" charset="0"/>
                <a:ea typeface="Calibri" pitchFamily="34" charset="-122"/>
                <a:cs typeface="Calibri" pitchFamily="34" charset="-120"/>
              </a:rPr>
              <a:t>labels retrain the surrogate every round</a:t>
            </a:r>
            <a:endParaRPr lang="en-US" sz="860" dirty="0"/>
          </a:p>
        </p:txBody>
      </p:sp>
      <p:sp>
        <p:nvSpPr>
          <p:cNvPr id="41" name="Shape 39"/>
          <p:cNvSpPr/>
          <p:nvPr/>
        </p:nvSpPr>
        <p:spPr>
          <a:xfrm>
            <a:off x="640080" y="5989320"/>
            <a:ext cx="10881360" cy="548640"/>
          </a:xfrm>
          <a:prstGeom prst="roundRect">
            <a:avLst>
              <a:gd name="adj" fmla="val 13333"/>
            </a:avLst>
          </a:prstGeom>
          <a:solidFill>
            <a:srgbClr val="EEF2F7"/>
          </a:solidFill>
          <a:ln/>
        </p:spPr>
      </p:sp>
      <p:sp>
        <p:nvSpPr>
          <p:cNvPr id="42" name="Text 40"/>
          <p:cNvSpPr txBox="1"/>
          <p:nvPr/>
        </p:nvSpPr>
        <p:spPr>
          <a:xfrm>
            <a:off x="868680" y="5989320"/>
            <a:ext cx="10424160" cy="548640"/>
          </a:xfrm>
          <a:prstGeom prst="rect">
            <a:avLst/>
          </a:prstGeom>
          <a:noFill/>
          <a:ln/>
        </p:spPr>
        <p:txBody>
          <a:bodyPr wrap="square" lIns="0" tIns="0" rIns="0" bIns="0" rtlCol="0" anchor="ctr"/>
          <a:lstStyle/>
          <a:p>
            <a:pPr indent="0" marL="0">
              <a:buNone/>
            </a:pPr>
            <a:r>
              <a:rPr lang="en-US" sz="950" dirty="0">
                <a:solidFill>
                  <a:srgbClr val="1A2233"/>
                </a:solidFill>
                <a:latin typeface="Calibri" pitchFamily="34" charset="0"/>
                <a:ea typeface="Calibri" pitchFamily="34" charset="-122"/>
                <a:cs typeface="Calibri" pitchFamily="34" charset="-120"/>
              </a:rPr>
              <a:t>Loop 2 so far: 'the gap is set by h' became the GP mean and the one-run label · 'H kills coupling, Co raises it, early TM unresolved' became the generator levers and a contrast target (an early-TM series on one lattice) · 'Mn cannot flip the sign' retired a whole branch.</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TWO LOOPS, EXTENDED</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Same loops, two additions: a conditional diffusion generator, and a fuller interpretable pipeline feeding it</a:t>
            </a:r>
            <a:endParaRPr lang="en-US" sz="3200" dirty="0"/>
          </a:p>
        </p:txBody>
      </p:sp>
      <p:sp>
        <p:nvSpPr>
          <p:cNvPr id="4" name="Shape 2"/>
          <p:cNvSpPr/>
          <p:nvPr/>
        </p:nvSpPr>
        <p:spPr>
          <a:xfrm>
            <a:off x="640080" y="1463040"/>
            <a:ext cx="2011680" cy="1234440"/>
          </a:xfrm>
          <a:prstGeom prst="rect">
            <a:avLst/>
          </a:prstGeom>
          <a:solidFill>
            <a:srgbClr val="F2B134"/>
          </a:solidFill>
          <a:ln w="6350">
            <a:solidFill>
              <a:srgbClr val="F2B134"/>
            </a:solidFill>
            <a:prstDash val="solid"/>
          </a:ln>
        </p:spPr>
      </p:sp>
      <p:sp>
        <p:nvSpPr>
          <p:cNvPr id="5" name="Text 3"/>
          <p:cNvSpPr txBox="1"/>
          <p:nvPr/>
        </p:nvSpPr>
        <p:spPr>
          <a:xfrm>
            <a:off x="731520" y="1572768"/>
            <a:ext cx="1828800" cy="329184"/>
          </a:xfrm>
          <a:prstGeom prst="rect">
            <a:avLst/>
          </a:prstGeom>
          <a:noFill/>
          <a:ln/>
        </p:spPr>
        <p:txBody>
          <a:bodyPr wrap="square" lIns="0" tIns="0" rIns="0" bIns="0" rtlCol="0" anchor="ctr"/>
          <a:lstStyle/>
          <a:p>
            <a:pPr algn="ctr" indent="0" marL="0">
              <a:buNone/>
            </a:pPr>
            <a:r>
              <a:rPr lang="en-US" sz="1300" b="1" dirty="0">
                <a:solidFill>
                  <a:srgbClr val="3D2E00"/>
                </a:solidFill>
                <a:latin typeface="Calibri" pitchFamily="34" charset="0"/>
                <a:ea typeface="Calibri" pitchFamily="34" charset="-122"/>
                <a:cs typeface="Calibri" pitchFamily="34" charset="-120"/>
              </a:rPr>
              <a:t>Generators</a:t>
            </a:r>
            <a:endParaRPr lang="en-US" sz="1300" dirty="0"/>
          </a:p>
        </p:txBody>
      </p:sp>
      <p:sp>
        <p:nvSpPr>
          <p:cNvPr id="6" name="Text 4"/>
          <p:cNvSpPr txBox="1"/>
          <p:nvPr/>
        </p:nvSpPr>
        <p:spPr>
          <a:xfrm>
            <a:off x="731520" y="1920240"/>
            <a:ext cx="1828800" cy="685800"/>
          </a:xfrm>
          <a:prstGeom prst="rect">
            <a:avLst/>
          </a:prstGeom>
          <a:noFill/>
          <a:ln/>
        </p:spPr>
        <p:txBody>
          <a:bodyPr wrap="square" lIns="0" tIns="0" rIns="0" bIns="0" rtlCol="0" anchor="t"/>
          <a:lstStyle/>
          <a:p>
            <a:pPr algn="ctr" indent="0" marL="0">
              <a:buNone/>
            </a:pPr>
            <a:r>
              <a:rPr lang="en-US" sz="950" dirty="0">
                <a:solidFill>
                  <a:srgbClr val="5A3E00"/>
                </a:solidFill>
                <a:latin typeface="Calibri" pitchFamily="34" charset="0"/>
                <a:ea typeface="Calibri" pitchFamily="34" charset="-122"/>
                <a:cs typeface="Calibri" pitchFamily="34" charset="-120"/>
              </a:rPr>
              <a:t>rule-based (now)</a:t>
            </a:r>
            <a:endParaRPr lang="en-US" sz="950" dirty="0"/>
          </a:p>
          <a:p>
            <a:pPr algn="ctr" indent="0" marL="0">
              <a:buNone/>
            </a:pPr>
            <a:r>
              <a:rPr lang="en-US" sz="950" dirty="0">
                <a:solidFill>
                  <a:srgbClr val="5A3E00"/>
                </a:solidFill>
                <a:latin typeface="Calibri" pitchFamily="34" charset="0"/>
                <a:ea typeface="Calibri" pitchFamily="34" charset="-122"/>
                <a:cs typeface="Calibri" pitchFamily="34" charset="-120"/>
              </a:rPr>
              <a:t>+ conditional diffusion model</a:t>
            </a:r>
            <a:endParaRPr lang="en-US" sz="950" dirty="0"/>
          </a:p>
          <a:p>
            <a:pPr algn="ctr" indent="0" marL="0">
              <a:buNone/>
            </a:pPr>
            <a:r>
              <a:rPr lang="en-US" sz="950" dirty="0">
                <a:solidFill>
                  <a:srgbClr val="5A3E00"/>
                </a:solidFill>
                <a:latin typeface="Calibri" pitchFamily="34" charset="0"/>
                <a:ea typeface="Calibri" pitchFamily="34" charset="-122"/>
                <a:cs typeface="Calibri" pitchFamily="34" charset="-120"/>
              </a:rPr>
              <a:t>(MatterGen / DOSMatGen class)</a:t>
            </a:r>
            <a:endParaRPr lang="en-US" sz="950" dirty="0"/>
          </a:p>
        </p:txBody>
      </p:sp>
      <p:sp>
        <p:nvSpPr>
          <p:cNvPr id="7" name="Text 5"/>
          <p:cNvSpPr txBox="1"/>
          <p:nvPr/>
        </p:nvSpPr>
        <p:spPr>
          <a:xfrm>
            <a:off x="2148840" y="1508760"/>
            <a:ext cx="457200" cy="182880"/>
          </a:xfrm>
          <a:prstGeom prst="rect">
            <a:avLst/>
          </a:prstGeom>
          <a:noFill/>
          <a:ln/>
        </p:spPr>
        <p:txBody>
          <a:bodyPr wrap="square" lIns="0" tIns="0" rIns="0" bIns="0" rtlCol="0" anchor="ctr"/>
          <a:lstStyle/>
          <a:p>
            <a:pPr algn="r" indent="0" marL="0">
              <a:buNone/>
            </a:pPr>
            <a:r>
              <a:rPr lang="en-US" sz="800" b="1" dirty="0">
                <a:solidFill>
                  <a:srgbClr val="E4572E"/>
                </a:solidFill>
                <a:latin typeface="Calibri" pitchFamily="34" charset="0"/>
                <a:ea typeface="Calibri" pitchFamily="34" charset="-122"/>
                <a:cs typeface="Calibri" pitchFamily="34" charset="-120"/>
              </a:rPr>
              <a:t>NEW</a:t>
            </a:r>
            <a:endParaRPr lang="en-US" sz="800" dirty="0"/>
          </a:p>
        </p:txBody>
      </p:sp>
      <p:sp>
        <p:nvSpPr>
          <p:cNvPr id="8" name="Shape 6"/>
          <p:cNvSpPr/>
          <p:nvPr/>
        </p:nvSpPr>
        <p:spPr>
          <a:xfrm>
            <a:off x="2852928" y="1463040"/>
            <a:ext cx="2011680" cy="1234440"/>
          </a:xfrm>
          <a:prstGeom prst="rect">
            <a:avLst/>
          </a:prstGeom>
          <a:solidFill>
            <a:srgbClr val="1B2A4A"/>
          </a:solidFill>
          <a:ln w="6350">
            <a:solidFill>
              <a:srgbClr val="1B2A4A"/>
            </a:solidFill>
            <a:prstDash val="solid"/>
          </a:ln>
        </p:spPr>
      </p:sp>
      <p:sp>
        <p:nvSpPr>
          <p:cNvPr id="9" name="Text 7"/>
          <p:cNvSpPr txBox="1"/>
          <p:nvPr/>
        </p:nvSpPr>
        <p:spPr>
          <a:xfrm>
            <a:off x="2944368" y="1572768"/>
            <a:ext cx="1828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MLIP filter</a:t>
            </a:r>
            <a:endParaRPr lang="en-US" sz="1300" dirty="0"/>
          </a:p>
        </p:txBody>
      </p:sp>
      <p:sp>
        <p:nvSpPr>
          <p:cNvPr id="10" name="Text 8"/>
          <p:cNvSpPr txBox="1"/>
          <p:nvPr/>
        </p:nvSpPr>
        <p:spPr>
          <a:xfrm>
            <a:off x="2944368" y="1920240"/>
            <a:ext cx="1828800" cy="685800"/>
          </a:xfrm>
          <a:prstGeom prst="rect">
            <a:avLst/>
          </a:prstGeom>
          <a:noFill/>
          <a:ln/>
        </p:spPr>
        <p:txBody>
          <a:bodyPr wrap="square" lIns="0" tIns="0" rIns="0" bIns="0" rtlCol="0" anchor="t"/>
          <a:lstStyle/>
          <a:p>
            <a:pPr algn="ctr" indent="0" marL="0">
              <a:buNone/>
            </a:pPr>
            <a:r>
              <a:rPr lang="en-US" sz="950" dirty="0">
                <a:solidFill>
                  <a:srgbClr val="C6D2E4"/>
                </a:solidFill>
                <a:latin typeface="Calibri" pitchFamily="34" charset="0"/>
                <a:ea typeface="Calibri" pitchFamily="34" charset="-122"/>
                <a:cs typeface="Calibri" pitchFamily="34" charset="-120"/>
              </a:rPr>
              <a:t>MACE relax · same-model hull</a:t>
            </a:r>
            <a:endParaRPr lang="en-US" sz="950" dirty="0"/>
          </a:p>
          <a:p>
            <a:pPr algn="ctr" indent="0" marL="0">
              <a:buNone/>
            </a:pPr>
            <a:r>
              <a:rPr lang="en-US" sz="950" dirty="0">
                <a:solidFill>
                  <a:srgbClr val="C6D2E4"/>
                </a:solidFill>
                <a:latin typeface="Calibri" pitchFamily="34" charset="0"/>
                <a:ea typeface="Calibri" pitchFamily="34" charset="-122"/>
                <a:cs typeface="Calibri" pitchFamily="34" charset="-120"/>
              </a:rPr>
              <a:t>E_hull ≤ 30 meV · Ms ≥ 1.5 T</a:t>
            </a:r>
            <a:endParaRPr lang="en-US" sz="950" dirty="0"/>
          </a:p>
        </p:txBody>
      </p:sp>
      <p:sp>
        <p:nvSpPr>
          <p:cNvPr id="11" name="Shape 9"/>
          <p:cNvSpPr/>
          <p:nvPr/>
        </p:nvSpPr>
        <p:spPr>
          <a:xfrm>
            <a:off x="5065776" y="1463040"/>
            <a:ext cx="2011680" cy="1234440"/>
          </a:xfrm>
          <a:prstGeom prst="rect">
            <a:avLst/>
          </a:prstGeom>
          <a:solidFill>
            <a:srgbClr val="1B2A4A"/>
          </a:solidFill>
          <a:ln w="6350">
            <a:solidFill>
              <a:srgbClr val="1B2A4A"/>
            </a:solidFill>
            <a:prstDash val="solid"/>
          </a:ln>
        </p:spPr>
      </p:sp>
      <p:sp>
        <p:nvSpPr>
          <p:cNvPr id="12" name="Text 10"/>
          <p:cNvSpPr txBox="1"/>
          <p:nvPr/>
        </p:nvSpPr>
        <p:spPr>
          <a:xfrm>
            <a:off x="5157216" y="1572768"/>
            <a:ext cx="1828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GP surrogate</a:t>
            </a:r>
            <a:endParaRPr lang="en-US" sz="1300" dirty="0"/>
          </a:p>
        </p:txBody>
      </p:sp>
      <p:sp>
        <p:nvSpPr>
          <p:cNvPr id="13" name="Text 11"/>
          <p:cNvSpPr txBox="1"/>
          <p:nvPr/>
        </p:nvSpPr>
        <p:spPr>
          <a:xfrm>
            <a:off x="5157216" y="1920240"/>
            <a:ext cx="1828800" cy="685800"/>
          </a:xfrm>
          <a:prstGeom prst="rect">
            <a:avLst/>
          </a:prstGeom>
          <a:noFill/>
          <a:ln/>
        </p:spPr>
        <p:txBody>
          <a:bodyPr wrap="square" lIns="0" tIns="0" rIns="0" bIns="0" rtlCol="0" anchor="t"/>
          <a:lstStyle/>
          <a:p>
            <a:pPr algn="ctr" indent="0" marL="0">
              <a:buNone/>
            </a:pPr>
            <a:r>
              <a:rPr lang="en-US" sz="950" dirty="0">
                <a:solidFill>
                  <a:srgbClr val="C6D2E4"/>
                </a:solidFill>
                <a:latin typeface="Calibri" pitchFamily="34" charset="0"/>
                <a:ea typeface="Calibri" pitchFamily="34" charset="-122"/>
                <a:cs typeface="Calibri" pitchFamily="34" charset="-120"/>
              </a:rPr>
              <a:t>mean = extracted rules</a:t>
            </a:r>
            <a:endParaRPr lang="en-US" sz="950" dirty="0"/>
          </a:p>
          <a:p>
            <a:pPr algn="ctr" indent="0" marL="0">
              <a:buNone/>
            </a:pPr>
            <a:r>
              <a:rPr lang="en-US" sz="950" dirty="0">
                <a:solidFill>
                  <a:srgbClr val="C6D2E4"/>
                </a:solidFill>
                <a:latin typeface="Calibri" pitchFamily="34" charset="0"/>
                <a:ea typeface="Calibri" pitchFamily="34" charset="-122"/>
                <a:cs typeface="Calibri" pitchFamily="34" charset="-120"/>
              </a:rPr>
              <a:t>+ Matern residual on h</a:t>
            </a:r>
            <a:endParaRPr lang="en-US" sz="950" dirty="0"/>
          </a:p>
        </p:txBody>
      </p:sp>
      <p:sp>
        <p:nvSpPr>
          <p:cNvPr id="14" name="Shape 12"/>
          <p:cNvSpPr/>
          <p:nvPr/>
        </p:nvSpPr>
        <p:spPr>
          <a:xfrm>
            <a:off x="7278624" y="1463040"/>
            <a:ext cx="2011680" cy="1234440"/>
          </a:xfrm>
          <a:prstGeom prst="rect">
            <a:avLst/>
          </a:prstGeom>
          <a:solidFill>
            <a:srgbClr val="1B2A4A"/>
          </a:solidFill>
          <a:ln w="6350">
            <a:solidFill>
              <a:srgbClr val="1B2A4A"/>
            </a:solidFill>
            <a:prstDash val="solid"/>
          </a:ln>
        </p:spPr>
      </p:sp>
      <p:sp>
        <p:nvSpPr>
          <p:cNvPr id="15" name="Text 13"/>
          <p:cNvSpPr txBox="1"/>
          <p:nvPr/>
        </p:nvSpPr>
        <p:spPr>
          <a:xfrm>
            <a:off x="7370064" y="1572768"/>
            <a:ext cx="1828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Acquisition</a:t>
            </a:r>
            <a:endParaRPr lang="en-US" sz="1300" dirty="0"/>
          </a:p>
        </p:txBody>
      </p:sp>
      <p:sp>
        <p:nvSpPr>
          <p:cNvPr id="16" name="Text 14"/>
          <p:cNvSpPr txBox="1"/>
          <p:nvPr/>
        </p:nvSpPr>
        <p:spPr>
          <a:xfrm>
            <a:off x="7370064" y="1920240"/>
            <a:ext cx="1828800" cy="685800"/>
          </a:xfrm>
          <a:prstGeom prst="rect">
            <a:avLst/>
          </a:prstGeom>
          <a:noFill/>
          <a:ln/>
        </p:spPr>
        <p:txBody>
          <a:bodyPr wrap="square" lIns="0" tIns="0" rIns="0" bIns="0" rtlCol="0" anchor="t"/>
          <a:lstStyle/>
          <a:p>
            <a:pPr algn="ctr" indent="0" marL="0">
              <a:buNone/>
            </a:pPr>
            <a:r>
              <a:rPr lang="en-US" sz="950" dirty="0">
                <a:solidFill>
                  <a:srgbClr val="C6D2E4"/>
                </a:solidFill>
                <a:latin typeface="Calibri" pitchFamily="34" charset="0"/>
                <a:ea typeface="Calibri" pitchFamily="34" charset="-122"/>
                <a:cs typeface="Calibri" pitchFamily="34" charset="-120"/>
              </a:rPr>
              <a:t>Thompson batches</a:t>
            </a:r>
            <a:endParaRPr lang="en-US" sz="950" dirty="0"/>
          </a:p>
          <a:p>
            <a:pPr algn="ctr" indent="0" marL="0">
              <a:buNone/>
            </a:pPr>
            <a:r>
              <a:rPr lang="en-US" sz="950" dirty="0">
                <a:solidFill>
                  <a:srgbClr val="C6D2E4"/>
                </a:solidFill>
                <a:latin typeface="Calibri" pitchFamily="34" charset="0"/>
                <a:ea typeface="Calibri" pitchFamily="34" charset="-122"/>
                <a:cs typeface="Calibri" pitchFamily="34" charset="-120"/>
              </a:rPr>
              <a:t>+ disambiguation slots</a:t>
            </a:r>
            <a:endParaRPr lang="en-US" sz="950" dirty="0"/>
          </a:p>
          <a:p>
            <a:pPr algn="ctr" indent="0" marL="0">
              <a:buNone/>
            </a:pPr>
            <a:r>
              <a:rPr lang="en-US" sz="950" dirty="0">
                <a:solidFill>
                  <a:srgbClr val="C6D2E4"/>
                </a:solidFill>
                <a:latin typeface="Calibri" pitchFamily="34" charset="0"/>
                <a:ea typeface="Calibri" pitchFamily="34" charset="-122"/>
                <a:cs typeface="Calibri" pitchFamily="34" charset="-120"/>
              </a:rPr>
              <a:t>+ 'novelty' slots for generated cells</a:t>
            </a:r>
            <a:endParaRPr lang="en-US" sz="950" dirty="0"/>
          </a:p>
        </p:txBody>
      </p:sp>
      <p:sp>
        <p:nvSpPr>
          <p:cNvPr id="17" name="Shape 15"/>
          <p:cNvSpPr/>
          <p:nvPr/>
        </p:nvSpPr>
        <p:spPr>
          <a:xfrm>
            <a:off x="9491472" y="1463040"/>
            <a:ext cx="2011680" cy="1234440"/>
          </a:xfrm>
          <a:prstGeom prst="rect">
            <a:avLst/>
          </a:prstGeom>
          <a:solidFill>
            <a:srgbClr val="C6472A"/>
          </a:solidFill>
          <a:ln w="6350">
            <a:solidFill>
              <a:srgbClr val="C6472A"/>
            </a:solidFill>
            <a:prstDash val="solid"/>
          </a:ln>
        </p:spPr>
      </p:sp>
      <p:sp>
        <p:nvSpPr>
          <p:cNvPr id="18" name="Text 16"/>
          <p:cNvSpPr txBox="1"/>
          <p:nvPr/>
        </p:nvSpPr>
        <p:spPr>
          <a:xfrm>
            <a:off x="9582912" y="1572768"/>
            <a:ext cx="1828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DFT, then experiment</a:t>
            </a:r>
            <a:endParaRPr lang="en-US" sz="1300" dirty="0"/>
          </a:p>
        </p:txBody>
      </p:sp>
      <p:sp>
        <p:nvSpPr>
          <p:cNvPr id="19" name="Text 17"/>
          <p:cNvSpPr txBox="1"/>
          <p:nvPr/>
        </p:nvSpPr>
        <p:spPr>
          <a:xfrm>
            <a:off x="9582912" y="1920240"/>
            <a:ext cx="1828800" cy="685800"/>
          </a:xfrm>
          <a:prstGeom prst="rect">
            <a:avLst/>
          </a:prstGeom>
          <a:noFill/>
          <a:ln/>
        </p:spPr>
        <p:txBody>
          <a:bodyPr wrap="square" lIns="0" tIns="0" rIns="0" bIns="0" rtlCol="0" anchor="t"/>
          <a:lstStyle/>
          <a:p>
            <a:pPr algn="ctr" indent="0" marL="0">
              <a:buNone/>
            </a:pPr>
            <a:r>
              <a:rPr lang="en-US" sz="950" dirty="0">
                <a:solidFill>
                  <a:srgbClr val="FBE3DC"/>
                </a:solidFill>
                <a:latin typeface="Calibri" pitchFamily="34" charset="0"/>
                <a:ea typeface="Calibri" pitchFamily="34" charset="-122"/>
                <a:cs typeface="Calibri" pitchFamily="34" charset="-120"/>
              </a:rPr>
              <a:t>one f-in-core run per cell</a:t>
            </a:r>
            <a:endParaRPr lang="en-US" sz="950" dirty="0"/>
          </a:p>
          <a:p>
            <a:pPr algn="ctr" indent="0" marL="0">
              <a:buNone/>
            </a:pPr>
            <a:r>
              <a:rPr lang="en-US" sz="950" dirty="0">
                <a:solidFill>
                  <a:srgbClr val="FBE3DC"/>
                </a:solidFill>
                <a:latin typeface="Calibri" pitchFamily="34" charset="0"/>
                <a:ea typeface="Calibri" pitchFamily="34" charset="-122"/>
                <a:cs typeface="Calibri" pitchFamily="34" charset="-120"/>
              </a:rPr>
              <a:t>→ h, Ms, V  (ground truth)</a:t>
            </a:r>
            <a:endParaRPr lang="en-US" sz="950" dirty="0"/>
          </a:p>
        </p:txBody>
      </p:sp>
      <p:sp>
        <p:nvSpPr>
          <p:cNvPr id="20" name="Shape 18"/>
          <p:cNvSpPr/>
          <p:nvPr/>
        </p:nvSpPr>
        <p:spPr>
          <a:xfrm>
            <a:off x="2651760" y="2080260"/>
            <a:ext cx="201168" cy="0"/>
          </a:xfrm>
          <a:prstGeom prst="line">
            <a:avLst/>
          </a:prstGeom>
          <a:noFill/>
          <a:ln w="17780">
            <a:solidFill>
              <a:srgbClr val="1A2233"/>
            </a:solidFill>
            <a:prstDash val="solid"/>
            <a:tailEnd type="triangle"/>
          </a:ln>
        </p:spPr>
      </p:sp>
      <p:sp>
        <p:nvSpPr>
          <p:cNvPr id="21" name="Shape 19"/>
          <p:cNvSpPr/>
          <p:nvPr/>
        </p:nvSpPr>
        <p:spPr>
          <a:xfrm>
            <a:off x="4864608" y="2080260"/>
            <a:ext cx="201168" cy="0"/>
          </a:xfrm>
          <a:prstGeom prst="line">
            <a:avLst/>
          </a:prstGeom>
          <a:noFill/>
          <a:ln w="17780">
            <a:solidFill>
              <a:srgbClr val="1A2233"/>
            </a:solidFill>
            <a:prstDash val="solid"/>
            <a:tailEnd type="triangle"/>
          </a:ln>
        </p:spPr>
      </p:sp>
      <p:sp>
        <p:nvSpPr>
          <p:cNvPr id="22" name="Shape 20"/>
          <p:cNvSpPr/>
          <p:nvPr/>
        </p:nvSpPr>
        <p:spPr>
          <a:xfrm>
            <a:off x="7077456" y="2080260"/>
            <a:ext cx="201168" cy="0"/>
          </a:xfrm>
          <a:prstGeom prst="line">
            <a:avLst/>
          </a:prstGeom>
          <a:noFill/>
          <a:ln w="17780">
            <a:solidFill>
              <a:srgbClr val="1A2233"/>
            </a:solidFill>
            <a:prstDash val="solid"/>
            <a:tailEnd type="triangle"/>
          </a:ln>
        </p:spPr>
      </p:sp>
      <p:sp>
        <p:nvSpPr>
          <p:cNvPr id="23" name="Shape 21"/>
          <p:cNvSpPr/>
          <p:nvPr/>
        </p:nvSpPr>
        <p:spPr>
          <a:xfrm>
            <a:off x="9290304" y="2080260"/>
            <a:ext cx="201168" cy="0"/>
          </a:xfrm>
          <a:prstGeom prst="line">
            <a:avLst/>
          </a:prstGeom>
          <a:noFill/>
          <a:ln w="17780">
            <a:solidFill>
              <a:srgbClr val="1A2233"/>
            </a:solidFill>
            <a:prstDash val="solid"/>
            <a:tailEnd type="triangle"/>
          </a:ln>
        </p:spPr>
      </p:sp>
      <p:sp>
        <p:nvSpPr>
          <p:cNvPr id="24" name="Shape 22"/>
          <p:cNvSpPr/>
          <p:nvPr/>
        </p:nvSpPr>
        <p:spPr>
          <a:xfrm>
            <a:off x="777240" y="3154680"/>
            <a:ext cx="10588752" cy="2468880"/>
          </a:xfrm>
          <a:prstGeom prst="rect">
            <a:avLst/>
          </a:prstGeom>
          <a:solidFill>
            <a:srgbClr val="FFFFFF">
              <a:alpha val="0"/>
            </a:srgbClr>
          </a:solidFill>
          <a:ln w="25400">
            <a:solidFill>
              <a:srgbClr val="E4572E"/>
            </a:solidFill>
            <a:prstDash val="dash"/>
          </a:ln>
        </p:spPr>
      </p:sp>
      <p:sp>
        <p:nvSpPr>
          <p:cNvPr id="25" name="Shape 23"/>
          <p:cNvSpPr/>
          <p:nvPr/>
        </p:nvSpPr>
        <p:spPr>
          <a:xfrm>
            <a:off x="914400" y="3429000"/>
            <a:ext cx="10314432" cy="1920240"/>
          </a:xfrm>
          <a:prstGeom prst="rect">
            <a:avLst/>
          </a:prstGeom>
          <a:solidFill>
            <a:srgbClr val="3E9AA8"/>
          </a:solidFill>
          <a:ln w="6350">
            <a:solidFill>
              <a:srgbClr val="3E9AA8"/>
            </a:solidFill>
            <a:prstDash val="solid"/>
          </a:ln>
        </p:spPr>
      </p:sp>
      <p:sp>
        <p:nvSpPr>
          <p:cNvPr id="26" name="Text 24"/>
          <p:cNvSpPr txBox="1"/>
          <p:nvPr/>
        </p:nvSpPr>
        <p:spPr>
          <a:xfrm>
            <a:off x="1097280" y="3520440"/>
            <a:ext cx="9948672"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Understanding loop: interpretable pipeline  RF → SOM → EBM → SymReg → LogReg → ENCO</a:t>
            </a:r>
            <a:endParaRPr lang="en-US" sz="1250" dirty="0"/>
          </a:p>
        </p:txBody>
      </p:sp>
      <p:sp>
        <p:nvSpPr>
          <p:cNvPr id="27" name="Text 25"/>
          <p:cNvSpPr txBox="1"/>
          <p:nvPr/>
        </p:nvSpPr>
        <p:spPr>
          <a:xfrm>
            <a:off x="1097280" y="3886200"/>
            <a:ext cx="777240" cy="219456"/>
          </a:xfrm>
          <a:prstGeom prst="rect">
            <a:avLst/>
          </a:prstGeom>
          <a:noFill/>
          <a:ln/>
        </p:spPr>
        <p:txBody>
          <a:bodyPr wrap="square" lIns="0" tIns="0" rIns="0" bIns="0" rtlCol="0" anchor="ctr"/>
          <a:lstStyle/>
          <a:p>
            <a:pPr indent="0" marL="0">
              <a:buNone/>
            </a:pPr>
            <a:r>
              <a:rPr lang="en-US" sz="1050" b="1" dirty="0">
                <a:solidFill>
                  <a:srgbClr val="FFF3D6"/>
                </a:solidFill>
                <a:latin typeface="Calibri" pitchFamily="34" charset="0"/>
                <a:ea typeface="Calibri" pitchFamily="34" charset="-122"/>
                <a:cs typeface="Calibri" pitchFamily="34" charset="-120"/>
              </a:rPr>
              <a:t>RF</a:t>
            </a:r>
            <a:endParaRPr lang="en-US" sz="1050" dirty="0"/>
          </a:p>
        </p:txBody>
      </p:sp>
      <p:sp>
        <p:nvSpPr>
          <p:cNvPr id="28" name="Text 26"/>
          <p:cNvSpPr txBox="1"/>
          <p:nvPr/>
        </p:nvSpPr>
        <p:spPr>
          <a:xfrm>
            <a:off x="1874520" y="3886200"/>
            <a:ext cx="2401824" cy="658368"/>
          </a:xfrm>
          <a:prstGeom prst="rect">
            <a:avLst/>
          </a:prstGeom>
          <a:noFill/>
          <a:ln/>
        </p:spPr>
        <p:txBody>
          <a:bodyPr wrap="square" lIns="0" tIns="0" rIns="0" bIns="0" rtlCol="0" anchor="ctr"/>
          <a:lstStyle/>
          <a:p>
            <a:pPr indent="0" marL="0">
              <a:buNone/>
            </a:pPr>
            <a:r>
              <a:rPr lang="en-US" sz="830" dirty="0">
                <a:solidFill>
                  <a:srgbClr val="F0F7F8"/>
                </a:solidFill>
                <a:latin typeface="Calibri" pitchFamily="34" charset="0"/>
                <a:ea typeface="Calibri" pitchFamily="34" charset="-122"/>
                <a:cs typeface="Calibri" pitchFamily="34" charset="-120"/>
              </a:rPr>
              <a:t>random forest on the labels: which descriptors carry the signal (done: 5d polarisation, distance, Co)</a:t>
            </a:r>
            <a:endParaRPr lang="en-US" sz="830" dirty="0"/>
          </a:p>
        </p:txBody>
      </p:sp>
      <p:sp>
        <p:nvSpPr>
          <p:cNvPr id="29" name="Text 27"/>
          <p:cNvSpPr txBox="1"/>
          <p:nvPr/>
        </p:nvSpPr>
        <p:spPr>
          <a:xfrm>
            <a:off x="4413504" y="3886200"/>
            <a:ext cx="777240" cy="219456"/>
          </a:xfrm>
          <a:prstGeom prst="rect">
            <a:avLst/>
          </a:prstGeom>
          <a:noFill/>
          <a:ln/>
        </p:spPr>
        <p:txBody>
          <a:bodyPr wrap="square" lIns="0" tIns="0" rIns="0" bIns="0" rtlCol="0" anchor="ctr"/>
          <a:lstStyle/>
          <a:p>
            <a:pPr indent="0" marL="0">
              <a:buNone/>
            </a:pPr>
            <a:r>
              <a:rPr lang="en-US" sz="1050" b="1" dirty="0">
                <a:solidFill>
                  <a:srgbClr val="FFF3D6"/>
                </a:solidFill>
                <a:latin typeface="Calibri" pitchFamily="34" charset="0"/>
                <a:ea typeface="Calibri" pitchFamily="34" charset="-122"/>
                <a:cs typeface="Calibri" pitchFamily="34" charset="-120"/>
              </a:rPr>
              <a:t>SOM</a:t>
            </a:r>
            <a:endParaRPr lang="en-US" sz="1050" dirty="0"/>
          </a:p>
        </p:txBody>
      </p:sp>
      <p:sp>
        <p:nvSpPr>
          <p:cNvPr id="30" name="Text 28"/>
          <p:cNvSpPr txBox="1"/>
          <p:nvPr/>
        </p:nvSpPr>
        <p:spPr>
          <a:xfrm>
            <a:off x="5190744" y="3886200"/>
            <a:ext cx="2401824" cy="658368"/>
          </a:xfrm>
          <a:prstGeom prst="rect">
            <a:avLst/>
          </a:prstGeom>
          <a:noFill/>
          <a:ln/>
        </p:spPr>
        <p:txBody>
          <a:bodyPr wrap="square" lIns="0" tIns="0" rIns="0" bIns="0" rtlCol="0" anchor="ctr"/>
          <a:lstStyle/>
          <a:p>
            <a:pPr indent="0" marL="0">
              <a:buNone/>
            </a:pPr>
            <a:r>
              <a:rPr lang="en-US" sz="830" dirty="0">
                <a:solidFill>
                  <a:srgbClr val="F0F7F8"/>
                </a:solidFill>
                <a:latin typeface="Calibri" pitchFamily="34" charset="0"/>
                <a:ea typeface="Calibri" pitchFamily="34" charset="-122"/>
                <a:cs typeface="Calibri" pitchFamily="34" charset="-120"/>
              </a:rPr>
              <a:t>self-organising map: cluster hosts into families; shows which families the waves have not sampled</a:t>
            </a:r>
            <a:endParaRPr lang="en-US" sz="830" dirty="0"/>
          </a:p>
        </p:txBody>
      </p:sp>
      <p:sp>
        <p:nvSpPr>
          <p:cNvPr id="31" name="Text 29"/>
          <p:cNvSpPr txBox="1"/>
          <p:nvPr/>
        </p:nvSpPr>
        <p:spPr>
          <a:xfrm>
            <a:off x="7729728" y="3886200"/>
            <a:ext cx="777240" cy="219456"/>
          </a:xfrm>
          <a:prstGeom prst="rect">
            <a:avLst/>
          </a:prstGeom>
          <a:noFill/>
          <a:ln/>
        </p:spPr>
        <p:txBody>
          <a:bodyPr wrap="square" lIns="0" tIns="0" rIns="0" bIns="0" rtlCol="0" anchor="ctr"/>
          <a:lstStyle/>
          <a:p>
            <a:pPr indent="0" marL="0">
              <a:buNone/>
            </a:pPr>
            <a:r>
              <a:rPr lang="en-US" sz="1050" b="1" dirty="0">
                <a:solidFill>
                  <a:srgbClr val="FFF3D6"/>
                </a:solidFill>
                <a:latin typeface="Calibri" pitchFamily="34" charset="0"/>
                <a:ea typeface="Calibri" pitchFamily="34" charset="-122"/>
                <a:cs typeface="Calibri" pitchFamily="34" charset="-120"/>
              </a:rPr>
              <a:t>EBM</a:t>
            </a:r>
            <a:endParaRPr lang="en-US" sz="1050" dirty="0"/>
          </a:p>
        </p:txBody>
      </p:sp>
      <p:sp>
        <p:nvSpPr>
          <p:cNvPr id="32" name="Text 30"/>
          <p:cNvSpPr txBox="1"/>
          <p:nvPr/>
        </p:nvSpPr>
        <p:spPr>
          <a:xfrm>
            <a:off x="8506968" y="3886200"/>
            <a:ext cx="2401824" cy="658368"/>
          </a:xfrm>
          <a:prstGeom prst="rect">
            <a:avLst/>
          </a:prstGeom>
          <a:noFill/>
          <a:ln/>
        </p:spPr>
        <p:txBody>
          <a:bodyPr wrap="square" lIns="0" tIns="0" rIns="0" bIns="0" rtlCol="0" anchor="ctr"/>
          <a:lstStyle/>
          <a:p>
            <a:pPr indent="0" marL="0">
              <a:buNone/>
            </a:pPr>
            <a:r>
              <a:rPr lang="en-US" sz="830" dirty="0">
                <a:solidFill>
                  <a:srgbClr val="F0F7F8"/>
                </a:solidFill>
                <a:latin typeface="Calibri" pitchFamily="34" charset="0"/>
                <a:ea typeface="Calibri" pitchFamily="34" charset="-122"/>
                <a:cs typeface="Calibri" pitchFamily="34" charset="-120"/>
              </a:rPr>
              <a:t>explainable boosting: additive per-descriptor curves - the shape of each lever, not only its sign</a:t>
            </a:r>
            <a:endParaRPr lang="en-US" sz="830" dirty="0"/>
          </a:p>
        </p:txBody>
      </p:sp>
      <p:sp>
        <p:nvSpPr>
          <p:cNvPr id="33" name="Text 31"/>
          <p:cNvSpPr txBox="1"/>
          <p:nvPr/>
        </p:nvSpPr>
        <p:spPr>
          <a:xfrm>
            <a:off x="1097280" y="4599432"/>
            <a:ext cx="777240" cy="219456"/>
          </a:xfrm>
          <a:prstGeom prst="rect">
            <a:avLst/>
          </a:prstGeom>
          <a:noFill/>
          <a:ln/>
        </p:spPr>
        <p:txBody>
          <a:bodyPr wrap="square" lIns="0" tIns="0" rIns="0" bIns="0" rtlCol="0" anchor="ctr"/>
          <a:lstStyle/>
          <a:p>
            <a:pPr indent="0" marL="0">
              <a:buNone/>
            </a:pPr>
            <a:r>
              <a:rPr lang="en-US" sz="1050" b="1" dirty="0">
                <a:solidFill>
                  <a:srgbClr val="FFF3D6"/>
                </a:solidFill>
                <a:latin typeface="Calibri" pitchFamily="34" charset="0"/>
                <a:ea typeface="Calibri" pitchFamily="34" charset="-122"/>
                <a:cs typeface="Calibri" pitchFamily="34" charset="-120"/>
              </a:rPr>
              <a:t>SymReg</a:t>
            </a:r>
            <a:endParaRPr lang="en-US" sz="1050" dirty="0"/>
          </a:p>
        </p:txBody>
      </p:sp>
      <p:sp>
        <p:nvSpPr>
          <p:cNvPr id="34" name="Text 32"/>
          <p:cNvSpPr txBox="1"/>
          <p:nvPr/>
        </p:nvSpPr>
        <p:spPr>
          <a:xfrm>
            <a:off x="1874520" y="4599432"/>
            <a:ext cx="2401824" cy="658368"/>
          </a:xfrm>
          <a:prstGeom prst="rect">
            <a:avLst/>
          </a:prstGeom>
          <a:noFill/>
          <a:ln/>
        </p:spPr>
        <p:txBody>
          <a:bodyPr wrap="square" lIns="0" tIns="0" rIns="0" bIns="0" rtlCol="0" anchor="ctr"/>
          <a:lstStyle/>
          <a:p>
            <a:pPr indent="0" marL="0">
              <a:buNone/>
            </a:pPr>
            <a:r>
              <a:rPr lang="en-US" sz="830" dirty="0">
                <a:solidFill>
                  <a:srgbClr val="F0F7F8"/>
                </a:solidFill>
                <a:latin typeface="Calibri" pitchFamily="34" charset="0"/>
                <a:ea typeface="Calibri" pitchFamily="34" charset="-122"/>
                <a:cs typeface="Calibri" pitchFamily="34" charset="-120"/>
              </a:rPr>
              <a:t>symbolic regression: closed forms (done by hand: ΔE = 1574·h; next: h = f(distance, Z, Co))</a:t>
            </a:r>
            <a:endParaRPr lang="en-US" sz="830" dirty="0"/>
          </a:p>
        </p:txBody>
      </p:sp>
      <p:sp>
        <p:nvSpPr>
          <p:cNvPr id="35" name="Text 33"/>
          <p:cNvSpPr txBox="1"/>
          <p:nvPr/>
        </p:nvSpPr>
        <p:spPr>
          <a:xfrm>
            <a:off x="4413504" y="4599432"/>
            <a:ext cx="777240" cy="219456"/>
          </a:xfrm>
          <a:prstGeom prst="rect">
            <a:avLst/>
          </a:prstGeom>
          <a:noFill/>
          <a:ln/>
        </p:spPr>
        <p:txBody>
          <a:bodyPr wrap="square" lIns="0" tIns="0" rIns="0" bIns="0" rtlCol="0" anchor="ctr"/>
          <a:lstStyle/>
          <a:p>
            <a:pPr indent="0" marL="0">
              <a:buNone/>
            </a:pPr>
            <a:r>
              <a:rPr lang="en-US" sz="1050" b="1" dirty="0">
                <a:solidFill>
                  <a:srgbClr val="FFF3D6"/>
                </a:solidFill>
                <a:latin typeface="Calibri" pitchFamily="34" charset="0"/>
                <a:ea typeface="Calibri" pitchFamily="34" charset="-122"/>
                <a:cs typeface="Calibri" pitchFamily="34" charset="-120"/>
              </a:rPr>
              <a:t>LogReg</a:t>
            </a:r>
            <a:endParaRPr lang="en-US" sz="1050" dirty="0"/>
          </a:p>
        </p:txBody>
      </p:sp>
      <p:sp>
        <p:nvSpPr>
          <p:cNvPr id="36" name="Text 34"/>
          <p:cNvSpPr txBox="1"/>
          <p:nvPr/>
        </p:nvSpPr>
        <p:spPr>
          <a:xfrm>
            <a:off x="5190744" y="4599432"/>
            <a:ext cx="2401824" cy="658368"/>
          </a:xfrm>
          <a:prstGeom prst="rect">
            <a:avLst/>
          </a:prstGeom>
          <a:noFill/>
          <a:ln/>
        </p:spPr>
        <p:txBody>
          <a:bodyPr wrap="square" lIns="0" tIns="0" rIns="0" bIns="0" rtlCol="0" anchor="ctr"/>
          <a:lstStyle/>
          <a:p>
            <a:pPr indent="0" marL="0">
              <a:buNone/>
            </a:pPr>
            <a:r>
              <a:rPr lang="en-US" sz="830" dirty="0">
                <a:solidFill>
                  <a:srgbClr val="F0F7F8"/>
                </a:solidFill>
                <a:latin typeface="Calibri" pitchFamily="34" charset="0"/>
                <a:ea typeface="Calibri" pitchFamily="34" charset="-122"/>
                <a:cs typeface="Calibri" pitchFamily="34" charset="-120"/>
              </a:rPr>
              <a:t>feasibility classifier: P(hull ∧ Ms ∧ gap) from geometry - a cheap pre-filter before MACE</a:t>
            </a:r>
            <a:endParaRPr lang="en-US" sz="830" dirty="0"/>
          </a:p>
        </p:txBody>
      </p:sp>
      <p:sp>
        <p:nvSpPr>
          <p:cNvPr id="37" name="Text 35"/>
          <p:cNvSpPr txBox="1"/>
          <p:nvPr/>
        </p:nvSpPr>
        <p:spPr>
          <a:xfrm>
            <a:off x="7729728" y="4599432"/>
            <a:ext cx="777240" cy="219456"/>
          </a:xfrm>
          <a:prstGeom prst="rect">
            <a:avLst/>
          </a:prstGeom>
          <a:noFill/>
          <a:ln/>
        </p:spPr>
        <p:txBody>
          <a:bodyPr wrap="square" lIns="0" tIns="0" rIns="0" bIns="0" rtlCol="0" anchor="ctr"/>
          <a:lstStyle/>
          <a:p>
            <a:pPr indent="0" marL="0">
              <a:buNone/>
            </a:pPr>
            <a:r>
              <a:rPr lang="en-US" sz="1050" b="1" dirty="0">
                <a:solidFill>
                  <a:srgbClr val="FFF3D6"/>
                </a:solidFill>
                <a:latin typeface="Calibri" pitchFamily="34" charset="0"/>
                <a:ea typeface="Calibri" pitchFamily="34" charset="-122"/>
                <a:cs typeface="Calibri" pitchFamily="34" charset="-120"/>
              </a:rPr>
              <a:t>ENCO</a:t>
            </a:r>
            <a:endParaRPr lang="en-US" sz="1050" dirty="0"/>
          </a:p>
        </p:txBody>
      </p:sp>
      <p:sp>
        <p:nvSpPr>
          <p:cNvPr id="38" name="Text 36"/>
          <p:cNvSpPr txBox="1"/>
          <p:nvPr/>
        </p:nvSpPr>
        <p:spPr>
          <a:xfrm>
            <a:off x="8506968" y="4599432"/>
            <a:ext cx="2401824" cy="658368"/>
          </a:xfrm>
          <a:prstGeom prst="rect">
            <a:avLst/>
          </a:prstGeom>
          <a:noFill/>
          <a:ln/>
        </p:spPr>
        <p:txBody>
          <a:bodyPr wrap="square" lIns="0" tIns="0" rIns="0" bIns="0" rtlCol="0" anchor="ctr"/>
          <a:lstStyle/>
          <a:p>
            <a:pPr indent="0" marL="0">
              <a:buNone/>
            </a:pPr>
            <a:r>
              <a:rPr lang="en-US" sz="830" dirty="0">
                <a:solidFill>
                  <a:srgbClr val="F0F7F8"/>
                </a:solidFill>
                <a:latin typeface="Calibri" pitchFamily="34" charset="0"/>
                <a:ea typeface="Calibri" pitchFamily="34" charset="-122"/>
                <a:cs typeface="Calibri" pitchFamily="34" charset="-120"/>
              </a:rPr>
              <a:t>causal discovery using the waves as interventions: tests the hand-built graph (host → S₅d → gap) and finds edges we missed</a:t>
            </a:r>
            <a:endParaRPr lang="en-US" sz="830" dirty="0"/>
          </a:p>
        </p:txBody>
      </p:sp>
      <p:sp>
        <p:nvSpPr>
          <p:cNvPr id="39" name="Shape 37"/>
          <p:cNvSpPr/>
          <p:nvPr/>
        </p:nvSpPr>
        <p:spPr>
          <a:xfrm>
            <a:off x="10497312" y="2697480"/>
            <a:ext cx="0" cy="731520"/>
          </a:xfrm>
          <a:prstGeom prst="line">
            <a:avLst/>
          </a:prstGeom>
          <a:noFill/>
          <a:ln w="17780">
            <a:solidFill>
              <a:srgbClr val="7A8DA8"/>
            </a:solidFill>
            <a:prstDash val="dash"/>
            <a:tailEnd type="triangle"/>
          </a:ln>
        </p:spPr>
      </p:sp>
      <p:sp>
        <p:nvSpPr>
          <p:cNvPr id="40" name="Shape 38"/>
          <p:cNvSpPr/>
          <p:nvPr/>
        </p:nvSpPr>
        <p:spPr>
          <a:xfrm flipV="1">
            <a:off x="5522976" y="2697480"/>
            <a:ext cx="0" cy="731520"/>
          </a:xfrm>
          <a:prstGeom prst="line">
            <a:avLst/>
          </a:prstGeom>
          <a:noFill/>
          <a:ln w="17780">
            <a:solidFill>
              <a:srgbClr val="7A8DA8"/>
            </a:solidFill>
            <a:prstDash val="dash"/>
            <a:tailEnd type="triangle"/>
          </a:ln>
        </p:spPr>
      </p:sp>
      <p:sp>
        <p:nvSpPr>
          <p:cNvPr id="41" name="Shape 39"/>
          <p:cNvSpPr/>
          <p:nvPr/>
        </p:nvSpPr>
        <p:spPr>
          <a:xfrm flipV="1">
            <a:off x="8284464" y="2697480"/>
            <a:ext cx="0" cy="731520"/>
          </a:xfrm>
          <a:prstGeom prst="line">
            <a:avLst/>
          </a:prstGeom>
          <a:noFill/>
          <a:ln w="17780">
            <a:solidFill>
              <a:srgbClr val="7A8DA8"/>
            </a:solidFill>
            <a:prstDash val="dash"/>
            <a:tailEnd type="triangle"/>
          </a:ln>
        </p:spPr>
      </p:sp>
      <p:sp>
        <p:nvSpPr>
          <p:cNvPr id="42" name="Shape 40"/>
          <p:cNvSpPr/>
          <p:nvPr/>
        </p:nvSpPr>
        <p:spPr>
          <a:xfrm flipV="1">
            <a:off x="1097280" y="2697480"/>
            <a:ext cx="0" cy="731520"/>
          </a:xfrm>
          <a:prstGeom prst="line">
            <a:avLst/>
          </a:prstGeom>
          <a:noFill/>
          <a:ln w="17780">
            <a:solidFill>
              <a:srgbClr val="E4572E"/>
            </a:solidFill>
            <a:prstDash val="dash"/>
            <a:tailEnd type="triangle"/>
          </a:ln>
        </p:spPr>
      </p:sp>
      <p:sp>
        <p:nvSpPr>
          <p:cNvPr id="43" name="Shape 41"/>
          <p:cNvSpPr/>
          <p:nvPr/>
        </p:nvSpPr>
        <p:spPr>
          <a:xfrm>
            <a:off x="6528816" y="2697480"/>
            <a:ext cx="0" cy="384048"/>
          </a:xfrm>
          <a:prstGeom prst="line">
            <a:avLst/>
          </a:prstGeom>
          <a:noFill/>
          <a:ln w="17780">
            <a:solidFill>
              <a:srgbClr val="E4572E"/>
            </a:solidFill>
            <a:prstDash val="dash"/>
          </a:ln>
        </p:spPr>
      </p:sp>
      <p:sp>
        <p:nvSpPr>
          <p:cNvPr id="44" name="Shape 42"/>
          <p:cNvSpPr/>
          <p:nvPr/>
        </p:nvSpPr>
        <p:spPr>
          <a:xfrm>
            <a:off x="2286000" y="3081528"/>
            <a:ext cx="4242816" cy="0"/>
          </a:xfrm>
          <a:prstGeom prst="line">
            <a:avLst/>
          </a:prstGeom>
          <a:noFill/>
          <a:ln w="17780">
            <a:solidFill>
              <a:srgbClr val="E4572E"/>
            </a:solidFill>
            <a:prstDash val="dash"/>
          </a:ln>
        </p:spPr>
      </p:sp>
      <p:sp>
        <p:nvSpPr>
          <p:cNvPr id="45" name="Shape 43"/>
          <p:cNvSpPr/>
          <p:nvPr/>
        </p:nvSpPr>
        <p:spPr>
          <a:xfrm flipV="1">
            <a:off x="2286000" y="2697480"/>
            <a:ext cx="0" cy="384048"/>
          </a:xfrm>
          <a:prstGeom prst="line">
            <a:avLst/>
          </a:prstGeom>
          <a:noFill/>
          <a:ln w="17780">
            <a:solidFill>
              <a:srgbClr val="E4572E"/>
            </a:solidFill>
            <a:prstDash val="dash"/>
            <a:tailEnd type="triangle"/>
          </a:ln>
        </p:spPr>
      </p:sp>
      <p:sp>
        <p:nvSpPr>
          <p:cNvPr id="46" name="Text 44"/>
          <p:cNvSpPr txBox="1"/>
          <p:nvPr/>
        </p:nvSpPr>
        <p:spPr>
          <a:xfrm>
            <a:off x="10570464" y="2770632"/>
            <a:ext cx="1463040" cy="182880"/>
          </a:xfrm>
          <a:prstGeom prst="rect">
            <a:avLst/>
          </a:prstGeom>
          <a:noFill/>
          <a:ln/>
        </p:spPr>
        <p:txBody>
          <a:bodyPr wrap="square" lIns="0" tIns="0" rIns="0" bIns="0" rtlCol="0" anchor="ctr"/>
          <a:lstStyle/>
          <a:p>
            <a:pPr indent="0" marL="0">
              <a:buNone/>
            </a:pPr>
            <a:r>
              <a:rPr lang="en-US" sz="860" i="1" dirty="0">
                <a:solidFill>
                  <a:srgbClr val="5A6478"/>
                </a:solidFill>
                <a:latin typeface="Calibri" pitchFamily="34" charset="0"/>
                <a:ea typeface="Calibri" pitchFamily="34" charset="-122"/>
                <a:cs typeface="Calibri" pitchFamily="34" charset="-120"/>
              </a:rPr>
              <a:t>DFT results</a:t>
            </a:r>
            <a:endParaRPr lang="en-US" sz="860" dirty="0"/>
          </a:p>
        </p:txBody>
      </p:sp>
      <p:sp>
        <p:nvSpPr>
          <p:cNvPr id="47" name="Text 45"/>
          <p:cNvSpPr txBox="1"/>
          <p:nvPr/>
        </p:nvSpPr>
        <p:spPr>
          <a:xfrm>
            <a:off x="5596128" y="3319272"/>
            <a:ext cx="1463040" cy="182880"/>
          </a:xfrm>
          <a:prstGeom prst="rect">
            <a:avLst/>
          </a:prstGeom>
          <a:noFill/>
          <a:ln/>
        </p:spPr>
        <p:txBody>
          <a:bodyPr wrap="square" lIns="0" tIns="0" rIns="0" bIns="0" rtlCol="0" anchor="ctr"/>
          <a:lstStyle/>
          <a:p>
            <a:pPr indent="0" marL="0">
              <a:buNone/>
            </a:pPr>
            <a:r>
              <a:rPr lang="en-US" sz="860" i="1" dirty="0">
                <a:solidFill>
                  <a:srgbClr val="5A6478"/>
                </a:solidFill>
                <a:latin typeface="Calibri" pitchFamily="34" charset="0"/>
                <a:ea typeface="Calibri" pitchFamily="34" charset="-122"/>
                <a:cs typeface="Calibri" pitchFamily="34" charset="-120"/>
              </a:rPr>
              <a:t>rules → mean</a:t>
            </a:r>
            <a:endParaRPr lang="en-US" sz="860" dirty="0"/>
          </a:p>
        </p:txBody>
      </p:sp>
      <p:sp>
        <p:nvSpPr>
          <p:cNvPr id="48" name="Text 46"/>
          <p:cNvSpPr txBox="1"/>
          <p:nvPr/>
        </p:nvSpPr>
        <p:spPr>
          <a:xfrm>
            <a:off x="8357616" y="2971800"/>
            <a:ext cx="1463040" cy="182880"/>
          </a:xfrm>
          <a:prstGeom prst="rect">
            <a:avLst/>
          </a:prstGeom>
          <a:noFill/>
          <a:ln/>
        </p:spPr>
        <p:txBody>
          <a:bodyPr wrap="square" lIns="0" tIns="0" rIns="0" bIns="0" rtlCol="0" anchor="ctr"/>
          <a:lstStyle/>
          <a:p>
            <a:pPr indent="0" marL="0">
              <a:buNone/>
            </a:pPr>
            <a:r>
              <a:rPr lang="en-US" sz="860" i="1" dirty="0">
                <a:solidFill>
                  <a:srgbClr val="5A6478"/>
                </a:solidFill>
                <a:latin typeface="Calibri" pitchFamily="34" charset="0"/>
                <a:ea typeface="Calibri" pitchFamily="34" charset="-122"/>
                <a:cs typeface="Calibri" pitchFamily="34" charset="-120"/>
              </a:rPr>
              <a:t>disambiguation targets</a:t>
            </a:r>
            <a:endParaRPr lang="en-US" sz="860" dirty="0"/>
          </a:p>
        </p:txBody>
      </p:sp>
      <p:sp>
        <p:nvSpPr>
          <p:cNvPr id="49" name="Text 47"/>
          <p:cNvSpPr txBox="1"/>
          <p:nvPr/>
        </p:nvSpPr>
        <p:spPr>
          <a:xfrm>
            <a:off x="1170432" y="2770632"/>
            <a:ext cx="2194560" cy="182880"/>
          </a:xfrm>
          <a:prstGeom prst="rect">
            <a:avLst/>
          </a:prstGeom>
          <a:noFill/>
          <a:ln/>
        </p:spPr>
        <p:txBody>
          <a:bodyPr wrap="square" lIns="0" tIns="0" rIns="0" bIns="0" rtlCol="0" anchor="ctr"/>
          <a:lstStyle/>
          <a:p>
            <a:pPr indent="0" marL="0">
              <a:buNone/>
            </a:pPr>
            <a:r>
              <a:rPr lang="en-US" sz="860" i="1" dirty="0">
                <a:solidFill>
                  <a:srgbClr val="E4572E"/>
                </a:solidFill>
                <a:latin typeface="Calibri" pitchFamily="34" charset="0"/>
                <a:ea typeface="Calibri" pitchFamily="34" charset="-122"/>
                <a:cs typeface="Calibri" pitchFamily="34" charset="-120"/>
              </a:rPr>
              <a:t>causal parents = conditioning variables</a:t>
            </a:r>
            <a:endParaRPr lang="en-US" sz="860" dirty="0"/>
          </a:p>
        </p:txBody>
      </p:sp>
      <p:sp>
        <p:nvSpPr>
          <p:cNvPr id="50" name="Text 48"/>
          <p:cNvSpPr txBox="1"/>
          <p:nvPr/>
        </p:nvSpPr>
        <p:spPr>
          <a:xfrm>
            <a:off x="2926080" y="3118104"/>
            <a:ext cx="3291840" cy="182880"/>
          </a:xfrm>
          <a:prstGeom prst="rect">
            <a:avLst/>
          </a:prstGeom>
          <a:noFill/>
          <a:ln/>
        </p:spPr>
        <p:txBody>
          <a:bodyPr wrap="square" lIns="0" tIns="0" rIns="0" bIns="0" rtlCol="0" anchor="ctr"/>
          <a:lstStyle/>
          <a:p>
            <a:pPr indent="0" marL="0">
              <a:buNone/>
            </a:pPr>
            <a:r>
              <a:rPr lang="en-US" sz="860" i="1" dirty="0">
                <a:solidFill>
                  <a:srgbClr val="E4572E"/>
                </a:solidFill>
                <a:latin typeface="Calibri" pitchFamily="34" charset="0"/>
                <a:ea typeface="Calibri" pitchFamily="34" charset="-122"/>
                <a:cs typeface="Calibri" pitchFamily="34" charset="-120"/>
              </a:rPr>
              <a:t>GP posterior → inverse design toward the empty Pareto corner</a:t>
            </a:r>
            <a:endParaRPr lang="en-US" sz="860" dirty="0"/>
          </a:p>
        </p:txBody>
      </p:sp>
      <p:sp>
        <p:nvSpPr>
          <p:cNvPr id="51" name="Shape 49"/>
          <p:cNvSpPr/>
          <p:nvPr/>
        </p:nvSpPr>
        <p:spPr>
          <a:xfrm>
            <a:off x="640080" y="5760720"/>
            <a:ext cx="10881360" cy="777240"/>
          </a:xfrm>
          <a:prstGeom prst="roundRect">
            <a:avLst>
              <a:gd name="adj" fmla="val 9412"/>
            </a:avLst>
          </a:prstGeom>
          <a:solidFill>
            <a:srgbClr val="EEF2F7"/>
          </a:solidFill>
          <a:ln/>
        </p:spPr>
      </p:sp>
      <p:sp>
        <p:nvSpPr>
          <p:cNvPr id="52" name="Text 50"/>
          <p:cNvSpPr txBox="1"/>
          <p:nvPr/>
        </p:nvSpPr>
        <p:spPr>
          <a:xfrm>
            <a:off x="868680" y="5760720"/>
            <a:ext cx="10424160" cy="777240"/>
          </a:xfrm>
          <a:prstGeom prst="rect">
            <a:avLst/>
          </a:prstGeom>
          <a:noFill/>
          <a:ln/>
        </p:spPr>
        <p:txBody>
          <a:bodyPr wrap="square" lIns="0" tIns="0" rIns="0" bIns="0" rtlCol="0" anchor="ctr"/>
          <a:lstStyle/>
          <a:p>
            <a:pPr indent="0" marL="0">
              <a:buNone/>
            </a:pPr>
            <a:r>
              <a:rPr lang="en-US" sz="930" dirty="0">
                <a:solidFill>
                  <a:srgbClr val="1A2233"/>
                </a:solidFill>
                <a:latin typeface="Calibri" pitchFamily="34" charset="0"/>
                <a:ea typeface="Calibri" pitchFamily="34" charset="-122"/>
                <a:cs typeface="Calibri" pitchFamily="34" charset="-120"/>
              </a:rPr>
              <a:t>Minor modifications, in order: (1) add the diffusion model as one more generator - its proposals enter the same MLIP filter and the same GP; (2) condition it on the variables the causal graph names as parents of coupling and Ms, so it proposes short-bonded, Fe-dense, Co-tuned, H-free frameworks; (3) reserve acquisition slots for generated cells so novelty is sampled, not just exploited; (4) once waves give interventional data, run ENCO to audit the hand-built graph. Nothing downstream of the generator changes.</a:t>
            </a:r>
            <a:endParaRPr lang="en-US" sz="93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CANDIDATE GENERATION</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Seven sources feed one pool; every structure gets the same relaxation, hull and descriptors</a:t>
            </a:r>
            <a:endParaRPr lang="en-US" sz="3200" dirty="0"/>
          </a:p>
        </p:txBody>
      </p:sp>
      <p:sp>
        <p:nvSpPr>
          <p:cNvPr id="4" name="Shape 2"/>
          <p:cNvSpPr/>
          <p:nvPr/>
        </p:nvSpPr>
        <p:spPr>
          <a:xfrm>
            <a:off x="640080" y="1463040"/>
            <a:ext cx="2560320" cy="1508760"/>
          </a:xfrm>
          <a:prstGeom prst="roundRect">
            <a:avLst>
              <a:gd name="adj" fmla="val 3636"/>
            </a:avLst>
          </a:prstGeom>
          <a:solidFill>
            <a:srgbClr val="E3F0F6"/>
          </a:solidFill>
          <a:ln w="6350">
            <a:solidFill>
              <a:srgbClr val="E3F0F6"/>
            </a:solidFill>
            <a:prstDash val="solid"/>
          </a:ln>
        </p:spPr>
      </p:sp>
      <p:sp>
        <p:nvSpPr>
          <p:cNvPr id="5" name="Text 3"/>
          <p:cNvSpPr txBox="1"/>
          <p:nvPr/>
        </p:nvSpPr>
        <p:spPr>
          <a:xfrm>
            <a:off x="713232" y="1517904"/>
            <a:ext cx="2414016" cy="237744"/>
          </a:xfrm>
          <a:prstGeom prst="rect">
            <a:avLst/>
          </a:prstGeom>
          <a:noFill/>
          <a:ln/>
        </p:spPr>
        <p:txBody>
          <a:bodyPr wrap="square" lIns="0" tIns="0" rIns="0" bIns="0" rtlCol="0" anchor="ctr"/>
          <a:lstStyle/>
          <a:p>
            <a:pPr algn="ctr" indent="0" marL="0">
              <a:buNone/>
            </a:pPr>
            <a:r>
              <a:rPr lang="en-US" sz="1200" b="1" dirty="0">
                <a:solidFill>
                  <a:srgbClr val="1F5F7A"/>
                </a:solidFill>
                <a:latin typeface="Calibri" pitchFamily="34" charset="0"/>
                <a:ea typeface="Calibri" pitchFamily="34" charset="-122"/>
                <a:cs typeface="Calibri" pitchFamily="34" charset="-120"/>
              </a:rPr>
              <a:t>Database structures</a:t>
            </a:r>
            <a:endParaRPr lang="en-US" sz="1200" dirty="0"/>
          </a:p>
        </p:txBody>
      </p:sp>
      <p:sp>
        <p:nvSpPr>
          <p:cNvPr id="6" name="Text 4"/>
          <p:cNvSpPr txBox="1"/>
          <p:nvPr/>
        </p:nvSpPr>
        <p:spPr>
          <a:xfrm>
            <a:off x="713232" y="1792224"/>
            <a:ext cx="2414016" cy="1143000"/>
          </a:xfrm>
          <a:prstGeom prst="rect">
            <a:avLst/>
          </a:prstGeom>
          <a:noFill/>
          <a:ln/>
        </p:spPr>
        <p:txBody>
          <a:bodyPr wrap="square" lIns="0" tIns="0" rIns="0" bIns="0" rtlCol="0" anchor="t"/>
          <a:lstStyle/>
          <a:p>
            <a:pPr algn="ctr" indent="0" marL="0">
              <a:buNone/>
            </a:pPr>
            <a:r>
              <a:rPr lang="en-US" sz="1150" dirty="0">
                <a:solidFill>
                  <a:srgbClr val="1F5F7A"/>
                </a:solidFill>
                <a:latin typeface="Calibri" pitchFamily="34" charset="0"/>
                <a:ea typeface="Calibri" pitchFamily="34" charset="-122"/>
                <a:cs typeface="Calibri" pitchFamily="34" charset="-120"/>
              </a:rPr>
              <a:t>GNoME · MP · Alexandria · OQMD</a:t>
            </a:r>
            <a:endParaRPr lang="en-US" sz="1150" dirty="0"/>
          </a:p>
          <a:p>
            <a:pPr algn="ctr" indent="0" marL="0">
              <a:buNone/>
            </a:pPr>
            <a:r>
              <a:rPr lang="en-US" sz="1150" dirty="0">
                <a:solidFill>
                  <a:srgbClr val="1F5F7A"/>
                </a:solidFill>
                <a:latin typeface="Calibri" pitchFamily="34" charset="0"/>
                <a:ea typeface="Calibri" pitchFamily="34" charset="-122"/>
                <a:cs typeface="Calibri" pitchFamily="34" charset="-120"/>
              </a:rPr>
              <a:t>903 formulas with a CIF</a:t>
            </a:r>
            <a:endParaRPr lang="en-US" sz="1150" dirty="0"/>
          </a:p>
          <a:p>
            <a:pPr algn="ctr" indent="0" marL="0">
              <a:buNone/>
            </a:pPr>
            <a:r>
              <a:rPr lang="en-US" sz="1150" dirty="0">
                <a:solidFill>
                  <a:srgbClr val="1F5F7A"/>
                </a:solidFill>
                <a:latin typeface="Calibri" pitchFamily="34" charset="0"/>
                <a:ea typeface="Calibri" pitchFamily="34" charset="-122"/>
                <a:cs typeface="Calibri" pitchFamily="34" charset="-120"/>
              </a:rPr>
              <a:t>+147 recovered this week (MP by id)</a:t>
            </a:r>
            <a:endParaRPr lang="en-US" sz="1150" dirty="0"/>
          </a:p>
        </p:txBody>
      </p:sp>
      <p:sp>
        <p:nvSpPr>
          <p:cNvPr id="7" name="Text 5"/>
          <p:cNvSpPr txBox="1"/>
          <p:nvPr/>
        </p:nvSpPr>
        <p:spPr>
          <a:xfrm>
            <a:off x="731520" y="2670048"/>
            <a:ext cx="2377440" cy="256032"/>
          </a:xfrm>
          <a:prstGeom prst="rect">
            <a:avLst/>
          </a:prstGeom>
          <a:noFill/>
          <a:ln/>
        </p:spPr>
        <p:txBody>
          <a:bodyPr wrap="square" lIns="0" tIns="0" rIns="0" bIns="0" rtlCol="0" anchor="ctr"/>
          <a:lstStyle/>
          <a:p>
            <a:pPr algn="ctr" indent="0" marL="0">
              <a:buNone/>
            </a:pPr>
            <a:r>
              <a:rPr lang="en-US" sz="1000" b="1" dirty="0">
                <a:solidFill>
                  <a:srgbClr val="1F5F7A"/>
                </a:solidFill>
                <a:latin typeface="Calibri" pitchFamily="34" charset="0"/>
                <a:ea typeface="Calibri" pitchFamily="34" charset="-122"/>
                <a:cs typeface="Calibri" pitchFamily="34" charset="-120"/>
              </a:rPr>
              <a:t>134 in pool</a:t>
            </a:r>
            <a:endParaRPr lang="en-US" sz="1000" dirty="0"/>
          </a:p>
        </p:txBody>
      </p:sp>
      <p:sp>
        <p:nvSpPr>
          <p:cNvPr id="8" name="Shape 6"/>
          <p:cNvSpPr/>
          <p:nvPr/>
        </p:nvSpPr>
        <p:spPr>
          <a:xfrm>
            <a:off x="3383280" y="1463040"/>
            <a:ext cx="2560320" cy="1508760"/>
          </a:xfrm>
          <a:prstGeom prst="roundRect">
            <a:avLst>
              <a:gd name="adj" fmla="val 3636"/>
            </a:avLst>
          </a:prstGeom>
          <a:solidFill>
            <a:srgbClr val="E3F0F6"/>
          </a:solidFill>
          <a:ln w="6350">
            <a:solidFill>
              <a:srgbClr val="E3F0F6"/>
            </a:solidFill>
            <a:prstDash val="solid"/>
          </a:ln>
        </p:spPr>
      </p:sp>
      <p:sp>
        <p:nvSpPr>
          <p:cNvPr id="9" name="Text 7"/>
          <p:cNvSpPr txBox="1"/>
          <p:nvPr/>
        </p:nvSpPr>
        <p:spPr>
          <a:xfrm>
            <a:off x="3456432" y="1517904"/>
            <a:ext cx="2414016" cy="237744"/>
          </a:xfrm>
          <a:prstGeom prst="rect">
            <a:avLst/>
          </a:prstGeom>
          <a:noFill/>
          <a:ln/>
        </p:spPr>
        <p:txBody>
          <a:bodyPr wrap="square" lIns="0" tIns="0" rIns="0" bIns="0" rtlCol="0" anchor="ctr"/>
          <a:lstStyle/>
          <a:p>
            <a:pPr algn="ctr" indent="0" marL="0">
              <a:buNone/>
            </a:pPr>
            <a:r>
              <a:rPr lang="en-US" sz="1200" b="1" dirty="0">
                <a:solidFill>
                  <a:srgbClr val="1F5F7A"/>
                </a:solidFill>
                <a:latin typeface="Calibri" pitchFamily="34" charset="0"/>
                <a:ea typeface="Calibri" pitchFamily="34" charset="-122"/>
                <a:cs typeface="Calibri" pitchFamily="34" charset="-120"/>
              </a:rPr>
              <a:t>Campaign hosts</a:t>
            </a:r>
            <a:endParaRPr lang="en-US" sz="1200" dirty="0"/>
          </a:p>
        </p:txBody>
      </p:sp>
      <p:sp>
        <p:nvSpPr>
          <p:cNvPr id="10" name="Text 8"/>
          <p:cNvSpPr txBox="1"/>
          <p:nvPr/>
        </p:nvSpPr>
        <p:spPr>
          <a:xfrm>
            <a:off x="3456432" y="1792224"/>
            <a:ext cx="2414016" cy="1143000"/>
          </a:xfrm>
          <a:prstGeom prst="rect">
            <a:avLst/>
          </a:prstGeom>
          <a:noFill/>
          <a:ln/>
        </p:spPr>
        <p:txBody>
          <a:bodyPr wrap="square" lIns="0" tIns="0" rIns="0" bIns="0" rtlCol="0" anchor="t"/>
          <a:lstStyle/>
          <a:p>
            <a:pPr algn="ctr" indent="0" marL="0">
              <a:buNone/>
            </a:pPr>
            <a:r>
              <a:rPr lang="en-US" sz="1150" dirty="0">
                <a:solidFill>
                  <a:srgbClr val="1F5F7A"/>
                </a:solidFill>
                <a:latin typeface="Calibri" pitchFamily="34" charset="0"/>
                <a:ea typeface="Calibri" pitchFamily="34" charset="-122"/>
                <a:cs typeface="Calibri" pitchFamily="34" charset="-120"/>
              </a:rPr>
              <a:t>180 credible Gd hosts (all, not only strong)</a:t>
            </a:r>
            <a:endParaRPr lang="en-US" sz="1150" dirty="0"/>
          </a:p>
          <a:p>
            <a:pPr algn="ctr" indent="0" marL="0">
              <a:buNone/>
            </a:pPr>
            <a:r>
              <a:rPr lang="en-US" sz="1150" dirty="0">
                <a:solidFill>
                  <a:srgbClr val="1F5F7A"/>
                </a:solidFill>
                <a:latin typeface="Calibri" pitchFamily="34" charset="0"/>
                <a:ea typeface="Calibri" pitchFamily="34" charset="-122"/>
                <a:cs typeface="Calibri" pitchFamily="34" charset="-120"/>
              </a:rPr>
              <a:t>+189 compounds without a credible label</a:t>
            </a:r>
            <a:endParaRPr lang="en-US" sz="1150" dirty="0"/>
          </a:p>
          <a:p>
            <a:pPr algn="ctr" indent="0" marL="0">
              <a:buNone/>
            </a:pPr>
            <a:r>
              <a:rPr lang="en-US" sz="1150" dirty="0">
                <a:solidFill>
                  <a:srgbClr val="1F5F7A"/>
                </a:solidFill>
                <a:latin typeface="Calibri" pitchFamily="34" charset="0"/>
                <a:ea typeface="Calibri" pitchFamily="34" charset="-122"/>
                <a:cs typeface="Calibri" pitchFamily="34" charset="-120"/>
              </a:rPr>
              <a:t>(f-in-core has no +U: they converge)</a:t>
            </a:r>
            <a:endParaRPr lang="en-US" sz="1150" dirty="0"/>
          </a:p>
        </p:txBody>
      </p:sp>
      <p:sp>
        <p:nvSpPr>
          <p:cNvPr id="11" name="Text 9"/>
          <p:cNvSpPr txBox="1"/>
          <p:nvPr/>
        </p:nvSpPr>
        <p:spPr>
          <a:xfrm>
            <a:off x="3474720" y="2670048"/>
            <a:ext cx="2377440" cy="256032"/>
          </a:xfrm>
          <a:prstGeom prst="rect">
            <a:avLst/>
          </a:prstGeom>
          <a:noFill/>
          <a:ln/>
        </p:spPr>
        <p:txBody>
          <a:bodyPr wrap="square" lIns="0" tIns="0" rIns="0" bIns="0" rtlCol="0" anchor="ctr"/>
          <a:lstStyle/>
          <a:p>
            <a:pPr algn="ctr" indent="0" marL="0">
              <a:buNone/>
            </a:pPr>
            <a:r>
              <a:rPr lang="en-US" sz="1000" b="1" dirty="0">
                <a:solidFill>
                  <a:srgbClr val="1F5F7A"/>
                </a:solidFill>
                <a:latin typeface="Calibri" pitchFamily="34" charset="0"/>
                <a:ea typeface="Calibri" pitchFamily="34" charset="-122"/>
                <a:cs typeface="Calibri" pitchFamily="34" charset="-120"/>
              </a:rPr>
              <a:t>656 in pool</a:t>
            </a:r>
            <a:endParaRPr lang="en-US" sz="1000" dirty="0"/>
          </a:p>
        </p:txBody>
      </p:sp>
      <p:sp>
        <p:nvSpPr>
          <p:cNvPr id="12" name="Shape 10"/>
          <p:cNvSpPr/>
          <p:nvPr/>
        </p:nvSpPr>
        <p:spPr>
          <a:xfrm>
            <a:off x="6126480" y="1463040"/>
            <a:ext cx="2560320" cy="1508760"/>
          </a:xfrm>
          <a:prstGeom prst="roundRect">
            <a:avLst>
              <a:gd name="adj" fmla="val 3636"/>
            </a:avLst>
          </a:prstGeom>
          <a:solidFill>
            <a:srgbClr val="EEF2F7"/>
          </a:solidFill>
          <a:ln w="6350">
            <a:solidFill>
              <a:srgbClr val="EEF2F7"/>
            </a:solidFill>
            <a:prstDash val="solid"/>
          </a:ln>
        </p:spPr>
      </p:sp>
      <p:sp>
        <p:nvSpPr>
          <p:cNvPr id="13" name="Text 11"/>
          <p:cNvSpPr txBox="1"/>
          <p:nvPr/>
        </p:nvSpPr>
        <p:spPr>
          <a:xfrm>
            <a:off x="6199632" y="1517904"/>
            <a:ext cx="2414016" cy="237744"/>
          </a:xfrm>
          <a:prstGeom prst="rect">
            <a:avLst/>
          </a:prstGeom>
          <a:noFill/>
          <a:ln/>
        </p:spPr>
        <p:txBody>
          <a:bodyPr wrap="square" lIns="0" tIns="0" rIns="0" bIns="0" rtlCol="0" anchor="ctr"/>
          <a:lstStyle/>
          <a:p>
            <a:pPr algn="ctr" indent="0" marL="0">
              <a:buNone/>
            </a:pPr>
            <a:r>
              <a:rPr lang="en-US" sz="1200" b="1" dirty="0">
                <a:solidFill>
                  <a:srgbClr val="1A2233"/>
                </a:solidFill>
                <a:latin typeface="Calibri" pitchFamily="34" charset="0"/>
                <a:ea typeface="Calibri" pitchFamily="34" charset="-122"/>
                <a:cs typeface="Calibri" pitchFamily="34" charset="-120"/>
              </a:rPr>
              <a:t>Prototype decoration</a:t>
            </a:r>
            <a:endParaRPr lang="en-US" sz="1200" dirty="0"/>
          </a:p>
        </p:txBody>
      </p:sp>
      <p:sp>
        <p:nvSpPr>
          <p:cNvPr id="14" name="Text 12"/>
          <p:cNvSpPr txBox="1"/>
          <p:nvPr/>
        </p:nvSpPr>
        <p:spPr>
          <a:xfrm>
            <a:off x="6199632" y="1792224"/>
            <a:ext cx="2414016" cy="1143000"/>
          </a:xfrm>
          <a:prstGeom prst="rect">
            <a:avLst/>
          </a:prstGeom>
          <a:noFill/>
          <a:ln/>
        </p:spPr>
        <p:txBody>
          <a:bodyPr wrap="square" lIns="0" tIns="0" rIns="0" bIns="0" rtlCol="0" anchor="t"/>
          <a:lstStyle/>
          <a:p>
            <a:pPr algn="ctr" indent="0" marL="0">
              <a:buNone/>
            </a:pPr>
            <a:r>
              <a:rPr lang="en-US" sz="1150" dirty="0">
                <a:solidFill>
                  <a:srgbClr val="1A2233"/>
                </a:solidFill>
                <a:latin typeface="Calibri" pitchFamily="34" charset="0"/>
                <a:ea typeface="Calibri" pitchFamily="34" charset="-122"/>
                <a:cs typeface="Calibri" pitchFamily="34" charset="-120"/>
              </a:rPr>
              <a:t>CaCu₅-RT₄X, ThMn₁₂, Th₂Zn₁₇, Nd₂Fe₁₄B,</a:t>
            </a:r>
            <a:endParaRPr lang="en-US" sz="1150" dirty="0"/>
          </a:p>
          <a:p>
            <a:pPr algn="ctr" indent="0" marL="0">
              <a:buNone/>
            </a:pPr>
            <a:r>
              <a:rPr lang="en-US" sz="1150" dirty="0">
                <a:solidFill>
                  <a:srgbClr val="1A2233"/>
                </a:solidFill>
                <a:latin typeface="Calibri" pitchFamily="34" charset="0"/>
                <a:ea typeface="Calibri" pitchFamily="34" charset="-122"/>
                <a:cs typeface="Calibri" pitchFamily="34" charset="-120"/>
              </a:rPr>
              <a:t>LaCo₉Si₄ × 19-element X palette</a:t>
            </a:r>
            <a:endParaRPr lang="en-US" sz="1150" dirty="0"/>
          </a:p>
          <a:p>
            <a:pPr algn="ctr" indent="0" marL="0">
              <a:buNone/>
            </a:pPr>
            <a:r>
              <a:rPr lang="en-US" sz="1150" dirty="0">
                <a:solidFill>
                  <a:srgbClr val="1A2233"/>
                </a:solidFill>
                <a:latin typeface="Calibri" pitchFamily="34" charset="0"/>
                <a:ea typeface="Calibri" pitchFamily="34" charset="-122"/>
                <a:cs typeface="Calibri" pitchFamily="34" charset="-120"/>
              </a:rPr>
              <a:t>146 Gd cells → Nd and Sm</a:t>
            </a:r>
            <a:endParaRPr lang="en-US" sz="1150" dirty="0"/>
          </a:p>
        </p:txBody>
      </p:sp>
      <p:sp>
        <p:nvSpPr>
          <p:cNvPr id="15" name="Text 13"/>
          <p:cNvSpPr txBox="1"/>
          <p:nvPr/>
        </p:nvSpPr>
        <p:spPr>
          <a:xfrm>
            <a:off x="6217920" y="2670048"/>
            <a:ext cx="2377440" cy="256032"/>
          </a:xfrm>
          <a:prstGeom prst="rect">
            <a:avLst/>
          </a:prstGeom>
          <a:noFill/>
          <a:ln/>
        </p:spPr>
        <p:txBody>
          <a:bodyPr wrap="square" lIns="0" tIns="0" rIns="0" bIns="0" rtlCol="0" anchor="ctr"/>
          <a:lstStyle/>
          <a:p>
            <a:pPr algn="ctr" indent="0" marL="0">
              <a:buNone/>
            </a:pPr>
            <a:r>
              <a:rPr lang="en-US" sz="1000" b="1" dirty="0">
                <a:solidFill>
                  <a:srgbClr val="1A2233"/>
                </a:solidFill>
                <a:latin typeface="Calibri" pitchFamily="34" charset="0"/>
                <a:ea typeface="Calibri" pitchFamily="34" charset="-122"/>
                <a:cs typeface="Calibri" pitchFamily="34" charset="-120"/>
              </a:rPr>
              <a:t>252 in pool</a:t>
            </a:r>
            <a:endParaRPr lang="en-US" sz="1000" dirty="0"/>
          </a:p>
        </p:txBody>
      </p:sp>
      <p:sp>
        <p:nvSpPr>
          <p:cNvPr id="16" name="Shape 14"/>
          <p:cNvSpPr/>
          <p:nvPr/>
        </p:nvSpPr>
        <p:spPr>
          <a:xfrm>
            <a:off x="8869680" y="1463040"/>
            <a:ext cx="2560320" cy="1508760"/>
          </a:xfrm>
          <a:prstGeom prst="roundRect">
            <a:avLst>
              <a:gd name="adj" fmla="val 3636"/>
            </a:avLst>
          </a:prstGeom>
          <a:solidFill>
            <a:srgbClr val="EEF2F7"/>
          </a:solidFill>
          <a:ln w="6350">
            <a:solidFill>
              <a:srgbClr val="EEF2F7"/>
            </a:solidFill>
            <a:prstDash val="solid"/>
          </a:ln>
        </p:spPr>
      </p:sp>
      <p:sp>
        <p:nvSpPr>
          <p:cNvPr id="17" name="Text 15"/>
          <p:cNvSpPr txBox="1"/>
          <p:nvPr/>
        </p:nvSpPr>
        <p:spPr>
          <a:xfrm>
            <a:off x="8942832" y="1517904"/>
            <a:ext cx="2414016" cy="237744"/>
          </a:xfrm>
          <a:prstGeom prst="rect">
            <a:avLst/>
          </a:prstGeom>
          <a:noFill/>
          <a:ln/>
        </p:spPr>
        <p:txBody>
          <a:bodyPr wrap="square" lIns="0" tIns="0" rIns="0" bIns="0" rtlCol="0" anchor="ctr"/>
          <a:lstStyle/>
          <a:p>
            <a:pPr algn="ctr" indent="0" marL="0">
              <a:buNone/>
            </a:pPr>
            <a:r>
              <a:rPr lang="en-US" sz="1200" b="1" dirty="0">
                <a:solidFill>
                  <a:srgbClr val="1A2233"/>
                </a:solidFill>
                <a:latin typeface="Calibri" pitchFamily="34" charset="0"/>
                <a:ea typeface="Calibri" pitchFamily="34" charset="-122"/>
                <a:cs typeface="Calibri" pitchFamily="34" charset="-120"/>
              </a:rPr>
              <a:t>Kagome RT₆X₆</a:t>
            </a:r>
            <a:endParaRPr lang="en-US" sz="1200" dirty="0"/>
          </a:p>
        </p:txBody>
      </p:sp>
      <p:sp>
        <p:nvSpPr>
          <p:cNvPr id="18" name="Text 16"/>
          <p:cNvSpPr txBox="1"/>
          <p:nvPr/>
        </p:nvSpPr>
        <p:spPr>
          <a:xfrm>
            <a:off x="8942832" y="1792224"/>
            <a:ext cx="2414016" cy="1143000"/>
          </a:xfrm>
          <a:prstGeom prst="rect">
            <a:avLst/>
          </a:prstGeom>
          <a:noFill/>
          <a:ln/>
        </p:spPr>
        <p:txBody>
          <a:bodyPr wrap="square" lIns="0" tIns="0" rIns="0" bIns="0" rtlCol="0" anchor="t"/>
          <a:lstStyle/>
          <a:p>
            <a:pPr algn="ctr" indent="0" marL="0">
              <a:buNone/>
            </a:pPr>
            <a:r>
              <a:rPr lang="en-US" sz="1150" dirty="0">
                <a:solidFill>
                  <a:srgbClr val="1A2233"/>
                </a:solidFill>
                <a:latin typeface="Calibri" pitchFamily="34" charset="0"/>
                <a:ea typeface="Calibri" pitchFamily="34" charset="-122"/>
                <a:cs typeface="Calibri" pitchFamily="34" charset="-120"/>
              </a:rPr>
              <a:t>HfFe₆Ge₆-type P6/mmm; Fe₆, Co₆, Fe₅Co</a:t>
            </a:r>
            <a:endParaRPr lang="en-US" sz="1150" dirty="0"/>
          </a:p>
          <a:p>
            <a:pPr algn="ctr" indent="0" marL="0">
              <a:buNone/>
            </a:pPr>
            <a:r>
              <a:rPr lang="en-US" sz="1150" dirty="0">
                <a:solidFill>
                  <a:srgbClr val="1A2233"/>
                </a:solidFill>
                <a:latin typeface="Calibri" pitchFamily="34" charset="0"/>
                <a:ea typeface="Calibri" pitchFamily="34" charset="-122"/>
                <a:cs typeface="Calibri" pitchFamily="34" charset="-120"/>
              </a:rPr>
              <a:t>× Sn, Ge, Si, Ga, Al; + channel vacancy</a:t>
            </a:r>
            <a:endParaRPr lang="en-US" sz="1150" dirty="0"/>
          </a:p>
          <a:p>
            <a:pPr algn="ctr" indent="0" marL="0">
              <a:buNone/>
            </a:pPr>
            <a:r>
              <a:rPr lang="en-US" sz="1150" dirty="0">
                <a:solidFill>
                  <a:srgbClr val="1A2233"/>
                </a:solidFill>
                <a:latin typeface="Calibri" pitchFamily="34" charset="0"/>
                <a:ea typeface="Calibri" pitchFamily="34" charset="-122"/>
                <a:cs typeface="Calibri" pitchFamily="34" charset="-120"/>
              </a:rPr>
              <a:t>(none passes Ms ≥ 1.5 T: Fe density 3.2)</a:t>
            </a:r>
            <a:endParaRPr lang="en-US" sz="1150" dirty="0"/>
          </a:p>
        </p:txBody>
      </p:sp>
      <p:sp>
        <p:nvSpPr>
          <p:cNvPr id="19" name="Text 17"/>
          <p:cNvSpPr txBox="1"/>
          <p:nvPr/>
        </p:nvSpPr>
        <p:spPr>
          <a:xfrm>
            <a:off x="8961120" y="2670048"/>
            <a:ext cx="2377440" cy="256032"/>
          </a:xfrm>
          <a:prstGeom prst="rect">
            <a:avLst/>
          </a:prstGeom>
          <a:noFill/>
          <a:ln/>
        </p:spPr>
        <p:txBody>
          <a:bodyPr wrap="square" lIns="0" tIns="0" rIns="0" bIns="0" rtlCol="0" anchor="ctr"/>
          <a:lstStyle/>
          <a:p>
            <a:pPr algn="ctr" indent="0" marL="0">
              <a:buNone/>
            </a:pPr>
            <a:r>
              <a:rPr lang="en-US" sz="1000" b="1" dirty="0">
                <a:solidFill>
                  <a:srgbClr val="1A2233"/>
                </a:solidFill>
                <a:latin typeface="Calibri" pitchFamily="34" charset="0"/>
                <a:ea typeface="Calibri" pitchFamily="34" charset="-122"/>
                <a:cs typeface="Calibri" pitchFamily="34" charset="-120"/>
              </a:rPr>
              <a:t>60 in pool</a:t>
            </a:r>
            <a:endParaRPr lang="en-US" sz="1000" dirty="0"/>
          </a:p>
        </p:txBody>
      </p:sp>
      <p:sp>
        <p:nvSpPr>
          <p:cNvPr id="20" name="Shape 18"/>
          <p:cNvSpPr/>
          <p:nvPr/>
        </p:nvSpPr>
        <p:spPr>
          <a:xfrm>
            <a:off x="640080" y="3154680"/>
            <a:ext cx="2560320" cy="1508760"/>
          </a:xfrm>
          <a:prstGeom prst="roundRect">
            <a:avLst>
              <a:gd name="adj" fmla="val 3636"/>
            </a:avLst>
          </a:prstGeom>
          <a:solidFill>
            <a:srgbClr val="F2B134"/>
          </a:solidFill>
          <a:ln w="6350">
            <a:solidFill>
              <a:srgbClr val="F2B134"/>
            </a:solidFill>
            <a:prstDash val="solid"/>
          </a:ln>
        </p:spPr>
      </p:sp>
      <p:sp>
        <p:nvSpPr>
          <p:cNvPr id="21" name="Text 19"/>
          <p:cNvSpPr txBox="1"/>
          <p:nvPr/>
        </p:nvSpPr>
        <p:spPr>
          <a:xfrm>
            <a:off x="713232" y="3209544"/>
            <a:ext cx="2414016" cy="237744"/>
          </a:xfrm>
          <a:prstGeom prst="rect">
            <a:avLst/>
          </a:prstGeom>
          <a:noFill/>
          <a:ln/>
        </p:spPr>
        <p:txBody>
          <a:bodyPr wrap="square" lIns="0" tIns="0" rIns="0" bIns="0" rtlCol="0" anchor="ctr"/>
          <a:lstStyle/>
          <a:p>
            <a:pPr algn="ctr" indent="0" marL="0">
              <a:buNone/>
            </a:pPr>
            <a:r>
              <a:rPr lang="en-US" sz="1200" b="1" dirty="0">
                <a:solidFill>
                  <a:srgbClr val="5A3E00"/>
                </a:solidFill>
                <a:latin typeface="Calibri" pitchFamily="34" charset="0"/>
                <a:ea typeface="Calibri" pitchFamily="34" charset="-122"/>
                <a:cs typeface="Calibri" pitchFamily="34" charset="-120"/>
              </a:rPr>
              <a:t>Interstitial N / C</a:t>
            </a:r>
            <a:endParaRPr lang="en-US" sz="1200" dirty="0"/>
          </a:p>
        </p:txBody>
      </p:sp>
      <p:sp>
        <p:nvSpPr>
          <p:cNvPr id="22" name="Text 20"/>
          <p:cNvSpPr txBox="1"/>
          <p:nvPr/>
        </p:nvSpPr>
        <p:spPr>
          <a:xfrm>
            <a:off x="713232" y="3483864"/>
            <a:ext cx="2414016" cy="1143000"/>
          </a:xfrm>
          <a:prstGeom prst="rect">
            <a:avLst/>
          </a:prstGeom>
          <a:noFill/>
          <a:ln/>
        </p:spPr>
        <p:txBody>
          <a:bodyPr wrap="square" lIns="0" tIns="0" rIns="0" bIns="0" rtlCol="0" anchor="t"/>
          <a:lstStyle/>
          <a:p>
            <a:pPr algn="ctr" indent="0" marL="0">
              <a:buNone/>
            </a:pPr>
            <a:r>
              <a:rPr lang="en-US" sz="1150" dirty="0">
                <a:solidFill>
                  <a:srgbClr val="5A3E00"/>
                </a:solidFill>
                <a:latin typeface="Calibri" pitchFamily="34" charset="0"/>
                <a:ea typeface="Calibri" pitchFamily="34" charset="-122"/>
                <a:cs typeface="Calibri" pitchFamily="34" charset="-120"/>
              </a:rPr>
              <a:t>largest RE-adjacent void of every Fe-rich</a:t>
            </a:r>
            <a:endParaRPr lang="en-US" sz="1150" dirty="0"/>
          </a:p>
          <a:p>
            <a:pPr algn="ctr" indent="0" marL="0">
              <a:buNone/>
            </a:pPr>
            <a:r>
              <a:rPr lang="en-US" sz="1150" dirty="0">
                <a:solidFill>
                  <a:srgbClr val="5A3E00"/>
                </a:solidFill>
                <a:latin typeface="Calibri" pitchFamily="34" charset="0"/>
                <a:ea typeface="Calibri" pitchFamily="34" charset="-122"/>
                <a:cs typeface="Calibri" pitchFamily="34" charset="-120"/>
              </a:rPr>
              <a:t>passer (2b in 1:12, 9e in 2:17, GNoME</a:t>
            </a:r>
            <a:endParaRPr lang="en-US" sz="1150" dirty="0"/>
          </a:p>
          <a:p>
            <a:pPr algn="ctr" indent="0" marL="0">
              <a:buNone/>
            </a:pPr>
            <a:r>
              <a:rPr lang="en-US" sz="1150" dirty="0">
                <a:solidFill>
                  <a:srgbClr val="5A3E00"/>
                </a:solidFill>
                <a:latin typeface="Calibri" pitchFamily="34" charset="0"/>
                <a:ea typeface="Calibri" pitchFamily="34" charset="-122"/>
                <a:cs typeface="Calibri" pitchFamily="34" charset="-120"/>
              </a:rPr>
              <a:t>channels); dilute + full occupation</a:t>
            </a:r>
            <a:endParaRPr lang="en-US" sz="1150" dirty="0"/>
          </a:p>
        </p:txBody>
      </p:sp>
      <p:sp>
        <p:nvSpPr>
          <p:cNvPr id="23" name="Text 21"/>
          <p:cNvSpPr txBox="1"/>
          <p:nvPr/>
        </p:nvSpPr>
        <p:spPr>
          <a:xfrm>
            <a:off x="731520" y="4361688"/>
            <a:ext cx="2377440" cy="256032"/>
          </a:xfrm>
          <a:prstGeom prst="rect">
            <a:avLst/>
          </a:prstGeom>
          <a:noFill/>
          <a:ln/>
        </p:spPr>
        <p:txBody>
          <a:bodyPr wrap="square" lIns="0" tIns="0" rIns="0" bIns="0" rtlCol="0" anchor="ctr"/>
          <a:lstStyle/>
          <a:p>
            <a:pPr algn="ctr" indent="0" marL="0">
              <a:buNone/>
            </a:pPr>
            <a:r>
              <a:rPr lang="en-US" sz="1000" b="1" dirty="0">
                <a:solidFill>
                  <a:srgbClr val="5A3E00"/>
                </a:solidFill>
                <a:latin typeface="Calibri" pitchFamily="34" charset="0"/>
                <a:ea typeface="Calibri" pitchFamily="34" charset="-122"/>
                <a:cs typeface="Calibri" pitchFamily="34" charset="-120"/>
              </a:rPr>
              <a:t>224 cells</a:t>
            </a:r>
            <a:endParaRPr lang="en-US" sz="1000" dirty="0"/>
          </a:p>
        </p:txBody>
      </p:sp>
      <p:sp>
        <p:nvSpPr>
          <p:cNvPr id="24" name="Shape 22"/>
          <p:cNvSpPr/>
          <p:nvPr/>
        </p:nvSpPr>
        <p:spPr>
          <a:xfrm>
            <a:off x="3383280" y="3154680"/>
            <a:ext cx="2560320" cy="1508760"/>
          </a:xfrm>
          <a:prstGeom prst="roundRect">
            <a:avLst>
              <a:gd name="adj" fmla="val 3636"/>
            </a:avLst>
          </a:prstGeom>
          <a:solidFill>
            <a:srgbClr val="F2B134"/>
          </a:solidFill>
          <a:ln w="6350">
            <a:solidFill>
              <a:srgbClr val="F2B134"/>
            </a:solidFill>
            <a:prstDash val="solid"/>
          </a:ln>
        </p:spPr>
      </p:sp>
      <p:sp>
        <p:nvSpPr>
          <p:cNvPr id="25" name="Text 23"/>
          <p:cNvSpPr txBox="1"/>
          <p:nvPr/>
        </p:nvSpPr>
        <p:spPr>
          <a:xfrm>
            <a:off x="3456432" y="3209544"/>
            <a:ext cx="2414016" cy="237744"/>
          </a:xfrm>
          <a:prstGeom prst="rect">
            <a:avLst/>
          </a:prstGeom>
          <a:noFill/>
          <a:ln/>
        </p:spPr>
        <p:txBody>
          <a:bodyPr wrap="square" lIns="0" tIns="0" rIns="0" bIns="0" rtlCol="0" anchor="ctr"/>
          <a:lstStyle/>
          <a:p>
            <a:pPr algn="ctr" indent="0" marL="0">
              <a:buNone/>
            </a:pPr>
            <a:r>
              <a:rPr lang="en-US" sz="1200" b="1" dirty="0">
                <a:solidFill>
                  <a:srgbClr val="5A3E00"/>
                </a:solidFill>
                <a:latin typeface="Calibri" pitchFamily="34" charset="0"/>
                <a:ea typeface="Calibri" pitchFamily="34" charset="-122"/>
                <a:cs typeface="Calibri" pitchFamily="34" charset="-120"/>
              </a:rPr>
              <a:t>Mixed-RE fractional 1:12</a:t>
            </a:r>
            <a:endParaRPr lang="en-US" sz="1200" dirty="0"/>
          </a:p>
        </p:txBody>
      </p:sp>
      <p:sp>
        <p:nvSpPr>
          <p:cNvPr id="26" name="Text 24"/>
          <p:cNvSpPr txBox="1"/>
          <p:nvPr/>
        </p:nvSpPr>
        <p:spPr>
          <a:xfrm>
            <a:off x="3456432" y="3483864"/>
            <a:ext cx="2414016" cy="1143000"/>
          </a:xfrm>
          <a:prstGeom prst="rect">
            <a:avLst/>
          </a:prstGeom>
          <a:noFill/>
          <a:ln/>
        </p:spPr>
        <p:txBody>
          <a:bodyPr wrap="square" lIns="0" tIns="0" rIns="0" bIns="0" rtlCol="0" anchor="t"/>
          <a:lstStyle/>
          <a:p>
            <a:pPr algn="ctr" indent="0" marL="0">
              <a:buNone/>
            </a:pPr>
            <a:r>
              <a:rPr lang="en-US" sz="1150" dirty="0">
                <a:solidFill>
                  <a:srgbClr val="5A3E00"/>
                </a:solidFill>
                <a:latin typeface="Calibri" pitchFamily="34" charset="0"/>
                <a:ea typeface="Calibri" pitchFamily="34" charset="-122"/>
                <a:cs typeface="Calibri" pitchFamily="34" charset="-120"/>
              </a:rPr>
              <a:t>2-f.u. supercells: (Nd,Pr,Sm)₂Fe₂₁V₃N₀₋₂</a:t>
            </a:r>
            <a:endParaRPr lang="en-US" sz="1150" dirty="0"/>
          </a:p>
          <a:p>
            <a:pPr algn="ctr" indent="0" marL="0">
              <a:buNone/>
            </a:pPr>
            <a:r>
              <a:rPr lang="en-US" sz="1150" dirty="0">
                <a:solidFill>
                  <a:srgbClr val="5A3E00"/>
                </a:solidFill>
                <a:latin typeface="Calibri" pitchFamily="34" charset="0"/>
                <a:ea typeface="Calibri" pitchFamily="34" charset="-122"/>
                <a:cs typeface="Calibri" pitchFamily="34" charset="-120"/>
              </a:rPr>
              <a:t>= RFe₁₀.₅V₁.₅N₀₋₁, the real magnet</a:t>
            </a:r>
            <a:endParaRPr lang="en-US" sz="1150" dirty="0"/>
          </a:p>
          <a:p>
            <a:pPr algn="ctr" indent="0" marL="0">
              <a:buNone/>
            </a:pPr>
            <a:r>
              <a:rPr lang="en-US" sz="1150" dirty="0">
                <a:solidFill>
                  <a:srgbClr val="5A3E00"/>
                </a:solidFill>
                <a:latin typeface="Calibri" pitchFamily="34" charset="0"/>
                <a:ea typeface="Calibri" pitchFamily="34" charset="-122"/>
                <a:cs typeface="Calibri" pitchFamily="34" charset="-120"/>
              </a:rPr>
              <a:t>composition class</a:t>
            </a:r>
            <a:endParaRPr lang="en-US" sz="1150" dirty="0"/>
          </a:p>
        </p:txBody>
      </p:sp>
      <p:sp>
        <p:nvSpPr>
          <p:cNvPr id="27" name="Text 25"/>
          <p:cNvSpPr txBox="1"/>
          <p:nvPr/>
        </p:nvSpPr>
        <p:spPr>
          <a:xfrm>
            <a:off x="3474720" y="4361688"/>
            <a:ext cx="2377440" cy="256032"/>
          </a:xfrm>
          <a:prstGeom prst="rect">
            <a:avLst/>
          </a:prstGeom>
          <a:noFill/>
          <a:ln/>
        </p:spPr>
        <p:txBody>
          <a:bodyPr wrap="square" lIns="0" tIns="0" rIns="0" bIns="0" rtlCol="0" anchor="ctr"/>
          <a:lstStyle/>
          <a:p>
            <a:pPr algn="ctr" indent="0" marL="0">
              <a:buNone/>
            </a:pPr>
            <a:r>
              <a:rPr lang="en-US" sz="1000" b="1" dirty="0">
                <a:solidFill>
                  <a:srgbClr val="5A3E00"/>
                </a:solidFill>
                <a:latin typeface="Calibri" pitchFamily="34" charset="0"/>
                <a:ea typeface="Calibri" pitchFamily="34" charset="-122"/>
                <a:cs typeface="Calibri" pitchFamily="34" charset="-120"/>
              </a:rPr>
              <a:t>9 cells</a:t>
            </a:r>
            <a:endParaRPr lang="en-US" sz="1000" dirty="0"/>
          </a:p>
        </p:txBody>
      </p:sp>
      <p:sp>
        <p:nvSpPr>
          <p:cNvPr id="28" name="Shape 26"/>
          <p:cNvSpPr/>
          <p:nvPr/>
        </p:nvSpPr>
        <p:spPr>
          <a:xfrm>
            <a:off x="6126480" y="3154680"/>
            <a:ext cx="2560320" cy="1508760"/>
          </a:xfrm>
          <a:prstGeom prst="roundRect">
            <a:avLst>
              <a:gd name="adj" fmla="val 3636"/>
            </a:avLst>
          </a:prstGeom>
          <a:solidFill>
            <a:srgbClr val="EEEDFE"/>
          </a:solidFill>
          <a:ln w="6350">
            <a:solidFill>
              <a:srgbClr val="EEEDFE"/>
            </a:solidFill>
            <a:prstDash val="solid"/>
          </a:ln>
        </p:spPr>
      </p:sp>
      <p:sp>
        <p:nvSpPr>
          <p:cNvPr id="29" name="Text 27"/>
          <p:cNvSpPr txBox="1"/>
          <p:nvPr/>
        </p:nvSpPr>
        <p:spPr>
          <a:xfrm>
            <a:off x="6199632" y="3209544"/>
            <a:ext cx="2414016" cy="237744"/>
          </a:xfrm>
          <a:prstGeom prst="rect">
            <a:avLst/>
          </a:prstGeom>
          <a:noFill/>
          <a:ln/>
        </p:spPr>
        <p:txBody>
          <a:bodyPr wrap="square" lIns="0" tIns="0" rIns="0" bIns="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Neighbourhood expansion</a:t>
            </a:r>
            <a:endParaRPr lang="en-US" sz="1200" dirty="0"/>
          </a:p>
        </p:txBody>
      </p:sp>
      <p:sp>
        <p:nvSpPr>
          <p:cNvPr id="30" name="Text 28"/>
          <p:cNvSpPr txBox="1"/>
          <p:nvPr/>
        </p:nvSpPr>
        <p:spPr>
          <a:xfrm>
            <a:off x="6199632" y="3483864"/>
            <a:ext cx="2414016" cy="1143000"/>
          </a:xfrm>
          <a:prstGeom prst="rect">
            <a:avLst/>
          </a:prstGeom>
          <a:noFill/>
          <a:ln/>
        </p:spPr>
        <p:txBody>
          <a:bodyPr wrap="square" lIns="0" tIns="0" rIns="0" bIns="0" rtlCol="0" anchor="t"/>
          <a:lstStyle/>
          <a:p>
            <a:pPr algn="ctr" indent="0" marL="0">
              <a:buNone/>
            </a:pPr>
            <a:r>
              <a:rPr lang="en-US" sz="1150" dirty="0">
                <a:solidFill>
                  <a:srgbClr val="3C3489"/>
                </a:solidFill>
                <a:latin typeface="Calibri" pitchFamily="34" charset="0"/>
                <a:ea typeface="Calibri" pitchFamily="34" charset="-122"/>
                <a:cs typeface="Calibri" pitchFamily="34" charset="-120"/>
              </a:rPr>
              <a:t>after each wave: top-25 labelled winners</a:t>
            </a:r>
            <a:endParaRPr lang="en-US" sz="1150" dirty="0"/>
          </a:p>
          <a:p>
            <a:pPr algn="ctr" indent="0" marL="0">
              <a:buNone/>
            </a:pPr>
            <a:r>
              <a:rPr lang="en-US" sz="1150" dirty="0">
                <a:solidFill>
                  <a:srgbClr val="3C3489"/>
                </a:solidFill>
                <a:latin typeface="Calibri" pitchFamily="34" charset="0"/>
                <a:ea typeface="Calibri" pitchFamily="34" charset="-122"/>
                <a:cs typeface="Calibri" pitchFamily="34" charset="-120"/>
              </a:rPr>
              <a:t>× RE swap, Co ⅛ and ¼, early TM on the</a:t>
            </a:r>
            <a:endParaRPr lang="en-US" sz="1150" dirty="0"/>
          </a:p>
          <a:p>
            <a:pPr algn="ctr" indent="0" marL="0">
              <a:buNone/>
            </a:pPr>
            <a:r>
              <a:rPr lang="en-US" sz="1150" dirty="0">
                <a:solidFill>
                  <a:srgbClr val="3C3489"/>
                </a:solidFill>
                <a:latin typeface="Calibri" pitchFamily="34" charset="0"/>
                <a:ea typeface="Calibri" pitchFamily="34" charset="-122"/>
                <a:cs typeface="Calibri" pitchFamily="34" charset="-120"/>
              </a:rPr>
              <a:t>far Fe site, N - the data-backed levers</a:t>
            </a:r>
            <a:endParaRPr lang="en-US" sz="1150" dirty="0"/>
          </a:p>
        </p:txBody>
      </p:sp>
      <p:sp>
        <p:nvSpPr>
          <p:cNvPr id="31" name="Text 29"/>
          <p:cNvSpPr txBox="1"/>
          <p:nvPr/>
        </p:nvSpPr>
        <p:spPr>
          <a:xfrm>
            <a:off x="6217920" y="4361688"/>
            <a:ext cx="2377440" cy="256032"/>
          </a:xfrm>
          <a:prstGeom prst="rect">
            <a:avLst/>
          </a:prstGeom>
          <a:noFill/>
          <a:ln/>
        </p:spPr>
        <p:txBody>
          <a:bodyPr wrap="square" lIns="0" tIns="0" rIns="0" bIns="0" rtlCol="0" anchor="ctr"/>
          <a:lstStyle/>
          <a:p>
            <a:pPr algn="ctr" indent="0" marL="0">
              <a:buNone/>
            </a:pPr>
            <a:r>
              <a:rPr lang="en-US" sz="1000" b="1" dirty="0">
                <a:solidFill>
                  <a:srgbClr val="3C3489"/>
                </a:solidFill>
                <a:latin typeface="Calibri" pitchFamily="34" charset="0"/>
                <a:ea typeface="Calibri" pitchFamily="34" charset="-122"/>
                <a:cs typeface="Calibri" pitchFamily="34" charset="-120"/>
              </a:rPr>
              <a:t>wave ≥ 2</a:t>
            </a:r>
            <a:endParaRPr lang="en-US" sz="1000" dirty="0"/>
          </a:p>
        </p:txBody>
      </p:sp>
      <p:sp>
        <p:nvSpPr>
          <p:cNvPr id="32" name="Shape 30"/>
          <p:cNvSpPr/>
          <p:nvPr/>
        </p:nvSpPr>
        <p:spPr>
          <a:xfrm>
            <a:off x="8869680" y="3154680"/>
            <a:ext cx="2560320" cy="1508760"/>
          </a:xfrm>
          <a:prstGeom prst="roundRect">
            <a:avLst>
              <a:gd name="adj" fmla="val 3636"/>
            </a:avLst>
          </a:prstGeom>
          <a:solidFill>
            <a:srgbClr val="1B2A4A"/>
          </a:solidFill>
          <a:ln w="6350">
            <a:solidFill>
              <a:srgbClr val="1B2A4A"/>
            </a:solidFill>
            <a:prstDash val="solid"/>
          </a:ln>
        </p:spPr>
      </p:sp>
      <p:sp>
        <p:nvSpPr>
          <p:cNvPr id="33" name="Text 31"/>
          <p:cNvSpPr txBox="1"/>
          <p:nvPr/>
        </p:nvSpPr>
        <p:spPr>
          <a:xfrm>
            <a:off x="8942832" y="3209544"/>
            <a:ext cx="2414016" cy="237744"/>
          </a:xfrm>
          <a:prstGeom prst="rect">
            <a:avLst/>
          </a:prstGeom>
          <a:noFill/>
          <a:ln/>
        </p:spPr>
        <p:txBody>
          <a:bodyPr wrap="square" lIns="0" tIns="0" rIns="0" bIns="0" rtlCol="0" anchor="ctr"/>
          <a:lstStyle/>
          <a:p>
            <a:pPr algn="ctr" indent="0" marL="0">
              <a:buNone/>
            </a:pPr>
            <a:r>
              <a:rPr lang="en-US" sz="1200" b="1" dirty="0">
                <a:solidFill>
                  <a:srgbClr val="F2B134"/>
                </a:solidFill>
                <a:latin typeface="Calibri" pitchFamily="34" charset="0"/>
                <a:ea typeface="Calibri" pitchFamily="34" charset="-122"/>
                <a:cs typeface="Calibri" pitchFamily="34" charset="-120"/>
              </a:rPr>
              <a:t>The pool today</a:t>
            </a:r>
            <a:endParaRPr lang="en-US" sz="1200" dirty="0"/>
          </a:p>
        </p:txBody>
      </p:sp>
      <p:sp>
        <p:nvSpPr>
          <p:cNvPr id="34" name="Text 32"/>
          <p:cNvSpPr txBox="1"/>
          <p:nvPr/>
        </p:nvSpPr>
        <p:spPr>
          <a:xfrm>
            <a:off x="8942832" y="3483864"/>
            <a:ext cx="2414016" cy="1143000"/>
          </a:xfrm>
          <a:prstGeom prst="rect">
            <a:avLst/>
          </a:prstGeom>
          <a:noFill/>
          <a:ln/>
        </p:spPr>
        <p:txBody>
          <a:bodyPr wrap="square" lIns="0" tIns="0" rIns="0" bIns="0" rtlCol="0" anchor="t"/>
          <a:lstStyle/>
          <a:p>
            <a:pPr algn="ctr" indent="0" marL="0">
              <a:buNone/>
            </a:pPr>
            <a:r>
              <a:rPr lang="en-US" sz="800" dirty="0">
                <a:solidFill>
                  <a:srgbClr val="C6D2E4"/>
                </a:solidFill>
                <a:latin typeface="Calibri" pitchFamily="34" charset="0"/>
                <a:ea typeface="Calibri" pitchFamily="34" charset="-122"/>
                <a:cs typeface="Calibri" pitchFamily="34" charset="-120"/>
              </a:rPr>
              <a:t>1,427 unique structures relaxed</a:t>
            </a:r>
            <a:endParaRPr lang="en-US" sz="800" dirty="0"/>
          </a:p>
          <a:p>
            <a:pPr algn="ctr" indent="0" marL="0">
              <a:buNone/>
            </a:pPr>
            <a:r>
              <a:rPr lang="en-US" sz="800" dirty="0">
                <a:solidFill>
                  <a:srgbClr val="C6D2E4"/>
                </a:solidFill>
                <a:latin typeface="Calibri" pitchFamily="34" charset="0"/>
                <a:ea typeface="Calibri" pitchFamily="34" charset="-122"/>
                <a:cs typeface="Calibri" pitchFamily="34" charset="-120"/>
              </a:rPr>
              <a:t>all with a same-model hull energy</a:t>
            </a:r>
            <a:endParaRPr lang="en-US" sz="800" dirty="0"/>
          </a:p>
          <a:p>
            <a:pPr algn="ctr" indent="0" marL="0">
              <a:buNone/>
            </a:pPr>
            <a:r>
              <a:rPr lang="en-US" sz="800" dirty="0">
                <a:solidFill>
                  <a:srgbClr val="C6D2E4"/>
                </a:solidFill>
                <a:latin typeface="Calibri" pitchFamily="34" charset="0"/>
                <a:ea typeface="Calibri" pitchFamily="34" charset="-122"/>
                <a:cs typeface="Calibri" pitchFamily="34" charset="-120"/>
              </a:rPr>
              <a:t>~140 pass hull ≤ 30 meV and Ms ≥ 1.5 T</a:t>
            </a:r>
            <a:endParaRPr lang="en-US" sz="800" dirty="0"/>
          </a:p>
          <a:p>
            <a:pPr algn="ctr" indent="0" marL="0">
              <a:buNone/>
            </a:pPr>
            <a:r>
              <a:rPr lang="en-US" sz="800" dirty="0">
                <a:solidFill>
                  <a:srgbClr val="C6D2E4"/>
                </a:solidFill>
                <a:latin typeface="Calibri" pitchFamily="34" charset="0"/>
                <a:ea typeface="Calibri" pitchFamily="34" charset="-122"/>
                <a:cs typeface="Calibri" pitchFamily="34" charset="-120"/>
              </a:rPr>
              <a:t>→ Thompson sampling drew wave 1 (120)</a:t>
            </a:r>
            <a:endParaRPr lang="en-US" sz="800" dirty="0"/>
          </a:p>
        </p:txBody>
      </p:sp>
      <p:sp>
        <p:nvSpPr>
          <p:cNvPr id="35" name="Text 33"/>
          <p:cNvSpPr txBox="1"/>
          <p:nvPr/>
        </p:nvSpPr>
        <p:spPr>
          <a:xfrm>
            <a:off x="640080" y="4983480"/>
            <a:ext cx="10881360" cy="457200"/>
          </a:xfrm>
          <a:prstGeom prst="rect">
            <a:avLst/>
          </a:prstGeom>
          <a:noFill/>
          <a:ln/>
        </p:spPr>
        <p:txBody>
          <a:bodyPr wrap="square" lIns="0" tIns="0" rIns="0" bIns="0" rtlCol="0" anchor="ctr"/>
          <a:lstStyle/>
          <a:p>
            <a:pPr indent="0" marL="0">
              <a:buNone/>
            </a:pPr>
            <a:r>
              <a:rPr lang="en-US" sz="1050" i="1" dirty="0">
                <a:solidFill>
                  <a:srgbClr val="1A2233"/>
                </a:solidFill>
                <a:latin typeface="Calibri" pitchFamily="34" charset="0"/>
                <a:ea typeface="Calibri" pitchFamily="34" charset="-122"/>
                <a:cs typeface="Calibri" pitchFamily="34" charset="-120"/>
              </a:rPr>
              <a:t>Generated ≠ stable: database candidates arrive with a hull distance, generated ones do not - which is why every source goes through the MACE hull before the GP ever sees it (next slide).</a:t>
            </a:r>
            <a:endParaRPr lang="en-US" sz="1050" dirty="0"/>
          </a:p>
        </p:txBody>
      </p:sp>
      <p:sp>
        <p:nvSpPr>
          <p:cNvPr id="36" name="Shape 34"/>
          <p:cNvSpPr/>
          <p:nvPr/>
        </p:nvSpPr>
        <p:spPr>
          <a:xfrm>
            <a:off x="640080" y="5532120"/>
            <a:ext cx="10881360" cy="640080"/>
          </a:xfrm>
          <a:prstGeom prst="roundRect">
            <a:avLst>
              <a:gd name="adj" fmla="val 11429"/>
            </a:avLst>
          </a:prstGeom>
          <a:solidFill>
            <a:srgbClr val="1B2A4A"/>
          </a:solidFill>
          <a:ln/>
        </p:spPr>
      </p:sp>
      <p:sp>
        <p:nvSpPr>
          <p:cNvPr id="37" name="Text 35"/>
          <p:cNvSpPr txBox="1"/>
          <p:nvPr/>
        </p:nvSpPr>
        <p:spPr>
          <a:xfrm>
            <a:off x="868680" y="5532120"/>
            <a:ext cx="10424160" cy="640080"/>
          </a:xfrm>
          <a:prstGeom prst="rect">
            <a:avLst/>
          </a:prstGeom>
          <a:noFill/>
          <a:ln/>
        </p:spPr>
        <p:txBody>
          <a:bodyPr wrap="square" lIns="0" tIns="0" rIns="0" bIns="0" rtlCol="0" anchor="ctr"/>
          <a:lstStyle/>
          <a:p>
            <a:pPr indent="0" marL="0">
              <a:buNone/>
            </a:pPr>
            <a:r>
              <a:rPr lang="en-US" sz="980" dirty="0">
                <a:solidFill>
                  <a:srgbClr val="C6D2E4"/>
                </a:solidFill>
                <a:latin typeface="Calibri" pitchFamily="34" charset="0"/>
                <a:ea typeface="Calibri" pitchFamily="34" charset="-122"/>
                <a:cs typeface="Calibri" pitchFamily="34" charset="-120"/>
              </a:rPr>
              <a:t>Learnt from building the pool: the generators that add feasible candidates are the Fe-dense ones (2:17, 1:12, 3:29 frameworks, their nitrides and Co variants); kagome and metalloid-rich cages are stable but cannot reach 1.5 T. Generation is cheap, so breadth costs nothing - the thresholds do the selecting.</a:t>
            </a:r>
            <a:endParaRPr lang="en-US" sz="9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FROM PROTOTYPE TO POOL ROW</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Substitution rules, then two surrogate screens, then descriptors - no DFT until the wave</a:t>
            </a:r>
            <a:endParaRPr lang="en-US" sz="3200" dirty="0"/>
          </a:p>
        </p:txBody>
      </p:sp>
      <p:sp>
        <p:nvSpPr>
          <p:cNvPr id="4" name="Shape 2"/>
          <p:cNvSpPr/>
          <p:nvPr/>
        </p:nvSpPr>
        <p:spPr>
          <a:xfrm>
            <a:off x="640080" y="1554480"/>
            <a:ext cx="2011680" cy="1325880"/>
          </a:xfrm>
          <a:prstGeom prst="roundRect">
            <a:avLst>
              <a:gd name="adj" fmla="val 4138"/>
            </a:avLst>
          </a:prstGeom>
          <a:solidFill>
            <a:srgbClr val="E3F0F6"/>
          </a:solidFill>
          <a:ln w="6350">
            <a:solidFill>
              <a:srgbClr val="E3F0F6"/>
            </a:solidFill>
            <a:prstDash val="solid"/>
          </a:ln>
        </p:spPr>
      </p:sp>
      <p:sp>
        <p:nvSpPr>
          <p:cNvPr id="5" name="Text 3"/>
          <p:cNvSpPr txBox="1"/>
          <p:nvPr/>
        </p:nvSpPr>
        <p:spPr>
          <a:xfrm>
            <a:off x="713232" y="1609344"/>
            <a:ext cx="1865376" cy="237744"/>
          </a:xfrm>
          <a:prstGeom prst="rect">
            <a:avLst/>
          </a:prstGeom>
          <a:noFill/>
          <a:ln/>
        </p:spPr>
        <p:txBody>
          <a:bodyPr wrap="square" lIns="0" tIns="0" rIns="0" bIns="0" rtlCol="0" anchor="ctr"/>
          <a:lstStyle/>
          <a:p>
            <a:pPr algn="ctr" indent="0" marL="0">
              <a:buNone/>
            </a:pPr>
            <a:r>
              <a:rPr lang="en-US" sz="1200" b="1" dirty="0">
                <a:solidFill>
                  <a:srgbClr val="1F5F7A"/>
                </a:solidFill>
                <a:latin typeface="Calibri" pitchFamily="34" charset="0"/>
                <a:ea typeface="Calibri" pitchFamily="34" charset="-122"/>
                <a:cs typeface="Calibri" pitchFamily="34" charset="-120"/>
              </a:rPr>
              <a:t>Source cell</a:t>
            </a:r>
            <a:endParaRPr lang="en-US" sz="1200" dirty="0"/>
          </a:p>
        </p:txBody>
      </p:sp>
      <p:sp>
        <p:nvSpPr>
          <p:cNvPr id="6" name="Text 4"/>
          <p:cNvSpPr txBox="1"/>
          <p:nvPr/>
        </p:nvSpPr>
        <p:spPr>
          <a:xfrm>
            <a:off x="713232" y="1883664"/>
            <a:ext cx="1865376" cy="960120"/>
          </a:xfrm>
          <a:prstGeom prst="rect">
            <a:avLst/>
          </a:prstGeom>
          <a:noFill/>
          <a:ln/>
        </p:spPr>
        <p:txBody>
          <a:bodyPr wrap="square" lIns="0" tIns="0" rIns="0" bIns="0" rtlCol="0" anchor="t"/>
          <a:lstStyle/>
          <a:p>
            <a:pPr algn="ctr" indent="0" marL="0">
              <a:buNone/>
            </a:pPr>
            <a:r>
              <a:rPr lang="en-US" sz="1050" dirty="0">
                <a:solidFill>
                  <a:srgbClr val="1F5F7A"/>
                </a:solidFill>
                <a:latin typeface="Calibri" pitchFamily="34" charset="0"/>
                <a:ea typeface="Calibri" pitchFamily="34" charset="-122"/>
                <a:cs typeface="Calibri" pitchFamily="34" charset="-120"/>
              </a:rPr>
              <a:t>heavy-RE placeholder (Gd)</a:t>
            </a:r>
            <a:endParaRPr lang="en-US" sz="1050" dirty="0"/>
          </a:p>
          <a:p>
            <a:pPr algn="ctr" indent="0" marL="0">
              <a:buNone/>
            </a:pPr>
            <a:r>
              <a:rPr lang="en-US" sz="1050" dirty="0">
                <a:solidFill>
                  <a:srgbClr val="1F5F7A"/>
                </a:solidFill>
                <a:latin typeface="Calibri" pitchFamily="34" charset="0"/>
                <a:ea typeface="Calibri" pitchFamily="34" charset="-122"/>
                <a:cs typeface="Calibri" pitchFamily="34" charset="-120"/>
              </a:rPr>
              <a:t>or light-RE cell from a</a:t>
            </a:r>
            <a:endParaRPr lang="en-US" sz="1050" dirty="0"/>
          </a:p>
          <a:p>
            <a:pPr algn="ctr" indent="0" marL="0">
              <a:buNone/>
            </a:pPr>
            <a:r>
              <a:rPr lang="en-US" sz="1050" dirty="0">
                <a:solidFill>
                  <a:srgbClr val="1F5F7A"/>
                </a:solidFill>
                <a:latin typeface="Calibri" pitchFamily="34" charset="0"/>
                <a:ea typeface="Calibri" pitchFamily="34" charset="-122"/>
                <a:cs typeface="Calibri" pitchFamily="34" charset="-120"/>
              </a:rPr>
              <a:t>generator</a:t>
            </a:r>
            <a:endParaRPr lang="en-US" sz="1050" dirty="0"/>
          </a:p>
        </p:txBody>
      </p:sp>
      <p:sp>
        <p:nvSpPr>
          <p:cNvPr id="7" name="Shape 5"/>
          <p:cNvSpPr/>
          <p:nvPr/>
        </p:nvSpPr>
        <p:spPr>
          <a:xfrm>
            <a:off x="2971800" y="1554480"/>
            <a:ext cx="2377440" cy="1325880"/>
          </a:xfrm>
          <a:prstGeom prst="roundRect">
            <a:avLst>
              <a:gd name="adj" fmla="val 4138"/>
            </a:avLst>
          </a:prstGeom>
          <a:solidFill>
            <a:srgbClr val="EEF2F7"/>
          </a:solidFill>
          <a:ln w="6350">
            <a:solidFill>
              <a:srgbClr val="EEF2F7"/>
            </a:solidFill>
            <a:prstDash val="solid"/>
          </a:ln>
        </p:spPr>
      </p:sp>
      <p:sp>
        <p:nvSpPr>
          <p:cNvPr id="8" name="Text 6"/>
          <p:cNvSpPr txBox="1"/>
          <p:nvPr/>
        </p:nvSpPr>
        <p:spPr>
          <a:xfrm>
            <a:off x="3044952" y="1609344"/>
            <a:ext cx="2231136" cy="237744"/>
          </a:xfrm>
          <a:prstGeom prst="rect">
            <a:avLst/>
          </a:prstGeom>
          <a:noFill/>
          <a:ln/>
        </p:spPr>
        <p:txBody>
          <a:bodyPr wrap="square" lIns="0" tIns="0" rIns="0" bIns="0" rtlCol="0" anchor="ctr"/>
          <a:lstStyle/>
          <a:p>
            <a:pPr algn="ctr" indent="0" marL="0">
              <a:buNone/>
            </a:pPr>
            <a:r>
              <a:rPr lang="en-US" sz="1200" b="1" dirty="0">
                <a:solidFill>
                  <a:srgbClr val="1A2233"/>
                </a:solidFill>
                <a:latin typeface="Calibri" pitchFamily="34" charset="0"/>
                <a:ea typeface="Calibri" pitchFamily="34" charset="-122"/>
                <a:cs typeface="Calibri" pitchFamily="34" charset="-120"/>
              </a:rPr>
              <a:t>Substitution rules</a:t>
            </a:r>
            <a:endParaRPr lang="en-US" sz="1200" dirty="0"/>
          </a:p>
        </p:txBody>
      </p:sp>
      <p:sp>
        <p:nvSpPr>
          <p:cNvPr id="9" name="Text 7"/>
          <p:cNvSpPr txBox="1"/>
          <p:nvPr/>
        </p:nvSpPr>
        <p:spPr>
          <a:xfrm>
            <a:off x="3044952" y="1883664"/>
            <a:ext cx="2231136" cy="960120"/>
          </a:xfrm>
          <a:prstGeom prst="rect">
            <a:avLst/>
          </a:prstGeom>
          <a:noFill/>
          <a:ln/>
        </p:spPr>
        <p:txBody>
          <a:bodyPr wrap="square" lIns="0" tIns="0" rIns="0" bIns="0" rtlCol="0" anchor="t"/>
          <a:lstStyle/>
          <a:p>
            <a:pPr algn="ctr" indent="0" marL="0">
              <a:buNone/>
            </a:pPr>
            <a:r>
              <a:rPr lang="en-US" sz="1050" dirty="0">
                <a:solidFill>
                  <a:srgbClr val="1A2233"/>
                </a:solidFill>
                <a:latin typeface="Calibri" pitchFamily="34" charset="0"/>
                <a:ea typeface="Calibri" pitchFamily="34" charset="-122"/>
                <a:cs typeface="Calibri" pitchFamily="34" charset="-120"/>
              </a:rPr>
              <a:t>Gd → Nd, Sm (Pr in expansion)</a:t>
            </a:r>
            <a:endParaRPr lang="en-US" sz="1050" dirty="0"/>
          </a:p>
          <a:p>
            <a:pPr algn="ctr" indent="0" marL="0">
              <a:buNone/>
            </a:pPr>
            <a:r>
              <a:rPr lang="en-US" sz="1050" dirty="0">
                <a:solidFill>
                  <a:srgbClr val="1A2233"/>
                </a:solidFill>
                <a:latin typeface="Calibri" pitchFamily="34" charset="0"/>
                <a:ea typeface="Calibri" pitchFamily="34" charset="-122"/>
                <a:cs typeface="Calibri" pitchFamily="34" charset="-120"/>
              </a:rPr>
              <a:t>Fe → Co, ⅛ nearest the RE</a:t>
            </a:r>
            <a:endParaRPr lang="en-US" sz="1050" dirty="0"/>
          </a:p>
          <a:p>
            <a:pPr algn="ctr" indent="0" marL="0">
              <a:buNone/>
            </a:pPr>
            <a:r>
              <a:rPr lang="en-US" sz="1050" dirty="0">
                <a:solidFill>
                  <a:srgbClr val="1A2233"/>
                </a:solidFill>
                <a:latin typeface="Calibri" pitchFamily="34" charset="0"/>
                <a:ea typeface="Calibri" pitchFamily="34" charset="-122"/>
                <a:cs typeface="Calibri" pitchFamily="34" charset="-120"/>
              </a:rPr>
              <a:t>early TM on the far Fe site</a:t>
            </a:r>
            <a:endParaRPr lang="en-US" sz="1050" dirty="0"/>
          </a:p>
          <a:p>
            <a:pPr algn="ctr" indent="0" marL="0">
              <a:buNone/>
            </a:pPr>
            <a:r>
              <a:rPr lang="en-US" sz="1050" dirty="0">
                <a:solidFill>
                  <a:srgbClr val="1A2233"/>
                </a:solidFill>
                <a:latin typeface="Calibri" pitchFamily="34" charset="0"/>
                <a:ea typeface="Calibri" pitchFamily="34" charset="-122"/>
                <a:cs typeface="Calibri" pitchFamily="34" charset="-120"/>
              </a:rPr>
              <a:t>N / C into RE-adjacent voids</a:t>
            </a:r>
            <a:endParaRPr lang="en-US" sz="1050" dirty="0"/>
          </a:p>
        </p:txBody>
      </p:sp>
      <p:sp>
        <p:nvSpPr>
          <p:cNvPr id="10" name="Shape 8"/>
          <p:cNvSpPr/>
          <p:nvPr/>
        </p:nvSpPr>
        <p:spPr>
          <a:xfrm>
            <a:off x="5669280" y="1554480"/>
            <a:ext cx="1828800" cy="1325880"/>
          </a:xfrm>
          <a:prstGeom prst="roundRect">
            <a:avLst>
              <a:gd name="adj" fmla="val 4138"/>
            </a:avLst>
          </a:prstGeom>
          <a:solidFill>
            <a:srgbClr val="EEF2F7"/>
          </a:solidFill>
          <a:ln w="6350">
            <a:solidFill>
              <a:srgbClr val="EEF2F7"/>
            </a:solidFill>
            <a:prstDash val="solid"/>
          </a:ln>
        </p:spPr>
      </p:sp>
      <p:sp>
        <p:nvSpPr>
          <p:cNvPr id="11" name="Text 9"/>
          <p:cNvSpPr txBox="1"/>
          <p:nvPr/>
        </p:nvSpPr>
        <p:spPr>
          <a:xfrm>
            <a:off x="5742432" y="1609344"/>
            <a:ext cx="1682496" cy="237744"/>
          </a:xfrm>
          <a:prstGeom prst="rect">
            <a:avLst/>
          </a:prstGeom>
          <a:noFill/>
          <a:ln/>
        </p:spPr>
        <p:txBody>
          <a:bodyPr wrap="square" lIns="0" tIns="0" rIns="0" bIns="0" rtlCol="0" anchor="ctr"/>
          <a:lstStyle/>
          <a:p>
            <a:pPr algn="ctr" indent="0" marL="0">
              <a:buNone/>
            </a:pPr>
            <a:r>
              <a:rPr lang="en-US" sz="1200" b="1" dirty="0">
                <a:solidFill>
                  <a:srgbClr val="1A2233"/>
                </a:solidFill>
                <a:latin typeface="Calibri" pitchFamily="34" charset="0"/>
                <a:ea typeface="Calibri" pitchFamily="34" charset="-122"/>
                <a:cs typeface="Calibri" pitchFamily="34" charset="-120"/>
              </a:rPr>
              <a:t>Dedupe</a:t>
            </a:r>
            <a:endParaRPr lang="en-US" sz="1200" dirty="0"/>
          </a:p>
        </p:txBody>
      </p:sp>
      <p:sp>
        <p:nvSpPr>
          <p:cNvPr id="12" name="Text 10"/>
          <p:cNvSpPr txBox="1"/>
          <p:nvPr/>
        </p:nvSpPr>
        <p:spPr>
          <a:xfrm>
            <a:off x="5742432" y="1883664"/>
            <a:ext cx="1682496" cy="960120"/>
          </a:xfrm>
          <a:prstGeom prst="rect">
            <a:avLst/>
          </a:prstGeom>
          <a:noFill/>
          <a:ln/>
        </p:spPr>
        <p:txBody>
          <a:bodyPr wrap="square" lIns="0" tIns="0" rIns="0" bIns="0" rtlCol="0" anchor="t"/>
          <a:lstStyle/>
          <a:p>
            <a:pPr algn="ctr" indent="0" marL="0">
              <a:buNone/>
            </a:pPr>
            <a:r>
              <a:rPr lang="en-US" sz="1050" dirty="0">
                <a:solidFill>
                  <a:srgbClr val="1A2233"/>
                </a:solidFill>
                <a:latin typeface="Calibri" pitchFamily="34" charset="0"/>
                <a:ea typeface="Calibri" pitchFamily="34" charset="-122"/>
                <a:cs typeface="Calibri" pitchFamily="34" charset="-120"/>
              </a:rPr>
              <a:t>(reduced formula,</a:t>
            </a:r>
            <a:endParaRPr lang="en-US" sz="1050" dirty="0"/>
          </a:p>
          <a:p>
            <a:pPr algn="ctr" indent="0" marL="0">
              <a:buNone/>
            </a:pPr>
            <a:r>
              <a:rPr lang="en-US" sz="1050" dirty="0">
                <a:solidFill>
                  <a:srgbClr val="1A2233"/>
                </a:solidFill>
                <a:latin typeface="Calibri" pitchFamily="34" charset="0"/>
                <a:ea typeface="Calibri" pitchFamily="34" charset="-122"/>
                <a:cs typeface="Calibri" pitchFamily="34" charset="-120"/>
              </a:rPr>
              <a:t>space group)</a:t>
            </a:r>
            <a:endParaRPr lang="en-US" sz="1050" dirty="0"/>
          </a:p>
          <a:p>
            <a:pPr algn="ctr" indent="0" marL="0">
              <a:buNone/>
            </a:pPr>
            <a:r>
              <a:rPr lang="en-US" sz="1050" dirty="0">
                <a:solidFill>
                  <a:srgbClr val="1A2233"/>
                </a:solidFill>
                <a:latin typeface="Calibri" pitchFamily="34" charset="0"/>
                <a:ea typeface="Calibri" pitchFamily="34" charset="-122"/>
                <a:cs typeface="Calibri" pitchFamily="34" charset="-120"/>
              </a:rPr>
              <a:t>lowest hull kept</a:t>
            </a:r>
            <a:endParaRPr lang="en-US" sz="1050" dirty="0"/>
          </a:p>
        </p:txBody>
      </p:sp>
      <p:sp>
        <p:nvSpPr>
          <p:cNvPr id="13" name="Shape 11"/>
          <p:cNvSpPr/>
          <p:nvPr/>
        </p:nvSpPr>
        <p:spPr>
          <a:xfrm>
            <a:off x="7818120" y="1554480"/>
            <a:ext cx="1828800" cy="1325880"/>
          </a:xfrm>
          <a:prstGeom prst="roundRect">
            <a:avLst>
              <a:gd name="adj" fmla="val 4138"/>
            </a:avLst>
          </a:prstGeom>
          <a:solidFill>
            <a:srgbClr val="EEEDFE"/>
          </a:solidFill>
          <a:ln w="6350">
            <a:solidFill>
              <a:srgbClr val="EEEDFE"/>
            </a:solidFill>
            <a:prstDash val="solid"/>
          </a:ln>
        </p:spPr>
      </p:sp>
      <p:sp>
        <p:nvSpPr>
          <p:cNvPr id="14" name="Text 12"/>
          <p:cNvSpPr txBox="1"/>
          <p:nvPr/>
        </p:nvSpPr>
        <p:spPr>
          <a:xfrm>
            <a:off x="7891272" y="1609344"/>
            <a:ext cx="1682496" cy="237744"/>
          </a:xfrm>
          <a:prstGeom prst="rect">
            <a:avLst/>
          </a:prstGeom>
          <a:noFill/>
          <a:ln/>
        </p:spPr>
        <p:txBody>
          <a:bodyPr wrap="square" lIns="0" tIns="0" rIns="0" bIns="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MACE-MP-0 relax</a:t>
            </a:r>
            <a:endParaRPr lang="en-US" sz="1200" dirty="0"/>
          </a:p>
        </p:txBody>
      </p:sp>
      <p:sp>
        <p:nvSpPr>
          <p:cNvPr id="15" name="Text 13"/>
          <p:cNvSpPr txBox="1"/>
          <p:nvPr/>
        </p:nvSpPr>
        <p:spPr>
          <a:xfrm>
            <a:off x="7891272" y="1883664"/>
            <a:ext cx="1682496" cy="960120"/>
          </a:xfrm>
          <a:prstGeom prst="rect">
            <a:avLst/>
          </a:prstGeom>
          <a:noFill/>
          <a:ln/>
        </p:spPr>
        <p:txBody>
          <a:bodyPr wrap="square" lIns="0" tIns="0" rIns="0" bIns="0" rtlCol="0" anchor="t"/>
          <a:lstStyle/>
          <a:p>
            <a:pPr algn="ctr" indent="0" marL="0">
              <a:buNone/>
            </a:pPr>
            <a:r>
              <a:rPr lang="en-US" sz="1050" dirty="0">
                <a:solidFill>
                  <a:srgbClr val="3C3489"/>
                </a:solidFill>
                <a:latin typeface="Calibri" pitchFamily="34" charset="0"/>
                <a:ea typeface="Calibri" pitchFamily="34" charset="-122"/>
                <a:cs typeface="Calibri" pitchFamily="34" charset="-120"/>
              </a:rPr>
              <a:t>cell + positions</a:t>
            </a:r>
            <a:endParaRPr lang="en-US" sz="1050" dirty="0"/>
          </a:p>
          <a:p>
            <a:pPr algn="ctr" indent="0" marL="0">
              <a:buNone/>
            </a:pPr>
            <a:r>
              <a:rPr lang="en-US" sz="1050" dirty="0">
                <a:solidFill>
                  <a:srgbClr val="3C3489"/>
                </a:solidFill>
                <a:latin typeface="Calibri" pitchFamily="34" charset="0"/>
                <a:ea typeface="Calibri" pitchFamily="34" charset="-122"/>
                <a:cs typeface="Calibri" pitchFamily="34" charset="-120"/>
              </a:rPr>
              <a:t>fmax 0.1 eV/Å, ≤120 steps</a:t>
            </a:r>
            <a:endParaRPr lang="en-US" sz="1050" dirty="0"/>
          </a:p>
          <a:p>
            <a:pPr algn="ctr" indent="0" marL="0">
              <a:buNone/>
            </a:pPr>
            <a:r>
              <a:rPr lang="en-US" sz="1050" dirty="0">
                <a:solidFill>
                  <a:srgbClr val="3C3489"/>
                </a:solidFill>
                <a:latin typeface="Calibri" pitchFamily="34" charset="0"/>
                <a:ea typeface="Calibri" pitchFamily="34" charset="-122"/>
                <a:cs typeface="Calibri" pitchFamily="34" charset="-120"/>
              </a:rPr>
              <a:t>~30 s per cell on CPU</a:t>
            </a:r>
            <a:endParaRPr lang="en-US" sz="1050" dirty="0"/>
          </a:p>
        </p:txBody>
      </p:sp>
      <p:sp>
        <p:nvSpPr>
          <p:cNvPr id="16" name="Shape 14"/>
          <p:cNvSpPr/>
          <p:nvPr/>
        </p:nvSpPr>
        <p:spPr>
          <a:xfrm>
            <a:off x="9966960" y="1554480"/>
            <a:ext cx="1554480" cy="1325880"/>
          </a:xfrm>
          <a:prstGeom prst="roundRect">
            <a:avLst>
              <a:gd name="adj" fmla="val 4138"/>
            </a:avLst>
          </a:prstGeom>
          <a:solidFill>
            <a:srgbClr val="EEEDFE"/>
          </a:solidFill>
          <a:ln w="6350">
            <a:solidFill>
              <a:srgbClr val="EEEDFE"/>
            </a:solidFill>
            <a:prstDash val="solid"/>
          </a:ln>
        </p:spPr>
      </p:sp>
      <p:sp>
        <p:nvSpPr>
          <p:cNvPr id="17" name="Text 15"/>
          <p:cNvSpPr txBox="1"/>
          <p:nvPr/>
        </p:nvSpPr>
        <p:spPr>
          <a:xfrm>
            <a:off x="10040112" y="1609344"/>
            <a:ext cx="1408176" cy="237744"/>
          </a:xfrm>
          <a:prstGeom prst="rect">
            <a:avLst/>
          </a:prstGeom>
          <a:noFill/>
          <a:ln/>
        </p:spPr>
        <p:txBody>
          <a:bodyPr wrap="square" lIns="0" tIns="0" rIns="0" bIns="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Same-model hull</a:t>
            </a:r>
            <a:endParaRPr lang="en-US" sz="1200" dirty="0"/>
          </a:p>
        </p:txBody>
      </p:sp>
      <p:sp>
        <p:nvSpPr>
          <p:cNvPr id="18" name="Text 16"/>
          <p:cNvSpPr txBox="1"/>
          <p:nvPr/>
        </p:nvSpPr>
        <p:spPr>
          <a:xfrm>
            <a:off x="10040112" y="1883664"/>
            <a:ext cx="1408176" cy="960120"/>
          </a:xfrm>
          <a:prstGeom prst="rect">
            <a:avLst/>
          </a:prstGeom>
          <a:noFill/>
          <a:ln/>
        </p:spPr>
        <p:txBody>
          <a:bodyPr wrap="square" lIns="0" tIns="0" rIns="0" bIns="0" rtlCol="0" anchor="t"/>
          <a:lstStyle/>
          <a:p>
            <a:pPr algn="ctr" indent="0" marL="0">
              <a:buNone/>
            </a:pPr>
            <a:r>
              <a:rPr lang="en-US" sz="1050" dirty="0">
                <a:solidFill>
                  <a:srgbClr val="3C3489"/>
                </a:solidFill>
                <a:latin typeface="Calibri" pitchFamily="34" charset="0"/>
                <a:ea typeface="Calibri" pitchFamily="34" charset="-122"/>
                <a:cs typeface="Calibri" pitchFamily="34" charset="-120"/>
              </a:rPr>
              <a:t>MP competitors ≤100 meV</a:t>
            </a:r>
            <a:endParaRPr lang="en-US" sz="1050" dirty="0"/>
          </a:p>
          <a:p>
            <a:pPr algn="ctr" indent="0" marL="0">
              <a:buNone/>
            </a:pPr>
            <a:r>
              <a:rPr lang="en-US" sz="1050" dirty="0">
                <a:solidFill>
                  <a:srgbClr val="3C3489"/>
                </a:solidFill>
                <a:latin typeface="Calibri" pitchFamily="34" charset="0"/>
                <a:ea typeface="Calibri" pitchFamily="34" charset="-122"/>
                <a:cs typeface="Calibri" pitchFamily="34" charset="-120"/>
              </a:rPr>
              <a:t>re-relaxed with MACE</a:t>
            </a:r>
            <a:endParaRPr lang="en-US" sz="1050" dirty="0"/>
          </a:p>
          <a:p>
            <a:pPr algn="ctr" indent="0" marL="0">
              <a:buNone/>
            </a:pPr>
            <a:r>
              <a:rPr lang="en-US" sz="1050" dirty="0">
                <a:solidFill>
                  <a:srgbClr val="3C3489"/>
                </a:solidFill>
                <a:latin typeface="Calibri" pitchFamily="34" charset="0"/>
                <a:ea typeface="Calibri" pitchFamily="34" charset="-122"/>
                <a:cs typeface="Calibri" pitchFamily="34" charset="-120"/>
              </a:rPr>
              <a:t>→ E_hull</a:t>
            </a:r>
            <a:endParaRPr lang="en-US" sz="1050" dirty="0"/>
          </a:p>
        </p:txBody>
      </p:sp>
      <p:sp>
        <p:nvSpPr>
          <p:cNvPr id="19" name="Shape 17"/>
          <p:cNvSpPr/>
          <p:nvPr/>
        </p:nvSpPr>
        <p:spPr>
          <a:xfrm>
            <a:off x="2651760" y="2212848"/>
            <a:ext cx="320040" cy="0"/>
          </a:xfrm>
          <a:prstGeom prst="line">
            <a:avLst/>
          </a:prstGeom>
          <a:noFill/>
          <a:ln w="17780">
            <a:solidFill>
              <a:srgbClr val="7A8DA8"/>
            </a:solidFill>
            <a:prstDash val="solid"/>
            <a:tailEnd type="triangle"/>
          </a:ln>
        </p:spPr>
      </p:sp>
      <p:sp>
        <p:nvSpPr>
          <p:cNvPr id="20" name="Shape 18"/>
          <p:cNvSpPr/>
          <p:nvPr/>
        </p:nvSpPr>
        <p:spPr>
          <a:xfrm>
            <a:off x="5349240" y="2212848"/>
            <a:ext cx="320040" cy="0"/>
          </a:xfrm>
          <a:prstGeom prst="line">
            <a:avLst/>
          </a:prstGeom>
          <a:noFill/>
          <a:ln w="17780">
            <a:solidFill>
              <a:srgbClr val="7A8DA8"/>
            </a:solidFill>
            <a:prstDash val="solid"/>
            <a:tailEnd type="triangle"/>
          </a:ln>
        </p:spPr>
      </p:sp>
      <p:sp>
        <p:nvSpPr>
          <p:cNvPr id="21" name="Shape 19"/>
          <p:cNvSpPr/>
          <p:nvPr/>
        </p:nvSpPr>
        <p:spPr>
          <a:xfrm>
            <a:off x="7498080" y="2212848"/>
            <a:ext cx="320040" cy="0"/>
          </a:xfrm>
          <a:prstGeom prst="line">
            <a:avLst/>
          </a:prstGeom>
          <a:noFill/>
          <a:ln w="17780">
            <a:solidFill>
              <a:srgbClr val="7A8DA8"/>
            </a:solidFill>
            <a:prstDash val="solid"/>
            <a:tailEnd type="triangle"/>
          </a:ln>
        </p:spPr>
      </p:sp>
      <p:sp>
        <p:nvSpPr>
          <p:cNvPr id="22" name="Shape 20"/>
          <p:cNvSpPr/>
          <p:nvPr/>
        </p:nvSpPr>
        <p:spPr>
          <a:xfrm>
            <a:off x="9646920" y="2212848"/>
            <a:ext cx="320040" cy="0"/>
          </a:xfrm>
          <a:prstGeom prst="line">
            <a:avLst/>
          </a:prstGeom>
          <a:noFill/>
          <a:ln w="17780">
            <a:solidFill>
              <a:srgbClr val="7A8DA8"/>
            </a:solidFill>
            <a:prstDash val="solid"/>
            <a:tailEnd type="triangle"/>
          </a:ln>
        </p:spPr>
      </p:sp>
      <p:sp>
        <p:nvSpPr>
          <p:cNvPr id="23" name="Shape 21"/>
          <p:cNvSpPr/>
          <p:nvPr/>
        </p:nvSpPr>
        <p:spPr>
          <a:xfrm>
            <a:off x="9966960" y="3291840"/>
            <a:ext cx="1554480" cy="1325880"/>
          </a:xfrm>
          <a:prstGeom prst="roundRect">
            <a:avLst>
              <a:gd name="adj" fmla="val 4138"/>
            </a:avLst>
          </a:prstGeom>
          <a:solidFill>
            <a:srgbClr val="EEEDFE"/>
          </a:solidFill>
          <a:ln w="6350">
            <a:solidFill>
              <a:srgbClr val="EEEDFE"/>
            </a:solidFill>
            <a:prstDash val="solid"/>
          </a:ln>
        </p:spPr>
      </p:sp>
      <p:sp>
        <p:nvSpPr>
          <p:cNvPr id="24" name="Text 22"/>
          <p:cNvSpPr txBox="1"/>
          <p:nvPr/>
        </p:nvSpPr>
        <p:spPr>
          <a:xfrm>
            <a:off x="10040112" y="3346704"/>
            <a:ext cx="1408176" cy="237744"/>
          </a:xfrm>
          <a:prstGeom prst="rect">
            <a:avLst/>
          </a:prstGeom>
          <a:noFill/>
          <a:ln/>
        </p:spPr>
        <p:txBody>
          <a:bodyPr wrap="square" lIns="0" tIns="0" rIns="0" bIns="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Descriptors</a:t>
            </a:r>
            <a:endParaRPr lang="en-US" sz="1200" dirty="0"/>
          </a:p>
        </p:txBody>
      </p:sp>
      <p:sp>
        <p:nvSpPr>
          <p:cNvPr id="25" name="Text 23"/>
          <p:cNvSpPr txBox="1"/>
          <p:nvPr/>
        </p:nvSpPr>
        <p:spPr>
          <a:xfrm>
            <a:off x="10040112" y="3621024"/>
            <a:ext cx="1408176" cy="960120"/>
          </a:xfrm>
          <a:prstGeom prst="rect">
            <a:avLst/>
          </a:prstGeom>
          <a:noFill/>
          <a:ln/>
        </p:spPr>
        <p:txBody>
          <a:bodyPr wrap="square" lIns="0" tIns="0" rIns="0" bIns="0" rtlCol="0" anchor="t"/>
          <a:lstStyle/>
          <a:p>
            <a:pPr algn="ctr" indent="0" marL="0">
              <a:buNone/>
            </a:pPr>
            <a:r>
              <a:rPr lang="en-US" sz="1050" dirty="0">
                <a:solidFill>
                  <a:srgbClr val="3C3489"/>
                </a:solidFill>
                <a:latin typeface="Calibri" pitchFamily="34" charset="0"/>
                <a:ea typeface="Calibri" pitchFamily="34" charset="-122"/>
                <a:cs typeface="Calibri" pitchFamily="34" charset="-120"/>
              </a:rPr>
              <a:t>15 geometry numbers</a:t>
            </a:r>
            <a:endParaRPr lang="en-US" sz="1050" dirty="0"/>
          </a:p>
          <a:p>
            <a:pPr algn="ctr" indent="0" marL="0">
              <a:buNone/>
            </a:pPr>
            <a:r>
              <a:rPr lang="en-US" sz="1050" dirty="0">
                <a:solidFill>
                  <a:srgbClr val="3C3489"/>
                </a:solidFill>
                <a:latin typeface="Calibri" pitchFamily="34" charset="0"/>
                <a:ea typeface="Calibri" pitchFamily="34" charset="-122"/>
                <a:cs typeface="Calibri" pitchFamily="34" charset="-120"/>
              </a:rPr>
              <a:t>+ RE one-hot</a:t>
            </a:r>
            <a:endParaRPr lang="en-US" sz="1050" dirty="0"/>
          </a:p>
          <a:p>
            <a:pPr algn="ctr" indent="0" marL="0">
              <a:buNone/>
            </a:pPr>
            <a:r>
              <a:rPr lang="en-US" sz="1050" dirty="0">
                <a:solidFill>
                  <a:srgbClr val="3C3489"/>
                </a:solidFill>
                <a:latin typeface="Calibri" pitchFamily="34" charset="0"/>
                <a:ea typeface="Calibri" pitchFamily="34" charset="-122"/>
                <a:cs typeface="Calibri" pitchFamily="34" charset="-120"/>
              </a:rPr>
              <a:t>(wave_features.py)</a:t>
            </a:r>
            <a:endParaRPr lang="en-US" sz="1050" dirty="0"/>
          </a:p>
        </p:txBody>
      </p:sp>
      <p:sp>
        <p:nvSpPr>
          <p:cNvPr id="26" name="Shape 24"/>
          <p:cNvSpPr/>
          <p:nvPr/>
        </p:nvSpPr>
        <p:spPr>
          <a:xfrm>
            <a:off x="7818120" y="3291840"/>
            <a:ext cx="1828800" cy="1325880"/>
          </a:xfrm>
          <a:prstGeom prst="roundRect">
            <a:avLst>
              <a:gd name="adj" fmla="val 4138"/>
            </a:avLst>
          </a:prstGeom>
          <a:solidFill>
            <a:srgbClr val="EEF2F7"/>
          </a:solidFill>
          <a:ln w="6350">
            <a:solidFill>
              <a:srgbClr val="EEF2F7"/>
            </a:solidFill>
            <a:prstDash val="solid"/>
          </a:ln>
        </p:spPr>
      </p:sp>
      <p:sp>
        <p:nvSpPr>
          <p:cNvPr id="27" name="Text 25"/>
          <p:cNvSpPr txBox="1"/>
          <p:nvPr/>
        </p:nvSpPr>
        <p:spPr>
          <a:xfrm>
            <a:off x="7891272" y="3346704"/>
            <a:ext cx="1682496" cy="237744"/>
          </a:xfrm>
          <a:prstGeom prst="rect">
            <a:avLst/>
          </a:prstGeom>
          <a:noFill/>
          <a:ln/>
        </p:spPr>
        <p:txBody>
          <a:bodyPr wrap="square" lIns="0" tIns="0" rIns="0" bIns="0" rtlCol="0" anchor="ctr"/>
          <a:lstStyle/>
          <a:p>
            <a:pPr algn="ctr" indent="0" marL="0">
              <a:buNone/>
            </a:pPr>
            <a:r>
              <a:rPr lang="en-US" sz="1200" b="1" dirty="0">
                <a:solidFill>
                  <a:srgbClr val="1A2233"/>
                </a:solidFill>
                <a:latin typeface="Calibri" pitchFamily="34" charset="0"/>
                <a:ea typeface="Calibri" pitchFamily="34" charset="-122"/>
                <a:cs typeface="Calibri" pitchFamily="34" charset="-120"/>
              </a:rPr>
              <a:t>Analytic Ms</a:t>
            </a:r>
            <a:endParaRPr lang="en-US" sz="1200" dirty="0"/>
          </a:p>
        </p:txBody>
      </p:sp>
      <p:sp>
        <p:nvSpPr>
          <p:cNvPr id="28" name="Text 26"/>
          <p:cNvSpPr txBox="1"/>
          <p:nvPr/>
        </p:nvSpPr>
        <p:spPr>
          <a:xfrm>
            <a:off x="7891272" y="3621024"/>
            <a:ext cx="1682496" cy="960120"/>
          </a:xfrm>
          <a:prstGeom prst="rect">
            <a:avLst/>
          </a:prstGeom>
          <a:noFill/>
          <a:ln/>
        </p:spPr>
        <p:txBody>
          <a:bodyPr wrap="square" lIns="0" tIns="0" rIns="0" bIns="0" rtlCol="0" anchor="t"/>
          <a:lstStyle/>
          <a:p>
            <a:pPr algn="ctr" indent="0" marL="0">
              <a:buNone/>
            </a:pPr>
            <a:r>
              <a:rPr lang="en-US" sz="1050" dirty="0">
                <a:solidFill>
                  <a:srgbClr val="1A2233"/>
                </a:solidFill>
                <a:latin typeface="Calibri" pitchFamily="34" charset="0"/>
                <a:ea typeface="Calibri" pitchFamily="34" charset="-122"/>
                <a:cs typeface="Calibri" pitchFamily="34" charset="-120"/>
              </a:rPr>
              <a:t>Σ TM moments (campaign</a:t>
            </a:r>
            <a:endParaRPr lang="en-US" sz="1050" dirty="0"/>
          </a:p>
          <a:p>
            <a:pPr algn="ctr" indent="0" marL="0">
              <a:buNone/>
            </a:pPr>
            <a:r>
              <a:rPr lang="en-US" sz="1050" dirty="0">
                <a:solidFill>
                  <a:srgbClr val="1A2233"/>
                </a:solidFill>
                <a:latin typeface="Calibri" pitchFamily="34" charset="0"/>
                <a:ea typeface="Calibri" pitchFamily="34" charset="-122"/>
                <a:cs typeface="Calibri" pitchFamily="34" charset="-120"/>
              </a:rPr>
              <a:t>medians) + free-ion RE</a:t>
            </a:r>
            <a:endParaRPr lang="en-US" sz="1050" dirty="0"/>
          </a:p>
          <a:p>
            <a:pPr algn="ctr" indent="0" marL="0">
              <a:buNone/>
            </a:pPr>
            <a:r>
              <a:rPr lang="en-US" sz="1050" dirty="0">
                <a:solidFill>
                  <a:srgbClr val="1A2233"/>
                </a:solidFill>
                <a:latin typeface="Calibri" pitchFamily="34" charset="0"/>
                <a:ea typeface="Calibri" pitchFamily="34" charset="-122"/>
                <a:cs typeface="Calibri" pitchFamily="34" charset="-120"/>
              </a:rPr>
              <a:t>÷ relaxed volume</a:t>
            </a:r>
            <a:endParaRPr lang="en-US" sz="1050" dirty="0"/>
          </a:p>
        </p:txBody>
      </p:sp>
      <p:sp>
        <p:nvSpPr>
          <p:cNvPr id="29" name="Shape 27"/>
          <p:cNvSpPr/>
          <p:nvPr/>
        </p:nvSpPr>
        <p:spPr>
          <a:xfrm>
            <a:off x="5669280" y="3291840"/>
            <a:ext cx="1828800" cy="1325880"/>
          </a:xfrm>
          <a:prstGeom prst="roundRect">
            <a:avLst>
              <a:gd name="adj" fmla="val 4138"/>
            </a:avLst>
          </a:prstGeom>
          <a:solidFill>
            <a:srgbClr val="E3F0F6"/>
          </a:solidFill>
          <a:ln w="6350">
            <a:solidFill>
              <a:srgbClr val="E3F0F6"/>
            </a:solidFill>
            <a:prstDash val="solid"/>
          </a:ln>
        </p:spPr>
      </p:sp>
      <p:sp>
        <p:nvSpPr>
          <p:cNvPr id="30" name="Text 28"/>
          <p:cNvSpPr txBox="1"/>
          <p:nvPr/>
        </p:nvSpPr>
        <p:spPr>
          <a:xfrm>
            <a:off x="5742432" y="3346704"/>
            <a:ext cx="1682496" cy="237744"/>
          </a:xfrm>
          <a:prstGeom prst="rect">
            <a:avLst/>
          </a:prstGeom>
          <a:noFill/>
          <a:ln/>
        </p:spPr>
        <p:txBody>
          <a:bodyPr wrap="square" lIns="0" tIns="0" rIns="0" bIns="0" rtlCol="0" anchor="ctr"/>
          <a:lstStyle/>
          <a:p>
            <a:pPr algn="ctr" indent="0" marL="0">
              <a:buNone/>
            </a:pPr>
            <a:r>
              <a:rPr lang="en-US" sz="1200" b="1" dirty="0">
                <a:solidFill>
                  <a:srgbClr val="1F5F7A"/>
                </a:solidFill>
                <a:latin typeface="Calibri" pitchFamily="34" charset="0"/>
                <a:ea typeface="Calibri" pitchFamily="34" charset="-122"/>
                <a:cs typeface="Calibri" pitchFamily="34" charset="-120"/>
              </a:rPr>
              <a:t>pool.csv row</a:t>
            </a:r>
            <a:endParaRPr lang="en-US" sz="1200" dirty="0"/>
          </a:p>
        </p:txBody>
      </p:sp>
      <p:sp>
        <p:nvSpPr>
          <p:cNvPr id="31" name="Text 29"/>
          <p:cNvSpPr txBox="1"/>
          <p:nvPr/>
        </p:nvSpPr>
        <p:spPr>
          <a:xfrm>
            <a:off x="5742432" y="3621024"/>
            <a:ext cx="1682496" cy="960120"/>
          </a:xfrm>
          <a:prstGeom prst="rect">
            <a:avLst/>
          </a:prstGeom>
          <a:noFill/>
          <a:ln/>
        </p:spPr>
        <p:txBody>
          <a:bodyPr wrap="square" lIns="0" tIns="0" rIns="0" bIns="0" rtlCol="0" anchor="t"/>
          <a:lstStyle/>
          <a:p>
            <a:pPr algn="ctr" indent="0" marL="0">
              <a:buNone/>
            </a:pPr>
            <a:r>
              <a:rPr lang="en-US" sz="1050" dirty="0">
                <a:solidFill>
                  <a:srgbClr val="1F5F7A"/>
                </a:solidFill>
                <a:latin typeface="Calibri" pitchFamily="34" charset="0"/>
                <a:ea typeface="Calibri" pitchFamily="34" charset="-122"/>
                <a:cs typeface="Calibri" pitchFamily="34" charset="-120"/>
              </a:rPr>
              <a:t>cid · formula · source</a:t>
            </a:r>
            <a:endParaRPr lang="en-US" sz="1050" dirty="0"/>
          </a:p>
          <a:p>
            <a:pPr algn="ctr" indent="0" marL="0">
              <a:buNone/>
            </a:pPr>
            <a:r>
              <a:rPr lang="en-US" sz="1050" dirty="0">
                <a:solidFill>
                  <a:srgbClr val="1F5F7A"/>
                </a:solidFill>
                <a:latin typeface="Calibri" pitchFamily="34" charset="0"/>
                <a:ea typeface="Calibri" pitchFamily="34" charset="-122"/>
                <a:cs typeface="Calibri" pitchFamily="34" charset="-120"/>
              </a:rPr>
              <a:t>E_hull · Ms · descriptors</a:t>
            </a:r>
            <a:endParaRPr lang="en-US" sz="1050" dirty="0"/>
          </a:p>
          <a:p>
            <a:pPr algn="ctr" indent="0" marL="0">
              <a:buNone/>
            </a:pPr>
            <a:r>
              <a:rPr lang="en-US" sz="1050" dirty="0">
                <a:solidFill>
                  <a:srgbClr val="1F5F7A"/>
                </a:solidFill>
                <a:latin typeface="Calibri" pitchFamily="34" charset="0"/>
                <a:ea typeface="Calibri" pitchFamily="34" charset="-122"/>
                <a:cs typeface="Calibri" pitchFamily="34" charset="-120"/>
              </a:rPr>
              <a:t>→ POSCAR_mace</a:t>
            </a:r>
            <a:endParaRPr lang="en-US" sz="1050" dirty="0"/>
          </a:p>
        </p:txBody>
      </p:sp>
      <p:sp>
        <p:nvSpPr>
          <p:cNvPr id="32" name="Shape 30"/>
          <p:cNvSpPr/>
          <p:nvPr/>
        </p:nvSpPr>
        <p:spPr>
          <a:xfrm>
            <a:off x="2971800" y="3291840"/>
            <a:ext cx="2377440" cy="1325880"/>
          </a:xfrm>
          <a:prstGeom prst="roundRect">
            <a:avLst>
              <a:gd name="adj" fmla="val 4138"/>
            </a:avLst>
          </a:prstGeom>
          <a:solidFill>
            <a:srgbClr val="FCEDE8"/>
          </a:solidFill>
          <a:ln w="6350">
            <a:solidFill>
              <a:srgbClr val="FCEDE8"/>
            </a:solidFill>
            <a:prstDash val="solid"/>
          </a:ln>
        </p:spPr>
      </p:sp>
      <p:sp>
        <p:nvSpPr>
          <p:cNvPr id="33" name="Text 31"/>
          <p:cNvSpPr txBox="1"/>
          <p:nvPr/>
        </p:nvSpPr>
        <p:spPr>
          <a:xfrm>
            <a:off x="3044952" y="3346704"/>
            <a:ext cx="2231136" cy="237744"/>
          </a:xfrm>
          <a:prstGeom prst="rect">
            <a:avLst/>
          </a:prstGeom>
          <a:noFill/>
          <a:ln/>
        </p:spPr>
        <p:txBody>
          <a:bodyPr wrap="square" lIns="0" tIns="0" rIns="0" bIns="0" rtlCol="0" anchor="ctr"/>
          <a:lstStyle/>
          <a:p>
            <a:pPr algn="ctr" indent="0" marL="0">
              <a:buNone/>
            </a:pPr>
            <a:r>
              <a:rPr lang="en-US" sz="1200" b="1" dirty="0">
                <a:solidFill>
                  <a:srgbClr val="8A3B2E"/>
                </a:solidFill>
                <a:latin typeface="Calibri" pitchFamily="34" charset="0"/>
                <a:ea typeface="Calibri" pitchFamily="34" charset="-122"/>
                <a:cs typeface="Calibri" pitchFamily="34" charset="-120"/>
              </a:rPr>
              <a:t>Hard filters</a:t>
            </a:r>
            <a:endParaRPr lang="en-US" sz="1200" dirty="0"/>
          </a:p>
        </p:txBody>
      </p:sp>
      <p:sp>
        <p:nvSpPr>
          <p:cNvPr id="34" name="Text 32"/>
          <p:cNvSpPr txBox="1"/>
          <p:nvPr/>
        </p:nvSpPr>
        <p:spPr>
          <a:xfrm>
            <a:off x="3044952" y="3621024"/>
            <a:ext cx="2231136" cy="960120"/>
          </a:xfrm>
          <a:prstGeom prst="rect">
            <a:avLst/>
          </a:prstGeom>
          <a:noFill/>
          <a:ln/>
        </p:spPr>
        <p:txBody>
          <a:bodyPr wrap="square" lIns="0" tIns="0" rIns="0" bIns="0" rtlCol="0" anchor="t"/>
          <a:lstStyle/>
          <a:p>
            <a:pPr algn="ctr" indent="0" marL="0">
              <a:buNone/>
            </a:pPr>
            <a:r>
              <a:rPr lang="en-US" sz="1050" dirty="0">
                <a:solidFill>
                  <a:srgbClr val="8A3B2E"/>
                </a:solidFill>
                <a:latin typeface="Calibri" pitchFamily="34" charset="0"/>
                <a:ea typeface="Calibri" pitchFamily="34" charset="-122"/>
                <a:cs typeface="Calibri" pitchFamily="34" charset="-120"/>
              </a:rPr>
              <a:t>E_hull ≤ 30 meV/atom</a:t>
            </a:r>
            <a:endParaRPr lang="en-US" sz="1050" dirty="0"/>
          </a:p>
          <a:p>
            <a:pPr algn="ctr" indent="0" marL="0">
              <a:buNone/>
            </a:pPr>
            <a:r>
              <a:rPr lang="en-US" sz="1050" dirty="0">
                <a:solidFill>
                  <a:srgbClr val="8A3B2E"/>
                </a:solidFill>
                <a:latin typeface="Calibri" pitchFamily="34" charset="0"/>
                <a:ea typeface="Calibri" pitchFamily="34" charset="-122"/>
                <a:cs typeface="Calibri" pitchFamily="34" charset="-120"/>
              </a:rPr>
              <a:t>(MACE noise ≈ 30)</a:t>
            </a:r>
            <a:endParaRPr lang="en-US" sz="1050" dirty="0"/>
          </a:p>
          <a:p>
            <a:pPr algn="ctr" indent="0" marL="0">
              <a:buNone/>
            </a:pPr>
            <a:r>
              <a:rPr lang="en-US" sz="1050" dirty="0">
                <a:solidFill>
                  <a:srgbClr val="8A3B2E"/>
                </a:solidFill>
                <a:latin typeface="Calibri" pitchFamily="34" charset="0"/>
                <a:ea typeface="Calibri" pitchFamily="34" charset="-122"/>
                <a:cs typeface="Calibri" pitchFamily="34" charset="-120"/>
              </a:rPr>
              <a:t>Ms_proj ≥ 1.5 T</a:t>
            </a:r>
            <a:endParaRPr lang="en-US" sz="1050" dirty="0"/>
          </a:p>
        </p:txBody>
      </p:sp>
      <p:sp>
        <p:nvSpPr>
          <p:cNvPr id="35" name="Shape 33"/>
          <p:cNvSpPr/>
          <p:nvPr/>
        </p:nvSpPr>
        <p:spPr>
          <a:xfrm>
            <a:off x="640080" y="3291840"/>
            <a:ext cx="2011680" cy="1325880"/>
          </a:xfrm>
          <a:prstGeom prst="roundRect">
            <a:avLst>
              <a:gd name="adj" fmla="val 4138"/>
            </a:avLst>
          </a:prstGeom>
          <a:solidFill>
            <a:srgbClr val="EEEDFE"/>
          </a:solidFill>
          <a:ln w="6350">
            <a:solidFill>
              <a:srgbClr val="EEEDFE"/>
            </a:solidFill>
            <a:prstDash val="solid"/>
          </a:ln>
        </p:spPr>
      </p:sp>
      <p:sp>
        <p:nvSpPr>
          <p:cNvPr id="36" name="Text 34"/>
          <p:cNvSpPr txBox="1"/>
          <p:nvPr/>
        </p:nvSpPr>
        <p:spPr>
          <a:xfrm>
            <a:off x="713232" y="3346704"/>
            <a:ext cx="1865376" cy="237744"/>
          </a:xfrm>
          <a:prstGeom prst="rect">
            <a:avLst/>
          </a:prstGeom>
          <a:noFill/>
          <a:ln/>
        </p:spPr>
        <p:txBody>
          <a:bodyPr wrap="square" lIns="0" tIns="0" rIns="0" bIns="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 GP + sampling</a:t>
            </a:r>
            <a:endParaRPr lang="en-US" sz="1200" dirty="0"/>
          </a:p>
        </p:txBody>
      </p:sp>
      <p:sp>
        <p:nvSpPr>
          <p:cNvPr id="37" name="Text 35"/>
          <p:cNvSpPr txBox="1"/>
          <p:nvPr/>
        </p:nvSpPr>
        <p:spPr>
          <a:xfrm>
            <a:off x="713232" y="3621024"/>
            <a:ext cx="1865376" cy="960120"/>
          </a:xfrm>
          <a:prstGeom prst="rect">
            <a:avLst/>
          </a:prstGeom>
          <a:noFill/>
          <a:ln/>
        </p:spPr>
        <p:txBody>
          <a:bodyPr wrap="square" lIns="0" tIns="0" rIns="0" bIns="0" rtlCol="0" anchor="t"/>
          <a:lstStyle/>
          <a:p>
            <a:pPr algn="ctr" indent="0" marL="0">
              <a:buNone/>
            </a:pPr>
            <a:r>
              <a:rPr lang="en-US" sz="1050" dirty="0">
                <a:solidFill>
                  <a:srgbClr val="3C3489"/>
                </a:solidFill>
                <a:latin typeface="Calibri" pitchFamily="34" charset="0"/>
                <a:ea typeface="Calibri" pitchFamily="34" charset="-122"/>
                <a:cs typeface="Calibri" pitchFamily="34" charset="-120"/>
              </a:rPr>
              <a:t>feasible set</a:t>
            </a:r>
            <a:endParaRPr lang="en-US" sz="1050" dirty="0"/>
          </a:p>
          <a:p>
            <a:pPr algn="ctr" indent="0" marL="0">
              <a:buNone/>
            </a:pPr>
            <a:r>
              <a:rPr lang="en-US" sz="1050" dirty="0">
                <a:solidFill>
                  <a:srgbClr val="3C3489"/>
                </a:solidFill>
                <a:latin typeface="Calibri" pitchFamily="34" charset="0"/>
                <a:ea typeface="Calibri" pitchFamily="34" charset="-122"/>
                <a:cs typeface="Calibri" pitchFamily="34" charset="-120"/>
              </a:rPr>
              <a:t>(94 of 1,220 today)</a:t>
            </a:r>
            <a:endParaRPr lang="en-US" sz="1050" dirty="0"/>
          </a:p>
          <a:p>
            <a:pPr algn="ctr" indent="0" marL="0">
              <a:buNone/>
            </a:pPr>
            <a:r>
              <a:rPr lang="en-US" sz="1050" dirty="0">
                <a:solidFill>
                  <a:srgbClr val="3C3489"/>
                </a:solidFill>
                <a:latin typeface="Calibri" pitchFamily="34" charset="0"/>
                <a:ea typeface="Calibri" pitchFamily="34" charset="-122"/>
                <a:cs typeface="Calibri" pitchFamily="34" charset="-120"/>
              </a:rPr>
              <a:t>next slide</a:t>
            </a:r>
            <a:endParaRPr lang="en-US" sz="1050" dirty="0"/>
          </a:p>
        </p:txBody>
      </p:sp>
      <p:sp>
        <p:nvSpPr>
          <p:cNvPr id="38" name="Shape 36"/>
          <p:cNvSpPr/>
          <p:nvPr/>
        </p:nvSpPr>
        <p:spPr>
          <a:xfrm>
            <a:off x="10744200" y="2880360"/>
            <a:ext cx="0" cy="411480"/>
          </a:xfrm>
          <a:prstGeom prst="line">
            <a:avLst/>
          </a:prstGeom>
          <a:noFill/>
          <a:ln w="17780">
            <a:solidFill>
              <a:srgbClr val="7A8DA8"/>
            </a:solidFill>
            <a:prstDash val="solid"/>
            <a:tailEnd type="triangle"/>
          </a:ln>
        </p:spPr>
      </p:sp>
      <p:sp>
        <p:nvSpPr>
          <p:cNvPr id="39" name="Shape 37"/>
          <p:cNvSpPr/>
          <p:nvPr/>
        </p:nvSpPr>
        <p:spPr>
          <a:xfrm flipH="1">
            <a:off x="9646920" y="3950208"/>
            <a:ext cx="320040" cy="0"/>
          </a:xfrm>
          <a:prstGeom prst="line">
            <a:avLst/>
          </a:prstGeom>
          <a:noFill/>
          <a:ln w="17780">
            <a:solidFill>
              <a:srgbClr val="7A8DA8"/>
            </a:solidFill>
            <a:prstDash val="solid"/>
            <a:tailEnd type="triangle"/>
          </a:ln>
        </p:spPr>
      </p:sp>
      <p:sp>
        <p:nvSpPr>
          <p:cNvPr id="40" name="Shape 38"/>
          <p:cNvSpPr/>
          <p:nvPr/>
        </p:nvSpPr>
        <p:spPr>
          <a:xfrm flipH="1">
            <a:off x="7498080" y="3950208"/>
            <a:ext cx="320040" cy="0"/>
          </a:xfrm>
          <a:prstGeom prst="line">
            <a:avLst/>
          </a:prstGeom>
          <a:noFill/>
          <a:ln w="17780">
            <a:solidFill>
              <a:srgbClr val="7A8DA8"/>
            </a:solidFill>
            <a:prstDash val="solid"/>
            <a:tailEnd type="triangle"/>
          </a:ln>
        </p:spPr>
      </p:sp>
      <p:sp>
        <p:nvSpPr>
          <p:cNvPr id="41" name="Shape 39"/>
          <p:cNvSpPr/>
          <p:nvPr/>
        </p:nvSpPr>
        <p:spPr>
          <a:xfrm flipH="1">
            <a:off x="5349240" y="3950208"/>
            <a:ext cx="320040" cy="0"/>
          </a:xfrm>
          <a:prstGeom prst="line">
            <a:avLst/>
          </a:prstGeom>
          <a:noFill/>
          <a:ln w="17780">
            <a:solidFill>
              <a:srgbClr val="7A8DA8"/>
            </a:solidFill>
            <a:prstDash val="solid"/>
            <a:tailEnd type="triangle"/>
          </a:ln>
        </p:spPr>
      </p:sp>
      <p:sp>
        <p:nvSpPr>
          <p:cNvPr id="42" name="Shape 40"/>
          <p:cNvSpPr/>
          <p:nvPr/>
        </p:nvSpPr>
        <p:spPr>
          <a:xfrm flipH="1">
            <a:off x="2651760" y="3950208"/>
            <a:ext cx="320040" cy="0"/>
          </a:xfrm>
          <a:prstGeom prst="line">
            <a:avLst/>
          </a:prstGeom>
          <a:noFill/>
          <a:ln w="17780">
            <a:solidFill>
              <a:srgbClr val="7A8DA8"/>
            </a:solidFill>
            <a:prstDash val="solid"/>
            <a:tailEnd type="triangle"/>
          </a:ln>
        </p:spPr>
      </p:sp>
      <p:sp>
        <p:nvSpPr>
          <p:cNvPr id="43" name="Text 41"/>
          <p:cNvSpPr txBox="1"/>
          <p:nvPr/>
        </p:nvSpPr>
        <p:spPr>
          <a:xfrm>
            <a:off x="640080" y="4846320"/>
            <a:ext cx="10881360" cy="41148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The 15 descriptors (all pre-DFT):  N_TM_nn, d_RE-TM (mean, min)  ·  f_Fe, f_Co, 3d count, TM per RE, dilution  ·  TM density, volume per atom  ·  early-TM fraction  ·  metalloid / H / N / C atoms in the RE shell</a:t>
            </a:r>
            <a:endParaRPr lang="en-US" sz="950" dirty="0"/>
          </a:p>
        </p:txBody>
      </p:sp>
      <p:sp>
        <p:nvSpPr>
          <p:cNvPr id="44" name="Text 42"/>
          <p:cNvSpPr txBox="1"/>
          <p:nvPr/>
        </p:nvSpPr>
        <p:spPr>
          <a:xfrm>
            <a:off x="640080" y="5349240"/>
            <a:ext cx="10881360" cy="640080"/>
          </a:xfrm>
          <a:prstGeom prst="rect">
            <a:avLst/>
          </a:prstGeom>
          <a:noFill/>
          <a:ln/>
        </p:spPr>
        <p:txBody>
          <a:bodyPr wrap="square" lIns="0" tIns="0" rIns="0" bIns="0" rtlCol="0" anchor="ctr"/>
          <a:lstStyle/>
          <a:p>
            <a:pPr indent="0" marL="0">
              <a:buNone/>
            </a:pPr>
            <a:r>
              <a:rPr lang="en-US" sz="1100" i="1" dirty="0">
                <a:solidFill>
                  <a:srgbClr val="1A2233"/>
                </a:solidFill>
                <a:latin typeface="Calibri" pitchFamily="34" charset="0"/>
                <a:ea typeface="Calibri" pitchFamily="34" charset="-122"/>
                <a:cs typeface="Calibri" pitchFamily="34" charset="-120"/>
              </a:rPr>
              <a:t>Why two surrogates: MACE answers 'does this cell exist' (stability, geometry) at 30 s per structure; the GP answers 'is it worth a VASP run' (coupling) from the geometry MACE produced. Neither replaces the DFT label - they decide which 120 of the 1,220 get one.</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THE GP, WHAT IT FITS, HOW IT PICKS</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Two-stage model on the 5d polarisation h; batch Thompson sampling under the magnet constraints</a:t>
            </a:r>
            <a:endParaRPr lang="en-US" sz="3200" dirty="0"/>
          </a:p>
        </p:txBody>
      </p:sp>
      <p:sp>
        <p:nvSpPr>
          <p:cNvPr id="4" name="Shape 2"/>
          <p:cNvSpPr/>
          <p:nvPr/>
        </p:nvSpPr>
        <p:spPr>
          <a:xfrm>
            <a:off x="640080" y="1463040"/>
            <a:ext cx="3383280" cy="1417320"/>
          </a:xfrm>
          <a:prstGeom prst="roundRect">
            <a:avLst>
              <a:gd name="adj" fmla="val 3871"/>
            </a:avLst>
          </a:prstGeom>
          <a:solidFill>
            <a:srgbClr val="E3F0F6"/>
          </a:solidFill>
          <a:ln w="6350">
            <a:solidFill>
              <a:srgbClr val="E3F0F6"/>
            </a:solidFill>
            <a:prstDash val="solid"/>
          </a:ln>
        </p:spPr>
      </p:sp>
      <p:sp>
        <p:nvSpPr>
          <p:cNvPr id="5" name="Text 3"/>
          <p:cNvSpPr txBox="1"/>
          <p:nvPr/>
        </p:nvSpPr>
        <p:spPr>
          <a:xfrm>
            <a:off x="713232" y="1517904"/>
            <a:ext cx="3236976" cy="237744"/>
          </a:xfrm>
          <a:prstGeom prst="rect">
            <a:avLst/>
          </a:prstGeom>
          <a:noFill/>
          <a:ln/>
        </p:spPr>
        <p:txBody>
          <a:bodyPr wrap="square" lIns="0" tIns="0" rIns="0" bIns="0" rtlCol="0" anchor="ctr"/>
          <a:lstStyle/>
          <a:p>
            <a:pPr algn="ctr" indent="0" marL="0">
              <a:buNone/>
            </a:pPr>
            <a:r>
              <a:rPr lang="en-US" sz="1200" b="1" dirty="0">
                <a:solidFill>
                  <a:srgbClr val="1F5F7A"/>
                </a:solidFill>
                <a:latin typeface="Calibri" pitchFamily="34" charset="0"/>
                <a:ea typeface="Calibri" pitchFamily="34" charset="-122"/>
                <a:cs typeface="Calibri" pitchFamily="34" charset="-120"/>
              </a:rPr>
              <a:t>1 · Training rows</a:t>
            </a:r>
            <a:endParaRPr lang="en-US" sz="1200" dirty="0"/>
          </a:p>
        </p:txBody>
      </p:sp>
      <p:sp>
        <p:nvSpPr>
          <p:cNvPr id="6" name="Text 4"/>
          <p:cNvSpPr txBox="1"/>
          <p:nvPr/>
        </p:nvSpPr>
        <p:spPr>
          <a:xfrm>
            <a:off x="713232" y="1792224"/>
            <a:ext cx="3236976" cy="1051560"/>
          </a:xfrm>
          <a:prstGeom prst="rect">
            <a:avLst/>
          </a:prstGeom>
          <a:noFill/>
          <a:ln/>
        </p:spPr>
        <p:txBody>
          <a:bodyPr wrap="square" lIns="0" tIns="0" rIns="0" bIns="0" rtlCol="0" anchor="t"/>
          <a:lstStyle/>
          <a:p>
            <a:pPr algn="ctr" indent="0" marL="0">
              <a:buNone/>
            </a:pPr>
            <a:r>
              <a:rPr lang="en-US" sz="1200" dirty="0">
                <a:solidFill>
                  <a:srgbClr val="1F5F7A"/>
                </a:solidFill>
                <a:latin typeface="Calibri" pitchFamily="34" charset="0"/>
                <a:ea typeface="Calibri" pitchFamily="34" charset="-122"/>
                <a:cs typeface="Calibri" pitchFamily="34" charset="-120"/>
              </a:rPr>
              <a:t>179 credible Gd pairs: label h = −½[m₅d(ferri) + m₅d(fm)]</a:t>
            </a:r>
            <a:endParaRPr lang="en-US" sz="1200" dirty="0"/>
          </a:p>
          <a:p>
            <a:pPr algn="ctr" indent="0" marL="0">
              <a:buNone/>
            </a:pPr>
            <a:r>
              <a:rPr lang="en-US" sz="1200" dirty="0">
                <a:solidFill>
                  <a:srgbClr val="1F5F7A"/>
                </a:solidFill>
                <a:latin typeface="Calibri" pitchFamily="34" charset="0"/>
                <a:ea typeface="Calibri" pitchFamily="34" charset="-122"/>
                <a:cs typeface="Calibri" pitchFamily="34" charset="-120"/>
              </a:rPr>
              <a:t>+ every ingested f-in-core wave run: h read directly</a:t>
            </a:r>
            <a:endParaRPr lang="en-US" sz="1200" dirty="0"/>
          </a:p>
          <a:p>
            <a:pPr algn="ctr" indent="0" marL="0">
              <a:buNone/>
            </a:pPr>
            <a:r>
              <a:rPr lang="en-US" sz="1200" dirty="0">
                <a:solidFill>
                  <a:srgbClr val="1F5F7A"/>
                </a:solidFill>
                <a:latin typeface="Calibri" pitchFamily="34" charset="0"/>
                <a:ea typeface="Calibri" pitchFamily="34" charset="-122"/>
                <a:cs typeface="Calibri" pitchFamily="34" charset="-120"/>
              </a:rPr>
              <a:t>features = 15 descriptors + RE one-hot, standardised</a:t>
            </a:r>
            <a:endParaRPr lang="en-US" sz="1200" dirty="0"/>
          </a:p>
        </p:txBody>
      </p:sp>
      <p:sp>
        <p:nvSpPr>
          <p:cNvPr id="7" name="Shape 5"/>
          <p:cNvSpPr/>
          <p:nvPr/>
        </p:nvSpPr>
        <p:spPr>
          <a:xfrm>
            <a:off x="4389120" y="1463040"/>
            <a:ext cx="3383280" cy="1417320"/>
          </a:xfrm>
          <a:prstGeom prst="roundRect">
            <a:avLst>
              <a:gd name="adj" fmla="val 3871"/>
            </a:avLst>
          </a:prstGeom>
          <a:solidFill>
            <a:srgbClr val="EEEDFE"/>
          </a:solidFill>
          <a:ln w="6350">
            <a:solidFill>
              <a:srgbClr val="EEEDFE"/>
            </a:solidFill>
            <a:prstDash val="solid"/>
          </a:ln>
        </p:spPr>
      </p:sp>
      <p:sp>
        <p:nvSpPr>
          <p:cNvPr id="8" name="Text 6"/>
          <p:cNvSpPr txBox="1"/>
          <p:nvPr/>
        </p:nvSpPr>
        <p:spPr>
          <a:xfrm>
            <a:off x="4462272" y="1517904"/>
            <a:ext cx="3236976" cy="237744"/>
          </a:xfrm>
          <a:prstGeom prst="rect">
            <a:avLst/>
          </a:prstGeom>
          <a:noFill/>
          <a:ln/>
        </p:spPr>
        <p:txBody>
          <a:bodyPr wrap="square" lIns="0" tIns="0" rIns="0" bIns="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2 · Mean function (ridge)</a:t>
            </a:r>
            <a:endParaRPr lang="en-US" sz="1200" dirty="0"/>
          </a:p>
        </p:txBody>
      </p:sp>
      <p:sp>
        <p:nvSpPr>
          <p:cNvPr id="9" name="Text 7"/>
          <p:cNvSpPr txBox="1"/>
          <p:nvPr/>
        </p:nvSpPr>
        <p:spPr>
          <a:xfrm>
            <a:off x="4462272" y="1792224"/>
            <a:ext cx="3236976" cy="1051560"/>
          </a:xfrm>
          <a:prstGeom prst="rect">
            <a:avLst/>
          </a:prstGeom>
          <a:noFill/>
          <a:ln/>
        </p:spPr>
        <p:txBody>
          <a:bodyPr wrap="square" lIns="0" tIns="0" rIns="0" bIns="0" rtlCol="0" anchor="t"/>
          <a:lstStyle/>
          <a:p>
            <a:pPr algn="ctr" indent="0" marL="0">
              <a:buNone/>
            </a:pPr>
            <a:r>
              <a:rPr lang="en-US" sz="1200" dirty="0">
                <a:solidFill>
                  <a:srgbClr val="3C3489"/>
                </a:solidFill>
                <a:latin typeface="Calibri" pitchFamily="34" charset="0"/>
                <a:ea typeface="Calibri" pitchFamily="34" charset="-122"/>
                <a:cs typeface="Calibri" pitchFamily="34" charset="-120"/>
              </a:rPr>
              <a:t>w = argmin ‖h − Xw‖² + α‖w‖²,  α = 1</a:t>
            </a:r>
            <a:endParaRPr lang="en-US" sz="1200" dirty="0"/>
          </a:p>
          <a:p>
            <a:pPr algn="ctr" indent="0" marL="0">
              <a:buNone/>
            </a:pPr>
            <a:r>
              <a:rPr lang="en-US" sz="1200" dirty="0">
                <a:solidFill>
                  <a:srgbClr val="3C3489"/>
                </a:solidFill>
                <a:latin typeface="Calibri" pitchFamily="34" charset="0"/>
                <a:ea typeface="Calibri" pitchFamily="34" charset="-122"/>
                <a:cs typeface="Calibri" pitchFamily="34" charset="-120"/>
              </a:rPr>
              <a:t>the physics the 180 labels already fixed:</a:t>
            </a:r>
            <a:endParaRPr lang="en-US" sz="1200" dirty="0"/>
          </a:p>
          <a:p>
            <a:pPr algn="ctr" indent="0" marL="0">
              <a:buNone/>
            </a:pPr>
            <a:r>
              <a:rPr lang="en-US" sz="1200" dirty="0">
                <a:solidFill>
                  <a:srgbClr val="3C3489"/>
                </a:solidFill>
                <a:latin typeface="Calibri" pitchFamily="34" charset="0"/>
                <a:ea typeface="Calibri" pitchFamily="34" charset="-122"/>
                <a:cs typeface="Calibri" pitchFamily="34" charset="-120"/>
              </a:rPr>
              <a:t>distance, coordination, Co fraction, dilution</a:t>
            </a:r>
            <a:endParaRPr lang="en-US" sz="1200" dirty="0"/>
          </a:p>
        </p:txBody>
      </p:sp>
      <p:sp>
        <p:nvSpPr>
          <p:cNvPr id="10" name="Shape 8"/>
          <p:cNvSpPr/>
          <p:nvPr/>
        </p:nvSpPr>
        <p:spPr>
          <a:xfrm>
            <a:off x="8138160" y="1463040"/>
            <a:ext cx="3383280" cy="1417320"/>
          </a:xfrm>
          <a:prstGeom prst="roundRect">
            <a:avLst>
              <a:gd name="adj" fmla="val 3871"/>
            </a:avLst>
          </a:prstGeom>
          <a:solidFill>
            <a:srgbClr val="EEEDFE"/>
          </a:solidFill>
          <a:ln w="6350">
            <a:solidFill>
              <a:srgbClr val="EEEDFE"/>
            </a:solidFill>
            <a:prstDash val="solid"/>
          </a:ln>
        </p:spPr>
      </p:sp>
      <p:sp>
        <p:nvSpPr>
          <p:cNvPr id="11" name="Text 9"/>
          <p:cNvSpPr txBox="1"/>
          <p:nvPr/>
        </p:nvSpPr>
        <p:spPr>
          <a:xfrm>
            <a:off x="8211312" y="1517904"/>
            <a:ext cx="3236976" cy="237744"/>
          </a:xfrm>
          <a:prstGeom prst="rect">
            <a:avLst/>
          </a:prstGeom>
          <a:noFill/>
          <a:ln/>
        </p:spPr>
        <p:txBody>
          <a:bodyPr wrap="square" lIns="0" tIns="0" rIns="0" bIns="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3 · GP on the residual r = h − Xw</a:t>
            </a:r>
            <a:endParaRPr lang="en-US" sz="1200" dirty="0"/>
          </a:p>
        </p:txBody>
      </p:sp>
      <p:sp>
        <p:nvSpPr>
          <p:cNvPr id="12" name="Text 10"/>
          <p:cNvSpPr txBox="1"/>
          <p:nvPr/>
        </p:nvSpPr>
        <p:spPr>
          <a:xfrm>
            <a:off x="8211312" y="1792224"/>
            <a:ext cx="3236976" cy="1051560"/>
          </a:xfrm>
          <a:prstGeom prst="rect">
            <a:avLst/>
          </a:prstGeom>
          <a:noFill/>
          <a:ln/>
        </p:spPr>
        <p:txBody>
          <a:bodyPr wrap="square" lIns="0" tIns="0" rIns="0" bIns="0" rtlCol="0" anchor="t"/>
          <a:lstStyle/>
          <a:p>
            <a:pPr algn="ctr" indent="0" marL="0">
              <a:buNone/>
            </a:pPr>
            <a:r>
              <a:rPr lang="en-US" sz="1200" dirty="0">
                <a:solidFill>
                  <a:srgbClr val="3C3489"/>
                </a:solidFill>
                <a:latin typeface="Calibri" pitchFamily="34" charset="0"/>
                <a:ea typeface="Calibri" pitchFamily="34" charset="-122"/>
                <a:cs typeface="Calibri" pitchFamily="34" charset="-120"/>
              </a:rPr>
              <a:t>k = σ²·Matern₅⁄₂(ℓ₁…ℓ₁₉) + σₙ²</a:t>
            </a:r>
            <a:endParaRPr lang="en-US" sz="1200" dirty="0"/>
          </a:p>
          <a:p>
            <a:pPr algn="ctr" indent="0" marL="0">
              <a:buNone/>
            </a:pPr>
            <a:r>
              <a:rPr lang="en-US" sz="1200" dirty="0">
                <a:solidFill>
                  <a:srgbClr val="3C3489"/>
                </a:solidFill>
                <a:latin typeface="Calibri" pitchFamily="34" charset="0"/>
                <a:ea typeface="Calibri" pitchFamily="34" charset="-122"/>
                <a:cs typeface="Calibri" pitchFamily="34" charset="-120"/>
              </a:rPr>
              <a:t>hyperparameters maximise the log marginal likelihood</a:t>
            </a:r>
            <a:endParaRPr lang="en-US" sz="1200" dirty="0"/>
          </a:p>
          <a:p>
            <a:pPr algn="ctr" indent="0" marL="0">
              <a:buNone/>
            </a:pPr>
            <a:r>
              <a:rPr lang="en-US" sz="1200" dirty="0">
                <a:solidFill>
                  <a:srgbClr val="3C3489"/>
                </a:solidFill>
                <a:latin typeface="Calibri" pitchFamily="34" charset="0"/>
                <a:ea typeface="Calibri" pitchFamily="34" charset="-122"/>
                <a:cs typeface="Calibri" pitchFamily="34" charset="-120"/>
              </a:rPr>
              <a:t>log p(r|X) = −½ rᵀK⁻¹r − ½ log|K| − (n/2) log 2π</a:t>
            </a:r>
            <a:endParaRPr lang="en-US" sz="1200" dirty="0"/>
          </a:p>
          <a:p>
            <a:pPr algn="ctr" indent="0" marL="0">
              <a:buNone/>
            </a:pPr>
            <a:r>
              <a:rPr lang="en-US" sz="1200" dirty="0">
                <a:solidFill>
                  <a:srgbClr val="3C3489"/>
                </a:solidFill>
                <a:latin typeface="Calibri" pitchFamily="34" charset="0"/>
                <a:ea typeface="Calibri" pitchFamily="34" charset="-122"/>
                <a:cs typeface="Calibri" pitchFamily="34" charset="-120"/>
              </a:rPr>
              <a:t>→ posterior mean μ(x), std σ(x)</a:t>
            </a:r>
            <a:endParaRPr lang="en-US" sz="1200" dirty="0"/>
          </a:p>
        </p:txBody>
      </p:sp>
      <p:sp>
        <p:nvSpPr>
          <p:cNvPr id="13" name="Shape 11"/>
          <p:cNvSpPr/>
          <p:nvPr/>
        </p:nvSpPr>
        <p:spPr>
          <a:xfrm>
            <a:off x="4023360" y="2167128"/>
            <a:ext cx="365760" cy="0"/>
          </a:xfrm>
          <a:prstGeom prst="line">
            <a:avLst/>
          </a:prstGeom>
          <a:noFill/>
          <a:ln w="17780">
            <a:solidFill>
              <a:srgbClr val="7A8DA8"/>
            </a:solidFill>
            <a:prstDash val="solid"/>
            <a:tailEnd type="triangle"/>
          </a:ln>
        </p:spPr>
      </p:sp>
      <p:sp>
        <p:nvSpPr>
          <p:cNvPr id="14" name="Shape 12"/>
          <p:cNvSpPr/>
          <p:nvPr/>
        </p:nvSpPr>
        <p:spPr>
          <a:xfrm>
            <a:off x="7772400" y="2167128"/>
            <a:ext cx="365760" cy="0"/>
          </a:xfrm>
          <a:prstGeom prst="line">
            <a:avLst/>
          </a:prstGeom>
          <a:noFill/>
          <a:ln w="17780">
            <a:solidFill>
              <a:srgbClr val="7A8DA8"/>
            </a:solidFill>
            <a:prstDash val="solid"/>
            <a:tailEnd type="triangle"/>
          </a:ln>
        </p:spPr>
      </p:sp>
      <p:sp>
        <p:nvSpPr>
          <p:cNvPr id="15" name="Shape 13"/>
          <p:cNvSpPr/>
          <p:nvPr/>
        </p:nvSpPr>
        <p:spPr>
          <a:xfrm>
            <a:off x="640080" y="3200400"/>
            <a:ext cx="3383280" cy="1463040"/>
          </a:xfrm>
          <a:prstGeom prst="roundRect">
            <a:avLst>
              <a:gd name="adj" fmla="val 3750"/>
            </a:avLst>
          </a:prstGeom>
          <a:solidFill>
            <a:srgbClr val="EEF2F7"/>
          </a:solidFill>
          <a:ln w="6350">
            <a:solidFill>
              <a:srgbClr val="EEF2F7"/>
            </a:solidFill>
            <a:prstDash val="solid"/>
          </a:ln>
        </p:spPr>
      </p:sp>
      <p:sp>
        <p:nvSpPr>
          <p:cNvPr id="16" name="Text 14"/>
          <p:cNvSpPr txBox="1"/>
          <p:nvPr/>
        </p:nvSpPr>
        <p:spPr>
          <a:xfrm>
            <a:off x="713232" y="3255264"/>
            <a:ext cx="3236976" cy="237744"/>
          </a:xfrm>
          <a:prstGeom prst="rect">
            <a:avLst/>
          </a:prstGeom>
          <a:noFill/>
          <a:ln/>
        </p:spPr>
        <p:txBody>
          <a:bodyPr wrap="square" lIns="0" tIns="0" rIns="0" bIns="0" rtlCol="0" anchor="ctr"/>
          <a:lstStyle/>
          <a:p>
            <a:pPr algn="ctr" indent="0" marL="0">
              <a:buNone/>
            </a:pPr>
            <a:r>
              <a:rPr lang="en-US" sz="1200" b="1" dirty="0">
                <a:solidFill>
                  <a:srgbClr val="1A2233"/>
                </a:solidFill>
                <a:latin typeface="Calibri" pitchFamily="34" charset="0"/>
                <a:ea typeface="Calibri" pitchFamily="34" charset="-122"/>
                <a:cs typeface="Calibri" pitchFamily="34" charset="-120"/>
              </a:rPr>
              <a:t>4 · Stage two (deterministic)</a:t>
            </a:r>
            <a:endParaRPr lang="en-US" sz="1200" dirty="0"/>
          </a:p>
        </p:txBody>
      </p:sp>
      <p:sp>
        <p:nvSpPr>
          <p:cNvPr id="17" name="Text 15"/>
          <p:cNvSpPr txBox="1"/>
          <p:nvPr/>
        </p:nvSpPr>
        <p:spPr>
          <a:xfrm>
            <a:off x="713232" y="3529584"/>
            <a:ext cx="3236976" cy="1097280"/>
          </a:xfrm>
          <a:prstGeom prst="rect">
            <a:avLst/>
          </a:prstGeom>
          <a:noFill/>
          <a:ln/>
        </p:spPr>
        <p:txBody>
          <a:bodyPr wrap="square" lIns="0" tIns="0" rIns="0" bIns="0" rtlCol="0" anchor="t"/>
          <a:lstStyle/>
          <a:p>
            <a:pPr algn="ctr" indent="0" marL="0">
              <a:buNone/>
            </a:pPr>
            <a:r>
              <a:rPr lang="en-US" sz="1200" dirty="0">
                <a:solidFill>
                  <a:srgbClr val="1A2233"/>
                </a:solidFill>
                <a:latin typeface="Calibri" pitchFamily="34" charset="0"/>
                <a:ea typeface="Calibri" pitchFamily="34" charset="-122"/>
                <a:cs typeface="Calibri" pitchFamily="34" charset="-120"/>
              </a:rPr>
              <a:t>gap_RE = 1574 · h · (gJ−1)J_RE / 3.5</a:t>
            </a:r>
            <a:endParaRPr lang="en-US" sz="1200" dirty="0"/>
          </a:p>
          <a:p>
            <a:pPr algn="ctr" indent="0" marL="0">
              <a:buNone/>
            </a:pPr>
            <a:r>
              <a:rPr lang="en-US" sz="1200" dirty="0">
                <a:solidFill>
                  <a:srgbClr val="1A2233"/>
                </a:solidFill>
                <a:latin typeface="Calibri" pitchFamily="34" charset="0"/>
                <a:ea typeface="Calibri" pitchFamily="34" charset="-122"/>
                <a:cs typeface="Calibri" pitchFamily="34" charset="-120"/>
              </a:rPr>
              <a:t>T* = gap_RE / 2k_B</a:t>
            </a:r>
            <a:endParaRPr lang="en-US" sz="1200" dirty="0"/>
          </a:p>
          <a:p>
            <a:pPr algn="ctr" indent="0" marL="0">
              <a:buNone/>
            </a:pPr>
            <a:r>
              <a:rPr lang="en-US" sz="1200" dirty="0">
                <a:solidFill>
                  <a:srgbClr val="1A2233"/>
                </a:solidFill>
                <a:latin typeface="Calibri" pitchFamily="34" charset="0"/>
                <a:ea typeface="Calibri" pitchFamily="34" charset="-122"/>
                <a:cs typeface="Calibri" pitchFamily="34" charset="-120"/>
              </a:rPr>
              <a:t>Ms from the pool row (analytic)</a:t>
            </a:r>
            <a:endParaRPr lang="en-US" sz="1200" dirty="0"/>
          </a:p>
          <a:p>
            <a:pPr algn="ctr" indent="0" marL="0">
              <a:buNone/>
            </a:pPr>
            <a:r>
              <a:rPr lang="en-US" sz="1200" dirty="0">
                <a:solidFill>
                  <a:srgbClr val="1A2233"/>
                </a:solidFill>
                <a:latin typeface="Calibri" pitchFamily="34" charset="0"/>
                <a:ea typeface="Calibri" pitchFamily="34" charset="-122"/>
                <a:cs typeface="Calibri" pitchFamily="34" charset="-120"/>
              </a:rPr>
              <a:t>no fitted parameter beyond 1574</a:t>
            </a:r>
            <a:endParaRPr lang="en-US" sz="1200" dirty="0"/>
          </a:p>
        </p:txBody>
      </p:sp>
      <p:sp>
        <p:nvSpPr>
          <p:cNvPr id="18" name="Shape 16"/>
          <p:cNvSpPr/>
          <p:nvPr/>
        </p:nvSpPr>
        <p:spPr>
          <a:xfrm>
            <a:off x="4389120" y="3200400"/>
            <a:ext cx="3383280" cy="1463040"/>
          </a:xfrm>
          <a:prstGeom prst="roundRect">
            <a:avLst>
              <a:gd name="adj" fmla="val 3750"/>
            </a:avLst>
          </a:prstGeom>
          <a:solidFill>
            <a:srgbClr val="FCEDE8"/>
          </a:solidFill>
          <a:ln w="6350">
            <a:solidFill>
              <a:srgbClr val="FCEDE8"/>
            </a:solidFill>
            <a:prstDash val="solid"/>
          </a:ln>
        </p:spPr>
      </p:sp>
      <p:sp>
        <p:nvSpPr>
          <p:cNvPr id="19" name="Text 17"/>
          <p:cNvSpPr txBox="1"/>
          <p:nvPr/>
        </p:nvSpPr>
        <p:spPr>
          <a:xfrm>
            <a:off x="4462272" y="3255264"/>
            <a:ext cx="3236976" cy="237744"/>
          </a:xfrm>
          <a:prstGeom prst="rect">
            <a:avLst/>
          </a:prstGeom>
          <a:noFill/>
          <a:ln/>
        </p:spPr>
        <p:txBody>
          <a:bodyPr wrap="square" lIns="0" tIns="0" rIns="0" bIns="0" rtlCol="0" anchor="ctr"/>
          <a:lstStyle/>
          <a:p>
            <a:pPr algn="ctr" indent="0" marL="0">
              <a:buNone/>
            </a:pPr>
            <a:r>
              <a:rPr lang="en-US" sz="1200" b="1" dirty="0">
                <a:solidFill>
                  <a:srgbClr val="8A3B2E"/>
                </a:solidFill>
                <a:latin typeface="Calibri" pitchFamily="34" charset="0"/>
                <a:ea typeface="Calibri" pitchFamily="34" charset="-122"/>
                <a:cs typeface="Calibri" pitchFamily="34" charset="-120"/>
              </a:rPr>
              <a:t>5 · Validation before use</a:t>
            </a:r>
            <a:endParaRPr lang="en-US" sz="1200" dirty="0"/>
          </a:p>
        </p:txBody>
      </p:sp>
      <p:sp>
        <p:nvSpPr>
          <p:cNvPr id="20" name="Text 18"/>
          <p:cNvSpPr txBox="1"/>
          <p:nvPr/>
        </p:nvSpPr>
        <p:spPr>
          <a:xfrm>
            <a:off x="4462272" y="3529584"/>
            <a:ext cx="3236976" cy="1097280"/>
          </a:xfrm>
          <a:prstGeom prst="rect">
            <a:avLst/>
          </a:prstGeom>
          <a:noFill/>
          <a:ln/>
        </p:spPr>
        <p:txBody>
          <a:bodyPr wrap="square" lIns="0" tIns="0" rIns="0" bIns="0" rtlCol="0" anchor="t"/>
          <a:lstStyle/>
          <a:p>
            <a:pPr algn="ctr" indent="0" marL="0">
              <a:buNone/>
            </a:pPr>
            <a:r>
              <a:rPr lang="en-US" sz="1200" dirty="0">
                <a:solidFill>
                  <a:srgbClr val="8A3B2E"/>
                </a:solidFill>
                <a:latin typeface="Calibri" pitchFamily="34" charset="0"/>
                <a:ea typeface="Calibri" pitchFamily="34" charset="-122"/>
                <a:cs typeface="Calibri" pitchFamily="34" charset="-120"/>
              </a:rPr>
              <a:t>10-fold CV on the 179 Gd labels:</a:t>
            </a:r>
            <a:endParaRPr lang="en-US" sz="1200" dirty="0"/>
          </a:p>
          <a:p>
            <a:pPr algn="ctr" indent="0" marL="0">
              <a:buNone/>
            </a:pPr>
            <a:r>
              <a:rPr lang="en-US" sz="1200" dirty="0">
                <a:solidFill>
                  <a:srgbClr val="8A3B2E"/>
                </a:solidFill>
                <a:latin typeface="Calibri" pitchFamily="34" charset="0"/>
                <a:ea typeface="Calibri" pitchFamily="34" charset="-122"/>
                <a:cs typeface="Calibri" pitchFamily="34" charset="-120"/>
              </a:rPr>
              <a:t>r = 0.88, RMSE 0.018 μB (label sd 0.038)</a:t>
            </a:r>
            <a:endParaRPr lang="en-US" sz="1200" dirty="0"/>
          </a:p>
          <a:p>
            <a:pPr algn="ctr" indent="0" marL="0">
              <a:buNone/>
            </a:pPr>
            <a:r>
              <a:rPr lang="en-US" sz="1200" dirty="0">
                <a:solidFill>
                  <a:srgbClr val="8A3B2E"/>
                </a:solidFill>
                <a:latin typeface="Calibri" pitchFamily="34" charset="0"/>
                <a:ea typeface="Calibri" pitchFamily="34" charset="-122"/>
                <a:cs typeface="Calibri" pitchFamily="34" charset="-120"/>
              </a:rPr>
              <a:t>91 % of held-out labels inside ±2σ</a:t>
            </a:r>
            <a:endParaRPr lang="en-US" sz="1200" dirty="0"/>
          </a:p>
          <a:p>
            <a:pPr algn="ctr" indent="0" marL="0">
              <a:buNone/>
            </a:pPr>
            <a:r>
              <a:rPr lang="en-US" sz="1200" dirty="0">
                <a:solidFill>
                  <a:srgbClr val="8A3B2E"/>
                </a:solidFill>
                <a:latin typeface="Calibri" pitchFamily="34" charset="0"/>
                <a:ea typeface="Calibri" pitchFamily="34" charset="-122"/>
                <a:cs typeface="Calibri" pitchFamily="34" charset="-120"/>
              </a:rPr>
              <a:t>H1 check on every wave: measured h vs predicted</a:t>
            </a:r>
            <a:endParaRPr lang="en-US" sz="1200" dirty="0"/>
          </a:p>
        </p:txBody>
      </p:sp>
      <p:sp>
        <p:nvSpPr>
          <p:cNvPr id="21" name="Shape 19"/>
          <p:cNvSpPr/>
          <p:nvPr/>
        </p:nvSpPr>
        <p:spPr>
          <a:xfrm>
            <a:off x="8138160" y="3200400"/>
            <a:ext cx="3383280" cy="1463040"/>
          </a:xfrm>
          <a:prstGeom prst="roundRect">
            <a:avLst>
              <a:gd name="adj" fmla="val 3750"/>
            </a:avLst>
          </a:prstGeom>
          <a:solidFill>
            <a:srgbClr val="F2B134"/>
          </a:solidFill>
          <a:ln w="6350">
            <a:solidFill>
              <a:srgbClr val="F2B134"/>
            </a:solidFill>
            <a:prstDash val="solid"/>
          </a:ln>
        </p:spPr>
      </p:sp>
      <p:sp>
        <p:nvSpPr>
          <p:cNvPr id="22" name="Text 20"/>
          <p:cNvSpPr txBox="1"/>
          <p:nvPr/>
        </p:nvSpPr>
        <p:spPr>
          <a:xfrm>
            <a:off x="8211312" y="3255264"/>
            <a:ext cx="3236976" cy="237744"/>
          </a:xfrm>
          <a:prstGeom prst="rect">
            <a:avLst/>
          </a:prstGeom>
          <a:noFill/>
          <a:ln/>
        </p:spPr>
        <p:txBody>
          <a:bodyPr wrap="square" lIns="0" tIns="0" rIns="0" bIns="0" rtlCol="0" anchor="ctr"/>
          <a:lstStyle/>
          <a:p>
            <a:pPr algn="ctr" indent="0" marL="0">
              <a:buNone/>
            </a:pPr>
            <a:r>
              <a:rPr lang="en-US" sz="1200" b="1" dirty="0">
                <a:solidFill>
                  <a:srgbClr val="5A3E00"/>
                </a:solidFill>
                <a:latin typeface="Calibri" pitchFamily="34" charset="0"/>
                <a:ea typeface="Calibri" pitchFamily="34" charset="-122"/>
                <a:cs typeface="Calibri" pitchFamily="34" charset="-120"/>
              </a:rPr>
              <a:t>6 · Batch Thompson sampling</a:t>
            </a:r>
            <a:endParaRPr lang="en-US" sz="1200" dirty="0"/>
          </a:p>
        </p:txBody>
      </p:sp>
      <p:sp>
        <p:nvSpPr>
          <p:cNvPr id="23" name="Text 21"/>
          <p:cNvSpPr txBox="1"/>
          <p:nvPr/>
        </p:nvSpPr>
        <p:spPr>
          <a:xfrm>
            <a:off x="8211312" y="3529584"/>
            <a:ext cx="3236976" cy="1097280"/>
          </a:xfrm>
          <a:prstGeom prst="rect">
            <a:avLst/>
          </a:prstGeom>
          <a:noFill/>
          <a:ln/>
        </p:spPr>
        <p:txBody>
          <a:bodyPr wrap="square" lIns="0" tIns="0" rIns="0" bIns="0" rtlCol="0" anchor="t"/>
          <a:lstStyle/>
          <a:p>
            <a:pPr algn="ctr" indent="0" marL="0">
              <a:buNone/>
            </a:pPr>
            <a:r>
              <a:rPr lang="en-US" sz="800" dirty="0">
                <a:solidFill>
                  <a:srgbClr val="5A3E00"/>
                </a:solidFill>
                <a:latin typeface="Calibri" pitchFamily="34" charset="0"/>
                <a:ea typeface="Calibri" pitchFamily="34" charset="-122"/>
                <a:cs typeface="Calibri" pitchFamily="34" charset="-120"/>
              </a:rPr>
              <a:t>per pick: one joint posterior draw h̃ over the pool</a:t>
            </a:r>
            <a:endParaRPr lang="en-US" sz="800" dirty="0"/>
          </a:p>
          <a:p>
            <a:pPr algn="ctr" indent="0" marL="0">
              <a:buNone/>
            </a:pPr>
            <a:r>
              <a:rPr lang="en-US" sz="800" dirty="0">
                <a:solidFill>
                  <a:srgbClr val="5A3E00"/>
                </a:solidFill>
                <a:latin typeface="Calibri" pitchFamily="34" charset="0"/>
                <a:ea typeface="Calibri" pitchFamily="34" charset="-122"/>
                <a:cs typeface="Calibri" pitchFamily="34" charset="-120"/>
              </a:rPr>
              <a:t>feasible if gap̃_RE ≥ 100 meV, Ms ≥ 1.5 T, E_hull ≤ 30</a:t>
            </a:r>
            <a:endParaRPr lang="en-US" sz="800" dirty="0"/>
          </a:p>
          <a:p>
            <a:pPr algn="ctr" indent="0" marL="0">
              <a:buNone/>
            </a:pPr>
            <a:r>
              <a:rPr lang="en-US" sz="800" dirty="0">
                <a:solidFill>
                  <a:srgbClr val="5A3E00"/>
                </a:solidFill>
                <a:latin typeface="Calibri" pitchFamily="34" charset="0"/>
                <a:ea typeface="Calibri" pitchFamily="34" charset="-122"/>
                <a:cs typeface="Calibri" pitchFamily="34" charset="-120"/>
              </a:rPr>
              <a:t>utility U = Ms · min(1, gap̃ / 100, 11.5); take argmax</a:t>
            </a:r>
            <a:endParaRPr lang="en-US" sz="800" dirty="0"/>
          </a:p>
          <a:p>
            <a:pPr algn="ctr" indent="0" marL="0">
              <a:buNone/>
            </a:pPr>
            <a:r>
              <a:rPr lang="en-US" sz="800" dirty="0">
                <a:solidFill>
                  <a:srgbClr val="5A3E00"/>
                </a:solidFill>
                <a:latin typeface="Calibri" pitchFamily="34" charset="0"/>
                <a:ea typeface="Calibri" pitchFamily="34" charset="-122"/>
                <a:cs typeface="Calibri" pitchFamily="34" charset="-120"/>
              </a:rPr>
              <a:t>repeat until the wave is full; family cap by (SG, TM:RE)</a:t>
            </a:r>
            <a:endParaRPr lang="en-US" sz="800" dirty="0"/>
          </a:p>
        </p:txBody>
      </p:sp>
      <p:sp>
        <p:nvSpPr>
          <p:cNvPr id="24" name="Shape 22"/>
          <p:cNvSpPr/>
          <p:nvPr/>
        </p:nvSpPr>
        <p:spPr>
          <a:xfrm>
            <a:off x="9829800" y="2880360"/>
            <a:ext cx="0" cy="320040"/>
          </a:xfrm>
          <a:prstGeom prst="line">
            <a:avLst/>
          </a:prstGeom>
          <a:noFill/>
          <a:ln w="17780">
            <a:solidFill>
              <a:srgbClr val="7A8DA8"/>
            </a:solidFill>
            <a:prstDash val="solid"/>
            <a:tailEnd type="triangle"/>
          </a:ln>
        </p:spPr>
      </p:sp>
      <p:sp>
        <p:nvSpPr>
          <p:cNvPr id="25" name="Shape 23"/>
          <p:cNvSpPr/>
          <p:nvPr/>
        </p:nvSpPr>
        <p:spPr>
          <a:xfrm>
            <a:off x="2331720" y="2880360"/>
            <a:ext cx="0" cy="320040"/>
          </a:xfrm>
          <a:prstGeom prst="line">
            <a:avLst/>
          </a:prstGeom>
          <a:noFill/>
          <a:ln w="17780">
            <a:solidFill>
              <a:srgbClr val="7A8DA8"/>
            </a:solidFill>
            <a:prstDash val="solid"/>
            <a:tailEnd type="triangle"/>
          </a:ln>
        </p:spPr>
      </p:sp>
      <p:sp>
        <p:nvSpPr>
          <p:cNvPr id="26" name="Shape 24"/>
          <p:cNvSpPr/>
          <p:nvPr/>
        </p:nvSpPr>
        <p:spPr>
          <a:xfrm>
            <a:off x="6080760" y="2880360"/>
            <a:ext cx="0" cy="320040"/>
          </a:xfrm>
          <a:prstGeom prst="line">
            <a:avLst/>
          </a:prstGeom>
          <a:noFill/>
          <a:ln w="17780">
            <a:solidFill>
              <a:srgbClr val="7A8DA8"/>
            </a:solidFill>
            <a:prstDash val="solid"/>
            <a:tailEnd type="triangle"/>
          </a:ln>
        </p:spPr>
      </p:sp>
      <p:sp>
        <p:nvSpPr>
          <p:cNvPr id="27" name="Text 25"/>
          <p:cNvSpPr txBox="1"/>
          <p:nvPr/>
        </p:nvSpPr>
        <p:spPr>
          <a:xfrm>
            <a:off x="640080" y="4892040"/>
            <a:ext cx="10881360" cy="548640"/>
          </a:xfrm>
          <a:prstGeom prst="rect">
            <a:avLst/>
          </a:prstGeom>
          <a:noFill/>
          <a:ln/>
        </p:spPr>
        <p:txBody>
          <a:bodyPr wrap="square" lIns="0" tIns="0" rIns="0" bIns="0" rtlCol="0" anchor="ctr"/>
          <a:lstStyle/>
          <a:p>
            <a:pPr indent="0" marL="0">
              <a:buNone/>
            </a:pPr>
            <a:r>
              <a:rPr lang="en-US" sz="1100" i="1" dirty="0">
                <a:solidFill>
                  <a:srgbClr val="1A2233"/>
                </a:solidFill>
                <a:latin typeface="Calibri" pitchFamily="34" charset="0"/>
                <a:ea typeface="Calibri" pitchFamily="34" charset="-122"/>
                <a:cs typeface="Calibri" pitchFamily="34" charset="-120"/>
              </a:rPr>
              <a:t>Loss, precisely: the ridge minimises squared error on h; the GP hyperparameters maximise the marginal likelihood of the residuals (not a point loss, so σ is calibrated); nothing is fitted to the acquisition. Posterior uncertainty is what makes the batch diverse - no κ to tune.</a:t>
            </a:r>
            <a:endParaRPr lang="en-US" sz="1100" dirty="0"/>
          </a:p>
        </p:txBody>
      </p:sp>
      <p:sp>
        <p:nvSpPr>
          <p:cNvPr id="28" name="Text 26"/>
          <p:cNvSpPr txBox="1"/>
          <p:nvPr/>
        </p:nvSpPr>
        <p:spPr>
          <a:xfrm>
            <a:off x="640080" y="5532120"/>
            <a:ext cx="10881360" cy="64008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Honest limits: the GP has 179 points in 19 dimensions, so it extrapolates with wide σ outside the campaign chemistry - which is exactly where Thompson sampling then spends runs. The 1574·h calibration is Gd-derived; H1 tests whether it transfers to f-in-core Nd/Sm, and the RE one-hot lets the model learn a bias if it does not.</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WAVES AND GENERATIONS</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One packed Perlmutter job per 48 h; each wave is drawn from the pool the previous one taught</a:t>
            </a:r>
            <a:endParaRPr lang="en-US" sz="3200" dirty="0"/>
          </a:p>
        </p:txBody>
      </p:sp>
      <p:sp>
        <p:nvSpPr>
          <p:cNvPr id="4" name="Shape 2"/>
          <p:cNvSpPr/>
          <p:nvPr/>
        </p:nvSpPr>
        <p:spPr>
          <a:xfrm>
            <a:off x="640080" y="1554480"/>
            <a:ext cx="1691640" cy="1645920"/>
          </a:xfrm>
          <a:prstGeom prst="roundRect">
            <a:avLst>
              <a:gd name="adj" fmla="val 3333"/>
            </a:avLst>
          </a:prstGeom>
          <a:solidFill>
            <a:srgbClr val="E3F0F6"/>
          </a:solidFill>
          <a:ln w="6350">
            <a:solidFill>
              <a:srgbClr val="E3F0F6"/>
            </a:solidFill>
            <a:prstDash val="solid"/>
          </a:ln>
        </p:spPr>
      </p:sp>
      <p:sp>
        <p:nvSpPr>
          <p:cNvPr id="5" name="Text 3"/>
          <p:cNvSpPr txBox="1"/>
          <p:nvPr/>
        </p:nvSpPr>
        <p:spPr>
          <a:xfrm>
            <a:off x="713232" y="1609344"/>
            <a:ext cx="1545336" cy="237744"/>
          </a:xfrm>
          <a:prstGeom prst="rect">
            <a:avLst/>
          </a:prstGeom>
          <a:noFill/>
          <a:ln/>
        </p:spPr>
        <p:txBody>
          <a:bodyPr wrap="square" lIns="0" tIns="0" rIns="0" bIns="0" rtlCol="0" anchor="ctr"/>
          <a:lstStyle/>
          <a:p>
            <a:pPr algn="ctr" indent="0" marL="0">
              <a:buNone/>
            </a:pPr>
            <a:r>
              <a:rPr lang="en-US" sz="1200" b="1" dirty="0">
                <a:solidFill>
                  <a:srgbClr val="1F5F7A"/>
                </a:solidFill>
                <a:latin typeface="Calibri" pitchFamily="34" charset="0"/>
                <a:ea typeface="Calibri" pitchFamily="34" charset="-122"/>
                <a:cs typeface="Calibri" pitchFamily="34" charset="-120"/>
              </a:rPr>
              <a:t>Wave 1 · global</a:t>
            </a:r>
            <a:endParaRPr lang="en-US" sz="1200" dirty="0"/>
          </a:p>
        </p:txBody>
      </p:sp>
      <p:sp>
        <p:nvSpPr>
          <p:cNvPr id="6" name="Text 4"/>
          <p:cNvSpPr txBox="1"/>
          <p:nvPr/>
        </p:nvSpPr>
        <p:spPr>
          <a:xfrm>
            <a:off x="713232" y="1883664"/>
            <a:ext cx="1545336" cy="1280160"/>
          </a:xfrm>
          <a:prstGeom prst="rect">
            <a:avLst/>
          </a:prstGeom>
          <a:noFill/>
          <a:ln/>
        </p:spPr>
        <p:txBody>
          <a:bodyPr wrap="square" lIns="0" tIns="0" rIns="0" bIns="0" rtlCol="0" anchor="t"/>
          <a:lstStyle/>
          <a:p>
            <a:pPr algn="ctr" indent="0" marL="0">
              <a:buNone/>
            </a:pPr>
            <a:r>
              <a:rPr lang="en-US" sz="1050" dirty="0">
                <a:solidFill>
                  <a:srgbClr val="1F5F7A"/>
                </a:solidFill>
                <a:latin typeface="Calibri" pitchFamily="34" charset="0"/>
                <a:ea typeface="Calibri" pitchFamily="34" charset="-122"/>
                <a:cs typeface="Calibri" pitchFamily="34" charset="-120"/>
              </a:rPr>
              <a:t>pool = 7 sources (1,220)</a:t>
            </a:r>
            <a:endParaRPr lang="en-US" sz="1050" dirty="0"/>
          </a:p>
          <a:p>
            <a:pPr algn="ctr" indent="0" marL="0">
              <a:buNone/>
            </a:pPr>
            <a:r>
              <a:rPr lang="en-US" sz="1050" dirty="0">
                <a:solidFill>
                  <a:srgbClr val="1F5F7A"/>
                </a:solidFill>
                <a:latin typeface="Calibri" pitchFamily="34" charset="0"/>
                <a:ea typeface="Calibri" pitchFamily="34" charset="-122"/>
                <a:cs typeface="Calibri" pitchFamily="34" charset="-120"/>
              </a:rPr>
              <a:t>TS draws 120 under the thresholds</a:t>
            </a:r>
            <a:endParaRPr lang="en-US" sz="1050" dirty="0"/>
          </a:p>
          <a:p>
            <a:pPr algn="ctr" indent="0" marL="0">
              <a:buNone/>
            </a:pPr>
            <a:r>
              <a:rPr lang="en-US" sz="1050" dirty="0">
                <a:solidFill>
                  <a:srgbClr val="1F5F7A"/>
                </a:solidFill>
                <a:latin typeface="Calibri" pitchFamily="34" charset="0"/>
                <a:ea typeface="Calibri" pitchFamily="34" charset="-122"/>
                <a:cs typeface="Calibri" pitchFamily="34" charset="-120"/>
              </a:rPr>
              <a:t>→ 120 f-in-core relaxations</a:t>
            </a:r>
            <a:endParaRPr lang="en-US" sz="1050" dirty="0"/>
          </a:p>
          <a:p>
            <a:pPr algn="ctr" indent="0" marL="0">
              <a:buNone/>
            </a:pPr>
            <a:r>
              <a:rPr lang="en-US" sz="1050" dirty="0">
                <a:solidFill>
                  <a:srgbClr val="1F5F7A"/>
                </a:solidFill>
                <a:latin typeface="Calibri" pitchFamily="34" charset="0"/>
                <a:ea typeface="Calibri" pitchFamily="34" charset="-122"/>
                <a:cs typeface="Calibri" pitchFamily="34" charset="-120"/>
              </a:rPr>
              <a:t>60 nodes · 4 h · ~29 h queue</a:t>
            </a:r>
            <a:endParaRPr lang="en-US" sz="1050" dirty="0"/>
          </a:p>
        </p:txBody>
      </p:sp>
      <p:sp>
        <p:nvSpPr>
          <p:cNvPr id="7" name="Shape 5"/>
          <p:cNvSpPr/>
          <p:nvPr/>
        </p:nvSpPr>
        <p:spPr>
          <a:xfrm>
            <a:off x="2331720" y="2377440"/>
            <a:ext cx="137160" cy="0"/>
          </a:xfrm>
          <a:prstGeom prst="line">
            <a:avLst/>
          </a:prstGeom>
          <a:noFill/>
          <a:ln w="17780">
            <a:solidFill>
              <a:srgbClr val="7A8DA8"/>
            </a:solidFill>
            <a:prstDash val="solid"/>
            <a:tailEnd type="triangle"/>
          </a:ln>
        </p:spPr>
      </p:sp>
      <p:sp>
        <p:nvSpPr>
          <p:cNvPr id="8" name="Shape 6"/>
          <p:cNvSpPr/>
          <p:nvPr/>
        </p:nvSpPr>
        <p:spPr>
          <a:xfrm>
            <a:off x="2468880" y="1554480"/>
            <a:ext cx="1691640" cy="1645920"/>
          </a:xfrm>
          <a:prstGeom prst="roundRect">
            <a:avLst>
              <a:gd name="adj" fmla="val 3333"/>
            </a:avLst>
          </a:prstGeom>
          <a:solidFill>
            <a:srgbClr val="EEEDFE"/>
          </a:solidFill>
          <a:ln w="6350">
            <a:solidFill>
              <a:srgbClr val="EEEDFE"/>
            </a:solidFill>
            <a:prstDash val="solid"/>
          </a:ln>
        </p:spPr>
      </p:sp>
      <p:sp>
        <p:nvSpPr>
          <p:cNvPr id="9" name="Text 7"/>
          <p:cNvSpPr txBox="1"/>
          <p:nvPr/>
        </p:nvSpPr>
        <p:spPr>
          <a:xfrm>
            <a:off x="2542032" y="1609344"/>
            <a:ext cx="1545336" cy="237744"/>
          </a:xfrm>
          <a:prstGeom prst="rect">
            <a:avLst/>
          </a:prstGeom>
          <a:noFill/>
          <a:ln/>
        </p:spPr>
        <p:txBody>
          <a:bodyPr wrap="square" lIns="0" tIns="0" rIns="0" bIns="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Ingest</a:t>
            </a:r>
            <a:endParaRPr lang="en-US" sz="1200" dirty="0"/>
          </a:p>
        </p:txBody>
      </p:sp>
      <p:sp>
        <p:nvSpPr>
          <p:cNvPr id="10" name="Text 8"/>
          <p:cNvSpPr txBox="1"/>
          <p:nvPr/>
        </p:nvSpPr>
        <p:spPr>
          <a:xfrm>
            <a:off x="2542032" y="1883664"/>
            <a:ext cx="1545336" cy="1280160"/>
          </a:xfrm>
          <a:prstGeom prst="rect">
            <a:avLst/>
          </a:prstGeom>
          <a:noFill/>
          <a:ln/>
        </p:spPr>
        <p:txBody>
          <a:bodyPr wrap="square" lIns="0" tIns="0" rIns="0" bIns="0" rtlCol="0" anchor="t"/>
          <a:lstStyle/>
          <a:p>
            <a:pPr algn="ctr" indent="0" marL="0">
              <a:buNone/>
            </a:pPr>
            <a:r>
              <a:rPr lang="en-US" sz="1050" dirty="0">
                <a:solidFill>
                  <a:srgbClr val="3C3489"/>
                </a:solidFill>
                <a:latin typeface="Calibri" pitchFamily="34" charset="0"/>
                <a:ea typeface="Calibri" pitchFamily="34" charset="-122"/>
                <a:cs typeface="Calibri" pitchFamily="34" charset="-120"/>
              </a:rPr>
              <a:t>mirror → h, Ms, V per run</a:t>
            </a:r>
            <a:endParaRPr lang="en-US" sz="1050" dirty="0"/>
          </a:p>
          <a:p>
            <a:pPr algn="ctr" indent="0" marL="0">
              <a:buNone/>
            </a:pPr>
            <a:r>
              <a:rPr lang="en-US" sz="1050" dirty="0">
                <a:solidFill>
                  <a:srgbClr val="3C3489"/>
                </a:solidFill>
                <a:latin typeface="Calibri" pitchFamily="34" charset="0"/>
                <a:ea typeface="Calibri" pitchFamily="34" charset="-122"/>
                <a:cs typeface="Calibri" pitchFamily="34" charset="-120"/>
              </a:rPr>
              <a:t>labels.csv (+120 rows)</a:t>
            </a:r>
            <a:endParaRPr lang="en-US" sz="1050" dirty="0"/>
          </a:p>
          <a:p>
            <a:pPr algn="ctr" indent="0" marL="0">
              <a:buNone/>
            </a:pPr>
            <a:r>
              <a:rPr lang="en-US" sz="1050" dirty="0">
                <a:solidFill>
                  <a:srgbClr val="3C3489"/>
                </a:solidFill>
                <a:latin typeface="Calibri" pitchFamily="34" charset="0"/>
                <a:ea typeface="Calibri" pitchFamily="34" charset="-122"/>
                <a:cs typeface="Calibri" pitchFamily="34" charset="-120"/>
              </a:rPr>
              <a:t>H1: measured vs predicted h</a:t>
            </a:r>
            <a:endParaRPr lang="en-US" sz="1050" dirty="0"/>
          </a:p>
          <a:p>
            <a:pPr algn="ctr" indent="0" marL="0">
              <a:buNone/>
            </a:pPr>
            <a:r>
              <a:rPr lang="en-US" sz="1050" dirty="0">
                <a:solidFill>
                  <a:srgbClr val="3C3489"/>
                </a:solidFill>
                <a:latin typeface="Calibri" pitchFamily="34" charset="0"/>
                <a:ea typeface="Calibri" pitchFamily="34" charset="-122"/>
                <a:cs typeface="Calibri" pitchFamily="34" charset="-120"/>
              </a:rPr>
              <a:t>GP re-fit, 10-fold CV</a:t>
            </a:r>
            <a:endParaRPr lang="en-US" sz="1050" dirty="0"/>
          </a:p>
        </p:txBody>
      </p:sp>
      <p:sp>
        <p:nvSpPr>
          <p:cNvPr id="11" name="Shape 9"/>
          <p:cNvSpPr/>
          <p:nvPr/>
        </p:nvSpPr>
        <p:spPr>
          <a:xfrm>
            <a:off x="4160520" y="2377440"/>
            <a:ext cx="137160" cy="0"/>
          </a:xfrm>
          <a:prstGeom prst="line">
            <a:avLst/>
          </a:prstGeom>
          <a:noFill/>
          <a:ln w="17780">
            <a:solidFill>
              <a:srgbClr val="7A8DA8"/>
            </a:solidFill>
            <a:prstDash val="solid"/>
            <a:tailEnd type="triangle"/>
          </a:ln>
        </p:spPr>
      </p:sp>
      <p:sp>
        <p:nvSpPr>
          <p:cNvPr id="12" name="Shape 10"/>
          <p:cNvSpPr/>
          <p:nvPr/>
        </p:nvSpPr>
        <p:spPr>
          <a:xfrm>
            <a:off x="4297680" y="1554480"/>
            <a:ext cx="1691640" cy="1645920"/>
          </a:xfrm>
          <a:prstGeom prst="roundRect">
            <a:avLst>
              <a:gd name="adj" fmla="val 3333"/>
            </a:avLst>
          </a:prstGeom>
          <a:solidFill>
            <a:srgbClr val="E3F0F6"/>
          </a:solidFill>
          <a:ln w="6350">
            <a:solidFill>
              <a:srgbClr val="E3F0F6"/>
            </a:solidFill>
            <a:prstDash val="solid"/>
          </a:ln>
        </p:spPr>
      </p:sp>
      <p:sp>
        <p:nvSpPr>
          <p:cNvPr id="13" name="Text 11"/>
          <p:cNvSpPr txBox="1"/>
          <p:nvPr/>
        </p:nvSpPr>
        <p:spPr>
          <a:xfrm>
            <a:off x="4370832" y="1609344"/>
            <a:ext cx="1545336" cy="237744"/>
          </a:xfrm>
          <a:prstGeom prst="rect">
            <a:avLst/>
          </a:prstGeom>
          <a:noFill/>
          <a:ln/>
        </p:spPr>
        <p:txBody>
          <a:bodyPr wrap="square" lIns="0" tIns="0" rIns="0" bIns="0" rtlCol="0" anchor="ctr"/>
          <a:lstStyle/>
          <a:p>
            <a:pPr algn="ctr" indent="0" marL="0">
              <a:buNone/>
            </a:pPr>
            <a:r>
              <a:rPr lang="en-US" sz="1200" b="1" dirty="0">
                <a:solidFill>
                  <a:srgbClr val="1F5F7A"/>
                </a:solidFill>
                <a:latin typeface="Calibri" pitchFamily="34" charset="0"/>
                <a:ea typeface="Calibri" pitchFamily="34" charset="-122"/>
                <a:cs typeface="Calibri" pitchFamily="34" charset="-120"/>
              </a:rPr>
              <a:t>Wave 2 · local + global</a:t>
            </a:r>
            <a:endParaRPr lang="en-US" sz="1200" dirty="0"/>
          </a:p>
        </p:txBody>
      </p:sp>
      <p:sp>
        <p:nvSpPr>
          <p:cNvPr id="14" name="Text 12"/>
          <p:cNvSpPr txBox="1"/>
          <p:nvPr/>
        </p:nvSpPr>
        <p:spPr>
          <a:xfrm>
            <a:off x="4370832" y="1883664"/>
            <a:ext cx="1545336" cy="1280160"/>
          </a:xfrm>
          <a:prstGeom prst="rect">
            <a:avLst/>
          </a:prstGeom>
          <a:noFill/>
          <a:ln/>
        </p:spPr>
        <p:txBody>
          <a:bodyPr wrap="square" lIns="0" tIns="0" rIns="0" bIns="0" rtlCol="0" anchor="t"/>
          <a:lstStyle/>
          <a:p>
            <a:pPr algn="ctr" indent="0" marL="0">
              <a:buNone/>
            </a:pPr>
            <a:r>
              <a:rPr lang="en-US" sz="1050" dirty="0">
                <a:solidFill>
                  <a:srgbClr val="1F5F7A"/>
                </a:solidFill>
                <a:latin typeface="Calibri" pitchFamily="34" charset="0"/>
                <a:ea typeface="Calibri" pitchFamily="34" charset="-122"/>
                <a:cs typeface="Calibri" pitchFamily="34" charset="-120"/>
              </a:rPr>
              <a:t>pool = remainder</a:t>
            </a:r>
            <a:endParaRPr lang="en-US" sz="1050" dirty="0"/>
          </a:p>
          <a:p>
            <a:pPr algn="ctr" indent="0" marL="0">
              <a:buNone/>
            </a:pPr>
            <a:r>
              <a:rPr lang="en-US" sz="1050" dirty="0">
                <a:solidFill>
                  <a:srgbClr val="1F5F7A"/>
                </a:solidFill>
                <a:latin typeface="Calibri" pitchFamily="34" charset="0"/>
                <a:ea typeface="Calibri" pitchFamily="34" charset="-122"/>
                <a:cs typeface="Calibri" pitchFamily="34" charset="-120"/>
              </a:rPr>
              <a:t>+ expand(top-25 winners)</a:t>
            </a:r>
            <a:endParaRPr lang="en-US" sz="1050" dirty="0"/>
          </a:p>
          <a:p>
            <a:pPr algn="ctr" indent="0" marL="0">
              <a:buNone/>
            </a:pPr>
            <a:r>
              <a:rPr lang="en-US" sz="1050" dirty="0">
                <a:solidFill>
                  <a:srgbClr val="1F5F7A"/>
                </a:solidFill>
                <a:latin typeface="Calibri" pitchFamily="34" charset="0"/>
                <a:ea typeface="Calibri" pitchFamily="34" charset="-122"/>
                <a:cs typeface="Calibri" pitchFamily="34" charset="-120"/>
              </a:rPr>
              <a:t>+ new prototypes added by hand</a:t>
            </a:r>
            <a:endParaRPr lang="en-US" sz="1050" dirty="0"/>
          </a:p>
          <a:p>
            <a:pPr algn="ctr" indent="0" marL="0">
              <a:buNone/>
            </a:pPr>
            <a:r>
              <a:rPr lang="en-US" sz="1050" dirty="0">
                <a:solidFill>
                  <a:srgbClr val="1F5F7A"/>
                </a:solidFill>
                <a:latin typeface="Calibri" pitchFamily="34" charset="0"/>
                <a:ea typeface="Calibri" pitchFamily="34" charset="-122"/>
                <a:cs typeface="Calibri" pitchFamily="34" charset="-120"/>
              </a:rPr>
              <a:t>TS draws 120 again</a:t>
            </a:r>
            <a:endParaRPr lang="en-US" sz="1050" dirty="0"/>
          </a:p>
        </p:txBody>
      </p:sp>
      <p:sp>
        <p:nvSpPr>
          <p:cNvPr id="15" name="Shape 13"/>
          <p:cNvSpPr/>
          <p:nvPr/>
        </p:nvSpPr>
        <p:spPr>
          <a:xfrm>
            <a:off x="5989320" y="2377440"/>
            <a:ext cx="137160" cy="0"/>
          </a:xfrm>
          <a:prstGeom prst="line">
            <a:avLst/>
          </a:prstGeom>
          <a:noFill/>
          <a:ln w="17780">
            <a:solidFill>
              <a:srgbClr val="7A8DA8"/>
            </a:solidFill>
            <a:prstDash val="solid"/>
            <a:tailEnd type="triangle"/>
          </a:ln>
        </p:spPr>
      </p:sp>
      <p:sp>
        <p:nvSpPr>
          <p:cNvPr id="16" name="Shape 14"/>
          <p:cNvSpPr/>
          <p:nvPr/>
        </p:nvSpPr>
        <p:spPr>
          <a:xfrm>
            <a:off x="6126480" y="1554480"/>
            <a:ext cx="1691640" cy="1645920"/>
          </a:xfrm>
          <a:prstGeom prst="roundRect">
            <a:avLst>
              <a:gd name="adj" fmla="val 3333"/>
            </a:avLst>
          </a:prstGeom>
          <a:solidFill>
            <a:srgbClr val="EEEDFE"/>
          </a:solidFill>
          <a:ln w="6350">
            <a:solidFill>
              <a:srgbClr val="EEEDFE"/>
            </a:solidFill>
            <a:prstDash val="solid"/>
          </a:ln>
        </p:spPr>
      </p:sp>
      <p:sp>
        <p:nvSpPr>
          <p:cNvPr id="17" name="Text 15"/>
          <p:cNvSpPr txBox="1"/>
          <p:nvPr/>
        </p:nvSpPr>
        <p:spPr>
          <a:xfrm>
            <a:off x="6199632" y="1609344"/>
            <a:ext cx="1545336" cy="237744"/>
          </a:xfrm>
          <a:prstGeom prst="rect">
            <a:avLst/>
          </a:prstGeom>
          <a:noFill/>
          <a:ln/>
        </p:spPr>
        <p:txBody>
          <a:bodyPr wrap="square" lIns="0" tIns="0" rIns="0" bIns="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Ingest</a:t>
            </a:r>
            <a:endParaRPr lang="en-US" sz="1200" dirty="0"/>
          </a:p>
        </p:txBody>
      </p:sp>
      <p:sp>
        <p:nvSpPr>
          <p:cNvPr id="18" name="Text 16"/>
          <p:cNvSpPr txBox="1"/>
          <p:nvPr/>
        </p:nvSpPr>
        <p:spPr>
          <a:xfrm>
            <a:off x="6199632" y="1883664"/>
            <a:ext cx="1545336" cy="1280160"/>
          </a:xfrm>
          <a:prstGeom prst="rect">
            <a:avLst/>
          </a:prstGeom>
          <a:noFill/>
          <a:ln/>
        </p:spPr>
        <p:txBody>
          <a:bodyPr wrap="square" lIns="0" tIns="0" rIns="0" bIns="0" rtlCol="0" anchor="t"/>
          <a:lstStyle/>
          <a:p>
            <a:pPr algn="ctr" indent="0" marL="0">
              <a:buNone/>
            </a:pPr>
            <a:r>
              <a:rPr lang="en-US" sz="1050" dirty="0">
                <a:solidFill>
                  <a:srgbClr val="3C3489"/>
                </a:solidFill>
                <a:latin typeface="Calibri" pitchFamily="34" charset="0"/>
                <a:ea typeface="Calibri" pitchFamily="34" charset="-122"/>
                <a:cs typeface="Calibri" pitchFamily="34" charset="-120"/>
              </a:rPr>
              <a:t>labels.csv (+120)</a:t>
            </a:r>
            <a:endParaRPr lang="en-US" sz="1050" dirty="0"/>
          </a:p>
          <a:p>
            <a:pPr algn="ctr" indent="0" marL="0">
              <a:buNone/>
            </a:pPr>
            <a:r>
              <a:rPr lang="en-US" sz="1050" dirty="0">
                <a:solidFill>
                  <a:srgbClr val="3C3489"/>
                </a:solidFill>
                <a:latin typeface="Calibri" pitchFamily="34" charset="0"/>
                <a:ea typeface="Calibri" pitchFamily="34" charset="-122"/>
                <a:cs typeface="Calibri" pitchFamily="34" charset="-120"/>
              </a:rPr>
              <a:t>Pareto front of (gap_RE, Ms, E_hull)</a:t>
            </a:r>
            <a:endParaRPr lang="en-US" sz="1050" dirty="0"/>
          </a:p>
          <a:p>
            <a:pPr algn="ctr" indent="0" marL="0">
              <a:buNone/>
            </a:pPr>
            <a:r>
              <a:rPr lang="en-US" sz="1050" dirty="0">
                <a:solidFill>
                  <a:srgbClr val="3C3489"/>
                </a:solidFill>
                <a:latin typeface="Calibri" pitchFamily="34" charset="0"/>
                <a:ea typeface="Calibri" pitchFamily="34" charset="-122"/>
                <a:cs typeface="Calibri" pitchFamily="34" charset="-120"/>
              </a:rPr>
              <a:t>has it moved?</a:t>
            </a:r>
            <a:endParaRPr lang="en-US" sz="1050" dirty="0"/>
          </a:p>
        </p:txBody>
      </p:sp>
      <p:sp>
        <p:nvSpPr>
          <p:cNvPr id="19" name="Shape 17"/>
          <p:cNvSpPr/>
          <p:nvPr/>
        </p:nvSpPr>
        <p:spPr>
          <a:xfrm>
            <a:off x="7818120" y="2377440"/>
            <a:ext cx="137160" cy="0"/>
          </a:xfrm>
          <a:prstGeom prst="line">
            <a:avLst/>
          </a:prstGeom>
          <a:noFill/>
          <a:ln w="17780">
            <a:solidFill>
              <a:srgbClr val="7A8DA8"/>
            </a:solidFill>
            <a:prstDash val="solid"/>
            <a:tailEnd type="triangle"/>
          </a:ln>
        </p:spPr>
      </p:sp>
      <p:sp>
        <p:nvSpPr>
          <p:cNvPr id="20" name="Shape 18"/>
          <p:cNvSpPr/>
          <p:nvPr/>
        </p:nvSpPr>
        <p:spPr>
          <a:xfrm>
            <a:off x="7955280" y="1554480"/>
            <a:ext cx="1691640" cy="1645920"/>
          </a:xfrm>
          <a:prstGeom prst="roundRect">
            <a:avLst>
              <a:gd name="adj" fmla="val 3333"/>
            </a:avLst>
          </a:prstGeom>
          <a:solidFill>
            <a:srgbClr val="E3F0F6"/>
          </a:solidFill>
          <a:ln w="6350">
            <a:solidFill>
              <a:srgbClr val="E3F0F6"/>
            </a:solidFill>
            <a:prstDash val="solid"/>
          </a:ln>
        </p:spPr>
      </p:sp>
      <p:sp>
        <p:nvSpPr>
          <p:cNvPr id="21" name="Text 19"/>
          <p:cNvSpPr txBox="1"/>
          <p:nvPr/>
        </p:nvSpPr>
        <p:spPr>
          <a:xfrm>
            <a:off x="8028432" y="1609344"/>
            <a:ext cx="1545336" cy="237744"/>
          </a:xfrm>
          <a:prstGeom prst="rect">
            <a:avLst/>
          </a:prstGeom>
          <a:noFill/>
          <a:ln/>
        </p:spPr>
        <p:txBody>
          <a:bodyPr wrap="square" lIns="0" tIns="0" rIns="0" bIns="0" rtlCol="0" anchor="ctr"/>
          <a:lstStyle/>
          <a:p>
            <a:pPr algn="ctr" indent="0" marL="0">
              <a:buNone/>
            </a:pPr>
            <a:r>
              <a:rPr lang="en-US" sz="1200" b="1" dirty="0">
                <a:solidFill>
                  <a:srgbClr val="1F5F7A"/>
                </a:solidFill>
                <a:latin typeface="Calibri" pitchFamily="34" charset="0"/>
                <a:ea typeface="Calibri" pitchFamily="34" charset="-122"/>
                <a:cs typeface="Calibri" pitchFamily="34" charset="-120"/>
              </a:rPr>
              <a:t>Wave k</a:t>
            </a:r>
            <a:endParaRPr lang="en-US" sz="1200" dirty="0"/>
          </a:p>
        </p:txBody>
      </p:sp>
      <p:sp>
        <p:nvSpPr>
          <p:cNvPr id="22" name="Text 20"/>
          <p:cNvSpPr txBox="1"/>
          <p:nvPr/>
        </p:nvSpPr>
        <p:spPr>
          <a:xfrm>
            <a:off x="8028432" y="1883664"/>
            <a:ext cx="1545336" cy="1280160"/>
          </a:xfrm>
          <a:prstGeom prst="rect">
            <a:avLst/>
          </a:prstGeom>
          <a:noFill/>
          <a:ln/>
        </p:spPr>
        <p:txBody>
          <a:bodyPr wrap="square" lIns="0" tIns="0" rIns="0" bIns="0" rtlCol="0" anchor="t"/>
          <a:lstStyle/>
          <a:p>
            <a:pPr algn="ctr" indent="0" marL="0">
              <a:buNone/>
            </a:pPr>
            <a:r>
              <a:rPr lang="en-US" sz="1050" dirty="0">
                <a:solidFill>
                  <a:srgbClr val="1F5F7A"/>
                </a:solidFill>
                <a:latin typeface="Calibri" pitchFamily="34" charset="0"/>
                <a:ea typeface="Calibri" pitchFamily="34" charset="-122"/>
                <a:cs typeface="Calibri" pitchFamily="34" charset="-120"/>
              </a:rPr>
              <a:t>same loop; pool grows by</a:t>
            </a:r>
            <a:endParaRPr lang="en-US" sz="1050" dirty="0"/>
          </a:p>
          <a:p>
            <a:pPr algn="ctr" indent="0" marL="0">
              <a:buNone/>
            </a:pPr>
            <a:r>
              <a:rPr lang="en-US" sz="1050" dirty="0">
                <a:solidFill>
                  <a:srgbClr val="1F5F7A"/>
                </a:solidFill>
                <a:latin typeface="Calibri" pitchFamily="34" charset="0"/>
                <a:ea typeface="Calibri" pitchFamily="34" charset="-122"/>
                <a:cs typeface="Calibri" pitchFamily="34" charset="-120"/>
              </a:rPr>
              <a:t>neighbourhoods of each</a:t>
            </a:r>
            <a:endParaRPr lang="en-US" sz="1050" dirty="0"/>
          </a:p>
          <a:p>
            <a:pPr algn="ctr" indent="0" marL="0">
              <a:buNone/>
            </a:pPr>
            <a:r>
              <a:rPr lang="en-US" sz="1050" dirty="0">
                <a:solidFill>
                  <a:srgbClr val="1F5F7A"/>
                </a:solidFill>
                <a:latin typeface="Calibri" pitchFamily="34" charset="0"/>
                <a:ea typeface="Calibri" pitchFamily="34" charset="-122"/>
                <a:cs typeface="Calibri" pitchFamily="34" charset="-120"/>
              </a:rPr>
              <a:t>wave's winners</a:t>
            </a:r>
            <a:endParaRPr lang="en-US" sz="1050" dirty="0"/>
          </a:p>
        </p:txBody>
      </p:sp>
      <p:sp>
        <p:nvSpPr>
          <p:cNvPr id="23" name="Shape 21"/>
          <p:cNvSpPr/>
          <p:nvPr/>
        </p:nvSpPr>
        <p:spPr>
          <a:xfrm>
            <a:off x="9646920" y="2377440"/>
            <a:ext cx="137160" cy="0"/>
          </a:xfrm>
          <a:prstGeom prst="line">
            <a:avLst/>
          </a:prstGeom>
          <a:noFill/>
          <a:ln w="17780">
            <a:solidFill>
              <a:srgbClr val="7A8DA8"/>
            </a:solidFill>
            <a:prstDash val="solid"/>
            <a:tailEnd type="triangle"/>
          </a:ln>
        </p:spPr>
      </p:sp>
      <p:sp>
        <p:nvSpPr>
          <p:cNvPr id="24" name="Shape 22"/>
          <p:cNvSpPr/>
          <p:nvPr/>
        </p:nvSpPr>
        <p:spPr>
          <a:xfrm>
            <a:off x="9784080" y="1554480"/>
            <a:ext cx="1691640" cy="1645920"/>
          </a:xfrm>
          <a:prstGeom prst="roundRect">
            <a:avLst>
              <a:gd name="adj" fmla="val 3333"/>
            </a:avLst>
          </a:prstGeom>
          <a:solidFill>
            <a:srgbClr val="FCEDE8"/>
          </a:solidFill>
          <a:ln w="6350">
            <a:solidFill>
              <a:srgbClr val="FCEDE8"/>
            </a:solidFill>
            <a:prstDash val="solid"/>
          </a:ln>
        </p:spPr>
      </p:sp>
      <p:sp>
        <p:nvSpPr>
          <p:cNvPr id="25" name="Text 23"/>
          <p:cNvSpPr txBox="1"/>
          <p:nvPr/>
        </p:nvSpPr>
        <p:spPr>
          <a:xfrm>
            <a:off x="9857232" y="1609344"/>
            <a:ext cx="1545336" cy="237744"/>
          </a:xfrm>
          <a:prstGeom prst="rect">
            <a:avLst/>
          </a:prstGeom>
          <a:noFill/>
          <a:ln/>
        </p:spPr>
        <p:txBody>
          <a:bodyPr wrap="square" lIns="0" tIns="0" rIns="0" bIns="0" rtlCol="0" anchor="ctr"/>
          <a:lstStyle/>
          <a:p>
            <a:pPr algn="ctr" indent="0" marL="0">
              <a:buNone/>
            </a:pPr>
            <a:r>
              <a:rPr lang="en-US" sz="1200" b="1" dirty="0">
                <a:solidFill>
                  <a:srgbClr val="8A3B2E"/>
                </a:solidFill>
                <a:latin typeface="Calibri" pitchFamily="34" charset="0"/>
                <a:ea typeface="Calibri" pitchFamily="34" charset="-122"/>
                <a:cs typeface="Calibri" pitchFamily="34" charset="-120"/>
              </a:rPr>
              <a:t>Stop</a:t>
            </a:r>
            <a:endParaRPr lang="en-US" sz="1200" dirty="0"/>
          </a:p>
        </p:txBody>
      </p:sp>
      <p:sp>
        <p:nvSpPr>
          <p:cNvPr id="26" name="Text 24"/>
          <p:cNvSpPr txBox="1"/>
          <p:nvPr/>
        </p:nvSpPr>
        <p:spPr>
          <a:xfrm>
            <a:off x="9857232" y="1883664"/>
            <a:ext cx="1545336" cy="1280160"/>
          </a:xfrm>
          <a:prstGeom prst="rect">
            <a:avLst/>
          </a:prstGeom>
          <a:noFill/>
          <a:ln/>
        </p:spPr>
        <p:txBody>
          <a:bodyPr wrap="square" lIns="0" tIns="0" rIns="0" bIns="0" rtlCol="0" anchor="t"/>
          <a:lstStyle/>
          <a:p>
            <a:pPr algn="ctr" indent="0" marL="0">
              <a:buNone/>
            </a:pPr>
            <a:r>
              <a:rPr lang="en-US" sz="1050" dirty="0">
                <a:solidFill>
                  <a:srgbClr val="8A3B2E"/>
                </a:solidFill>
                <a:latin typeface="Calibri" pitchFamily="34" charset="0"/>
                <a:ea typeface="Calibri" pitchFamily="34" charset="-122"/>
                <a:cs typeface="Calibri" pitchFamily="34" charset="-120"/>
              </a:rPr>
              <a:t>feasible count → 0, or</a:t>
            </a:r>
            <a:endParaRPr lang="en-US" sz="1050" dirty="0"/>
          </a:p>
          <a:p>
            <a:pPr algn="ctr" indent="0" marL="0">
              <a:buNone/>
            </a:pPr>
            <a:r>
              <a:rPr lang="en-US" sz="1050" dirty="0">
                <a:solidFill>
                  <a:srgbClr val="8A3B2E"/>
                </a:solidFill>
                <a:latin typeface="Calibri" pitchFamily="34" charset="0"/>
                <a:ea typeface="Calibri" pitchFamily="34" charset="-122"/>
                <a:cs typeface="Calibri" pitchFamily="34" charset="-120"/>
              </a:rPr>
              <a:t>front unchanged 2 waves, or</a:t>
            </a:r>
            <a:endParaRPr lang="en-US" sz="1050" dirty="0"/>
          </a:p>
          <a:p>
            <a:pPr algn="ctr" indent="0" marL="0">
              <a:buNone/>
            </a:pPr>
            <a:r>
              <a:rPr lang="en-US" sz="1050" dirty="0">
                <a:solidFill>
                  <a:srgbClr val="8A3B2E"/>
                </a:solidFill>
                <a:latin typeface="Calibri" pitchFamily="34" charset="0"/>
                <a:ea typeface="Calibri" pitchFamily="34" charset="-122"/>
                <a:cs typeface="Calibri" pitchFamily="34" charset="-120"/>
              </a:rPr>
              <a:t>H1 fails (r &lt; 0.5): retrain on</a:t>
            </a:r>
            <a:endParaRPr lang="en-US" sz="1050" dirty="0"/>
          </a:p>
          <a:p>
            <a:pPr algn="ctr" indent="0" marL="0">
              <a:buNone/>
            </a:pPr>
            <a:r>
              <a:rPr lang="en-US" sz="1050" dirty="0">
                <a:solidFill>
                  <a:srgbClr val="8A3B2E"/>
                </a:solidFill>
                <a:latin typeface="Calibri" pitchFamily="34" charset="0"/>
                <a:ea typeface="Calibri" pitchFamily="34" charset="-122"/>
                <a:cs typeface="Calibri" pitchFamily="34" charset="-120"/>
              </a:rPr>
              <a:t>f-in-core rows only</a:t>
            </a:r>
            <a:endParaRPr lang="en-US" sz="1050" dirty="0"/>
          </a:p>
        </p:txBody>
      </p:sp>
      <p:sp>
        <p:nvSpPr>
          <p:cNvPr id="27" name="Shape 25"/>
          <p:cNvSpPr/>
          <p:nvPr/>
        </p:nvSpPr>
        <p:spPr>
          <a:xfrm>
            <a:off x="640080" y="3429000"/>
            <a:ext cx="5212080" cy="1463040"/>
          </a:xfrm>
          <a:prstGeom prst="roundRect">
            <a:avLst>
              <a:gd name="adj" fmla="val 3750"/>
            </a:avLst>
          </a:prstGeom>
          <a:solidFill>
            <a:srgbClr val="EEF2F7"/>
          </a:solidFill>
          <a:ln w="6350">
            <a:solidFill>
              <a:srgbClr val="EEF2F7"/>
            </a:solidFill>
            <a:prstDash val="solid"/>
          </a:ln>
        </p:spPr>
      </p:sp>
      <p:sp>
        <p:nvSpPr>
          <p:cNvPr id="28" name="Text 26"/>
          <p:cNvSpPr txBox="1"/>
          <p:nvPr/>
        </p:nvSpPr>
        <p:spPr>
          <a:xfrm>
            <a:off x="713232" y="3483864"/>
            <a:ext cx="5065776" cy="237744"/>
          </a:xfrm>
          <a:prstGeom prst="rect">
            <a:avLst/>
          </a:prstGeom>
          <a:noFill/>
          <a:ln/>
        </p:spPr>
        <p:txBody>
          <a:bodyPr wrap="square" lIns="0" tIns="0" rIns="0" bIns="0" rtlCol="0" anchor="ctr"/>
          <a:lstStyle/>
          <a:p>
            <a:pPr algn="ctr" indent="0" marL="0">
              <a:buNone/>
            </a:pPr>
            <a:r>
              <a:rPr lang="en-US" sz="1200" b="1" dirty="0">
                <a:solidFill>
                  <a:srgbClr val="1A2233"/>
                </a:solidFill>
                <a:latin typeface="Calibri" pitchFamily="34" charset="0"/>
                <a:ea typeface="Calibri" pitchFamily="34" charset="-122"/>
                <a:cs typeface="Calibri" pitchFamily="34" charset="-120"/>
              </a:rPr>
              <a:t>What 'expand' generates from a winner</a:t>
            </a:r>
            <a:endParaRPr lang="en-US" sz="1200" dirty="0"/>
          </a:p>
        </p:txBody>
      </p:sp>
      <p:sp>
        <p:nvSpPr>
          <p:cNvPr id="29" name="Text 27"/>
          <p:cNvSpPr txBox="1"/>
          <p:nvPr/>
        </p:nvSpPr>
        <p:spPr>
          <a:xfrm>
            <a:off x="713232" y="3758184"/>
            <a:ext cx="5065776" cy="1097280"/>
          </a:xfrm>
          <a:prstGeom prst="rect">
            <a:avLst/>
          </a:prstGeom>
          <a:noFill/>
          <a:ln/>
        </p:spPr>
        <p:txBody>
          <a:bodyPr wrap="square" lIns="0" tIns="0" rIns="0" bIns="0" rtlCol="0" anchor="t"/>
          <a:lstStyle/>
          <a:p>
            <a:pPr algn="ctr" indent="0" marL="0">
              <a:buNone/>
            </a:pPr>
            <a:r>
              <a:rPr lang="en-US" sz="1200" dirty="0">
                <a:solidFill>
                  <a:srgbClr val="1A2233"/>
                </a:solidFill>
                <a:latin typeface="Calibri" pitchFamily="34" charset="0"/>
                <a:ea typeface="Calibri" pitchFamily="34" charset="-122"/>
                <a:cs typeface="Calibri" pitchFamily="34" charset="-120"/>
              </a:rPr>
              <a:t>RE swap  Nd ↔ Sm ↔ Pr on the same cell</a:t>
            </a:r>
            <a:endParaRPr lang="en-US" sz="1200" dirty="0"/>
          </a:p>
          <a:p>
            <a:pPr algn="ctr" indent="0" marL="0">
              <a:buNone/>
            </a:pPr>
            <a:r>
              <a:rPr lang="en-US" sz="1200" dirty="0">
                <a:solidFill>
                  <a:srgbClr val="1A2233"/>
                </a:solidFill>
                <a:latin typeface="Calibri" pitchFamily="34" charset="0"/>
                <a:ea typeface="Calibri" pitchFamily="34" charset="-122"/>
                <a:cs typeface="Calibri" pitchFamily="34" charset="-120"/>
              </a:rPr>
              <a:t>Co  ⅛ and ¼ of Fe, the sites nearest the RE first</a:t>
            </a:r>
            <a:endParaRPr lang="en-US" sz="1200" dirty="0"/>
          </a:p>
          <a:p>
            <a:pPr algn="ctr" indent="0" marL="0">
              <a:buNone/>
            </a:pPr>
            <a:r>
              <a:rPr lang="en-US" sz="1200" dirty="0">
                <a:solidFill>
                  <a:srgbClr val="1A2233"/>
                </a:solidFill>
                <a:latin typeface="Calibri" pitchFamily="34" charset="0"/>
                <a:ea typeface="Calibri" pitchFamily="34" charset="-122"/>
                <a:cs typeface="Calibri" pitchFamily="34" charset="-120"/>
              </a:rPr>
              <a:t>early TM  one Ti / V / Zr / Nb on the Fe site farthest from the RE</a:t>
            </a:r>
            <a:endParaRPr lang="en-US" sz="1200" dirty="0"/>
          </a:p>
          <a:p>
            <a:pPr algn="ctr" indent="0" marL="0">
              <a:buNone/>
            </a:pPr>
            <a:r>
              <a:rPr lang="en-US" sz="1200" dirty="0">
                <a:solidFill>
                  <a:srgbClr val="1A2233"/>
                </a:solidFill>
                <a:latin typeface="Calibri" pitchFamily="34" charset="0"/>
                <a:ea typeface="Calibri" pitchFamily="34" charset="-122"/>
                <a:cs typeface="Calibri" pitchFamily="34" charset="-120"/>
              </a:rPr>
              <a:t>N  into the largest RE-adjacent void (dilute and full)</a:t>
            </a:r>
            <a:endParaRPr lang="en-US" sz="1200" dirty="0"/>
          </a:p>
          <a:p>
            <a:pPr algn="ctr" indent="0" marL="0">
              <a:buNone/>
            </a:pPr>
            <a:r>
              <a:rPr lang="en-US" sz="1200" dirty="0">
                <a:solidFill>
                  <a:srgbClr val="1A2233"/>
                </a:solidFill>
                <a:latin typeface="Calibri" pitchFamily="34" charset="0"/>
                <a:ea typeface="Calibri" pitchFamily="34" charset="-122"/>
                <a:cs typeface="Calibri" pitchFamily="34" charset="-120"/>
              </a:rPr>
              <a:t>each variant → MACE relax → same-model hull → descriptors → pool</a:t>
            </a:r>
            <a:endParaRPr lang="en-US" sz="1200" dirty="0"/>
          </a:p>
        </p:txBody>
      </p:sp>
      <p:sp>
        <p:nvSpPr>
          <p:cNvPr id="30" name="Shape 28"/>
          <p:cNvSpPr/>
          <p:nvPr/>
        </p:nvSpPr>
        <p:spPr>
          <a:xfrm>
            <a:off x="6309360" y="3429000"/>
            <a:ext cx="5212080" cy="1463040"/>
          </a:xfrm>
          <a:prstGeom prst="roundRect">
            <a:avLst>
              <a:gd name="adj" fmla="val 3750"/>
            </a:avLst>
          </a:prstGeom>
          <a:solidFill>
            <a:srgbClr val="FCEDE8"/>
          </a:solidFill>
          <a:ln w="6350">
            <a:solidFill>
              <a:srgbClr val="FCEDE8"/>
            </a:solidFill>
            <a:prstDash val="solid"/>
          </a:ln>
        </p:spPr>
      </p:sp>
      <p:sp>
        <p:nvSpPr>
          <p:cNvPr id="31" name="Text 29"/>
          <p:cNvSpPr txBox="1"/>
          <p:nvPr/>
        </p:nvSpPr>
        <p:spPr>
          <a:xfrm>
            <a:off x="6382512" y="3483864"/>
            <a:ext cx="5065776" cy="237744"/>
          </a:xfrm>
          <a:prstGeom prst="rect">
            <a:avLst/>
          </a:prstGeom>
          <a:noFill/>
          <a:ln/>
        </p:spPr>
        <p:txBody>
          <a:bodyPr wrap="square" lIns="0" tIns="0" rIns="0" bIns="0" rtlCol="0" anchor="ctr"/>
          <a:lstStyle/>
          <a:p>
            <a:pPr algn="ctr" indent="0" marL="0">
              <a:buNone/>
            </a:pPr>
            <a:r>
              <a:rPr lang="en-US" sz="1200" b="1" dirty="0">
                <a:solidFill>
                  <a:srgbClr val="8A3B2E"/>
                </a:solidFill>
                <a:latin typeface="Calibri" pitchFamily="34" charset="0"/>
                <a:ea typeface="Calibri" pitchFamily="34" charset="-122"/>
                <a:cs typeface="Calibri" pitchFamily="34" charset="-120"/>
              </a:rPr>
              <a:t>What a wave returns, per cell</a:t>
            </a:r>
            <a:endParaRPr lang="en-US" sz="1200" dirty="0"/>
          </a:p>
        </p:txBody>
      </p:sp>
      <p:sp>
        <p:nvSpPr>
          <p:cNvPr id="32" name="Text 30"/>
          <p:cNvSpPr txBox="1"/>
          <p:nvPr/>
        </p:nvSpPr>
        <p:spPr>
          <a:xfrm>
            <a:off x="6382512" y="3758184"/>
            <a:ext cx="5065776" cy="1097280"/>
          </a:xfrm>
          <a:prstGeom prst="rect">
            <a:avLst/>
          </a:prstGeom>
          <a:noFill/>
          <a:ln/>
        </p:spPr>
        <p:txBody>
          <a:bodyPr wrap="square" lIns="0" tIns="0" rIns="0" bIns="0" rtlCol="0" anchor="t"/>
          <a:lstStyle/>
          <a:p>
            <a:pPr algn="ctr" indent="0" marL="0">
              <a:buNone/>
            </a:pPr>
            <a:r>
              <a:rPr lang="en-US" sz="1200" dirty="0">
                <a:solidFill>
                  <a:srgbClr val="8A3B2E"/>
                </a:solidFill>
                <a:latin typeface="Calibri" pitchFamily="34" charset="0"/>
                <a:ea typeface="Calibri" pitchFamily="34" charset="-122"/>
                <a:cs typeface="Calibri" pitchFamily="34" charset="-120"/>
              </a:rPr>
              <a:t>relaxed volume and pressure (did N / Nd fit?)</a:t>
            </a:r>
            <a:endParaRPr lang="en-US" sz="1200" dirty="0"/>
          </a:p>
          <a:p>
            <a:pPr algn="ctr" indent="0" marL="0">
              <a:buNone/>
            </a:pPr>
            <a:r>
              <a:rPr lang="en-US" sz="1200" dirty="0">
                <a:solidFill>
                  <a:srgbClr val="8A3B2E"/>
                </a:solidFill>
                <a:latin typeface="Calibri" pitchFamily="34" charset="0"/>
                <a:ea typeface="Calibri" pitchFamily="34" charset="-122"/>
                <a:cs typeface="Calibri" pitchFamily="34" charset="-120"/>
              </a:rPr>
              <a:t>Fe / Co sublattice moments → Ms with the free-ion RE added</a:t>
            </a:r>
            <a:endParaRPr lang="en-US" sz="1200" dirty="0"/>
          </a:p>
          <a:p>
            <a:pPr algn="ctr" indent="0" marL="0">
              <a:buNone/>
            </a:pPr>
            <a:r>
              <a:rPr lang="en-US" sz="1200" dirty="0">
                <a:solidFill>
                  <a:srgbClr val="8A3B2E"/>
                </a:solidFill>
                <a:latin typeface="Calibri" pitchFamily="34" charset="0"/>
                <a:ea typeface="Calibri" pitchFamily="34" charset="-122"/>
                <a:cs typeface="Calibri" pitchFamily="34" charset="-120"/>
              </a:rPr>
              <a:t>h = RE s+p+d polarisation → gap_RE, T*, B_RT via 1574·h</a:t>
            </a:r>
            <a:endParaRPr lang="en-US" sz="1200" dirty="0"/>
          </a:p>
          <a:p>
            <a:pPr algn="ctr" indent="0" marL="0">
              <a:buNone/>
            </a:pPr>
            <a:r>
              <a:rPr lang="en-US" sz="1200" dirty="0">
                <a:solidFill>
                  <a:srgbClr val="8A3B2E"/>
                </a:solidFill>
                <a:latin typeface="Calibri" pitchFamily="34" charset="0"/>
                <a:ea typeface="Calibri" pitchFamily="34" charset="-122"/>
                <a:cs typeface="Calibri" pitchFamily="34" charset="-120"/>
              </a:rPr>
              <a:t>convergence flags; everything appended as a training row</a:t>
            </a:r>
            <a:endParaRPr lang="en-US" sz="1200" dirty="0"/>
          </a:p>
          <a:p>
            <a:pPr algn="ctr" indent="0" marL="0">
              <a:buNone/>
            </a:pPr>
            <a:r>
              <a:rPr lang="en-US" sz="1200" dirty="0">
                <a:solidFill>
                  <a:srgbClr val="8A3B2E"/>
                </a:solidFill>
                <a:latin typeface="Calibri" pitchFamily="34" charset="0"/>
                <a:ea typeface="Calibri" pitchFamily="34" charset="-122"/>
                <a:cs typeface="Calibri" pitchFamily="34" charset="-120"/>
              </a:rPr>
              <a:t>no fm/ferri pair, no +U: one run is one label</a:t>
            </a:r>
            <a:endParaRPr lang="en-US" sz="1200" dirty="0"/>
          </a:p>
        </p:txBody>
      </p:sp>
      <p:sp>
        <p:nvSpPr>
          <p:cNvPr id="33" name="Text 31"/>
          <p:cNvSpPr txBox="1"/>
          <p:nvPr/>
        </p:nvSpPr>
        <p:spPr>
          <a:xfrm>
            <a:off x="640080" y="5074920"/>
            <a:ext cx="10881360" cy="54864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Cadence: plan (minutes) → push → submit → queue 1-2 d → run 3 h → ingest (minutes). Scripts: wave_pool.py · wave_gp.py · wave_inputs.py · submit_batch.sh · sync_results.sh · wave_ingest.py, driven by wave_loop.sh; DEPLOY_NERSC.md puts the whole loop on a Perlmutter login node with scrontab.</a:t>
            </a:r>
            <a:endParaRPr lang="en-US" sz="1050" dirty="0"/>
          </a:p>
        </p:txBody>
      </p:sp>
      <p:sp>
        <p:nvSpPr>
          <p:cNvPr id="34" name="Shape 32"/>
          <p:cNvSpPr/>
          <p:nvPr/>
        </p:nvSpPr>
        <p:spPr>
          <a:xfrm>
            <a:off x="640080" y="5760720"/>
            <a:ext cx="10881360" cy="685800"/>
          </a:xfrm>
          <a:prstGeom prst="roundRect">
            <a:avLst>
              <a:gd name="adj" fmla="val 10667"/>
            </a:avLst>
          </a:prstGeom>
          <a:solidFill>
            <a:srgbClr val="1B2A4A"/>
          </a:solidFill>
          <a:ln/>
        </p:spPr>
      </p:sp>
      <p:sp>
        <p:nvSpPr>
          <p:cNvPr id="35" name="Text 33"/>
          <p:cNvSpPr txBox="1"/>
          <p:nvPr/>
        </p:nvSpPr>
        <p:spPr>
          <a:xfrm>
            <a:off x="868680" y="5760720"/>
            <a:ext cx="10424160" cy="685800"/>
          </a:xfrm>
          <a:prstGeom prst="rect">
            <a:avLst/>
          </a:prstGeom>
          <a:noFill/>
          <a:ln/>
        </p:spPr>
        <p:txBody>
          <a:bodyPr wrap="square" lIns="0" tIns="0" rIns="0" bIns="0" rtlCol="0" anchor="ctr"/>
          <a:lstStyle/>
          <a:p>
            <a:pPr indent="0" marL="0">
              <a:buNone/>
            </a:pPr>
            <a:r>
              <a:rPr lang="en-US" sz="1100" dirty="0">
                <a:solidFill>
                  <a:srgbClr val="C6D2E4"/>
                </a:solidFill>
                <a:latin typeface="Calibri" pitchFamily="34" charset="0"/>
                <a:ea typeface="Calibri" pitchFamily="34" charset="-122"/>
                <a:cs typeface="Calibri" pitchFamily="34" charset="-120"/>
              </a:rPr>
              <a:t>Each wave answers a question, not just adds points: wave 1 - do the Gd-derived rules transfer to Nd/Sm (H1)? wave 2 - do the levers compose on the winners (H4)? later waves - where does the Pareto front of coupling, Ms and stability stop moving?</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THE PARETO FRONT, DRAWN</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1A2233"/>
                </a:solidFill>
                <a:latin typeface="Cambria" pitchFamily="34" charset="0"/>
                <a:ea typeface="Cambria" pitchFamily="34" charset="-122"/>
                <a:cs typeface="Cambria" pitchFamily="34" charset="-120"/>
              </a:rPr>
              <a:t>What 'front moved?' means: the set of hosts no other host beats on both coupling and magnetisation</a:t>
            </a:r>
            <a:endParaRPr lang="en-US" sz="3200" dirty="0"/>
          </a:p>
        </p:txBody>
      </p:sp>
      <p:pic>
        <p:nvPicPr>
          <p:cNvPr id="4" name="Image 0" descr="/Users/g5q/Documents/GitHub/gnome-fe-hree-magnets/assets/pareto_front.png">    </p:cNvPr>
          <p:cNvPicPr>
            <a:picLocks noChangeAspect="1"/>
          </p:cNvPicPr>
          <p:nvPr/>
        </p:nvPicPr>
        <p:blipFill>
          <a:blip r:embed="rId1"/>
          <a:stretch>
            <a:fillRect/>
          </a:stretch>
        </p:blipFill>
        <p:spPr>
          <a:xfrm>
            <a:off x="640080" y="1417320"/>
            <a:ext cx="6675120" cy="4636008"/>
          </a:xfrm>
          <a:prstGeom prst="rect">
            <a:avLst/>
          </a:prstGeom>
        </p:spPr>
      </p:pic>
      <p:sp>
        <p:nvSpPr>
          <p:cNvPr id="5" name="Shape 2"/>
          <p:cNvSpPr/>
          <p:nvPr/>
        </p:nvSpPr>
        <p:spPr>
          <a:xfrm>
            <a:off x="7589520" y="1417320"/>
            <a:ext cx="3931920" cy="4636008"/>
          </a:xfrm>
          <a:prstGeom prst="roundRect">
            <a:avLst>
              <a:gd name="adj" fmla="val 1860"/>
            </a:avLst>
          </a:prstGeom>
          <a:solidFill>
            <a:srgbClr val="EEF2F7"/>
          </a:solidFill>
          <a:ln/>
        </p:spPr>
      </p:sp>
      <p:sp>
        <p:nvSpPr>
          <p:cNvPr id="6" name="Text 3"/>
          <p:cNvSpPr txBox="1"/>
          <p:nvPr/>
        </p:nvSpPr>
        <p:spPr>
          <a:xfrm>
            <a:off x="7818120" y="1554480"/>
            <a:ext cx="3566160" cy="237744"/>
          </a:xfrm>
          <a:prstGeom prst="rect">
            <a:avLst/>
          </a:prstGeom>
          <a:noFill/>
          <a:ln/>
        </p:spPr>
        <p:txBody>
          <a:bodyPr wrap="square" lIns="0" tIns="0" rIns="0" bIns="0" rtlCol="0" anchor="ctr"/>
          <a:lstStyle/>
          <a:p>
            <a:pPr indent="0" marL="0">
              <a:buNone/>
            </a:pPr>
            <a:r>
              <a:rPr lang="en-US" sz="1250" b="1" dirty="0">
                <a:solidFill>
                  <a:srgbClr val="1A2233"/>
                </a:solidFill>
                <a:latin typeface="Calibri" pitchFamily="34" charset="0"/>
                <a:ea typeface="Calibri" pitchFamily="34" charset="-122"/>
                <a:cs typeface="Calibri" pitchFamily="34" charset="-120"/>
              </a:rPr>
              <a:t>How to read it</a:t>
            </a:r>
            <a:endParaRPr lang="en-US" sz="1250" dirty="0"/>
          </a:p>
        </p:txBody>
      </p:sp>
      <p:sp>
        <p:nvSpPr>
          <p:cNvPr id="7" name="Text 4"/>
          <p:cNvSpPr txBox="1"/>
          <p:nvPr/>
        </p:nvSpPr>
        <p:spPr>
          <a:xfrm>
            <a:off x="7818120" y="1828800"/>
            <a:ext cx="3611880" cy="123444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Every credible host plotted at the coupling it would give Nd (measured Gd gap scaled by (gJ−1)J) against the Ms it would give with Nd. The red line joins the hosts that are not dominated: no other host has both a larger gap and a larger Ms. Colour, where present, is the MACE hull energy of the Nd cell.</a:t>
            </a:r>
            <a:endParaRPr lang="en-US" sz="1000" dirty="0"/>
          </a:p>
        </p:txBody>
      </p:sp>
      <p:sp>
        <p:nvSpPr>
          <p:cNvPr id="8" name="Text 5"/>
          <p:cNvSpPr txBox="1"/>
          <p:nvPr/>
        </p:nvSpPr>
        <p:spPr>
          <a:xfrm>
            <a:off x="7818120" y="3154680"/>
            <a:ext cx="3566160" cy="237744"/>
          </a:xfrm>
          <a:prstGeom prst="rect">
            <a:avLst/>
          </a:prstGeom>
          <a:noFill/>
          <a:ln/>
        </p:spPr>
        <p:txBody>
          <a:bodyPr wrap="square" lIns="0" tIns="0" rIns="0" bIns="0" rtlCol="0" anchor="ctr"/>
          <a:lstStyle/>
          <a:p>
            <a:pPr indent="0" marL="0">
              <a:buNone/>
            </a:pPr>
            <a:r>
              <a:rPr lang="en-US" sz="1250" b="1" dirty="0">
                <a:solidFill>
                  <a:srgbClr val="1A2233"/>
                </a:solidFill>
                <a:latin typeface="Calibri" pitchFamily="34" charset="0"/>
                <a:ea typeface="Calibri" pitchFamily="34" charset="-122"/>
                <a:cs typeface="Calibri" pitchFamily="34" charset="-120"/>
              </a:rPr>
              <a:t>The front today</a:t>
            </a:r>
            <a:endParaRPr lang="en-US" sz="1250" dirty="0"/>
          </a:p>
        </p:txBody>
      </p:sp>
      <p:sp>
        <p:nvSpPr>
          <p:cNvPr id="9" name="Text 6"/>
          <p:cNvSpPr txBox="1"/>
          <p:nvPr/>
        </p:nvSpPr>
        <p:spPr>
          <a:xfrm>
            <a:off x="7818120" y="3429000"/>
            <a:ext cx="1554480" cy="201168"/>
          </a:xfrm>
          <a:prstGeom prst="rect">
            <a:avLst/>
          </a:prstGeom>
          <a:noFill/>
          <a:ln/>
        </p:spPr>
        <p:txBody>
          <a:bodyPr wrap="square" lIns="0" tIns="0" rIns="0" bIns="0" rtlCol="0" anchor="ctr"/>
          <a:lstStyle/>
          <a:p>
            <a:pPr indent="0" marL="0">
              <a:buNone/>
            </a:pPr>
            <a:r>
              <a:rPr lang="en-US" sz="950" b="1" dirty="0">
                <a:solidFill>
                  <a:srgbClr val="2E86AB"/>
                </a:solidFill>
                <a:latin typeface="Calibri" pitchFamily="34" charset="0"/>
                <a:ea typeface="Calibri" pitchFamily="34" charset="-122"/>
                <a:cs typeface="Calibri" pitchFamily="34" charset="-120"/>
              </a:rPr>
              <a:t>Fe₁₇Gd₂N₂ → Nd</a:t>
            </a:r>
            <a:endParaRPr lang="en-US" sz="950" dirty="0"/>
          </a:p>
        </p:txBody>
      </p:sp>
      <p:sp>
        <p:nvSpPr>
          <p:cNvPr id="10" name="Text 7"/>
          <p:cNvSpPr txBox="1"/>
          <p:nvPr/>
        </p:nvSpPr>
        <p:spPr>
          <a:xfrm>
            <a:off x="9372600" y="3429000"/>
            <a:ext cx="1097280" cy="201168"/>
          </a:xfrm>
          <a:prstGeom prst="rect">
            <a:avLst/>
          </a:prstGeom>
          <a:noFill/>
          <a:ln/>
        </p:spPr>
        <p:txBody>
          <a:bodyPr wrap="square" lIns="0" tIns="0" rIns="0" bIns="0" rtlCol="0" anchor="ctr"/>
          <a:lstStyle/>
          <a:p>
            <a:pPr indent="0" marL="0">
              <a:buNone/>
            </a:pPr>
            <a:r>
              <a:rPr lang="en-US" sz="950" dirty="0">
                <a:solidFill>
                  <a:srgbClr val="1A2233"/>
                </a:solidFill>
                <a:latin typeface="Calibri" pitchFamily="34" charset="0"/>
                <a:ea typeface="Calibri" pitchFamily="34" charset="-122"/>
                <a:cs typeface="Calibri" pitchFamily="34" charset="-120"/>
              </a:rPr>
              <a:t>2.04 T · 82 meV</a:t>
            </a:r>
            <a:endParaRPr lang="en-US" sz="950" dirty="0"/>
          </a:p>
        </p:txBody>
      </p:sp>
      <p:sp>
        <p:nvSpPr>
          <p:cNvPr id="11" name="Text 8"/>
          <p:cNvSpPr txBox="1"/>
          <p:nvPr/>
        </p:nvSpPr>
        <p:spPr>
          <a:xfrm>
            <a:off x="7818120" y="3602736"/>
            <a:ext cx="3566160" cy="182880"/>
          </a:xfrm>
          <a:prstGeom prst="rect">
            <a:avLst/>
          </a:prstGeom>
          <a:noFill/>
          <a:ln/>
        </p:spPr>
        <p:txBody>
          <a:bodyPr wrap="square" lIns="0" tIns="0" rIns="0" bIns="0" rtlCol="0" anchor="ctr"/>
          <a:lstStyle/>
          <a:p>
            <a:pPr indent="0" marL="0">
              <a:buNone/>
            </a:pPr>
            <a:r>
              <a:rPr lang="en-US" sz="830" dirty="0">
                <a:solidFill>
                  <a:srgbClr val="5A6478"/>
                </a:solidFill>
                <a:latin typeface="Calibri" pitchFamily="34" charset="0"/>
                <a:ea typeface="Calibri" pitchFamily="34" charset="-122"/>
                <a:cs typeface="Calibri" pitchFamily="34" charset="-120"/>
              </a:rPr>
              <a:t>highest Ms, below the coupling floor</a:t>
            </a:r>
            <a:endParaRPr lang="en-US" sz="830" dirty="0"/>
          </a:p>
        </p:txBody>
      </p:sp>
      <p:sp>
        <p:nvSpPr>
          <p:cNvPr id="12" name="Text 9"/>
          <p:cNvSpPr txBox="1"/>
          <p:nvPr/>
        </p:nvSpPr>
        <p:spPr>
          <a:xfrm>
            <a:off x="7818120" y="3794760"/>
            <a:ext cx="1554480" cy="201168"/>
          </a:xfrm>
          <a:prstGeom prst="rect">
            <a:avLst/>
          </a:prstGeom>
          <a:noFill/>
          <a:ln/>
        </p:spPr>
        <p:txBody>
          <a:bodyPr wrap="square" lIns="0" tIns="0" rIns="0" bIns="0" rtlCol="0" anchor="ctr"/>
          <a:lstStyle/>
          <a:p>
            <a:pPr indent="0" marL="0">
              <a:buNone/>
            </a:pPr>
            <a:r>
              <a:rPr lang="en-US" sz="950" b="1" dirty="0">
                <a:solidFill>
                  <a:srgbClr val="2E86AB"/>
                </a:solidFill>
                <a:latin typeface="Calibri" pitchFamily="34" charset="0"/>
                <a:ea typeface="Calibri" pitchFamily="34" charset="-122"/>
                <a:cs typeface="Calibri" pitchFamily="34" charset="-120"/>
              </a:rPr>
              <a:t>BFe₁₄Gd₂ → Nd</a:t>
            </a:r>
            <a:endParaRPr lang="en-US" sz="950" dirty="0"/>
          </a:p>
        </p:txBody>
      </p:sp>
      <p:sp>
        <p:nvSpPr>
          <p:cNvPr id="13" name="Text 10"/>
          <p:cNvSpPr txBox="1"/>
          <p:nvPr/>
        </p:nvSpPr>
        <p:spPr>
          <a:xfrm>
            <a:off x="9372600" y="3794760"/>
            <a:ext cx="1097280" cy="201168"/>
          </a:xfrm>
          <a:prstGeom prst="rect">
            <a:avLst/>
          </a:prstGeom>
          <a:noFill/>
          <a:ln/>
        </p:spPr>
        <p:txBody>
          <a:bodyPr wrap="square" lIns="0" tIns="0" rIns="0" bIns="0" rtlCol="0" anchor="ctr"/>
          <a:lstStyle/>
          <a:p>
            <a:pPr indent="0" marL="0">
              <a:buNone/>
            </a:pPr>
            <a:r>
              <a:rPr lang="en-US" sz="950" dirty="0">
                <a:solidFill>
                  <a:srgbClr val="1A2233"/>
                </a:solidFill>
                <a:latin typeface="Calibri" pitchFamily="34" charset="0"/>
                <a:ea typeface="Calibri" pitchFamily="34" charset="-122"/>
                <a:cs typeface="Calibri" pitchFamily="34" charset="-120"/>
              </a:rPr>
              <a:t>2.03 T · 107 meV</a:t>
            </a:r>
            <a:endParaRPr lang="en-US" sz="950" dirty="0"/>
          </a:p>
        </p:txBody>
      </p:sp>
      <p:sp>
        <p:nvSpPr>
          <p:cNvPr id="14" name="Text 11"/>
          <p:cNvSpPr txBox="1"/>
          <p:nvPr/>
        </p:nvSpPr>
        <p:spPr>
          <a:xfrm>
            <a:off x="7818120" y="3968496"/>
            <a:ext cx="3566160" cy="182880"/>
          </a:xfrm>
          <a:prstGeom prst="rect">
            <a:avLst/>
          </a:prstGeom>
          <a:noFill/>
          <a:ln/>
        </p:spPr>
        <p:txBody>
          <a:bodyPr wrap="square" lIns="0" tIns="0" rIns="0" bIns="0" rtlCol="0" anchor="ctr"/>
          <a:lstStyle/>
          <a:p>
            <a:pPr indent="0" marL="0">
              <a:buNone/>
            </a:pPr>
            <a:r>
              <a:rPr lang="en-US" sz="830" dirty="0">
                <a:solidFill>
                  <a:srgbClr val="5A6478"/>
                </a:solidFill>
                <a:latin typeface="Calibri" pitchFamily="34" charset="0"/>
                <a:ea typeface="Calibri" pitchFamily="34" charset="-122"/>
                <a:cs typeface="Calibri" pitchFamily="34" charset="-120"/>
              </a:rPr>
              <a:t>the Nd₂Fe₁₄B reference point</a:t>
            </a:r>
            <a:endParaRPr lang="en-US" sz="830" dirty="0"/>
          </a:p>
        </p:txBody>
      </p:sp>
      <p:sp>
        <p:nvSpPr>
          <p:cNvPr id="15" name="Text 12"/>
          <p:cNvSpPr txBox="1"/>
          <p:nvPr/>
        </p:nvSpPr>
        <p:spPr>
          <a:xfrm>
            <a:off x="7818120" y="4160520"/>
            <a:ext cx="1554480" cy="201168"/>
          </a:xfrm>
          <a:prstGeom prst="rect">
            <a:avLst/>
          </a:prstGeom>
          <a:noFill/>
          <a:ln/>
        </p:spPr>
        <p:txBody>
          <a:bodyPr wrap="square" lIns="0" tIns="0" rIns="0" bIns="0" rtlCol="0" anchor="ctr"/>
          <a:lstStyle/>
          <a:p>
            <a:pPr indent="0" marL="0">
              <a:buNone/>
            </a:pPr>
            <a:r>
              <a:rPr lang="en-US" sz="950" b="1" dirty="0">
                <a:solidFill>
                  <a:srgbClr val="2E86AB"/>
                </a:solidFill>
                <a:latin typeface="Calibri" pitchFamily="34" charset="0"/>
                <a:ea typeface="Calibri" pitchFamily="34" charset="-122"/>
                <a:cs typeface="Calibri" pitchFamily="34" charset="-120"/>
              </a:rPr>
              <a:t>Co₂Fe₇Gd₃ → Nd</a:t>
            </a:r>
            <a:endParaRPr lang="en-US" sz="950" dirty="0"/>
          </a:p>
        </p:txBody>
      </p:sp>
      <p:sp>
        <p:nvSpPr>
          <p:cNvPr id="16" name="Text 13"/>
          <p:cNvSpPr txBox="1"/>
          <p:nvPr/>
        </p:nvSpPr>
        <p:spPr>
          <a:xfrm>
            <a:off x="9372600" y="4160520"/>
            <a:ext cx="1097280" cy="201168"/>
          </a:xfrm>
          <a:prstGeom prst="rect">
            <a:avLst/>
          </a:prstGeom>
          <a:noFill/>
          <a:ln/>
        </p:spPr>
        <p:txBody>
          <a:bodyPr wrap="square" lIns="0" tIns="0" rIns="0" bIns="0" rtlCol="0" anchor="ctr"/>
          <a:lstStyle/>
          <a:p>
            <a:pPr indent="0" marL="0">
              <a:buNone/>
            </a:pPr>
            <a:r>
              <a:rPr lang="en-US" sz="950" dirty="0">
                <a:solidFill>
                  <a:srgbClr val="1A2233"/>
                </a:solidFill>
                <a:latin typeface="Calibri" pitchFamily="34" charset="0"/>
                <a:ea typeface="Calibri" pitchFamily="34" charset="-122"/>
                <a:cs typeface="Calibri" pitchFamily="34" charset="-120"/>
              </a:rPr>
              <a:t>1.85 T · 110 meV</a:t>
            </a:r>
            <a:endParaRPr lang="en-US" sz="950" dirty="0"/>
          </a:p>
        </p:txBody>
      </p:sp>
      <p:sp>
        <p:nvSpPr>
          <p:cNvPr id="17" name="Text 14"/>
          <p:cNvSpPr txBox="1"/>
          <p:nvPr/>
        </p:nvSpPr>
        <p:spPr>
          <a:xfrm>
            <a:off x="7818120" y="4334256"/>
            <a:ext cx="3566160" cy="182880"/>
          </a:xfrm>
          <a:prstGeom prst="rect">
            <a:avLst/>
          </a:prstGeom>
          <a:noFill/>
          <a:ln/>
        </p:spPr>
        <p:txBody>
          <a:bodyPr wrap="square" lIns="0" tIns="0" rIns="0" bIns="0" rtlCol="0" anchor="ctr"/>
          <a:lstStyle/>
          <a:p>
            <a:pPr indent="0" marL="0">
              <a:buNone/>
            </a:pPr>
            <a:r>
              <a:rPr lang="en-US" sz="830" dirty="0">
                <a:solidFill>
                  <a:srgbClr val="5A6478"/>
                </a:solidFill>
                <a:latin typeface="Calibri" pitchFamily="34" charset="0"/>
                <a:ea typeface="Calibri" pitchFamily="34" charset="-122"/>
                <a:cs typeface="Calibri" pitchFamily="34" charset="-120"/>
              </a:rPr>
              <a:t>RE-rich, hull +20 meV</a:t>
            </a:r>
            <a:endParaRPr lang="en-US" sz="830" dirty="0"/>
          </a:p>
        </p:txBody>
      </p:sp>
      <p:sp>
        <p:nvSpPr>
          <p:cNvPr id="18" name="Text 15"/>
          <p:cNvSpPr txBox="1"/>
          <p:nvPr/>
        </p:nvSpPr>
        <p:spPr>
          <a:xfrm>
            <a:off x="7818120" y="4526280"/>
            <a:ext cx="1554480" cy="201168"/>
          </a:xfrm>
          <a:prstGeom prst="rect">
            <a:avLst/>
          </a:prstGeom>
          <a:noFill/>
          <a:ln/>
        </p:spPr>
        <p:txBody>
          <a:bodyPr wrap="square" lIns="0" tIns="0" rIns="0" bIns="0" rtlCol="0" anchor="ctr"/>
          <a:lstStyle/>
          <a:p>
            <a:pPr indent="0" marL="0">
              <a:buNone/>
            </a:pPr>
            <a:r>
              <a:rPr lang="en-US" sz="950" b="1" dirty="0">
                <a:solidFill>
                  <a:srgbClr val="2E86AB"/>
                </a:solidFill>
                <a:latin typeface="Calibri" pitchFamily="34" charset="0"/>
                <a:ea typeface="Calibri" pitchFamily="34" charset="-122"/>
                <a:cs typeface="Calibri" pitchFamily="34" charset="-120"/>
              </a:rPr>
              <a:t>GdFe₂ → Nd</a:t>
            </a:r>
            <a:endParaRPr lang="en-US" sz="950" dirty="0"/>
          </a:p>
        </p:txBody>
      </p:sp>
      <p:sp>
        <p:nvSpPr>
          <p:cNvPr id="19" name="Text 16"/>
          <p:cNvSpPr txBox="1"/>
          <p:nvPr/>
        </p:nvSpPr>
        <p:spPr>
          <a:xfrm>
            <a:off x="9372600" y="4526280"/>
            <a:ext cx="1097280" cy="201168"/>
          </a:xfrm>
          <a:prstGeom prst="rect">
            <a:avLst/>
          </a:prstGeom>
          <a:noFill/>
          <a:ln/>
        </p:spPr>
        <p:txBody>
          <a:bodyPr wrap="square" lIns="0" tIns="0" rIns="0" bIns="0" rtlCol="0" anchor="ctr"/>
          <a:lstStyle/>
          <a:p>
            <a:pPr indent="0" marL="0">
              <a:buNone/>
            </a:pPr>
            <a:r>
              <a:rPr lang="en-US" sz="950" dirty="0">
                <a:solidFill>
                  <a:srgbClr val="1A2233"/>
                </a:solidFill>
                <a:latin typeface="Calibri" pitchFamily="34" charset="0"/>
                <a:ea typeface="Calibri" pitchFamily="34" charset="-122"/>
                <a:cs typeface="Calibri" pitchFamily="34" charset="-120"/>
              </a:rPr>
              <a:t>1.81 T · 123 meV</a:t>
            </a:r>
            <a:endParaRPr lang="en-US" sz="950" dirty="0"/>
          </a:p>
        </p:txBody>
      </p:sp>
      <p:sp>
        <p:nvSpPr>
          <p:cNvPr id="20" name="Text 17"/>
          <p:cNvSpPr txBox="1"/>
          <p:nvPr/>
        </p:nvSpPr>
        <p:spPr>
          <a:xfrm>
            <a:off x="7818120" y="4700016"/>
            <a:ext cx="3566160" cy="182880"/>
          </a:xfrm>
          <a:prstGeom prst="rect">
            <a:avLst/>
          </a:prstGeom>
          <a:noFill/>
          <a:ln/>
        </p:spPr>
        <p:txBody>
          <a:bodyPr wrap="square" lIns="0" tIns="0" rIns="0" bIns="0" rtlCol="0" anchor="ctr"/>
          <a:lstStyle/>
          <a:p>
            <a:pPr indent="0" marL="0">
              <a:buNone/>
            </a:pPr>
            <a:r>
              <a:rPr lang="en-US" sz="830" dirty="0">
                <a:solidFill>
                  <a:srgbClr val="5A6478"/>
                </a:solidFill>
                <a:latin typeface="Calibri" pitchFamily="34" charset="0"/>
                <a:ea typeface="Calibri" pitchFamily="34" charset="-122"/>
                <a:cs typeface="Calibri" pitchFamily="34" charset="-120"/>
              </a:rPr>
              <a:t>Laves, RE-rich</a:t>
            </a:r>
            <a:endParaRPr lang="en-US" sz="830" dirty="0"/>
          </a:p>
        </p:txBody>
      </p:sp>
      <p:sp>
        <p:nvSpPr>
          <p:cNvPr id="21" name="Text 18"/>
          <p:cNvSpPr txBox="1"/>
          <p:nvPr/>
        </p:nvSpPr>
        <p:spPr>
          <a:xfrm>
            <a:off x="7818120" y="4892040"/>
            <a:ext cx="1554480" cy="201168"/>
          </a:xfrm>
          <a:prstGeom prst="rect">
            <a:avLst/>
          </a:prstGeom>
          <a:noFill/>
          <a:ln/>
        </p:spPr>
        <p:txBody>
          <a:bodyPr wrap="square" lIns="0" tIns="0" rIns="0" bIns="0" rtlCol="0" anchor="ctr"/>
          <a:lstStyle/>
          <a:p>
            <a:pPr indent="0" marL="0">
              <a:buNone/>
            </a:pPr>
            <a:r>
              <a:rPr lang="en-US" sz="950" b="1" dirty="0">
                <a:solidFill>
                  <a:srgbClr val="2E86AB"/>
                </a:solidFill>
                <a:latin typeface="Calibri" pitchFamily="34" charset="0"/>
                <a:ea typeface="Calibri" pitchFamily="34" charset="-122"/>
                <a:cs typeface="Calibri" pitchFamily="34" charset="-120"/>
              </a:rPr>
              <a:t>Co₁₉Fe₄Gd₆ → Nd</a:t>
            </a:r>
            <a:endParaRPr lang="en-US" sz="950" dirty="0"/>
          </a:p>
        </p:txBody>
      </p:sp>
      <p:sp>
        <p:nvSpPr>
          <p:cNvPr id="22" name="Text 19"/>
          <p:cNvSpPr txBox="1"/>
          <p:nvPr/>
        </p:nvSpPr>
        <p:spPr>
          <a:xfrm>
            <a:off x="9372600" y="4892040"/>
            <a:ext cx="1097280" cy="201168"/>
          </a:xfrm>
          <a:prstGeom prst="rect">
            <a:avLst/>
          </a:prstGeom>
          <a:noFill/>
          <a:ln/>
        </p:spPr>
        <p:txBody>
          <a:bodyPr wrap="square" lIns="0" tIns="0" rIns="0" bIns="0" rtlCol="0" anchor="ctr"/>
          <a:lstStyle/>
          <a:p>
            <a:pPr indent="0" marL="0">
              <a:buNone/>
            </a:pPr>
            <a:r>
              <a:rPr lang="en-US" sz="950" dirty="0">
                <a:solidFill>
                  <a:srgbClr val="1A2233"/>
                </a:solidFill>
                <a:latin typeface="Calibri" pitchFamily="34" charset="0"/>
                <a:ea typeface="Calibri" pitchFamily="34" charset="-122"/>
                <a:cs typeface="Calibri" pitchFamily="34" charset="-120"/>
              </a:rPr>
              <a:t>1.59 T · 130 meV</a:t>
            </a:r>
            <a:endParaRPr lang="en-US" sz="950" dirty="0"/>
          </a:p>
        </p:txBody>
      </p:sp>
      <p:sp>
        <p:nvSpPr>
          <p:cNvPr id="23" name="Text 20"/>
          <p:cNvSpPr txBox="1"/>
          <p:nvPr/>
        </p:nvSpPr>
        <p:spPr>
          <a:xfrm>
            <a:off x="7818120" y="5065776"/>
            <a:ext cx="3566160" cy="182880"/>
          </a:xfrm>
          <a:prstGeom prst="rect">
            <a:avLst/>
          </a:prstGeom>
          <a:noFill/>
          <a:ln/>
        </p:spPr>
        <p:txBody>
          <a:bodyPr wrap="square" lIns="0" tIns="0" rIns="0" bIns="0" rtlCol="0" anchor="ctr"/>
          <a:lstStyle/>
          <a:p>
            <a:pPr indent="0" marL="0">
              <a:buNone/>
            </a:pPr>
            <a:r>
              <a:rPr lang="en-US" sz="830" dirty="0">
                <a:solidFill>
                  <a:srgbClr val="5A6478"/>
                </a:solidFill>
                <a:latin typeface="Calibri" pitchFamily="34" charset="0"/>
                <a:ea typeface="Calibri" pitchFamily="34" charset="-122"/>
                <a:cs typeface="Calibri" pitchFamily="34" charset="-120"/>
              </a:rPr>
              <a:t>strongest coupling at &gt;1.5 T</a:t>
            </a:r>
            <a:endParaRPr lang="en-US" sz="830" dirty="0"/>
          </a:p>
        </p:txBody>
      </p:sp>
      <p:sp>
        <p:nvSpPr>
          <p:cNvPr id="24" name="Text 21"/>
          <p:cNvSpPr txBox="1"/>
          <p:nvPr/>
        </p:nvSpPr>
        <p:spPr>
          <a:xfrm>
            <a:off x="7818120" y="5257800"/>
            <a:ext cx="1554480" cy="201168"/>
          </a:xfrm>
          <a:prstGeom prst="rect">
            <a:avLst/>
          </a:prstGeom>
          <a:noFill/>
          <a:ln/>
        </p:spPr>
        <p:txBody>
          <a:bodyPr wrap="square" lIns="0" tIns="0" rIns="0" bIns="0" rtlCol="0" anchor="ctr"/>
          <a:lstStyle/>
          <a:p>
            <a:pPr indent="0" marL="0">
              <a:buNone/>
            </a:pPr>
            <a:r>
              <a:rPr lang="en-US" sz="950" b="1" dirty="0">
                <a:solidFill>
                  <a:srgbClr val="2E86AB"/>
                </a:solidFill>
                <a:latin typeface="Calibri" pitchFamily="34" charset="0"/>
                <a:ea typeface="Calibri" pitchFamily="34" charset="-122"/>
                <a:cs typeface="Calibri" pitchFamily="34" charset="-120"/>
              </a:rPr>
              <a:t>CFe₁₇Gd₂ → Nd</a:t>
            </a:r>
            <a:endParaRPr lang="en-US" sz="950" dirty="0"/>
          </a:p>
        </p:txBody>
      </p:sp>
      <p:sp>
        <p:nvSpPr>
          <p:cNvPr id="25" name="Text 22"/>
          <p:cNvSpPr txBox="1"/>
          <p:nvPr/>
        </p:nvSpPr>
        <p:spPr>
          <a:xfrm>
            <a:off x="9372600" y="5257800"/>
            <a:ext cx="1097280" cy="201168"/>
          </a:xfrm>
          <a:prstGeom prst="rect">
            <a:avLst/>
          </a:prstGeom>
          <a:noFill/>
          <a:ln/>
        </p:spPr>
        <p:txBody>
          <a:bodyPr wrap="square" lIns="0" tIns="0" rIns="0" bIns="0" rtlCol="0" anchor="ctr"/>
          <a:lstStyle/>
          <a:p>
            <a:pPr indent="0" marL="0">
              <a:buNone/>
            </a:pPr>
            <a:r>
              <a:rPr lang="en-US" sz="950" dirty="0">
                <a:solidFill>
                  <a:srgbClr val="1A2233"/>
                </a:solidFill>
                <a:latin typeface="Calibri" pitchFamily="34" charset="0"/>
                <a:ea typeface="Calibri" pitchFamily="34" charset="-122"/>
                <a:cs typeface="Calibri" pitchFamily="34" charset="-120"/>
              </a:rPr>
              <a:t>1.35 T · 133 meV</a:t>
            </a:r>
            <a:endParaRPr lang="en-US" sz="950" dirty="0"/>
          </a:p>
        </p:txBody>
      </p:sp>
      <p:sp>
        <p:nvSpPr>
          <p:cNvPr id="26" name="Text 23"/>
          <p:cNvSpPr txBox="1"/>
          <p:nvPr/>
        </p:nvSpPr>
        <p:spPr>
          <a:xfrm>
            <a:off x="7818120" y="5431536"/>
            <a:ext cx="3566160" cy="182880"/>
          </a:xfrm>
          <a:prstGeom prst="rect">
            <a:avLst/>
          </a:prstGeom>
          <a:noFill/>
          <a:ln/>
        </p:spPr>
        <p:txBody>
          <a:bodyPr wrap="square" lIns="0" tIns="0" rIns="0" bIns="0" rtlCol="0" anchor="ctr"/>
          <a:lstStyle/>
          <a:p>
            <a:pPr indent="0" marL="0">
              <a:buNone/>
            </a:pPr>
            <a:r>
              <a:rPr lang="en-US" sz="830" dirty="0">
                <a:solidFill>
                  <a:srgbClr val="5A6478"/>
                </a:solidFill>
                <a:latin typeface="Calibri" pitchFamily="34" charset="0"/>
                <a:ea typeface="Calibri" pitchFamily="34" charset="-122"/>
                <a:cs typeface="Calibri" pitchFamily="34" charset="-120"/>
              </a:rPr>
              <a:t>fm side suspect, re-running</a:t>
            </a:r>
            <a:endParaRPr lang="en-US" sz="830" dirty="0"/>
          </a:p>
        </p:txBody>
      </p:sp>
      <p:sp>
        <p:nvSpPr>
          <p:cNvPr id="27" name="Text 24"/>
          <p:cNvSpPr txBox="1"/>
          <p:nvPr/>
        </p:nvSpPr>
        <p:spPr>
          <a:xfrm>
            <a:off x="7818120" y="5623560"/>
            <a:ext cx="3611880" cy="411480"/>
          </a:xfrm>
          <a:prstGeom prst="rect">
            <a:avLst/>
          </a:prstGeom>
          <a:noFill/>
          <a:ln/>
        </p:spPr>
        <p:txBody>
          <a:bodyPr wrap="square" lIns="0" tIns="0" rIns="0" bIns="0" rtlCol="0" anchor="ctr"/>
          <a:lstStyle/>
          <a:p>
            <a:pPr indent="0" marL="0">
              <a:buNone/>
            </a:pPr>
            <a:r>
              <a:rPr lang="en-US" sz="900" i="1" dirty="0">
                <a:solidFill>
                  <a:srgbClr val="1A2233"/>
                </a:solidFill>
                <a:latin typeface="Calibri" pitchFamily="34" charset="0"/>
                <a:ea typeface="Calibri" pitchFamily="34" charset="-122"/>
                <a:cs typeface="Calibri" pitchFamily="34" charset="-120"/>
              </a:rPr>
              <a:t>Stop rule: a wave that adds no point to this line, after its labels are measured, has not moved the front. Two such waves in a row and the pool is exhausted for the current thresholds.</a:t>
            </a:r>
            <a:endParaRPr lang="en-US" sz="900" dirty="0"/>
          </a:p>
        </p:txBody>
      </p:sp>
      <p:sp>
        <p:nvSpPr>
          <p:cNvPr id="28" name="Text 25"/>
          <p:cNvSpPr txBox="1"/>
          <p:nvPr/>
        </p:nvSpPr>
        <p:spPr>
          <a:xfrm>
            <a:off x="640080" y="6144768"/>
            <a:ext cx="10881360" cy="457200"/>
          </a:xfrm>
          <a:prstGeom prst="rect">
            <a:avLst/>
          </a:prstGeom>
          <a:noFill/>
          <a:ln/>
        </p:spPr>
        <p:txBody>
          <a:bodyPr wrap="square" lIns="0" tIns="0" rIns="0" bIns="0" rtlCol="0" anchor="ctr"/>
          <a:lstStyle/>
          <a:p>
            <a:pPr indent="0" marL="0">
              <a:buNone/>
            </a:pPr>
            <a:r>
              <a:rPr lang="en-US" sz="1050" i="1" dirty="0">
                <a:solidFill>
                  <a:srgbClr val="1A2233"/>
                </a:solidFill>
                <a:latin typeface="Calibri" pitchFamily="34" charset="0"/>
                <a:ea typeface="Calibri" pitchFamily="34" charset="-122"/>
                <a:cs typeface="Calibri" pitchFamily="34" charset="-120"/>
              </a:rPr>
              <a:t>Learnt: the front is the known magnets plus RE-rich cells; every point on it is either a reference compound or fails the hull or the coupling floor. The target region, upper right of both dashed lines, is empty - that is the space the waves are drawn to fill.</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01B33"/>
        </a:solidFill>
      </p:bgPr>
    </p:bg>
    <p:spTree>
      <p:nvGrpSpPr>
        <p:cNvPr id="1" name=""/>
        <p:cNvGrpSpPr/>
        <p:nvPr/>
      </p:nvGrpSpPr>
      <p:grpSpPr>
        <a:xfrm>
          <a:off x="0" y="0"/>
          <a:ext cx="0" cy="0"/>
          <a:chOff x="0" y="0"/>
          <a:chExt cx="0" cy="0"/>
        </a:xfrm>
      </p:grpSpPr>
      <p:sp>
        <p:nvSpPr>
          <p:cNvPr id="2" name="Text 0"/>
          <p:cNvSpPr txBox="1"/>
          <p:nvPr/>
        </p:nvSpPr>
        <p:spPr>
          <a:xfrm>
            <a:off x="640080" y="347472"/>
            <a:ext cx="10881360" cy="237744"/>
          </a:xfrm>
          <a:prstGeom prst="rect">
            <a:avLst/>
          </a:prstGeom>
          <a:noFill/>
          <a:ln/>
        </p:spPr>
        <p:txBody>
          <a:bodyPr wrap="square" lIns="0" tIns="0" rIns="0" bIns="0" rtlCol="0" anchor="ctr"/>
          <a:lstStyle/>
          <a:p>
            <a:pPr indent="0" marL="0">
              <a:buNone/>
            </a:pPr>
            <a:r>
              <a:rPr lang="en-US" sz="1200" b="1" spc="200" kern="0" dirty="0">
                <a:solidFill>
                  <a:srgbClr val="F2B134"/>
                </a:solidFill>
                <a:latin typeface="Calibri" pitchFamily="34" charset="0"/>
                <a:ea typeface="Calibri" pitchFamily="34" charset="-122"/>
                <a:cs typeface="Calibri" pitchFamily="34" charset="-120"/>
              </a:rPr>
              <a:t>CLOSING THE LOOP</a:t>
            </a:r>
            <a:endParaRPr lang="en-US" sz="1200" dirty="0"/>
          </a:p>
        </p:txBody>
      </p:sp>
      <p:sp>
        <p:nvSpPr>
          <p:cNvPr id="3" name="Text 1"/>
          <p:cNvSpPr txBox="1"/>
          <p:nvPr/>
        </p:nvSpPr>
        <p:spPr>
          <a:xfrm>
            <a:off x="640080" y="603504"/>
            <a:ext cx="1088136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Gaussian process for where to look, causal model for which lever, generative model for what to propose</a:t>
            </a:r>
            <a:endParaRPr lang="en-US" sz="3200" dirty="0"/>
          </a:p>
        </p:txBody>
      </p:sp>
      <p:sp>
        <p:nvSpPr>
          <p:cNvPr id="4" name="Shape 2"/>
          <p:cNvSpPr/>
          <p:nvPr/>
        </p:nvSpPr>
        <p:spPr>
          <a:xfrm>
            <a:off x="640080" y="1600200"/>
            <a:ext cx="2029968" cy="1783080"/>
          </a:xfrm>
          <a:prstGeom prst="roundRect">
            <a:avLst>
              <a:gd name="adj" fmla="val 4103"/>
            </a:avLst>
          </a:prstGeom>
          <a:solidFill>
            <a:srgbClr val="2E86AB"/>
          </a:solidFill>
          <a:ln/>
        </p:spPr>
      </p:sp>
      <p:sp>
        <p:nvSpPr>
          <p:cNvPr id="5" name="Text 3"/>
          <p:cNvSpPr txBox="1"/>
          <p:nvPr/>
        </p:nvSpPr>
        <p:spPr>
          <a:xfrm>
            <a:off x="749808" y="1700784"/>
            <a:ext cx="1810512"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Labelled data</a:t>
            </a:r>
            <a:endParaRPr lang="en-US" sz="1250" dirty="0"/>
          </a:p>
        </p:txBody>
      </p:sp>
      <p:sp>
        <p:nvSpPr>
          <p:cNvPr id="6" name="Text 4"/>
          <p:cNvSpPr txBox="1"/>
          <p:nvPr/>
        </p:nvSpPr>
        <p:spPr>
          <a:xfrm>
            <a:off x="749808" y="2066544"/>
            <a:ext cx="1810512" cy="1261872"/>
          </a:xfrm>
          <a:prstGeom prst="rect">
            <a:avLst/>
          </a:prstGeom>
          <a:noFill/>
          <a:ln/>
        </p:spPr>
        <p:txBody>
          <a:bodyPr wrap="square" lIns="0" tIns="0" rIns="0" bIns="0" rtlCol="0" anchor="ctr"/>
          <a:lstStyle/>
          <a:p>
            <a:pPr algn="ctr" indent="0" marL="0">
              <a:buNone/>
            </a:pPr>
            <a:r>
              <a:rPr lang="en-US" sz="860" dirty="0">
                <a:solidFill>
                  <a:srgbClr val="F0F4FA"/>
                </a:solidFill>
                <a:latin typeface="Calibri" pitchFamily="34" charset="0"/>
                <a:ea typeface="Calibri" pitchFamily="34" charset="-122"/>
                <a:cs typeface="Calibri" pitchFamily="34" charset="-120"/>
              </a:rPr>
              <a:t>180 Gd pairs → gap, h, moments, geometry</a:t>
            </a:r>
            <a:endParaRPr lang="en-US" sz="860" dirty="0"/>
          </a:p>
          <a:p>
            <a:pPr algn="ctr" indent="0" marL="0">
              <a:buNone/>
            </a:pPr>
            <a:r>
              <a:rPr lang="en-US" sz="860" dirty="0">
                <a:solidFill>
                  <a:srgbClr val="F0F4FA"/>
                </a:solidFill>
                <a:latin typeface="Calibri" pitchFamily="34" charset="0"/>
                <a:ea typeface="Calibri" pitchFamily="34" charset="-122"/>
                <a:cs typeface="Calibri" pitchFamily="34" charset="-120"/>
              </a:rPr>
              <a:t>+ 20 light-RE runs</a:t>
            </a:r>
            <a:endParaRPr lang="en-US" sz="860" dirty="0"/>
          </a:p>
          <a:p>
            <a:pPr algn="ctr" indent="0" marL="0">
              <a:buNone/>
            </a:pPr>
            <a:r>
              <a:rPr lang="en-US" sz="860" dirty="0">
                <a:solidFill>
                  <a:srgbClr val="F0F4FA"/>
                </a:solidFill>
                <a:latin typeface="Calibri" pitchFamily="34" charset="0"/>
                <a:ea typeface="Calibri" pitchFamily="34" charset="-122"/>
                <a:cs typeface="Calibri" pitchFamily="34" charset="-120"/>
              </a:rPr>
              <a:t>+ MACE hull for every cell</a:t>
            </a:r>
            <a:endParaRPr lang="en-US" sz="860" dirty="0"/>
          </a:p>
        </p:txBody>
      </p:sp>
      <p:sp>
        <p:nvSpPr>
          <p:cNvPr id="7" name="Text 5"/>
          <p:cNvSpPr txBox="1"/>
          <p:nvPr/>
        </p:nvSpPr>
        <p:spPr>
          <a:xfrm>
            <a:off x="2651760" y="2286000"/>
            <a:ext cx="274320" cy="365760"/>
          </a:xfrm>
          <a:prstGeom prst="rect">
            <a:avLst/>
          </a:prstGeom>
          <a:noFill/>
          <a:ln/>
        </p:spPr>
        <p:txBody>
          <a:bodyPr wrap="square" lIns="0" tIns="0" rIns="0" bIns="0" rtlCol="0" anchor="ctr"/>
          <a:lstStyle/>
          <a:p>
            <a:pPr algn="ctr" indent="0" marL="0">
              <a:buNone/>
            </a:pPr>
            <a:r>
              <a:rPr lang="en-US" sz="1800" b="1" dirty="0">
                <a:solidFill>
                  <a:srgbClr val="8FA3C0"/>
                </a:solidFill>
                <a:latin typeface="Arial" pitchFamily="34" charset="0"/>
                <a:ea typeface="Arial" pitchFamily="34" charset="-122"/>
                <a:cs typeface="Arial" pitchFamily="34" charset="-120"/>
              </a:rPr>
              <a:t>→</a:t>
            </a:r>
            <a:endParaRPr lang="en-US" sz="1800" dirty="0"/>
          </a:p>
        </p:txBody>
      </p:sp>
      <p:sp>
        <p:nvSpPr>
          <p:cNvPr id="8" name="Shape 6"/>
          <p:cNvSpPr/>
          <p:nvPr/>
        </p:nvSpPr>
        <p:spPr>
          <a:xfrm>
            <a:off x="2907792" y="1600200"/>
            <a:ext cx="2029968" cy="1783080"/>
          </a:xfrm>
          <a:prstGeom prst="roundRect">
            <a:avLst>
              <a:gd name="adj" fmla="val 4103"/>
            </a:avLst>
          </a:prstGeom>
          <a:solidFill>
            <a:srgbClr val="3E7FA6"/>
          </a:solidFill>
          <a:ln/>
        </p:spPr>
      </p:sp>
      <p:sp>
        <p:nvSpPr>
          <p:cNvPr id="9" name="Text 7"/>
          <p:cNvSpPr txBox="1"/>
          <p:nvPr/>
        </p:nvSpPr>
        <p:spPr>
          <a:xfrm>
            <a:off x="3017520" y="1700784"/>
            <a:ext cx="1810512"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Gaussian process</a:t>
            </a:r>
            <a:endParaRPr lang="en-US" sz="1250" dirty="0"/>
          </a:p>
        </p:txBody>
      </p:sp>
      <p:sp>
        <p:nvSpPr>
          <p:cNvPr id="10" name="Text 8"/>
          <p:cNvSpPr txBox="1"/>
          <p:nvPr/>
        </p:nvSpPr>
        <p:spPr>
          <a:xfrm>
            <a:off x="3017520" y="2066544"/>
            <a:ext cx="1810512" cy="1261872"/>
          </a:xfrm>
          <a:prstGeom prst="rect">
            <a:avLst/>
          </a:prstGeom>
          <a:noFill/>
          <a:ln/>
        </p:spPr>
        <p:txBody>
          <a:bodyPr wrap="square" lIns="0" tIns="0" rIns="0" bIns="0" rtlCol="0" anchor="ctr"/>
          <a:lstStyle/>
          <a:p>
            <a:pPr algn="ctr" indent="0" marL="0">
              <a:buNone/>
            </a:pPr>
            <a:r>
              <a:rPr lang="en-US" sz="860" dirty="0">
                <a:solidFill>
                  <a:srgbClr val="F0F4FA"/>
                </a:solidFill>
                <a:latin typeface="Calibri" pitchFamily="34" charset="0"/>
                <a:ea typeface="Calibri" pitchFamily="34" charset="-122"/>
                <a:cs typeface="Calibri" pitchFamily="34" charset="-120"/>
              </a:rPr>
              <a:t>on physics descriptors (h, Fe density,</a:t>
            </a:r>
            <a:endParaRPr lang="en-US" sz="860" dirty="0"/>
          </a:p>
          <a:p>
            <a:pPr algn="ctr" indent="0" marL="0">
              <a:buNone/>
            </a:pPr>
            <a:r>
              <a:rPr lang="en-US" sz="860" dirty="0">
                <a:solidFill>
                  <a:srgbClr val="F0F4FA"/>
                </a:solidFill>
                <a:latin typeface="Calibri" pitchFamily="34" charset="0"/>
                <a:ea typeface="Calibri" pitchFamily="34" charset="-122"/>
                <a:cs typeface="Calibri" pitchFamily="34" charset="-120"/>
              </a:rPr>
              <a:t>d_RE-TM, Z_RT, Co fraction, interstitial)</a:t>
            </a:r>
            <a:endParaRPr lang="en-US" sz="860" dirty="0"/>
          </a:p>
          <a:p>
            <a:pPr algn="ctr" indent="0" marL="0">
              <a:buNone/>
            </a:pPr>
            <a:r>
              <a:rPr lang="en-US" sz="860" dirty="0">
                <a:solidFill>
                  <a:srgbClr val="F0F4FA"/>
                </a:solidFill>
                <a:latin typeface="Calibri" pitchFamily="34" charset="0"/>
                <a:ea typeface="Calibri" pitchFamily="34" charset="-122"/>
                <a:cs typeface="Calibri" pitchFamily="34" charset="-120"/>
              </a:rPr>
              <a:t>→ gap, Ms, E_hull with uncertainty</a:t>
            </a:r>
            <a:endParaRPr lang="en-US" sz="860" dirty="0"/>
          </a:p>
        </p:txBody>
      </p:sp>
      <p:sp>
        <p:nvSpPr>
          <p:cNvPr id="11" name="Text 9"/>
          <p:cNvSpPr txBox="1"/>
          <p:nvPr/>
        </p:nvSpPr>
        <p:spPr>
          <a:xfrm>
            <a:off x="4919472" y="2286000"/>
            <a:ext cx="274320" cy="365760"/>
          </a:xfrm>
          <a:prstGeom prst="rect">
            <a:avLst/>
          </a:prstGeom>
          <a:noFill/>
          <a:ln/>
        </p:spPr>
        <p:txBody>
          <a:bodyPr wrap="square" lIns="0" tIns="0" rIns="0" bIns="0" rtlCol="0" anchor="ctr"/>
          <a:lstStyle/>
          <a:p>
            <a:pPr algn="ctr" indent="0" marL="0">
              <a:buNone/>
            </a:pPr>
            <a:r>
              <a:rPr lang="en-US" sz="1800" b="1" dirty="0">
                <a:solidFill>
                  <a:srgbClr val="8FA3C0"/>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5175504" y="1600200"/>
            <a:ext cx="2029968" cy="1783080"/>
          </a:xfrm>
          <a:prstGeom prst="roundRect">
            <a:avLst>
              <a:gd name="adj" fmla="val 4103"/>
            </a:avLst>
          </a:prstGeom>
          <a:solidFill>
            <a:srgbClr val="F2B134"/>
          </a:solidFill>
          <a:ln/>
        </p:spPr>
      </p:sp>
      <p:sp>
        <p:nvSpPr>
          <p:cNvPr id="13" name="Text 11"/>
          <p:cNvSpPr txBox="1"/>
          <p:nvPr/>
        </p:nvSpPr>
        <p:spPr>
          <a:xfrm>
            <a:off x="5285232" y="1700784"/>
            <a:ext cx="1810512"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Causal layer</a:t>
            </a:r>
            <a:endParaRPr lang="en-US" sz="1250" dirty="0"/>
          </a:p>
        </p:txBody>
      </p:sp>
      <p:sp>
        <p:nvSpPr>
          <p:cNvPr id="14" name="Text 12"/>
          <p:cNvSpPr txBox="1"/>
          <p:nvPr/>
        </p:nvSpPr>
        <p:spPr>
          <a:xfrm>
            <a:off x="5285232" y="2066544"/>
            <a:ext cx="1810512" cy="1261872"/>
          </a:xfrm>
          <a:prstGeom prst="rect">
            <a:avLst/>
          </a:prstGeom>
          <a:noFill/>
          <a:ln/>
        </p:spPr>
        <p:txBody>
          <a:bodyPr wrap="square" lIns="0" tIns="0" rIns="0" bIns="0" rtlCol="0" anchor="ctr"/>
          <a:lstStyle/>
          <a:p>
            <a:pPr algn="ctr" indent="0" marL="0">
              <a:buNone/>
            </a:pPr>
            <a:r>
              <a:rPr lang="en-US" sz="860" dirty="0">
                <a:solidFill>
                  <a:srgbClr val="F0F4FA"/>
                </a:solidFill>
                <a:latin typeface="Calibri" pitchFamily="34" charset="0"/>
                <a:ea typeface="Calibri" pitchFamily="34" charset="-122"/>
                <a:cs typeface="Calibri" pitchFamily="34" charset="-120"/>
              </a:rPr>
              <a:t>structural causal model</a:t>
            </a:r>
            <a:endParaRPr lang="en-US" sz="860" dirty="0"/>
          </a:p>
          <a:p>
            <a:pPr algn="ctr" indent="0" marL="0">
              <a:buNone/>
            </a:pPr>
            <a:r>
              <a:rPr lang="en-US" sz="860" dirty="0">
                <a:solidFill>
                  <a:srgbClr val="F0F4FA"/>
                </a:solidFill>
                <a:latin typeface="Calibri" pitchFamily="34" charset="0"/>
                <a:ea typeface="Calibri" pitchFamily="34" charset="-122"/>
                <a:cs typeface="Calibri" pitchFamily="34" charset="-120"/>
              </a:rPr>
              <a:t>host → S₅d → gap; interventions,</a:t>
            </a:r>
            <a:endParaRPr lang="en-US" sz="860" dirty="0"/>
          </a:p>
          <a:p>
            <a:pPr algn="ctr" indent="0" marL="0">
              <a:buNone/>
            </a:pPr>
            <a:r>
              <a:rPr lang="en-US" sz="860" dirty="0">
                <a:solidFill>
                  <a:srgbClr val="F0F4FA"/>
                </a:solidFill>
                <a:latin typeface="Calibri" pitchFamily="34" charset="0"/>
                <a:ea typeface="Calibri" pitchFamily="34" charset="-122"/>
                <a:cs typeface="Calibri" pitchFamily="34" charset="-120"/>
              </a:rPr>
              <a:t>not correlations, rank the levers</a:t>
            </a:r>
            <a:endParaRPr lang="en-US" sz="860" dirty="0"/>
          </a:p>
        </p:txBody>
      </p:sp>
      <p:sp>
        <p:nvSpPr>
          <p:cNvPr id="15" name="Text 13"/>
          <p:cNvSpPr txBox="1"/>
          <p:nvPr/>
        </p:nvSpPr>
        <p:spPr>
          <a:xfrm>
            <a:off x="7187184" y="2286000"/>
            <a:ext cx="274320" cy="365760"/>
          </a:xfrm>
          <a:prstGeom prst="rect">
            <a:avLst/>
          </a:prstGeom>
          <a:noFill/>
          <a:ln/>
        </p:spPr>
        <p:txBody>
          <a:bodyPr wrap="square" lIns="0" tIns="0" rIns="0" bIns="0" rtlCol="0" anchor="ctr"/>
          <a:lstStyle/>
          <a:p>
            <a:pPr algn="ctr" indent="0" marL="0">
              <a:buNone/>
            </a:pPr>
            <a:r>
              <a:rPr lang="en-US" sz="1800" b="1" dirty="0">
                <a:solidFill>
                  <a:srgbClr val="8FA3C0"/>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7443216" y="1600200"/>
            <a:ext cx="2029968" cy="1783080"/>
          </a:xfrm>
          <a:prstGeom prst="roundRect">
            <a:avLst>
              <a:gd name="adj" fmla="val 4103"/>
            </a:avLst>
          </a:prstGeom>
          <a:solidFill>
            <a:srgbClr val="E4572E"/>
          </a:solidFill>
          <a:ln/>
        </p:spPr>
      </p:sp>
      <p:sp>
        <p:nvSpPr>
          <p:cNvPr id="17" name="Text 15"/>
          <p:cNvSpPr txBox="1"/>
          <p:nvPr/>
        </p:nvSpPr>
        <p:spPr>
          <a:xfrm>
            <a:off x="7552944" y="1700784"/>
            <a:ext cx="1810512"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Generative proposal</a:t>
            </a:r>
            <a:endParaRPr lang="en-US" sz="1250" dirty="0"/>
          </a:p>
        </p:txBody>
      </p:sp>
      <p:sp>
        <p:nvSpPr>
          <p:cNvPr id="18" name="Text 16"/>
          <p:cNvSpPr txBox="1"/>
          <p:nvPr/>
        </p:nvSpPr>
        <p:spPr>
          <a:xfrm>
            <a:off x="7552944" y="2066544"/>
            <a:ext cx="1810512" cy="1261872"/>
          </a:xfrm>
          <a:prstGeom prst="rect">
            <a:avLst/>
          </a:prstGeom>
          <a:noFill/>
          <a:ln/>
        </p:spPr>
        <p:txBody>
          <a:bodyPr wrap="square" lIns="0" tIns="0" rIns="0" bIns="0" rtlCol="0" anchor="ctr"/>
          <a:lstStyle/>
          <a:p>
            <a:pPr algn="ctr" indent="0" marL="0">
              <a:buNone/>
            </a:pPr>
            <a:r>
              <a:rPr lang="en-US" sz="860" dirty="0">
                <a:solidFill>
                  <a:srgbClr val="F0F4FA"/>
                </a:solidFill>
                <a:latin typeface="Calibri" pitchFamily="34" charset="0"/>
                <a:ea typeface="Calibri" pitchFamily="34" charset="-122"/>
                <a:cs typeface="Calibri" pitchFamily="34" charset="-120"/>
              </a:rPr>
              <a:t>now: rule-based generators</a:t>
            </a:r>
            <a:endParaRPr lang="en-US" sz="860" dirty="0"/>
          </a:p>
          <a:p>
            <a:pPr algn="ctr" indent="0" marL="0">
              <a:buNone/>
            </a:pPr>
            <a:r>
              <a:rPr lang="en-US" sz="860" dirty="0">
                <a:solidFill>
                  <a:srgbClr val="F0F4FA"/>
                </a:solidFill>
                <a:latin typeface="Calibri" pitchFamily="34" charset="0"/>
                <a:ea typeface="Calibri" pitchFamily="34" charset="-122"/>
                <a:cs typeface="Calibri" pitchFamily="34" charset="-120"/>
              </a:rPr>
              <a:t>next: diffusion conditioned on the</a:t>
            </a:r>
            <a:endParaRPr lang="en-US" sz="860" dirty="0"/>
          </a:p>
          <a:p>
            <a:pPr algn="ctr" indent="0" marL="0">
              <a:buNone/>
            </a:pPr>
            <a:r>
              <a:rPr lang="en-US" sz="860" dirty="0">
                <a:solidFill>
                  <a:srgbClr val="F0F4FA"/>
                </a:solidFill>
                <a:latin typeface="Calibri" pitchFamily="34" charset="0"/>
                <a:ea typeface="Calibri" pitchFamily="34" charset="-122"/>
                <a:cs typeface="Calibri" pitchFamily="34" charset="-120"/>
              </a:rPr>
              <a:t>causal parents; MACE hull first</a:t>
            </a:r>
            <a:endParaRPr lang="en-US" sz="860" dirty="0"/>
          </a:p>
        </p:txBody>
      </p:sp>
      <p:sp>
        <p:nvSpPr>
          <p:cNvPr id="19" name="Text 17"/>
          <p:cNvSpPr txBox="1"/>
          <p:nvPr/>
        </p:nvSpPr>
        <p:spPr>
          <a:xfrm>
            <a:off x="9454896" y="2286000"/>
            <a:ext cx="274320" cy="365760"/>
          </a:xfrm>
          <a:prstGeom prst="rect">
            <a:avLst/>
          </a:prstGeom>
          <a:noFill/>
          <a:ln/>
        </p:spPr>
        <p:txBody>
          <a:bodyPr wrap="square" lIns="0" tIns="0" rIns="0" bIns="0" rtlCol="0" anchor="ctr"/>
          <a:lstStyle/>
          <a:p>
            <a:pPr algn="ctr" indent="0" marL="0">
              <a:buNone/>
            </a:pPr>
            <a:r>
              <a:rPr lang="en-US" sz="1800" b="1" dirty="0">
                <a:solidFill>
                  <a:srgbClr val="8FA3C0"/>
                </a:solidFill>
                <a:latin typeface="Arial" pitchFamily="34" charset="0"/>
                <a:ea typeface="Arial" pitchFamily="34" charset="-122"/>
                <a:cs typeface="Arial" pitchFamily="34" charset="-120"/>
              </a:rPr>
              <a:t>→</a:t>
            </a:r>
            <a:endParaRPr lang="en-US" sz="1800" dirty="0"/>
          </a:p>
        </p:txBody>
      </p:sp>
      <p:sp>
        <p:nvSpPr>
          <p:cNvPr id="20" name="Shape 18"/>
          <p:cNvSpPr/>
          <p:nvPr/>
        </p:nvSpPr>
        <p:spPr>
          <a:xfrm>
            <a:off x="9710928" y="1600200"/>
            <a:ext cx="2029968" cy="1783080"/>
          </a:xfrm>
          <a:prstGeom prst="roundRect">
            <a:avLst>
              <a:gd name="adj" fmla="val 4103"/>
            </a:avLst>
          </a:prstGeom>
          <a:solidFill>
            <a:srgbClr val="C6472A"/>
          </a:solidFill>
          <a:ln/>
        </p:spPr>
      </p:sp>
      <p:sp>
        <p:nvSpPr>
          <p:cNvPr id="21" name="Text 19"/>
          <p:cNvSpPr txBox="1"/>
          <p:nvPr/>
        </p:nvSpPr>
        <p:spPr>
          <a:xfrm>
            <a:off x="9820656" y="1700784"/>
            <a:ext cx="1810512"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One run per cell</a:t>
            </a:r>
            <a:endParaRPr lang="en-US" sz="1250" dirty="0"/>
          </a:p>
        </p:txBody>
      </p:sp>
      <p:sp>
        <p:nvSpPr>
          <p:cNvPr id="22" name="Text 20"/>
          <p:cNvSpPr txBox="1"/>
          <p:nvPr/>
        </p:nvSpPr>
        <p:spPr>
          <a:xfrm>
            <a:off x="9820656" y="2066544"/>
            <a:ext cx="1810512" cy="1261872"/>
          </a:xfrm>
          <a:prstGeom prst="rect">
            <a:avLst/>
          </a:prstGeom>
          <a:noFill/>
          <a:ln/>
        </p:spPr>
        <p:txBody>
          <a:bodyPr wrap="square" lIns="0" tIns="0" rIns="0" bIns="0" rtlCol="0" anchor="ctr"/>
          <a:lstStyle/>
          <a:p>
            <a:pPr algn="ctr" indent="0" marL="0">
              <a:buNone/>
            </a:pPr>
            <a:r>
              <a:rPr lang="en-US" sz="860" dirty="0">
                <a:solidFill>
                  <a:srgbClr val="F0F4FA"/>
                </a:solidFill>
                <a:latin typeface="Calibri" pitchFamily="34" charset="0"/>
                <a:ea typeface="Calibri" pitchFamily="34" charset="-122"/>
                <a:cs typeface="Calibri" pitchFamily="34" charset="-120"/>
              </a:rPr>
              <a:t>f-in-core relaxation gives</a:t>
            </a:r>
            <a:endParaRPr lang="en-US" sz="860" dirty="0"/>
          </a:p>
          <a:p>
            <a:pPr algn="ctr" indent="0" marL="0">
              <a:buNone/>
            </a:pPr>
            <a:r>
              <a:rPr lang="en-US" sz="860" dirty="0">
                <a:solidFill>
                  <a:srgbClr val="F0F4FA"/>
                </a:solidFill>
                <a:latin typeface="Calibri" pitchFamily="34" charset="0"/>
                <a:ea typeface="Calibri" pitchFamily="34" charset="-122"/>
                <a:cs typeface="Calibri" pitchFamily="34" charset="-120"/>
              </a:rPr>
              <a:t>Ms, h → gap, T*; results</a:t>
            </a:r>
            <a:endParaRPr lang="en-US" sz="860" dirty="0"/>
          </a:p>
          <a:p>
            <a:pPr algn="ctr" indent="0" marL="0">
              <a:buNone/>
            </a:pPr>
            <a:r>
              <a:rPr lang="en-US" sz="860" dirty="0">
                <a:solidFill>
                  <a:srgbClr val="F0F4FA"/>
                </a:solidFill>
                <a:latin typeface="Calibri" pitchFamily="34" charset="0"/>
                <a:ea typeface="Calibri" pitchFamily="34" charset="-122"/>
                <a:cs typeface="Calibri" pitchFamily="34" charset="-120"/>
              </a:rPr>
              <a:t>re-train every layer</a:t>
            </a:r>
            <a:endParaRPr lang="en-US" sz="860" dirty="0"/>
          </a:p>
        </p:txBody>
      </p:sp>
      <p:sp>
        <p:nvSpPr>
          <p:cNvPr id="23" name="Shape 21"/>
          <p:cNvSpPr/>
          <p:nvPr/>
        </p:nvSpPr>
        <p:spPr>
          <a:xfrm>
            <a:off x="10725912" y="3383280"/>
            <a:ext cx="0" cy="457200"/>
          </a:xfrm>
          <a:prstGeom prst="line">
            <a:avLst/>
          </a:prstGeom>
          <a:noFill/>
          <a:ln w="19050">
            <a:solidFill>
              <a:srgbClr val="8FA3C0"/>
            </a:solidFill>
            <a:prstDash val="solid"/>
          </a:ln>
        </p:spPr>
      </p:sp>
      <p:sp>
        <p:nvSpPr>
          <p:cNvPr id="24" name="Shape 22"/>
          <p:cNvSpPr/>
          <p:nvPr/>
        </p:nvSpPr>
        <p:spPr>
          <a:xfrm>
            <a:off x="1655064" y="3840480"/>
            <a:ext cx="9070848" cy="0"/>
          </a:xfrm>
          <a:prstGeom prst="line">
            <a:avLst/>
          </a:prstGeom>
          <a:noFill/>
          <a:ln w="19050">
            <a:solidFill>
              <a:srgbClr val="8FA3C0"/>
            </a:solidFill>
            <a:prstDash val="solid"/>
          </a:ln>
        </p:spPr>
      </p:sp>
      <p:sp>
        <p:nvSpPr>
          <p:cNvPr id="25" name="Shape 23"/>
          <p:cNvSpPr/>
          <p:nvPr/>
        </p:nvSpPr>
        <p:spPr>
          <a:xfrm>
            <a:off x="1655064" y="3383280"/>
            <a:ext cx="0" cy="457200"/>
          </a:xfrm>
          <a:prstGeom prst="line">
            <a:avLst/>
          </a:prstGeom>
          <a:noFill/>
          <a:ln w="19050">
            <a:solidFill>
              <a:srgbClr val="8FA3C0"/>
            </a:solidFill>
            <a:prstDash val="solid"/>
            <a:headEnd type="triangle"/>
          </a:ln>
        </p:spPr>
      </p:sp>
      <p:sp>
        <p:nvSpPr>
          <p:cNvPr id="26" name="Text 24"/>
          <p:cNvSpPr txBox="1"/>
          <p:nvPr/>
        </p:nvSpPr>
        <p:spPr>
          <a:xfrm>
            <a:off x="2468880" y="3877056"/>
            <a:ext cx="7315200" cy="274320"/>
          </a:xfrm>
          <a:prstGeom prst="rect">
            <a:avLst/>
          </a:prstGeom>
          <a:noFill/>
          <a:ln/>
        </p:spPr>
        <p:txBody>
          <a:bodyPr wrap="square" lIns="0" tIns="0" rIns="0" bIns="0" rtlCol="0" anchor="ctr"/>
          <a:lstStyle/>
          <a:p>
            <a:pPr algn="ctr" indent="0" marL="0">
              <a:buNone/>
            </a:pPr>
            <a:r>
              <a:rPr lang="en-US" sz="1000" i="1" dirty="0">
                <a:solidFill>
                  <a:srgbClr val="8FA3C0"/>
                </a:solidFill>
                <a:latin typeface="Calibri" pitchFamily="34" charset="0"/>
                <a:ea typeface="Calibri" pitchFamily="34" charset="-122"/>
                <a:cs typeface="Calibri" pitchFamily="34" charset="-120"/>
              </a:rPr>
              <a:t>every batch is a designed experiment: it must move the GP posterior or test a causal edge, not just add points</a:t>
            </a:r>
            <a:endParaRPr lang="en-US" sz="1000" dirty="0"/>
          </a:p>
        </p:txBody>
      </p:sp>
      <p:sp>
        <p:nvSpPr>
          <p:cNvPr id="27" name="Shape 25"/>
          <p:cNvSpPr/>
          <p:nvPr/>
        </p:nvSpPr>
        <p:spPr>
          <a:xfrm>
            <a:off x="640080" y="4297680"/>
            <a:ext cx="5577840" cy="1920240"/>
          </a:xfrm>
          <a:prstGeom prst="roundRect">
            <a:avLst>
              <a:gd name="adj" fmla="val 2857"/>
            </a:avLst>
          </a:prstGeom>
          <a:solidFill>
            <a:srgbClr val="1B2A4A"/>
          </a:solidFill>
          <a:ln/>
        </p:spPr>
      </p:sp>
      <p:sp>
        <p:nvSpPr>
          <p:cNvPr id="28" name="Text 26"/>
          <p:cNvSpPr txBox="1"/>
          <p:nvPr/>
        </p:nvSpPr>
        <p:spPr>
          <a:xfrm>
            <a:off x="822960" y="4389120"/>
            <a:ext cx="5212080" cy="256032"/>
          </a:xfrm>
          <a:prstGeom prst="rect">
            <a:avLst/>
          </a:prstGeom>
          <a:noFill/>
          <a:ln/>
        </p:spPr>
        <p:txBody>
          <a:bodyPr wrap="square" lIns="0" tIns="0" rIns="0" bIns="0" rtlCol="0" anchor="ctr"/>
          <a:lstStyle/>
          <a:p>
            <a:pPr indent="0" marL="0">
              <a:buNone/>
            </a:pPr>
            <a:r>
              <a:rPr lang="en-US" sz="1150" b="1" dirty="0">
                <a:solidFill>
                  <a:srgbClr val="F2B134"/>
                </a:solidFill>
                <a:latin typeface="Calibri" pitchFamily="34" charset="0"/>
                <a:ea typeface="Calibri" pitchFamily="34" charset="-122"/>
                <a:cs typeface="Calibri" pitchFamily="34" charset="-120"/>
              </a:rPr>
              <a:t>The causal model the data support</a:t>
            </a:r>
            <a:endParaRPr lang="en-US" sz="1150" dirty="0"/>
          </a:p>
        </p:txBody>
      </p:sp>
      <p:sp>
        <p:nvSpPr>
          <p:cNvPr id="29" name="Shape 27"/>
          <p:cNvSpPr/>
          <p:nvPr/>
        </p:nvSpPr>
        <p:spPr>
          <a:xfrm>
            <a:off x="868680" y="4800600"/>
            <a:ext cx="1417320" cy="530352"/>
          </a:xfrm>
          <a:prstGeom prst="roundRect">
            <a:avLst>
              <a:gd name="adj" fmla="val 13793"/>
            </a:avLst>
          </a:prstGeom>
          <a:solidFill>
            <a:srgbClr val="2E86AB"/>
          </a:solidFill>
          <a:ln/>
        </p:spPr>
      </p:sp>
      <p:sp>
        <p:nvSpPr>
          <p:cNvPr id="30" name="Text 28"/>
          <p:cNvSpPr txBox="1"/>
          <p:nvPr/>
        </p:nvSpPr>
        <p:spPr>
          <a:xfrm>
            <a:off x="868680" y="4800600"/>
            <a:ext cx="1417320" cy="53035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RE-TM distance</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coordination</a:t>
            </a:r>
            <a:endParaRPr lang="en-US" sz="800" dirty="0"/>
          </a:p>
        </p:txBody>
      </p:sp>
      <p:sp>
        <p:nvSpPr>
          <p:cNvPr id="31" name="Shape 29"/>
          <p:cNvSpPr/>
          <p:nvPr/>
        </p:nvSpPr>
        <p:spPr>
          <a:xfrm>
            <a:off x="868680" y="5440680"/>
            <a:ext cx="1417320" cy="530352"/>
          </a:xfrm>
          <a:prstGeom prst="roundRect">
            <a:avLst>
              <a:gd name="adj" fmla="val 13793"/>
            </a:avLst>
          </a:prstGeom>
          <a:solidFill>
            <a:srgbClr val="2E86AB"/>
          </a:solidFill>
          <a:ln/>
        </p:spPr>
      </p:sp>
      <p:sp>
        <p:nvSpPr>
          <p:cNvPr id="32" name="Text 30"/>
          <p:cNvSpPr txBox="1"/>
          <p:nvPr/>
        </p:nvSpPr>
        <p:spPr>
          <a:xfrm>
            <a:off x="868680" y="5440680"/>
            <a:ext cx="1417320" cy="53035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Fe / Co mix</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interstitial site</a:t>
            </a:r>
            <a:endParaRPr lang="en-US" sz="800" dirty="0"/>
          </a:p>
        </p:txBody>
      </p:sp>
      <p:sp>
        <p:nvSpPr>
          <p:cNvPr id="33" name="Shape 31"/>
          <p:cNvSpPr/>
          <p:nvPr/>
        </p:nvSpPr>
        <p:spPr>
          <a:xfrm>
            <a:off x="2788920" y="5120640"/>
            <a:ext cx="1417320" cy="530352"/>
          </a:xfrm>
          <a:prstGeom prst="roundRect">
            <a:avLst>
              <a:gd name="adj" fmla="val 13793"/>
            </a:avLst>
          </a:prstGeom>
          <a:solidFill>
            <a:srgbClr val="F2B134"/>
          </a:solidFill>
          <a:ln/>
        </p:spPr>
      </p:sp>
      <p:sp>
        <p:nvSpPr>
          <p:cNvPr id="34" name="Text 32"/>
          <p:cNvSpPr txBox="1"/>
          <p:nvPr/>
        </p:nvSpPr>
        <p:spPr>
          <a:xfrm>
            <a:off x="2788920" y="5120640"/>
            <a:ext cx="1417320" cy="53035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S₅d on the RE</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(h)</a:t>
            </a:r>
            <a:endParaRPr lang="en-US" sz="800" dirty="0"/>
          </a:p>
        </p:txBody>
      </p:sp>
      <p:sp>
        <p:nvSpPr>
          <p:cNvPr id="35" name="Shape 33"/>
          <p:cNvSpPr/>
          <p:nvPr/>
        </p:nvSpPr>
        <p:spPr>
          <a:xfrm>
            <a:off x="4572000" y="4800600"/>
            <a:ext cx="1417320" cy="530352"/>
          </a:xfrm>
          <a:prstGeom prst="roundRect">
            <a:avLst>
              <a:gd name="adj" fmla="val 13793"/>
            </a:avLst>
          </a:prstGeom>
          <a:solidFill>
            <a:srgbClr val="E4572E"/>
          </a:solidFill>
          <a:ln/>
        </p:spPr>
      </p:sp>
      <p:sp>
        <p:nvSpPr>
          <p:cNvPr id="36" name="Text 34"/>
          <p:cNvSpPr txBox="1"/>
          <p:nvPr/>
        </p:nvSpPr>
        <p:spPr>
          <a:xfrm>
            <a:off x="4572000" y="4800600"/>
            <a:ext cx="1417320" cy="53035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RE-TM gap</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T*, anisotropy lock</a:t>
            </a:r>
            <a:endParaRPr lang="en-US" sz="800" dirty="0"/>
          </a:p>
        </p:txBody>
      </p:sp>
      <p:sp>
        <p:nvSpPr>
          <p:cNvPr id="37" name="Shape 35"/>
          <p:cNvSpPr/>
          <p:nvPr/>
        </p:nvSpPr>
        <p:spPr>
          <a:xfrm>
            <a:off x="4572000" y="5440680"/>
            <a:ext cx="1417320" cy="530352"/>
          </a:xfrm>
          <a:prstGeom prst="roundRect">
            <a:avLst>
              <a:gd name="adj" fmla="val 13793"/>
            </a:avLst>
          </a:prstGeom>
          <a:solidFill>
            <a:srgbClr val="E4572E"/>
          </a:solidFill>
          <a:ln/>
        </p:spPr>
      </p:sp>
      <p:sp>
        <p:nvSpPr>
          <p:cNvPr id="38" name="Text 36"/>
          <p:cNvSpPr txBox="1"/>
          <p:nvPr/>
        </p:nvSpPr>
        <p:spPr>
          <a:xfrm>
            <a:off x="4572000" y="5440680"/>
            <a:ext cx="1417320" cy="53035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Ms</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(Fe density + RE)</a:t>
            </a:r>
            <a:endParaRPr lang="en-US" sz="800" dirty="0"/>
          </a:p>
        </p:txBody>
      </p:sp>
      <p:sp>
        <p:nvSpPr>
          <p:cNvPr id="39" name="Shape 37"/>
          <p:cNvSpPr/>
          <p:nvPr/>
        </p:nvSpPr>
        <p:spPr>
          <a:xfrm>
            <a:off x="2286000" y="5065776"/>
            <a:ext cx="502920" cy="219456"/>
          </a:xfrm>
          <a:prstGeom prst="line">
            <a:avLst/>
          </a:prstGeom>
          <a:noFill/>
          <a:ln w="17780">
            <a:solidFill>
              <a:srgbClr val="C6D2E4"/>
            </a:solidFill>
            <a:prstDash val="solid"/>
            <a:tailEnd type="triangle"/>
          </a:ln>
        </p:spPr>
      </p:sp>
      <p:sp>
        <p:nvSpPr>
          <p:cNvPr id="40" name="Shape 38"/>
          <p:cNvSpPr/>
          <p:nvPr/>
        </p:nvSpPr>
        <p:spPr>
          <a:xfrm>
            <a:off x="2286000" y="5705856"/>
            <a:ext cx="502920" cy="-219456"/>
          </a:xfrm>
          <a:prstGeom prst="line">
            <a:avLst/>
          </a:prstGeom>
          <a:noFill/>
          <a:ln w="17780">
            <a:solidFill>
              <a:srgbClr val="C6D2E4"/>
            </a:solidFill>
            <a:prstDash val="solid"/>
            <a:tailEnd type="triangle"/>
          </a:ln>
        </p:spPr>
      </p:sp>
      <p:sp>
        <p:nvSpPr>
          <p:cNvPr id="41" name="Shape 39"/>
          <p:cNvSpPr/>
          <p:nvPr/>
        </p:nvSpPr>
        <p:spPr>
          <a:xfrm>
            <a:off x="4206240" y="5285232"/>
            <a:ext cx="365760" cy="-201168"/>
          </a:xfrm>
          <a:prstGeom prst="line">
            <a:avLst/>
          </a:prstGeom>
          <a:noFill/>
          <a:ln w="17780">
            <a:solidFill>
              <a:srgbClr val="C6D2E4"/>
            </a:solidFill>
            <a:prstDash val="solid"/>
            <a:tailEnd type="triangle"/>
          </a:ln>
        </p:spPr>
      </p:sp>
      <p:sp>
        <p:nvSpPr>
          <p:cNvPr id="42" name="Shape 40"/>
          <p:cNvSpPr/>
          <p:nvPr/>
        </p:nvSpPr>
        <p:spPr>
          <a:xfrm>
            <a:off x="2286000" y="5760720"/>
            <a:ext cx="2286000" cy="0"/>
          </a:xfrm>
          <a:prstGeom prst="line">
            <a:avLst/>
          </a:prstGeom>
          <a:noFill/>
          <a:ln w="17780">
            <a:solidFill>
              <a:srgbClr val="C6D2E4"/>
            </a:solidFill>
            <a:prstDash val="dash"/>
            <a:tailEnd type="triangle"/>
          </a:ln>
        </p:spPr>
      </p:sp>
      <p:sp>
        <p:nvSpPr>
          <p:cNvPr id="43" name="Text 41"/>
          <p:cNvSpPr txBox="1"/>
          <p:nvPr/>
        </p:nvSpPr>
        <p:spPr>
          <a:xfrm>
            <a:off x="822960" y="6035040"/>
            <a:ext cx="5212080" cy="182880"/>
          </a:xfrm>
          <a:prstGeom prst="rect">
            <a:avLst/>
          </a:prstGeom>
          <a:noFill/>
          <a:ln/>
        </p:spPr>
        <p:txBody>
          <a:bodyPr wrap="square" lIns="0" tIns="0" rIns="0" bIns="0" rtlCol="0" anchor="ctr"/>
          <a:lstStyle/>
          <a:p>
            <a:pPr indent="0" marL="0">
              <a:buNone/>
            </a:pPr>
            <a:r>
              <a:rPr lang="en-US" sz="760" i="1" dirty="0">
                <a:solidFill>
                  <a:srgbClr val="AEBBD0"/>
                </a:solidFill>
                <a:latin typeface="Calibri" pitchFamily="34" charset="0"/>
                <a:ea typeface="Calibri" pitchFamily="34" charset="-122"/>
                <a:cs typeface="Calibri" pitchFamily="34" charset="-120"/>
              </a:rPr>
              <a:t>mediator: every host lever acts through S₅d (r = 0.89); Ms is set separately by Fe density and the RE. Interventions on the left are what a generative model may propose; the dashed edge is the Co trade-off.</a:t>
            </a:r>
            <a:endParaRPr lang="en-US" sz="760" dirty="0"/>
          </a:p>
        </p:txBody>
      </p:sp>
      <p:sp>
        <p:nvSpPr>
          <p:cNvPr id="44" name="Shape 42"/>
          <p:cNvSpPr/>
          <p:nvPr/>
        </p:nvSpPr>
        <p:spPr>
          <a:xfrm>
            <a:off x="6400800" y="4297680"/>
            <a:ext cx="2011680" cy="1920240"/>
          </a:xfrm>
          <a:prstGeom prst="roundRect">
            <a:avLst>
              <a:gd name="adj" fmla="val 2857"/>
            </a:avLst>
          </a:prstGeom>
          <a:solidFill>
            <a:srgbClr val="1B2A4A"/>
          </a:solidFill>
          <a:ln/>
        </p:spPr>
      </p:sp>
      <p:sp>
        <p:nvSpPr>
          <p:cNvPr id="45" name="Text 43"/>
          <p:cNvSpPr txBox="1"/>
          <p:nvPr/>
        </p:nvSpPr>
        <p:spPr>
          <a:xfrm>
            <a:off x="6537960" y="4370832"/>
            <a:ext cx="1737360" cy="274320"/>
          </a:xfrm>
          <a:prstGeom prst="rect">
            <a:avLst/>
          </a:prstGeom>
          <a:noFill/>
          <a:ln/>
        </p:spPr>
        <p:txBody>
          <a:bodyPr wrap="square" lIns="0" tIns="0" rIns="0" bIns="0" rtlCol="0" anchor="ctr"/>
          <a:lstStyle/>
          <a:p>
            <a:pPr indent="0" marL="0">
              <a:buNone/>
            </a:pPr>
            <a:r>
              <a:rPr lang="en-US" sz="1100" b="1" dirty="0">
                <a:solidFill>
                  <a:srgbClr val="F2B134"/>
                </a:solidFill>
                <a:latin typeface="Calibri" pitchFamily="34" charset="0"/>
                <a:ea typeface="Calibri" pitchFamily="34" charset="-122"/>
                <a:cs typeface="Calibri" pitchFamily="34" charset="-120"/>
              </a:rPr>
              <a:t>Gaussian process (running)</a:t>
            </a:r>
            <a:endParaRPr lang="en-US" sz="1100" dirty="0"/>
          </a:p>
        </p:txBody>
      </p:sp>
      <p:sp>
        <p:nvSpPr>
          <p:cNvPr id="46" name="Text 44"/>
          <p:cNvSpPr txBox="1"/>
          <p:nvPr/>
        </p:nvSpPr>
        <p:spPr>
          <a:xfrm>
            <a:off x="6537960" y="4645152"/>
            <a:ext cx="1737360" cy="1536192"/>
          </a:xfrm>
          <a:prstGeom prst="rect">
            <a:avLst/>
          </a:prstGeom>
          <a:noFill/>
          <a:ln/>
        </p:spPr>
        <p:txBody>
          <a:bodyPr wrap="square" lIns="0" tIns="0" rIns="0" bIns="0" rtlCol="0" anchor="ctr"/>
          <a:lstStyle/>
          <a:p>
            <a:pPr indent="0" marL="0">
              <a:buNone/>
            </a:pPr>
            <a:r>
              <a:rPr lang="en-US" sz="860" dirty="0">
                <a:solidFill>
                  <a:srgbClr val="C6D2E4"/>
                </a:solidFill>
                <a:latin typeface="Calibri" pitchFamily="34" charset="0"/>
                <a:ea typeface="Calibri" pitchFamily="34" charset="-122"/>
                <a:cs typeface="Calibri" pitchFamily="34" charset="-120"/>
              </a:rPr>
              <a:t>Mean = physics rules, Matern residual on h, Thompson batches sized to one packed job. Each label is one f-in-core run; a round is 120 labels per ~48 h.</a:t>
            </a:r>
            <a:endParaRPr lang="en-US" sz="860" dirty="0"/>
          </a:p>
        </p:txBody>
      </p:sp>
      <p:sp>
        <p:nvSpPr>
          <p:cNvPr id="47" name="Shape 45"/>
          <p:cNvSpPr/>
          <p:nvPr/>
        </p:nvSpPr>
        <p:spPr>
          <a:xfrm>
            <a:off x="8595360" y="4297680"/>
            <a:ext cx="3154680" cy="1920240"/>
          </a:xfrm>
          <a:prstGeom prst="roundRect">
            <a:avLst>
              <a:gd name="adj" fmla="val 2857"/>
            </a:avLst>
          </a:prstGeom>
          <a:solidFill>
            <a:srgbClr val="2A3F66"/>
          </a:solidFill>
          <a:ln/>
        </p:spPr>
      </p:sp>
      <p:sp>
        <p:nvSpPr>
          <p:cNvPr id="48" name="Text 46"/>
          <p:cNvSpPr txBox="1"/>
          <p:nvPr/>
        </p:nvSpPr>
        <p:spPr>
          <a:xfrm>
            <a:off x="8732520" y="4370832"/>
            <a:ext cx="2880360" cy="274320"/>
          </a:xfrm>
          <a:prstGeom prst="rect">
            <a:avLst/>
          </a:prstGeom>
          <a:noFill/>
          <a:ln/>
        </p:spPr>
        <p:txBody>
          <a:bodyPr wrap="square" lIns="0" tIns="0" rIns="0" bIns="0" rtlCol="0" anchor="ctr"/>
          <a:lstStyle/>
          <a:p>
            <a:pPr indent="0" marL="0">
              <a:buNone/>
            </a:pPr>
            <a:r>
              <a:rPr lang="en-US" sz="1100" b="1" dirty="0">
                <a:solidFill>
                  <a:srgbClr val="F2B134"/>
                </a:solidFill>
                <a:latin typeface="Calibri" pitchFamily="34" charset="0"/>
                <a:ea typeface="Calibri" pitchFamily="34" charset="-122"/>
                <a:cs typeface="Calibri" pitchFamily="34" charset="-120"/>
              </a:rPr>
              <a:t>Generative models (the extension)</a:t>
            </a:r>
            <a:endParaRPr lang="en-US" sz="1100" dirty="0"/>
          </a:p>
        </p:txBody>
      </p:sp>
      <p:sp>
        <p:nvSpPr>
          <p:cNvPr id="49" name="Text 47"/>
          <p:cNvSpPr txBox="1"/>
          <p:nvPr/>
        </p:nvSpPr>
        <p:spPr>
          <a:xfrm>
            <a:off x="8732520" y="4645152"/>
            <a:ext cx="2880360" cy="1536192"/>
          </a:xfrm>
          <a:prstGeom prst="rect">
            <a:avLst/>
          </a:prstGeom>
          <a:noFill/>
          <a:ln/>
        </p:spPr>
        <p:txBody>
          <a:bodyPr wrap="square" lIns="0" tIns="0" rIns="0" bIns="0" rtlCol="0" anchor="ctr"/>
          <a:lstStyle/>
          <a:p>
            <a:pPr indent="0" marL="0">
              <a:buNone/>
            </a:pPr>
            <a:r>
              <a:rPr lang="en-US" sz="790" dirty="0">
                <a:solidFill>
                  <a:srgbClr val="C6D2E4"/>
                </a:solidFill>
                <a:latin typeface="Calibri" pitchFamily="34" charset="0"/>
                <a:ea typeface="Calibri" pitchFamily="34" charset="-122"/>
                <a:cs typeface="Calibri" pitchFamily="34" charset="-120"/>
              </a:rPr>
              <a:t>Phase 1, now: rule-based generators - substitution, interstitials, neighbourhood of winners.</a:t>
            </a:r>
            <a:endParaRPr lang="en-US" sz="790" dirty="0"/>
          </a:p>
          <a:p>
            <a:pPr indent="0" marL="0">
              <a:buNone/>
            </a:pPr>
            <a:r>
              <a:rPr lang="en-US" sz="790" dirty="0">
                <a:solidFill>
                  <a:srgbClr val="C6D2E4"/>
                </a:solidFill>
                <a:latin typeface="Calibri" pitchFamily="34" charset="0"/>
                <a:ea typeface="Calibri" pitchFamily="34" charset="-122"/>
                <a:cs typeface="Calibri" pitchFamily="34" charset="-120"/>
              </a:rPr>
              <a:t>Phase 2, after wave 2-3: a conditional diffusion model (MatterGen / DOSMatGen class) fine-tuned on the pool, conditioned on the causal parents - Fe density, RE-TM distance, coordination, Co fraction, no H in the RE shell - proposing frameworks that are not decorations of known ones; MACE hull as the first filter, the GP as the second.</a:t>
            </a:r>
            <a:endParaRPr lang="en-US" sz="790" dirty="0"/>
          </a:p>
          <a:p>
            <a:pPr indent="0" marL="0">
              <a:buNone/>
            </a:pPr>
            <a:r>
              <a:rPr lang="en-US" sz="790" dirty="0">
                <a:solidFill>
                  <a:srgbClr val="C6D2E4"/>
                </a:solidFill>
                <a:latin typeface="Calibri" pitchFamily="34" charset="0"/>
                <a:ea typeface="Calibri" pitchFamily="34" charset="-122"/>
                <a:cs typeface="Calibri" pitchFamily="34" charset="-120"/>
              </a:rPr>
              <a:t>Phase 3: inverse design - condition on the GP posterior toward the empty region of the Pareto front; every proposal still earns its label the same way.</a:t>
            </a:r>
            <a:endParaRPr lang="en-US" sz="790" dirty="0"/>
          </a:p>
        </p:txBody>
      </p:sp>
      <p:sp>
        <p:nvSpPr>
          <p:cNvPr id="50" name="Text 48"/>
          <p:cNvSpPr txBox="1"/>
          <p:nvPr/>
        </p:nvSpPr>
        <p:spPr>
          <a:xfrm>
            <a:off x="640080" y="6327648"/>
            <a:ext cx="10881360" cy="320040"/>
          </a:xfrm>
          <a:prstGeom prst="rect">
            <a:avLst/>
          </a:prstGeom>
          <a:noFill/>
          <a:ln/>
        </p:spPr>
        <p:txBody>
          <a:bodyPr wrap="square" lIns="0" tIns="0" rIns="0" bIns="0" rtlCol="0" anchor="ctr"/>
          <a:lstStyle/>
          <a:p>
            <a:pPr indent="0" marL="0">
              <a:buNone/>
            </a:pPr>
            <a:r>
              <a:rPr lang="en-US" sz="1100" i="1" dirty="0">
                <a:solidFill>
                  <a:srgbClr val="8FA3C0"/>
                </a:solidFill>
                <a:latin typeface="Calibri" pitchFamily="34" charset="0"/>
                <a:ea typeface="Calibri" pitchFamily="34" charset="-122"/>
                <a:cs typeface="Calibri" pitchFamily="34" charset="-120"/>
              </a:rPr>
              <a:t>The campaign's product is not a compound; it is a calibrated instrument for RE-TM exchange and the first dataset a learning loop can be trained 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Fe-HREE Magnet Screening</dc:title>
  <dc:subject>PptxGenJS Presentation</dc:subject>
  <dc:creator>MAGNITO computational screening</dc:creator>
  <cp:lastModifiedBy>MAGNITO computational screening</cp:lastModifiedBy>
  <cp:revision>1</cp:revision>
  <dcterms:created xsi:type="dcterms:W3CDTF">2026-10-12T03:49:25Z</dcterms:created>
  <dcterms:modified xsi:type="dcterms:W3CDTF">2026-10-12T03:49:25Z</dcterms:modified>
</cp:coreProperties>
</file>