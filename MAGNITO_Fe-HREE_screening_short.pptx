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8" r:id="rId12"/>
    <p:sldId id="42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36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3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873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the program wants &gt;2 T. The physics obstacle is that heavy-RE 4f moments couple antiparallel to Fe, so the default outcome is a ferrimagnet with a reduced net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Campbell rule: 4f-5d-3d chain fixes the sign. Heavy RE gives ferrimagnetism; light RE gives net-parallel alignment. This is why every database 'FM' label on a Gd-Fe compound deserves suspicion.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nine FM-labelled hits being all-Gd is a tell: it is an artefact of which element is treated with explicit 4f, not a physical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Novamag: CC-BY-4.0, auto-fetched from Zenodo record 3241267 (160 MB). MAGNDATA is the strongest available test of the coupling-sign protocol - every experimental RE-TM entry is a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of 8 pairs ferrimagnetic. 280 meV is far too large to be a convergence artefact. The compensation in RT4X is the practical kill: Fe sublattice ~14 muB cancels against Gd 7 muB x2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OUTCAR_04 for Co16Gd2Mn_sub (runs/ternary/Tb/new-R3m/Co16Gd2Mn_sub), the validated release-stage static - the same result behind dE=114.5 meV/Gd. Per-site magnetization(x) table, LORBIT=11 atomic-sphere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MAGNITO  ·  COMPUTATIONAL SCREENING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Fe-rich Heavy-Rare-Earth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 Search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criteria, database landscape, the ferro- vs ferrimagnetic test, and an active-learning path forward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μ₀Ms &gt; 2 T  ·  Tc &gt; 550 K  ·  uniaxial anisotropy  ·  RE-lean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97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6E81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706 paired DFT calculations staged  ·  352 compounds  ·  5 databases screened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37260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/ Co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72600" y="18745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9756648" y="18745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0140696" y="18745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0524744" y="18745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/ Tb / Dy / Ho / Er / Tm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921240" y="3310128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4f moment antiparallel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ferrimagnet, not ferromagnet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SEARCH IS HARD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target, and the rule that fights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12080" cy="4069080"/>
          </a:xfrm>
          <a:prstGeom prst="roundRect">
            <a:avLst>
              <a:gd name="adj" fmla="val 179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32688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viable permanent magnet needs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32688" y="2148840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3268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μ₀Ms &gt; 2 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386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Fe/Co sublattice, little dilution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293522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3268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916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Tᴄ &gt; 550 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172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TM-TM exchange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" y="372160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32688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Uniaxial anisotropy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959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RE 4f crystal field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" y="450799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32688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4489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RE-lean, no critical elements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47457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supply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481328"/>
            <a:ext cx="5212080" cy="4069080"/>
          </a:xfrm>
          <a:prstGeom prst="roundRect">
            <a:avLst>
              <a:gd name="adj" fmla="val 179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601968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Campbell rule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01968" y="20299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metallic RE-TM intermetallics the 4f spin couples to Fe through a fixed chain: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601968" y="254203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4f spin  ↔  own 5d   (parallel, on-site)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  ↔  Fe 3d   (ANTIparallel, between sites)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01968" y="334670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 (Gd–Tm): </a:t>
            </a:r>
            <a:r>
              <a:rPr lang="en-US" sz="1250" dirty="0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L + S, so the total moment follows the spin → antiparallel to Fe → </a:t>
            </a: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ferrimagnet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601968" y="396849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RE (Nd, Sm, Pr): </a:t>
            </a:r>
            <a:r>
              <a:rPr lang="en-US" sz="1250" dirty="0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L − S, so the total moment opposes the spin → parallel to Fe → </a:t>
            </a:r>
            <a:r>
              <a:rPr lang="en-US" sz="12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ferromagnet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601968" y="470916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 genuinely ferromagnetic Fe-HREE phase is the exception, not the target to assume. The screen must test it, not presume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criteria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81051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755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or Co ≥ 60 at.%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0756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3d sublattice is the only route to &gt;2 T; dilute phases cannot reach 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29400" y="181051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62940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96328" y="1755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one heavy RE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196328" y="20756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Gd, Tb, Dy, Ho, Er, Tm — the 4f source of anisotropy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44368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318211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127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compositions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447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phase space synthesisable and the DFT tractable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2944368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29400" y="318211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62940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6328" y="3127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above hull ≤ 0.2 eV/atom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96328" y="3447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on, below, or metastably above — many real magnets are metastable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315968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6EE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4400" y="455371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1440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44988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Magnetic, or unknown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48188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&gt; 0.3 μᴮ/atom; 'no data' is kept, not discarded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315968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6EE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29400" y="455371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62940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96328" y="44988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decided by us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196328" y="48188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can answer FM vs ferri — that is the calculation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870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5 and 6 are deliberately permissive: an unlabelled compound is a candidate, not a rejection.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LOOKED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database can and cannot answer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10881360" cy="23042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natively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composition, 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magnetic data at all; on-hull set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Materials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 label, hull, moment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FM-initialised label; 4f frozen in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OQMD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hull, composition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moments not exposed; structures via slow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Alexandria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elements, nelements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moments response-only; server outages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 per atom, species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hull distance; thin RE-TM ternary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40080" y="42519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6012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 they share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754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large database runs ONE spin-polarised calculation per structure, initialised ferromagnetically, with heavy-RE 4f frozen in the PAW core. So a “FM” label means “the Fe sublattice kept its moments” — never that the RE couples parallel. Nine FM-labelled Fe/Co-HREE candidates were found across all five databases; all nine contained Gd, the one heavy RE these codes treat explicitly.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SCARCE COMMODITY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that actually contain anisotropy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17904"/>
          <a:ext cx="10881360" cy="25603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uniquely has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this campaign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Novamag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DFT K₁/MAE, exchange, Tc for RE-lean magnets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+ validate the MAE surrogate; calibrate A₂⁰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~2,000 EXPERIMENTAL magnetic structures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for the fm/ferri coupling 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MAE + exchange (2D materials)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an MAE model before trusting it in 3D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Heusler set (Sanvito)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~236k compositions, moments + est. Tc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training data; funnel-reporting template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Nelson–Sanvito Tc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~2,500 experimental Curie temperatures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Tc before computing exchange constants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NIMS MatNavi / MDR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Nd-Fe-B and 1-12 experiment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targets (registration required)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34340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 txBox="1"/>
          <p:nvPr/>
        </p:nvSpPr>
        <p:spPr>
          <a:xfrm>
            <a:off x="932688" y="4507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are worth more per entry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482803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large databases we screened carry composition, stability and a moment. None carries MAE, exchange constants or Tc at scale — the quantities a permanent magnet is actually judged on. Novamag is the only open source of systematic anisotropy, which is what makes an MAE surrogate trainable at all.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18120" y="434340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CE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4507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open — do not plan around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8280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MPDS / Pauling File and Springer Materials hold the deepest experimental magnet record, but neither is openly accessible.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DATABASES TO CALCULATIONS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funnel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554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554,055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5544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GNoME stable entries scanned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8778240" cy="658368"/>
          </a:xfrm>
          <a:prstGeom prst="roundRect">
            <a:avLst>
              <a:gd name="adj" fmla="val 8333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96112" y="23957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1,152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39572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candidate formulas across 5 databases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3E7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96112" y="323697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756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23697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retrievable crystal structures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78224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96112" y="40782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407822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staged for DFT (24 native Gd + 328 Gd surrogates)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19472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6112" y="491947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706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49194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fm / ferri VASP calculations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 parent compounds</a:t>
            </a:r>
            <a:endParaRPr lang="en-US" sz="1300" dirty="0"/>
          </a:p>
          <a:p>
            <a:pPr marL="0" indent="0" algn="r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into 328</a:t>
            </a:r>
            <a:endParaRPr lang="en-US" sz="1300" dirty="0"/>
          </a:p>
          <a:p>
            <a:pPr marL="0" indent="0" algn="r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calculations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5074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on (substituted formula, space group); coupling transfers back to each parent by de Gennes scaling.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DECIDING CALCULATION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configurations, one energy difference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structure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3347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collinear spin-polarised PBE+U runs, identical except the SIGN of the initial Gd moment: fm (+7 μᴮ) and ferri (−7 μᴮ).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224528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7548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sign of ΔE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63347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ΔE = E(ferri) − E(fm).  Negative → ferrimagnetic ground state.  Positive → genuine FM RE-TM coupling.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65008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2104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95360" y="178308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5953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across the series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263347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Tb–Tm ship as f-in-core potentials whose 4f cannot flip, so Gd is substituted onto every RE site and the result is carried back by de Gennes scaling, (gᴊ − 1)J.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041648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601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and controls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526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PBE+U  </a:t>
            </a:r>
            <a:r>
              <a:rPr lang="en-US" sz="1200" dirty="0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4f U = 6.7 / J = 0.7 eV (U_eff = 6)  ·  no U on metallic Fe  ·  LASPH, LMAXMIX = 6  ·  ENCUT 520  ·  8000 k-points·atom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91947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 </a:t>
            </a:r>
            <a:r>
              <a:rPr lang="en-US" sz="1200" dirty="0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statics on a common geometry so ΔE isolates exchange  ·  every run checked for SCF drift into the other spin state  ·  light RE pinned to f-in-core so only Gd carries a flippable 4f  ·  GdFe₂ (a known ferrimagnet) run as a protocol control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16 RUNS, 8 COMPOUNDS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protocol validates, and the database labels fall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17904"/>
          <a:ext cx="10881360" cy="2715768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ΔE per Gd (meV)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moment, ferri (μᴮ)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GdFe₂  (control)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Laves C15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ferrimagnetic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GdAlFe₄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CaCu₅ RT₄X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ferrimagnetic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GdGaFe₄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CaCu₅ RT₄X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ferrimagnetic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GdCo₄Si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CaCu₅ RT₄X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ferrimagnetic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GdFe₄B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CaCu₅ RT₄X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ferrimagnetic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GdCo₄B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CaCu₅ RT₄X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ferrimagnetic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Gd₂Fe₃Co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Laves C14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ferrimagnetic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Gd₂Fe₁₂Ga₅C₂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new, C2/m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ferrimagnetic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553212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14400" y="5047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passed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3492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GdFe₂ is experimentally a ferrimagnet and the protocol reproduces that by 352 meV/Gd — which is what licenses trusting the rest.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4892040"/>
            <a:ext cx="5166360" cy="1325880"/>
          </a:xfrm>
          <a:prstGeom prst="roundRect">
            <a:avLst>
              <a:gd name="adj" fmla="val 5517"/>
            </a:avLst>
          </a:prstGeom>
          <a:solidFill>
            <a:srgbClr val="FCE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6"/>
          <p:cNvSpPr txBox="1"/>
          <p:nvPr/>
        </p:nvSpPr>
        <p:spPr>
          <a:xfrm>
            <a:off x="6629400" y="5047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FM labels were artefacts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5349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GdAlFe₄ and GdGaFe₄ (Alexandria) and GdCo₄Si (MP) were all FM-labelled. All three are ferrimagnetic by 155–284 meV/Gd — and the two RT₄X phases are almost fully compensated, so their true net moment is ≈ 0, not the ≈1.9 T the FM-initialised numbers implied.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F2A87E-D760-1B0D-415A-E8950401EEBC}"/>
              </a:ext>
            </a:extLst>
          </p:cNvPr>
          <p:cNvSpPr txBox="1"/>
          <p:nvPr/>
        </p:nvSpPr>
        <p:spPr>
          <a:xfrm>
            <a:off x="640080" y="6373368"/>
            <a:ext cx="10207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Candidates turned out to be all Ferrimagnetic !!! [had to change convergence protocol, by staging it!!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LINEAGE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</a:rPr>
              <a:t>Start with a known stoichiometry </a:t>
            </a: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sym typeface="Wingdings" pitchFamily="2" charset="2"/>
              </a:rPr>
              <a:t> modify Co to Mn so it can ferromagnetically </a:t>
            </a: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sym typeface="Wingdings" pitchFamily="2" charset="2"/>
              </a:rPr>
              <a:t>couple with RE, due to its lower filling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68680" y="417880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Sm2Co17  -  parent 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Soft-magnet 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4572000" y="417880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Co16Gd2Mn_sub  -  FM candidate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lattice - Gd stands in for </a:t>
            </a:r>
            <a:r>
              <a:rPr lang="en-US" sz="900" dirty="0" err="1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r>
              <a:rPr lang="en-US" sz="900" dirty="0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one Co-site replaced by Mn (explicit 4f, S-state surrogate). Same Mn-for-Co site. This should be FM even with heavy - RE identity changes.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046720" y="1463040"/>
            <a:ext cx="3474720" cy="3977640"/>
          </a:xfrm>
          <a:prstGeom prst="roundRect">
            <a:avLst>
              <a:gd name="adj" fmla="val 2105"/>
            </a:avLst>
          </a:prstGeom>
          <a:solidFill>
            <a:srgbClr val="FCE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8302752" y="164592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magnet this descends from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302752" y="2240280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830275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833104" y="2212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Sm2Co17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833104" y="24597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2:17 SmCo permanent magnet - one of only two SmCo classes ever commercialised (with SmCo5, the 1:5 type)</a:t>
            </a:r>
            <a:endParaRPr lang="en-US" sz="930" dirty="0"/>
          </a:p>
        </p:txBody>
      </p:sp>
      <p:sp>
        <p:nvSpPr>
          <p:cNvPr id="18" name="Shape 14"/>
          <p:cNvSpPr/>
          <p:nvPr/>
        </p:nvSpPr>
        <p:spPr>
          <a:xfrm>
            <a:off x="8302752" y="313639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830275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833104" y="3108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RE2Co17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833104" y="33558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Th2Zn17-type family - Y, Ce, Pr, Nd, Sm, Gd, Tb... all form this same rhombohedral structure</a:t>
            </a:r>
            <a:endParaRPr lang="en-US" sz="930" dirty="0"/>
          </a:p>
        </p:txBody>
      </p:sp>
      <p:sp>
        <p:nvSpPr>
          <p:cNvPr id="22" name="Shape 18"/>
          <p:cNvSpPr/>
          <p:nvPr/>
        </p:nvSpPr>
        <p:spPr>
          <a:xfrm>
            <a:off x="8302752" y="4032504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8302752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833104" y="4005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RE2MnCo16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833104" y="42519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A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17 transition-metal sites replaced by Mn - the single change this campaign is built around</a:t>
            </a:r>
            <a:endParaRPr lang="en-US" sz="930" dirty="0"/>
          </a:p>
        </p:txBody>
      </p:sp>
      <p:sp>
        <p:nvSpPr>
          <p:cNvPr id="26" name="Shape 22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914400" y="56235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in this campaign is a controlled chemical edit of an already-magnetic parent - swap the light RE for a heavy one, then perturb one transition-metal site. Co16Gd2Mn_sub is the one edit, out of 353, where that perturbation flips the whole compound's magnetic order rather than just its Curie temperature or anisotropy.</a:t>
            </a:r>
          </a:p>
          <a:p>
            <a:pPr marL="0" indent="0">
              <a:buNone/>
            </a:pPr>
            <a:endParaRPr lang="en-US" sz="1100" i="1" dirty="0">
              <a:solidFill>
                <a:srgbClr val="C6D2E4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C6D2E4"/>
                </a:solidFill>
                <a:latin typeface="Calibri" pitchFamily="34" charset="0"/>
                <a:cs typeface="Calibri" pitchFamily="34" charset="-120"/>
              </a:rPr>
              <a:t>This idea might be applicable to the other motifs as well (e.g. 1:12 etc.); There could be disorder in the TM lattice, but that should not affect the magnetization; 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EC1BE69-0FF0-1865-47D5-A939BCFC9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504906"/>
            <a:ext cx="2002465" cy="138510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93F05DD-67AE-77C1-2BB8-FF941C1D7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027" y="2912081"/>
            <a:ext cx="1867477" cy="12503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ABEE979-B613-D02D-868B-565BFB4EC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102" y="2745232"/>
            <a:ext cx="2069298" cy="136753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6AACFB0-3868-F803-B6FF-CA6614BADF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7071" y="1507906"/>
            <a:ext cx="1703689" cy="1171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candidate survives every validity check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6093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 compounds analysed  -&gt;  1 credible ferromagnet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1938528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9611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1109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Implausible exchange energy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1031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3-5.5 eV/Gd, 10-15x any real value - LDA+U landing in a different state, not physical coupling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96112" y="246888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9611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44144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sublattice collapse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6334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spectator element (Os, Y, Lu, Ru, Ce...) shifting between fm/ferri, invisible if only Fe/Co are watched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" y="299923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96112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9718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sublattice itself collapsed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16382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 or Co moment changed between runs - the failure the constrained rerun was built to fix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97880" y="1463040"/>
            <a:ext cx="4709160" cy="210312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153912" y="16093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Co16Gd2Mn  ·  new-R3m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153912" y="1865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Co-rich 2-17-like lattice, Mn on one Co site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153912" y="2139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(ferri - fm)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213969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+114.5 meV/Gd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53912" y="24140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241401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ferromagnetic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153912" y="26883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u0Ms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268833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1.95 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3017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6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couples ferromagnetically to Gd while Co keeps its usual antiparallel preference - flipping the net RE-TM sign for the compound.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3703320"/>
            <a:ext cx="108813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68680" y="370332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stable Co sublattice, stable Mn magnitude, normal exchange-energy scale, clean EDIFF convergence on both configs (47 / 29 SCF steps of 400).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2611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magnetisation for the real target compositions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4279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five heavy-RE analogues clear the 2 T program target.</a:t>
            </a:r>
            <a:endParaRPr lang="en-US" sz="9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0"/>
          <a:ext cx="10881360" cy="1554480"/>
        </p:xfrm>
        <a:graphic>
          <a:graphicData uri="http://schemas.openxmlformats.org/drawingml/2006/table">
            <a:tbl>
              <a:tblPr/>
              <a:tblGrid>
                <a:gridCol w="369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0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compound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u0Ms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Co16Dy2Mn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Co16Ho2Mn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Co16MnTb2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Co16Er2Mn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Co16MnTm2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PER-ATOM MOMENTS, DIRECTLY MEASURED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 always sides with Gd - never with Co - in both configurations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32688" y="1700784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 -  all three sublattices aligned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32688" y="2194560"/>
            <a:ext cx="4809744" cy="640080"/>
          </a:xfrm>
          <a:prstGeom prst="roundRect">
            <a:avLst>
              <a:gd name="adj" fmla="val 11429"/>
            </a:avLst>
          </a:prstGeom>
          <a:solidFill>
            <a:srgbClr val="243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22860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 (sites 1, 2)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5237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+6.74, +6.75 uB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2688" y="2980944"/>
            <a:ext cx="4809744" cy="640080"/>
          </a:xfrm>
          <a:prstGeom prst="roundRect">
            <a:avLst>
              <a:gd name="adj" fmla="val 11429"/>
            </a:avLst>
          </a:prstGeom>
          <a:solidFill>
            <a:srgbClr val="243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143000" y="307238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 (site 3)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10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+3.13 uB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" y="3767328"/>
            <a:ext cx="4809744" cy="640080"/>
          </a:xfrm>
          <a:prstGeom prst="roundRect">
            <a:avLst>
              <a:gd name="adj" fmla="val 11429"/>
            </a:avLst>
          </a:prstGeom>
          <a:solidFill>
            <a:srgbClr val="243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143000" y="38587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 (16 sites, +1.49 to +1.59 uB)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096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A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+1.53 uB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4553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moment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754880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41.1 uB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63640" y="1517904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556248" y="1700784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  -  Gd and Mn flip together, Co doesn't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56248" y="2194560"/>
            <a:ext cx="46725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766560" y="228600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 (sites 1, 2)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52374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-7.06, -7.04 uB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56248" y="2980944"/>
            <a:ext cx="46725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766560" y="307238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 (site 3)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33101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-3.38 uB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56248" y="3767328"/>
            <a:ext cx="46725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766560" y="385876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 (16 sites, +1.37 to +1.53 uB)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40965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+1.47 uB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56248" y="4553712"/>
            <a:ext cx="2628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moment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556248" y="4754880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6.15 uB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0080" y="580644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CE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96112" y="5806440"/>
            <a:ext cx="10369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Mn's moment matches Gd's sign in every configuration checked - fm or ferri, this compound or any native-RE compound in the Tier-2 batch. Co never once follows it. That is the direct measurement behind the Campbell's-rule exception this campaign is built 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320040"/>
            <a:ext cx="205740" cy="6537960"/>
          </a:xfrm>
          <a:prstGeom prst="rect">
            <a:avLst/>
          </a:prstGeom>
          <a:solidFill>
            <a:srgbClr val="447E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844040" y="256032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Loop: Where DFT, MLIP, and Causal ML Sit</a:t>
            </a:r>
            <a:endParaRPr lang="en-US" sz="2600" dirty="0"/>
          </a:p>
        </p:txBody>
      </p:sp>
      <p:pic>
        <p:nvPicPr>
          <p:cNvPr id="4" name="Image 0" descr="/home/claude/work/asset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168" y="1234440"/>
            <a:ext cx="8942832" cy="45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4040" y="1325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loops: an operational loop that proposes and tests new alloys, and an understanding loop that explains the results and feeds back in.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981200" y="1691640"/>
            <a:ext cx="1536192" cy="868680"/>
          </a:xfrm>
          <a:prstGeom prst="rect">
            <a:avLst/>
          </a:prstGeom>
          <a:solidFill>
            <a:srgbClr val="002159"/>
          </a:solidFill>
          <a:ln w="6350">
            <a:solidFill>
              <a:srgbClr val="002159"/>
            </a:solidFill>
            <a:prstDash val="solid"/>
          </a:ln>
          <a:effectLst>
            <a:outerShdw blurRad="381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2026920" y="169164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surrogate</a:t>
            </a:r>
            <a:endParaRPr lang="en-US" sz="1200" dirty="0"/>
          </a:p>
          <a:p>
            <a:pPr algn="ctr">
              <a:lnSpc>
                <a:spcPct val="115000"/>
              </a:lnSpc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= causal rules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4552" y="1691640"/>
            <a:ext cx="1536192" cy="868680"/>
          </a:xfrm>
          <a:prstGeom prst="rect">
            <a:avLst/>
          </a:prstGeom>
          <a:solidFill>
            <a:srgbClr val="002159"/>
          </a:solidFill>
          <a:ln w="6350">
            <a:solidFill>
              <a:srgbClr val="002159"/>
            </a:solidFill>
            <a:prstDash val="solid"/>
          </a:ln>
          <a:effectLst>
            <a:outerShdw blurRad="381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700272" y="169164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1200" dirty="0"/>
          </a:p>
          <a:p>
            <a:pPr algn="ctr">
              <a:lnSpc>
                <a:spcPct val="115000"/>
              </a:lnSpc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resolves ENCO gaps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27904" y="1691640"/>
            <a:ext cx="1536192" cy="868680"/>
          </a:xfrm>
          <a:prstGeom prst="rect">
            <a:avLst/>
          </a:prstGeom>
          <a:solidFill>
            <a:srgbClr val="002159"/>
          </a:solidFill>
          <a:ln w="6350">
            <a:solidFill>
              <a:srgbClr val="002159"/>
            </a:solidFill>
            <a:prstDash val="solid"/>
          </a:ln>
          <a:effectLst>
            <a:outerShdw blurRad="381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373624" y="169164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</a:t>
            </a:r>
            <a:endParaRPr lang="en-US" sz="1200" dirty="0"/>
          </a:p>
          <a:p>
            <a:pPr algn="ctr">
              <a:lnSpc>
                <a:spcPct val="115000"/>
              </a:lnSpc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DOSMatGen: new alloys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01256" y="1691640"/>
            <a:ext cx="1536192" cy="868680"/>
          </a:xfrm>
          <a:prstGeom prst="rect">
            <a:avLst/>
          </a:prstGeom>
          <a:solidFill>
            <a:srgbClr val="002159"/>
          </a:solidFill>
          <a:ln w="6350">
            <a:solidFill>
              <a:srgbClr val="002159"/>
            </a:solidFill>
            <a:prstDash val="solid"/>
          </a:ln>
          <a:effectLst>
            <a:outerShdw blurRad="381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046976" y="169164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MLIP filter</a:t>
            </a:r>
            <a:endParaRPr lang="en-US" sz="1200" dirty="0"/>
          </a:p>
          <a:p>
            <a:pPr algn="ctr">
              <a:lnSpc>
                <a:spcPct val="115000"/>
              </a:lnSpc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 + stability check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74608" y="1691640"/>
            <a:ext cx="1536192" cy="868680"/>
          </a:xfrm>
          <a:prstGeom prst="rect">
            <a:avLst/>
          </a:prstGeom>
          <a:solidFill>
            <a:srgbClr val="CB4D3D"/>
          </a:solidFill>
          <a:ln w="6350">
            <a:solidFill>
              <a:srgbClr val="CB4D3D"/>
            </a:solidFill>
            <a:prstDash val="solid"/>
          </a:ln>
          <a:effectLst>
            <a:outerShdw blurRad="381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720328" y="169164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DFT+Experiment</a:t>
            </a:r>
            <a:endParaRPr lang="en-US" sz="1200" dirty="0"/>
          </a:p>
          <a:p>
            <a:pPr algn="ctr">
              <a:lnSpc>
                <a:spcPct val="115000"/>
              </a:lnSpc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517392" y="1691640"/>
            <a:ext cx="137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190744" y="1691640"/>
            <a:ext cx="137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864096" y="1691640"/>
            <a:ext cx="137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537448" y="1691640"/>
            <a:ext cx="137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654552" y="3337560"/>
            <a:ext cx="4882896" cy="868680"/>
          </a:xfrm>
          <a:prstGeom prst="rect">
            <a:avLst/>
          </a:prstGeom>
          <a:solidFill>
            <a:srgbClr val="3BA2AD"/>
          </a:solidFill>
          <a:ln w="6350">
            <a:solidFill>
              <a:srgbClr val="3BA2AD"/>
            </a:solidFill>
            <a:prstDash val="solid"/>
          </a:ln>
          <a:effectLst>
            <a:outerShdw blurRad="381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3700272" y="3337560"/>
            <a:ext cx="4791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/ interpretable pipeline</a:t>
            </a:r>
            <a:endParaRPr lang="en-US" sz="1200" dirty="0"/>
          </a:p>
          <a:p>
            <a:pPr algn="ctr">
              <a:lnSpc>
                <a:spcPct val="115000"/>
              </a:lnSpc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→ SOM → EBM → SymReg → LogReg → ENCO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305544" y="2560320"/>
            <a:ext cx="914" cy="1143000"/>
          </a:xfrm>
          <a:prstGeom prst="line">
            <a:avLst/>
          </a:prstGeom>
          <a:noFill/>
          <a:ln w="15875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537448" y="3703320"/>
            <a:ext cx="768096" cy="914"/>
          </a:xfrm>
          <a:prstGeom prst="line">
            <a:avLst/>
          </a:prstGeom>
          <a:noFill/>
          <a:ln w="15875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8107680" y="2606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DFT results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078480" y="3657600"/>
            <a:ext cx="576072" cy="914"/>
          </a:xfrm>
          <a:prstGeom prst="line">
            <a:avLst/>
          </a:prstGeom>
          <a:noFill/>
          <a:ln w="15875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078480" y="2560320"/>
            <a:ext cx="914" cy="1097280"/>
          </a:xfrm>
          <a:prstGeom prst="line">
            <a:avLst/>
          </a:prstGeom>
          <a:noFill/>
          <a:ln w="15875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3151632" y="2880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sets mean function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24400" y="2560320"/>
            <a:ext cx="914" cy="777240"/>
          </a:xfrm>
          <a:prstGeom prst="line">
            <a:avLst/>
          </a:prstGeom>
          <a:noFill/>
          <a:ln w="15875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4797552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disambiguation target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0027920" y="2560320"/>
            <a:ext cx="914" cy="2240280"/>
          </a:xfrm>
          <a:prstGeom prst="line">
            <a:avLst/>
          </a:prstGeom>
          <a:noFill/>
          <a:ln w="15875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346960" y="4800600"/>
            <a:ext cx="7680960" cy="914"/>
          </a:xfrm>
          <a:prstGeom prst="line">
            <a:avLst/>
          </a:prstGeom>
          <a:noFill/>
          <a:ln w="15875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2346960" y="2560320"/>
            <a:ext cx="914" cy="2240280"/>
          </a:xfrm>
          <a:prstGeom prst="line">
            <a:avLst/>
          </a:prstGeom>
          <a:noFill/>
          <a:ln w="15875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2895600" y="48554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retrains the surrogate every round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844040" y="52578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0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</a:t>
            </a: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operational loop    </a:t>
            </a:r>
            <a:r>
              <a:rPr lang="en-US" sz="1050" b="1" dirty="0">
                <a:solidFill>
                  <a:srgbClr val="CB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DFT (ground truth)    </a:t>
            </a:r>
            <a:r>
              <a:rPr lang="en-US" sz="1050" b="1" dirty="0">
                <a:solidFill>
                  <a:srgbClr val="3B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causal / interpretable pipeline (Loop 2)</a:t>
            </a:r>
            <a:endParaRPr lang="en-US" sz="1050" dirty="0"/>
          </a:p>
        </p:txBody>
      </p:sp>
      <p:pic>
        <p:nvPicPr>
          <p:cNvPr id="35" name="Image 1" descr="/home/claude/work/assets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608" y="6473952"/>
            <a:ext cx="1097280" cy="265176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5221BFD-0D3A-5319-6AC1-9F24C8371C70}"/>
              </a:ext>
            </a:extLst>
          </p:cNvPr>
          <p:cNvSpPr/>
          <p:nvPr/>
        </p:nvSpPr>
        <p:spPr>
          <a:xfrm>
            <a:off x="2684061" y="2880361"/>
            <a:ext cx="6919415" cy="154151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2289</Words>
  <Application>Microsoft Macintosh PowerPoint</Application>
  <PresentationFormat>Widescreen</PresentationFormat>
  <Paragraphs>320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Fe-HREE Magnet Screening</dc:title>
  <dc:subject>PptxGenJS Presentation</dc:subject>
  <dc:creator>MAGNITO computational screening</dc:creator>
  <cp:lastModifiedBy>Ganesh, Panchapakesan</cp:lastModifiedBy>
  <cp:revision>11</cp:revision>
  <dcterms:created xsi:type="dcterms:W3CDTF">2026-09-27T23:45:44Z</dcterms:created>
  <dcterms:modified xsi:type="dcterms:W3CDTF">2026-09-28T20:01:17Z</dcterms:modified>
</cp:coreProperties>
</file>